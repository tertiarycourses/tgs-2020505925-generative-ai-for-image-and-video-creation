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notesMaster" Target="notesMasters/notesMaster1.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Classroom facilitation (min)</c:v>
                </c:pt>
              </c:strCache>
            </c:strRef>
          </c:tx>
          <c:spPr>
            <a:solidFill>
              <a:srgbClr val="1F6FEB"/>
            </a:solidFill>
            <a:ln>
              <a:solidFill>
                <a:srgbClr val="1F6FEB"/>
              </a:solidFill>
            </a:ln>
          </c:spPr>
          <c:cat>
            <c:strRef>
              <c:f>Sheet1!$A$2:$A$4</c:f>
              <c:strCache>
                <c:ptCount val="3"/>
                <c:pt idx="0">
                  <c:v>Day 1</c:v>
                </c:pt>
                <c:pt idx="1">
                  <c:v>Day 2</c:v>
                </c:pt>
                <c:pt idx="2">
                  <c:v>Programme total</c:v>
                </c:pt>
              </c:strCache>
            </c:strRef>
          </c:cat>
          <c:val>
            <c:numRef>
              <c:f>Sheet1!$B$2:$B$4</c:f>
              <c:numCache>
                <c:formatCode>General</c:formatCode>
                <c:ptCount val="3"/>
                <c:pt idx="0">
                  <c:v>300</c:v>
                </c:pt>
                <c:pt idx="1">
                  <c:v>150</c:v>
                </c:pt>
                <c:pt idx="2">
                  <c:v>450</c:v>
                </c:pt>
              </c:numCache>
            </c:numRef>
          </c:val>
        </c:ser>
        <c:ser>
          <c:idx val="1"/>
          <c:order val="1"/>
          <c:tx>
            <c:strRef>
              <c:f>Sheet1!$C$1</c:f>
              <c:strCache>
                <c:ptCount val="1"/>
                <c:pt idx="0">
                  <c:v>Practical / practicum (min)</c:v>
                </c:pt>
              </c:strCache>
            </c:strRef>
          </c:tx>
          <c:spPr>
            <a:solidFill>
              <a:srgbClr val="10B981"/>
            </a:solidFill>
            <a:ln>
              <a:solidFill>
                <a:srgbClr val="10B981"/>
              </a:solidFill>
            </a:ln>
          </c:spPr>
          <c:cat>
            <c:strRef>
              <c:f>Sheet1!$A$2:$A$4</c:f>
              <c:strCache>
                <c:ptCount val="3"/>
                <c:pt idx="0">
                  <c:v>Day 1</c:v>
                </c:pt>
                <c:pt idx="1">
                  <c:v>Day 2</c:v>
                </c:pt>
                <c:pt idx="2">
                  <c:v>Programme total</c:v>
                </c:pt>
              </c:strCache>
            </c:strRef>
          </c:cat>
          <c:val>
            <c:numRef>
              <c:f>Sheet1!$C$2:$C$4</c:f>
              <c:numCache>
                <c:formatCode>General</c:formatCode>
                <c:ptCount val="3"/>
                <c:pt idx="0">
                  <c:v>180</c:v>
                </c:pt>
                <c:pt idx="1">
                  <c:v>180</c:v>
                </c:pt>
                <c:pt idx="2">
                  <c:v>360</c:v>
                </c:pt>
              </c:numCache>
            </c:numRef>
          </c:val>
        </c:ser>
        <c:ser>
          <c:idx val="2"/>
          <c:order val="2"/>
          <c:tx>
            <c:strRef>
              <c:f>Sheet1!$D$1</c:f>
              <c:strCache>
                <c:ptCount val="1"/>
                <c:pt idx="0">
                  <c:v>Assessment (min)</c:v>
                </c:pt>
              </c:strCache>
            </c:strRef>
          </c:tx>
          <c:spPr>
            <a:solidFill>
              <a:srgbClr val="7C3AED"/>
            </a:solidFill>
            <a:ln>
              <a:solidFill>
                <a:srgbClr val="7C3AED"/>
              </a:solidFill>
            </a:ln>
          </c:spPr>
          <c:cat>
            <c:strRef>
              <c:f>Sheet1!$A$2:$A$4</c:f>
              <c:strCache>
                <c:ptCount val="3"/>
                <c:pt idx="0">
                  <c:v>Day 1</c:v>
                </c:pt>
                <c:pt idx="1">
                  <c:v>Day 2</c:v>
                </c:pt>
                <c:pt idx="2">
                  <c:v>Programme total</c:v>
                </c:pt>
              </c:strCache>
            </c:strRef>
          </c:cat>
          <c:val>
            <c:numRef>
              <c:f>Sheet1!$D$2:$D$4</c:f>
              <c:numCache>
                <c:formatCode>General</c:formatCode>
                <c:ptCount val="3"/>
                <c:pt idx="0">
                  <c:v>0</c:v>
                </c:pt>
                <c:pt idx="1">
                  <c:v>150</c:v>
                </c:pt>
                <c:pt idx="2">
                  <c:v>150</c:v>
                </c:pt>
              </c:numCache>
            </c:numRef>
          </c:val>
        </c:ser>
        <c:gapWidth val="60"/>
        <c:overlap val="10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1000"/>
                  <a:t>minutes</a:t>
                </a:r>
              </a:p>
            </c:rich>
          </c:tx>
          <c:layout/>
          <c:overlay val="0"/>
        </c:title>
        <c:majorTickMark val="out"/>
        <c:minorTickMark val="none"/>
        <c:tickLblPos val="nextTo"/>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1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Instances per month</c:v>
                </c:pt>
              </c:strCache>
            </c:strRef>
          </c:tx>
          <c:spPr>
            <a:solidFill>
              <a:srgbClr val="1F6FEB"/>
            </a:solidFill>
            <a:ln>
              <a:solidFill>
                <a:srgbClr val="1F6FEB"/>
              </a:solidFill>
            </a:ln>
          </c:spPr>
          <c:cat>
            <c:strRef>
              <c:f>Sheet1!$A$2:$A$6</c:f>
              <c:strCache>
                <c:ptCount val="5"/>
                <c:pt idx="0">
                  <c:v>Catalogue variants</c:v>
                </c:pt>
                <c:pt idx="1">
                  <c:v>Background swap</c:v>
                </c:pt>
                <c:pt idx="2">
                  <c:v>Format repurpose</c:v>
                </c:pt>
                <c:pt idx="3">
                  <c:v>Event key art</c:v>
                </c:pt>
                <c:pt idx="4">
                  <c:v>Personalised greetings</c:v>
                </c:pt>
              </c:strCache>
            </c:strRef>
          </c:cat>
          <c:val>
            <c:numRef>
              <c:f>Sheet1!$B$2:$B$6</c:f>
              <c:numCache>
                <c:formatCode>General</c:formatCode>
                <c:ptCount val="5"/>
                <c:pt idx="0">
                  <c:v>1450</c:v>
                </c:pt>
                <c:pt idx="1">
                  <c:v>1450</c:v>
                </c:pt>
                <c:pt idx="2">
                  <c:v>820</c:v>
                </c:pt>
                <c:pt idx="3">
                  <c:v>22</c:v>
                </c:pt>
                <c:pt idx="4">
                  <c:v>6100</c:v>
                </c:pt>
              </c:numCache>
            </c:numRef>
          </c:val>
        </c:ser>
        <c:ser>
          <c:idx val="1"/>
          <c:order val="1"/>
          <c:tx>
            <c:strRef>
              <c:f>Sheet1!$C$1</c:f>
              <c:strCache>
                <c:ptCount val="1"/>
                <c:pt idx="0">
                  <c:v>Repeatability score (0-5, x100)</c:v>
                </c:pt>
              </c:strCache>
            </c:strRef>
          </c:tx>
          <c:spPr>
            <a:solidFill>
              <a:srgbClr val="10B981"/>
            </a:solidFill>
            <a:ln>
              <a:solidFill>
                <a:srgbClr val="10B981"/>
              </a:solidFill>
            </a:ln>
          </c:spPr>
          <c:cat>
            <c:strRef>
              <c:f>Sheet1!$A$2:$A$6</c:f>
              <c:strCache>
                <c:ptCount val="5"/>
                <c:pt idx="0">
                  <c:v>Catalogue variants</c:v>
                </c:pt>
                <c:pt idx="1">
                  <c:v>Background swap</c:v>
                </c:pt>
                <c:pt idx="2">
                  <c:v>Format repurpose</c:v>
                </c:pt>
                <c:pt idx="3">
                  <c:v>Event key art</c:v>
                </c:pt>
                <c:pt idx="4">
                  <c:v>Personalised greetings</c:v>
                </c:pt>
              </c:strCache>
            </c:strRef>
          </c:cat>
          <c:val>
            <c:numRef>
              <c:f>Sheet1!$C$2:$C$6</c:f>
              <c:numCache>
                <c:formatCode>General</c:formatCode>
                <c:ptCount val="5"/>
                <c:pt idx="0">
                  <c:v>500</c:v>
                </c:pt>
                <c:pt idx="1">
                  <c:v>500</c:v>
                </c:pt>
                <c:pt idx="2">
                  <c:v>400</c:v>
                </c:pt>
                <c:pt idx="3">
                  <c:v>100</c:v>
                </c:pt>
                <c:pt idx="4">
                  <c:v>300</c:v>
                </c:pt>
              </c:numCache>
            </c:numRef>
          </c:val>
        </c:ser>
        <c:gapWidth val="6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1000"/>
                  <a:t>count / score x100</a:t>
                </a:r>
              </a:p>
            </c:rich>
          </c:tx>
          <c:layout/>
          <c:overlay val="0"/>
        </c:title>
        <c:majorTickMark val="out"/>
        <c:minorTickMark val="none"/>
        <c:tickLblPos val="nextTo"/>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100">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radarChart>
        <c:radarStyle val="marker"/>
        <c:varyColors val="0"/>
        <c:ser>
          <c:idx val="0"/>
          <c:order val="0"/>
          <c:tx>
            <c:strRef>
              <c:f>Sheet1!$B$1</c:f>
              <c:strCache>
                <c:ptCount val="1"/>
                <c:pt idx="0">
                  <c:v>VAE</c:v>
                </c:pt>
              </c:strCache>
            </c:strRef>
          </c:tx>
          <c:spPr>
            <a:solidFill>
              <a:srgbClr val="1F6FEB"/>
            </a:solidFill>
            <a:ln>
              <a:solidFill>
                <a:srgbClr val="1F6FEB"/>
              </a:solidFill>
            </a:ln>
          </c:spPr>
          <c:cat>
            <c:strRef>
              <c:f>Sheet1!$A$2:$A$5</c:f>
              <c:strCache>
                <c:ptCount val="4"/>
                <c:pt idx="0">
                  <c:v>Image quality</c:v>
                </c:pt>
                <c:pt idx="1">
                  <c:v>Sample diversity</c:v>
                </c:pt>
                <c:pt idx="2">
                  <c:v>Training stability</c:v>
                </c:pt>
                <c:pt idx="3">
                  <c:v>Inference speed</c:v>
                </c:pt>
              </c:strCache>
            </c:strRef>
          </c:cat>
          <c:val>
            <c:numRef>
              <c:f>Sheet1!$B$2:$B$5</c:f>
              <c:numCache>
                <c:formatCode>General</c:formatCode>
                <c:ptCount val="4"/>
                <c:pt idx="0">
                  <c:v>2</c:v>
                </c:pt>
                <c:pt idx="1">
                  <c:v>4</c:v>
                </c:pt>
                <c:pt idx="2">
                  <c:v>5</c:v>
                </c:pt>
                <c:pt idx="3">
                  <c:v>5</c:v>
                </c:pt>
              </c:numCache>
            </c:numRef>
          </c:val>
          <c:smooth val="0"/>
        </c:ser>
        <c:ser>
          <c:idx val="1"/>
          <c:order val="1"/>
          <c:tx>
            <c:strRef>
              <c:f>Sheet1!$C$1</c:f>
              <c:strCache>
                <c:ptCount val="1"/>
                <c:pt idx="0">
                  <c:v>GAN</c:v>
                </c:pt>
              </c:strCache>
            </c:strRef>
          </c:tx>
          <c:spPr>
            <a:solidFill>
              <a:srgbClr val="10B981"/>
            </a:solidFill>
            <a:ln>
              <a:solidFill>
                <a:srgbClr val="10B981"/>
              </a:solidFill>
            </a:ln>
          </c:spPr>
          <c:cat>
            <c:strRef>
              <c:f>Sheet1!$A$2:$A$5</c:f>
              <c:strCache>
                <c:ptCount val="4"/>
                <c:pt idx="0">
                  <c:v>Image quality</c:v>
                </c:pt>
                <c:pt idx="1">
                  <c:v>Sample diversity</c:v>
                </c:pt>
                <c:pt idx="2">
                  <c:v>Training stability</c:v>
                </c:pt>
                <c:pt idx="3">
                  <c:v>Inference speed</c:v>
                </c:pt>
              </c:strCache>
            </c:strRef>
          </c:cat>
          <c:val>
            <c:numRef>
              <c:f>Sheet1!$C$2:$C$5</c:f>
              <c:numCache>
                <c:formatCode>General</c:formatCode>
                <c:ptCount val="4"/>
                <c:pt idx="0">
                  <c:v>4</c:v>
                </c:pt>
                <c:pt idx="1">
                  <c:v>2</c:v>
                </c:pt>
                <c:pt idx="2">
                  <c:v>1</c:v>
                </c:pt>
                <c:pt idx="3">
                  <c:v>5</c:v>
                </c:pt>
              </c:numCache>
            </c:numRef>
          </c:val>
          <c:smooth val="0"/>
        </c:ser>
        <c:ser>
          <c:idx val="2"/>
          <c:order val="2"/>
          <c:tx>
            <c:strRef>
              <c:f>Sheet1!$D$1</c:f>
              <c:strCache>
                <c:ptCount val="1"/>
                <c:pt idx="0">
                  <c:v>Diffusion</c:v>
                </c:pt>
              </c:strCache>
            </c:strRef>
          </c:tx>
          <c:spPr>
            <a:solidFill>
              <a:srgbClr val="7C3AED"/>
            </a:solidFill>
            <a:ln>
              <a:solidFill>
                <a:srgbClr val="7C3AED"/>
              </a:solidFill>
            </a:ln>
          </c:spPr>
          <c:cat>
            <c:strRef>
              <c:f>Sheet1!$A$2:$A$5</c:f>
              <c:strCache>
                <c:ptCount val="4"/>
                <c:pt idx="0">
                  <c:v>Image quality</c:v>
                </c:pt>
                <c:pt idx="1">
                  <c:v>Sample diversity</c:v>
                </c:pt>
                <c:pt idx="2">
                  <c:v>Training stability</c:v>
                </c:pt>
                <c:pt idx="3">
                  <c:v>Inference speed</c:v>
                </c:pt>
              </c:strCache>
            </c:strRef>
          </c:cat>
          <c:val>
            <c:numRef>
              <c:f>Sheet1!$D$2:$D$5</c:f>
              <c:numCache>
                <c:formatCode>General</c:formatCode>
                <c:ptCount val="4"/>
                <c:pt idx="0">
                  <c:v>5</c:v>
                </c:pt>
                <c:pt idx="1">
                  <c:v>5</c:v>
                </c:pt>
                <c:pt idx="2">
                  <c:v>5</c:v>
                </c:pt>
                <c:pt idx="3">
                  <c:v>2</c:v>
                </c:pt>
              </c:numCache>
            </c:numRef>
          </c:val>
          <c:smooth val="0"/>
        </c:ser>
        <c:axId val="2073612648"/>
        <c:axId val="-2112772216"/>
      </c:radarChart>
      <c:catAx>
        <c:axId val="2073612648"/>
        <c:scaling>
          <c:orientation val="minMax"/>
        </c:scaling>
        <c:delete val="0"/>
        <c:axPos val="b"/>
        <c:majorGridlines/>
        <c:numFmt formatCode="m/d/yy" sourceLinked="1"/>
        <c:majorTickMark val="out"/>
        <c:minorTickMark val="none"/>
        <c:tickLblPos val="nextTo"/>
        <c:crossAx val="-2112772216"/>
        <c:crosses val="autoZero"/>
        <c:auto val="1"/>
        <c:lblAlgn val="ctr"/>
        <c:lblOffset val="100"/>
        <c:noMultiLvlLbl val="0"/>
      </c:catAx>
      <c:valAx>
        <c:axId val="-2112772216"/>
        <c:scaling>
          <c:orientation val="minMax"/>
        </c:scaling>
        <c:delete val="0"/>
        <c:axPos val="l"/>
        <c:majorGridlines/>
        <c:numFmt formatCode="General" sourceLinked="1"/>
        <c:majorTickMark val="cross"/>
        <c:minorTickMark val="none"/>
        <c:tickLblPos val="nextTo"/>
        <c:crossAx val="2073612648"/>
        <c:crosses val="autoZero"/>
        <c:crossBetween val="between"/>
      </c:valAx>
    </c:plotArea>
    <c:legend>
      <c:legendPos val="b"/>
      <c:overlay val="0"/>
      <c:txPr>
        <a:bodyPr/>
        <a:lstStyle/>
        <a:p>
          <a:pPr>
            <a:defRPr sz="1000"/>
          </a:pPr>
        </a:p>
      </c:txPr>
    </c:legend>
    <c:plotVisOnly val="1"/>
    <c:dispBlanksAs val="gap"/>
    <c:showDLblsOverMax val="0"/>
  </c:chart>
  <c:txPr>
    <a:bodyPr/>
    <a:lstStyle/>
    <a:p>
      <a:pPr>
        <a:defRPr sz="1100">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HSV hue-band mask (% coverage)</c:v>
                </c:pt>
              </c:strCache>
            </c:strRef>
          </c:tx>
          <c:spPr>
            <a:solidFill>
              <a:srgbClr val="1F6FEB"/>
            </a:solidFill>
            <a:ln>
              <a:solidFill>
                <a:srgbClr val="1F6FEB"/>
              </a:solidFill>
            </a:ln>
          </c:spPr>
          <c:cat>
            <c:strRef>
              <c:f>Sheet1!$A$2:$A$3</c:f>
              <c:strCache>
                <c:ptCount val="2"/>
                <c:pt idx="0">
                  <c:v>Normal exposure</c:v>
                </c:pt>
                <c:pt idx="1">
                  <c:v>Value channel × 0.6</c:v>
                </c:pt>
              </c:strCache>
            </c:strRef>
          </c:cat>
          <c:val>
            <c:numRef>
              <c:f>Sheet1!$B$2:$B$3</c:f>
              <c:numCache>
                <c:formatCode>General</c:formatCode>
                <c:ptCount val="2"/>
                <c:pt idx="0">
                  <c:v>12.66</c:v>
                </c:pt>
                <c:pt idx="1">
                  <c:v>12.66</c:v>
                </c:pt>
              </c:numCache>
            </c:numRef>
          </c:val>
        </c:ser>
        <c:ser>
          <c:idx val="1"/>
          <c:order val="1"/>
          <c:tx>
            <c:strRef>
              <c:f>Sheet1!$C$1</c:f>
              <c:strCache>
                <c:ptCount val="1"/>
                <c:pt idx="0">
                  <c:v>Raw blue-channel threshold (% coverage)</c:v>
                </c:pt>
              </c:strCache>
            </c:strRef>
          </c:tx>
          <c:spPr>
            <a:solidFill>
              <a:srgbClr val="10B981"/>
            </a:solidFill>
            <a:ln>
              <a:solidFill>
                <a:srgbClr val="10B981"/>
              </a:solidFill>
            </a:ln>
          </c:spPr>
          <c:cat>
            <c:strRef>
              <c:f>Sheet1!$A$2:$A$3</c:f>
              <c:strCache>
                <c:ptCount val="2"/>
                <c:pt idx="0">
                  <c:v>Normal exposure</c:v>
                </c:pt>
                <c:pt idx="1">
                  <c:v>Value channel × 0.6</c:v>
                </c:pt>
              </c:strCache>
            </c:strRef>
          </c:cat>
          <c:val>
            <c:numRef>
              <c:f>Sheet1!$C$2:$C$3</c:f>
              <c:numCache>
                <c:formatCode>General</c:formatCode>
                <c:ptCount val="2"/>
                <c:pt idx="0">
                  <c:v>79.0</c:v>
                </c:pt>
                <c:pt idx="1">
                  <c:v>0.0</c:v>
                </c:pt>
              </c:numCache>
            </c:numRef>
          </c:val>
        </c:ser>
        <c:gapWidth val="6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1000"/>
                  <a:t>% of frame</a:t>
                </a:r>
              </a:p>
            </c:rich>
          </c:tx>
          <c:layout/>
          <c:overlay val="0"/>
        </c:title>
        <c:majorTickMark val="out"/>
        <c:minorTickMark val="none"/>
        <c:tickLblPos val="nextTo"/>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100">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MB per second, uncompressed</c:v>
                </c:pt>
              </c:strCache>
            </c:strRef>
          </c:tx>
          <c:spPr>
            <a:solidFill>
              <a:srgbClr val="1F6FEB"/>
            </a:solidFill>
            <a:ln>
              <a:solidFill>
                <a:srgbClr val="1F6FEB"/>
              </a:solidFill>
            </a:ln>
          </c:spPr>
          <c:cat>
            <c:strRef>
              <c:f>Sheet1!$A$2:$A$5</c:f>
              <c:strCache>
                <c:ptCount val="4"/>
                <c:pt idx="0">
                  <c:v>640x360 @25</c:v>
                </c:pt>
                <c:pt idx="1">
                  <c:v>1280x720 @25</c:v>
                </c:pt>
                <c:pt idx="2">
                  <c:v>1920x1080 @30</c:v>
                </c:pt>
                <c:pt idx="3">
                  <c:v>3840x2160 @30</c:v>
                </c:pt>
              </c:strCache>
            </c:strRef>
          </c:cat>
          <c:val>
            <c:numRef>
              <c:f>Sheet1!$B$2:$B$5</c:f>
              <c:numCache>
                <c:formatCode>General</c:formatCode>
                <c:ptCount val="4"/>
                <c:pt idx="0">
                  <c:v>17.3</c:v>
                </c:pt>
                <c:pt idx="1">
                  <c:v>69.1</c:v>
                </c:pt>
                <c:pt idx="2">
                  <c:v>186.6</c:v>
                </c:pt>
                <c:pt idx="3">
                  <c:v>746.5</c:v>
                </c:pt>
              </c:numCache>
            </c:numRef>
          </c:val>
        </c:ser>
        <c:gapWidth val="6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1000"/>
                  <a:t>MB/s</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Degraded baseline (SSIM)</c:v>
                </c:pt>
              </c:strCache>
            </c:strRef>
          </c:tx>
          <c:spPr>
            <a:solidFill>
              <a:srgbClr val="1F6FEB"/>
            </a:solidFill>
            <a:ln>
              <a:solidFill>
                <a:srgbClr val="1F6FEB"/>
              </a:solidFill>
            </a:ln>
          </c:spPr>
          <c:cat>
            <c:strRef>
              <c:f>Sheet1!$A$2:$A$4</c:f>
              <c:strCache>
                <c:ptCount val="3"/>
                <c:pt idx="0">
                  <c:v>Gaussian noise</c:v>
                </c:pt>
                <c:pt idx="1">
                  <c:v>Salt-and-pepper</c:v>
                </c:pt>
                <c:pt idx="2">
                  <c:v>Defocus blur</c:v>
                </c:pt>
              </c:strCache>
            </c:strRef>
          </c:cat>
          <c:val>
            <c:numRef>
              <c:f>Sheet1!$B$2:$B$4</c:f>
              <c:numCache>
                <c:formatCode>General</c:formatCode>
                <c:ptCount val="3"/>
                <c:pt idx="0">
                  <c:v>0.26</c:v>
                </c:pt>
                <c:pt idx="1">
                  <c:v>0.322</c:v>
                </c:pt>
                <c:pt idx="2">
                  <c:v>0.876</c:v>
                </c:pt>
              </c:numCache>
            </c:numRef>
          </c:val>
        </c:ser>
        <c:ser>
          <c:idx val="1"/>
          <c:order val="1"/>
          <c:tx>
            <c:strRef>
              <c:f>Sheet1!$C$1</c:f>
              <c:strCache>
                <c:ptCount val="1"/>
                <c:pt idx="0">
                  <c:v>Median 5 (SSIM)</c:v>
                </c:pt>
              </c:strCache>
            </c:strRef>
          </c:tx>
          <c:spPr>
            <a:solidFill>
              <a:srgbClr val="10B981"/>
            </a:solidFill>
            <a:ln>
              <a:solidFill>
                <a:srgbClr val="10B981"/>
              </a:solidFill>
            </a:ln>
          </c:spPr>
          <c:cat>
            <c:strRef>
              <c:f>Sheet1!$A$2:$A$4</c:f>
              <c:strCache>
                <c:ptCount val="3"/>
                <c:pt idx="0">
                  <c:v>Gaussian noise</c:v>
                </c:pt>
                <c:pt idx="1">
                  <c:v>Salt-and-pepper</c:v>
                </c:pt>
                <c:pt idx="2">
                  <c:v>Defocus blur</c:v>
                </c:pt>
              </c:strCache>
            </c:strRef>
          </c:cat>
          <c:val>
            <c:numRef>
              <c:f>Sheet1!$C$2:$C$4</c:f>
              <c:numCache>
                <c:formatCode>General</c:formatCode>
                <c:ptCount val="3"/>
                <c:pt idx="0">
                  <c:v>0.712</c:v>
                </c:pt>
                <c:pt idx="1">
                  <c:v>0.932</c:v>
                </c:pt>
                <c:pt idx="2">
                  <c:v>0.836</c:v>
                </c:pt>
              </c:numCache>
            </c:numRef>
          </c:val>
        </c:ser>
        <c:ser>
          <c:idx val="2"/>
          <c:order val="2"/>
          <c:tx>
            <c:strRef>
              <c:f>Sheet1!$D$1</c:f>
              <c:strCache>
                <c:ptCount val="1"/>
                <c:pt idx="0">
                  <c:v>Bilateral 9/75/75 (SSIM)</c:v>
                </c:pt>
              </c:strCache>
            </c:strRef>
          </c:tx>
          <c:spPr>
            <a:solidFill>
              <a:srgbClr val="7C3AED"/>
            </a:solidFill>
            <a:ln>
              <a:solidFill>
                <a:srgbClr val="7C3AED"/>
              </a:solidFill>
            </a:ln>
          </c:spPr>
          <c:cat>
            <c:strRef>
              <c:f>Sheet1!$A$2:$A$4</c:f>
              <c:strCache>
                <c:ptCount val="3"/>
                <c:pt idx="0">
                  <c:v>Gaussian noise</c:v>
                </c:pt>
                <c:pt idx="1">
                  <c:v>Salt-and-pepper</c:v>
                </c:pt>
                <c:pt idx="2">
                  <c:v>Defocus blur</c:v>
                </c:pt>
              </c:strCache>
            </c:strRef>
          </c:cat>
          <c:val>
            <c:numRef>
              <c:f>Sheet1!$D$2:$D$4</c:f>
              <c:numCache>
                <c:formatCode>General</c:formatCode>
                <c:ptCount val="3"/>
                <c:pt idx="0">
                  <c:v>0.878</c:v>
                </c:pt>
                <c:pt idx="1">
                  <c:v>0.742</c:v>
                </c:pt>
                <c:pt idx="2">
                  <c:v>0.861</c:v>
                </c:pt>
              </c:numCache>
            </c:numRef>
          </c:val>
        </c:ser>
        <c:ser>
          <c:idx val="3"/>
          <c:order val="3"/>
          <c:tx>
            <c:strRef>
              <c:f>Sheet1!$E$1</c:f>
              <c:strCache>
                <c:ptCount val="1"/>
                <c:pt idx="0">
                  <c:v>Unsharp 1.5 (SSIM)</c:v>
                </c:pt>
              </c:strCache>
            </c:strRef>
          </c:tx>
          <c:spPr>
            <a:solidFill>
              <a:srgbClr val="F59E0B"/>
            </a:solidFill>
            <a:ln>
              <a:solidFill>
                <a:srgbClr val="F59E0B"/>
              </a:solidFill>
            </a:ln>
          </c:spPr>
          <c:cat>
            <c:strRef>
              <c:f>Sheet1!$A$2:$A$4</c:f>
              <c:strCache>
                <c:ptCount val="3"/>
                <c:pt idx="0">
                  <c:v>Gaussian noise</c:v>
                </c:pt>
                <c:pt idx="1">
                  <c:v>Salt-and-pepper</c:v>
                </c:pt>
                <c:pt idx="2">
                  <c:v>Defocus blur</c:v>
                </c:pt>
              </c:strCache>
            </c:strRef>
          </c:cat>
          <c:val>
            <c:numRef>
              <c:f>Sheet1!$E$2:$E$4</c:f>
              <c:numCache>
                <c:formatCode>General</c:formatCode>
                <c:ptCount val="3"/>
                <c:pt idx="0">
                  <c:v>0.198</c:v>
                </c:pt>
                <c:pt idx="1">
                  <c:v>0.256</c:v>
                </c:pt>
                <c:pt idx="2">
                  <c:v>0.885</c:v>
                </c:pt>
              </c:numCache>
            </c:numRef>
          </c:val>
        </c:ser>
        <c:gapWidth val="6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1000"/>
                  <a:t>SSIM (higher is better)</a:t>
                </a:r>
              </a:p>
            </c:rich>
          </c:tx>
          <c:layout/>
          <c:overlay val="0"/>
        </c:title>
        <c:majorTickMark val="out"/>
        <c:minorTickMark val="none"/>
        <c:tickLblPos val="nextTo"/>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100">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Mean absolute difference (0-255)</c:v>
                </c:pt>
              </c:strCache>
            </c:strRef>
          </c:tx>
          <c:spPr>
            <a:solidFill>
              <a:srgbClr val="1F6FEB"/>
            </a:solidFill>
            <a:ln>
              <a:solidFill>
                <a:srgbClr val="1F6FEB"/>
              </a:solidFill>
            </a:ln>
          </c:spPr>
          <c:cat>
            <c:strRef>
              <c:f>Sheet1!$A$2:$A$4</c:f>
              <c:strCache>
                <c:ptCount val="3"/>
                <c:pt idx="0">
                  <c:v>Requested region (bottle ROI)</c:v>
                </c:pt>
                <c:pt idx="1">
                  <c:v>Outside the requested region</c:v>
                </c:pt>
                <c:pt idx="2">
                  <c:v>Whole image</c:v>
                </c:pt>
              </c:strCache>
            </c:strRef>
          </c:cat>
          <c:val>
            <c:numRef>
              <c:f>Sheet1!$B$2:$B$4</c:f>
              <c:numCache>
                <c:formatCode>General</c:formatCode>
                <c:ptCount val="3"/>
                <c:pt idx="0">
                  <c:v>35.99</c:v>
                </c:pt>
                <c:pt idx="1">
                  <c:v>2.74</c:v>
                </c:pt>
                <c:pt idx="2">
                  <c:v>5.73</c:v>
                </c:pt>
              </c:numCache>
            </c:numRef>
          </c:val>
        </c:ser>
        <c:gapWidth val="6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1000"/>
                  <a:t>mean |Δ| per channel</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Subject histogram distance (mean pairwise)</c:v>
                </c:pt>
              </c:strCache>
            </c:strRef>
          </c:tx>
          <c:spPr>
            <a:solidFill>
              <a:srgbClr val="1F6FEB"/>
            </a:solidFill>
            <a:ln>
              <a:solidFill>
                <a:srgbClr val="1F6FEB"/>
              </a:solidFill>
            </a:ln>
          </c:spPr>
          <c:cat>
            <c:strRef>
              <c:f>Sheet1!$A$2:$A$5</c:f>
              <c:strCache>
                <c:ptCount val="4"/>
                <c:pt idx="0">
                  <c:v>A: subject only</c:v>
                </c:pt>
                <c:pt idx="1">
                  <c:v>B: + context</c:v>
                </c:pt>
                <c:pt idx="2">
                  <c:v>C: + subject locked, style named</c:v>
                </c:pt>
                <c:pt idx="3">
                  <c:v>D: all four locked</c:v>
                </c:pt>
              </c:strCache>
            </c:strRef>
          </c:cat>
          <c:val>
            <c:numRef>
              <c:f>Sheet1!$B$2:$B$5</c:f>
              <c:numCache>
                <c:formatCode>General</c:formatCode>
                <c:ptCount val="4"/>
                <c:pt idx="0">
                  <c:v>0.845</c:v>
                </c:pt>
                <c:pt idx="1">
                  <c:v>0.733</c:v>
                </c:pt>
                <c:pt idx="2">
                  <c:v>0.439</c:v>
                </c:pt>
                <c:pt idx="3">
                  <c:v>0.114</c:v>
                </c:pt>
              </c:numCache>
            </c:numRef>
          </c:val>
          <c:smooth val="0"/>
        </c:ser>
        <c:ser>
          <c:idx val="1"/>
          <c:order val="1"/>
          <c:tx>
            <c:strRef>
              <c:f>Sheet1!$C$1</c:f>
              <c:strCache>
                <c:ptCount val="1"/>
                <c:pt idx="0">
                  <c:v>Subject centroid spread (px / 10)</c:v>
                </c:pt>
              </c:strCache>
            </c:strRef>
          </c:tx>
          <c:spPr>
            <a:solidFill>
              <a:srgbClr val="10B981"/>
            </a:solidFill>
            <a:ln>
              <a:solidFill>
                <a:srgbClr val="10B981"/>
              </a:solidFill>
            </a:ln>
          </c:spPr>
          <c:cat>
            <c:strRef>
              <c:f>Sheet1!$A$2:$A$5</c:f>
              <c:strCache>
                <c:ptCount val="4"/>
                <c:pt idx="0">
                  <c:v>A: subject only</c:v>
                </c:pt>
                <c:pt idx="1">
                  <c:v>B: + context</c:v>
                </c:pt>
                <c:pt idx="2">
                  <c:v>C: + subject locked, style named</c:v>
                </c:pt>
                <c:pt idx="3">
                  <c:v>D: all four locked</c:v>
                </c:pt>
              </c:strCache>
            </c:strRef>
          </c:cat>
          <c:val>
            <c:numRef>
              <c:f>Sheet1!$C$2:$C$5</c:f>
              <c:numCache>
                <c:formatCode>General</c:formatCode>
                <c:ptCount val="4"/>
                <c:pt idx="0">
                  <c:v>7.27</c:v>
                </c:pt>
                <c:pt idx="1">
                  <c:v>4.77</c:v>
                </c:pt>
                <c:pt idx="2">
                  <c:v>2.17</c:v>
                </c:pt>
                <c:pt idx="3">
                  <c:v>0.6</c:v>
                </c:pt>
              </c:numCache>
            </c:numRef>
          </c:val>
          <c:smooth val="0"/>
        </c:ser>
        <c:ser>
          <c:idx val="2"/>
          <c:order val="2"/>
          <c:tx>
            <c:strRef>
              <c:f>Sheet1!$D$1</c:f>
              <c:strCache>
                <c:ptCount val="1"/>
                <c:pt idx="0">
                  <c:v>Subject saturation spread</c:v>
                </c:pt>
              </c:strCache>
            </c:strRef>
          </c:tx>
          <c:spPr>
            <a:solidFill>
              <a:srgbClr val="7C3AED"/>
            </a:solidFill>
            <a:ln>
              <a:solidFill>
                <a:srgbClr val="7C3AED"/>
              </a:solidFill>
            </a:ln>
          </c:spPr>
          <c:cat>
            <c:strRef>
              <c:f>Sheet1!$A$2:$A$5</c:f>
              <c:strCache>
                <c:ptCount val="4"/>
                <c:pt idx="0">
                  <c:v>A: subject only</c:v>
                </c:pt>
                <c:pt idx="1">
                  <c:v>B: + context</c:v>
                </c:pt>
                <c:pt idx="2">
                  <c:v>C: + subject locked, style named</c:v>
                </c:pt>
                <c:pt idx="3">
                  <c:v>D: all four locked</c:v>
                </c:pt>
              </c:strCache>
            </c:strRef>
          </c:cat>
          <c:val>
            <c:numRef>
              <c:f>Sheet1!$D$2:$D$5</c:f>
              <c:numCache>
                <c:formatCode>General</c:formatCode>
                <c:ptCount val="4"/>
                <c:pt idx="0">
                  <c:v>44.97</c:v>
                </c:pt>
                <c:pt idx="1">
                  <c:v>29.11</c:v>
                </c:pt>
                <c:pt idx="2">
                  <c:v>13.03</c:v>
                </c:pt>
                <c:pt idx="3">
                  <c:v>4.25</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txPr>
          <a:bodyPr/>
          <a:lstStyle/>
          <a:p>
            <a:pPr>
              <a:defRPr sz="1000"/>
            </a:pPr>
          </a:p>
        </c:txPr>
        <c:crossAx val="2140495176"/>
        <c:crosses val="autoZero"/>
        <c:auto val="1"/>
        <c:lblAlgn val="ctr"/>
        <c:lblOffset val="100"/>
        <c:noMultiLvlLbl val="0"/>
      </c:catAx>
      <c:valAx>
        <c:axId val="2140495176"/>
        <c:scaling/>
        <c:delete val="0"/>
        <c:axPos val="l"/>
        <c:majorGridlines/>
        <c:title>
          <c:tx>
            <c:rich>
              <a:bodyPr/>
              <a:lstStyle/>
              <a:p>
                <a:r>
                  <a:rPr sz="1000"/>
                  <a:t>spread (see series units)</a:t>
                </a:r>
              </a:p>
            </c:rich>
          </c:tx>
          <c:layout/>
          <c:overlay val="0"/>
        </c:title>
        <c:majorTickMark val="out"/>
        <c:minorTickMark val="none"/>
        <c:tickLblPos val="nextTo"/>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100">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Harris response pixels above 1% of max</c:v>
                </c:pt>
              </c:strCache>
            </c:strRef>
          </c:tx>
          <c:spPr>
            <a:solidFill>
              <a:srgbClr val="1F6FEB"/>
            </a:solidFill>
            <a:ln>
              <a:solidFill>
                <a:srgbClr val="1F6FEB"/>
              </a:solidFill>
            </a:ln>
          </c:spPr>
          <c:cat>
            <c:strRef>
              <c:f>Sheet1!$A$2:$A$4</c:f>
              <c:strCache>
                <c:ptCount val="3"/>
                <c:pt idx="0">
                  <c:v>Original</c:v>
                </c:pt>
                <c:pt idx="1">
                  <c:v>Rotated 30°</c:v>
                </c:pt>
                <c:pt idx="2">
                  <c:v>Scaled to 0.5</c:v>
                </c:pt>
              </c:strCache>
            </c:strRef>
          </c:cat>
          <c:val>
            <c:numRef>
              <c:f>Sheet1!$B$2:$B$4</c:f>
              <c:numCache>
                <c:formatCode>General</c:formatCode>
                <c:ptCount val="3"/>
                <c:pt idx="0">
                  <c:v>6452</c:v>
                </c:pt>
                <c:pt idx="1">
                  <c:v>6002</c:v>
                </c:pt>
                <c:pt idx="2">
                  <c:v>3889</c:v>
                </c:pt>
              </c:numCache>
            </c:numRef>
          </c:val>
        </c:ser>
        <c:gapWidth val="6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1000"/>
                  <a:t>response pixels</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Combined consistency score</c:v>
                </c:pt>
              </c:strCache>
            </c:strRef>
          </c:tx>
          <c:spPr>
            <a:solidFill>
              <a:srgbClr val="1F6FEB"/>
            </a:solidFill>
            <a:ln>
              <a:solidFill>
                <a:srgbClr val="1F6FEB"/>
              </a:solidFill>
            </a:ln>
          </c:spPr>
          <c:cat>
            <c:strRef>
              <c:f>Sheet1!$A$2:$A$7</c:f>
              <c:strCache>
                <c:ptCount val="6"/>
                <c:pt idx="0">
                  <c:v>asset_04</c:v>
                </c:pt>
                <c:pt idx="1">
                  <c:v>asset_08</c:v>
                </c:pt>
                <c:pt idx="2">
                  <c:v>asset_12</c:v>
                </c:pt>
                <c:pt idx="3">
                  <c:v>asset_11</c:v>
                </c:pt>
                <c:pt idx="4">
                  <c:v>asset_01</c:v>
                </c:pt>
                <c:pt idx="5">
                  <c:v>asset_06</c:v>
                </c:pt>
              </c:strCache>
            </c:strRef>
          </c:cat>
          <c:val>
            <c:numRef>
              <c:f>Sheet1!$B$2:$B$7</c:f>
              <c:numCache>
                <c:formatCode>General</c:formatCode>
                <c:ptCount val="6"/>
                <c:pt idx="0">
                  <c:v>0.594</c:v>
                </c:pt>
                <c:pt idx="1">
                  <c:v>0.406</c:v>
                </c:pt>
                <c:pt idx="2">
                  <c:v>0.11</c:v>
                </c:pt>
                <c:pt idx="3">
                  <c:v>0.054</c:v>
                </c:pt>
                <c:pt idx="4">
                  <c:v>0.038</c:v>
                </c:pt>
                <c:pt idx="5">
                  <c:v>0.03</c:v>
                </c:pt>
              </c:numCache>
            </c:numRef>
          </c:val>
        </c:ser>
        <c:ser>
          <c:idx val="1"/>
          <c:order val="1"/>
          <c:tx>
            <c:strRef>
              <c:f>Sheet1!$C$1</c:f>
              <c:strCache>
                <c:ptCount val="1"/>
                <c:pt idx="0">
                  <c:v>Reject threshold</c:v>
                </c:pt>
              </c:strCache>
            </c:strRef>
          </c:tx>
          <c:spPr>
            <a:solidFill>
              <a:srgbClr val="10B981"/>
            </a:solidFill>
            <a:ln>
              <a:solidFill>
                <a:srgbClr val="10B981"/>
              </a:solidFill>
            </a:ln>
          </c:spPr>
          <c:cat>
            <c:strRef>
              <c:f>Sheet1!$A$2:$A$7</c:f>
              <c:strCache>
                <c:ptCount val="6"/>
                <c:pt idx="0">
                  <c:v>asset_04</c:v>
                </c:pt>
                <c:pt idx="1">
                  <c:v>asset_08</c:v>
                </c:pt>
                <c:pt idx="2">
                  <c:v>asset_12</c:v>
                </c:pt>
                <c:pt idx="3">
                  <c:v>asset_11</c:v>
                </c:pt>
                <c:pt idx="4">
                  <c:v>asset_01</c:v>
                </c:pt>
                <c:pt idx="5">
                  <c:v>asset_06</c:v>
                </c:pt>
              </c:strCache>
            </c:strRef>
          </c:cat>
          <c:val>
            <c:numRef>
              <c:f>Sheet1!$C$2:$C$7</c:f>
              <c:numCache>
                <c:formatCode>General</c:formatCode>
                <c:ptCount val="6"/>
                <c:pt idx="0">
                  <c:v>0.35</c:v>
                </c:pt>
                <c:pt idx="1">
                  <c:v>0.35</c:v>
                </c:pt>
                <c:pt idx="2">
                  <c:v>0.35</c:v>
                </c:pt>
                <c:pt idx="3">
                  <c:v>0.35</c:v>
                </c:pt>
                <c:pt idx="4">
                  <c:v>0.35</c:v>
                </c:pt>
                <c:pt idx="5">
                  <c:v>0.35</c:v>
                </c:pt>
              </c:numCache>
            </c:numRef>
          </c:val>
        </c:ser>
        <c:gapWidth val="6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1000"/>
                  <a:t>combined score (lower is better)</a:t>
                </a:r>
              </a:p>
            </c:rich>
          </c:tx>
          <c:layout/>
          <c:overlay val="0"/>
        </c:title>
        <c:majorTickMark val="out"/>
        <c:minorTickMark val="none"/>
        <c:tickLblPos val="nextTo"/>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100">
          <a:latin typeface="Aria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Haar cascade — precision</c:v>
                </c:pt>
              </c:strCache>
            </c:strRef>
          </c:tx>
          <c:spPr>
            <a:solidFill>
              <a:srgbClr val="1F6FEB"/>
            </a:solidFill>
            <a:ln>
              <a:solidFill>
                <a:srgbClr val="1F6FEB"/>
              </a:solidFill>
            </a:ln>
          </c:spPr>
          <c:cat>
            <c:strRef>
              <c:f>Sheet1!$A$2:$A$4</c:f>
              <c:strCache>
                <c:ptCount val="3"/>
                <c:pt idx="0">
                  <c:v>IoU 0.3</c:v>
                </c:pt>
                <c:pt idx="1">
                  <c:v>IoU 0.5</c:v>
                </c:pt>
                <c:pt idx="2">
                  <c:v>IoU 0.7</c:v>
                </c:pt>
              </c:strCache>
            </c:strRef>
          </c:cat>
          <c:val>
            <c:numRef>
              <c:f>Sheet1!$B$2:$B$4</c:f>
              <c:numCache>
                <c:formatCode>General</c:formatCode>
                <c:ptCount val="3"/>
                <c:pt idx="0">
                  <c:v>1.0</c:v>
                </c:pt>
                <c:pt idx="1">
                  <c:v>1.0</c:v>
                </c:pt>
                <c:pt idx="2">
                  <c:v>0.938</c:v>
                </c:pt>
              </c:numCache>
            </c:numRef>
          </c:val>
          <c:smooth val="0"/>
        </c:ser>
        <c:ser>
          <c:idx val="1"/>
          <c:order val="1"/>
          <c:tx>
            <c:strRef>
              <c:f>Sheet1!$C$1</c:f>
              <c:strCache>
                <c:ptCount val="1"/>
                <c:pt idx="0">
                  <c:v>Haar cascade — recall</c:v>
                </c:pt>
              </c:strCache>
            </c:strRef>
          </c:tx>
          <c:spPr>
            <a:solidFill>
              <a:srgbClr val="10B981"/>
            </a:solidFill>
            <a:ln>
              <a:solidFill>
                <a:srgbClr val="10B981"/>
              </a:solidFill>
            </a:ln>
          </c:spPr>
          <c:cat>
            <c:strRef>
              <c:f>Sheet1!$A$2:$A$4</c:f>
              <c:strCache>
                <c:ptCount val="3"/>
                <c:pt idx="0">
                  <c:v>IoU 0.3</c:v>
                </c:pt>
                <c:pt idx="1">
                  <c:v>IoU 0.5</c:v>
                </c:pt>
                <c:pt idx="2">
                  <c:v>IoU 0.7</c:v>
                </c:pt>
              </c:strCache>
            </c:strRef>
          </c:cat>
          <c:val>
            <c:numRef>
              <c:f>Sheet1!$C$2:$C$4</c:f>
              <c:numCache>
                <c:formatCode>General</c:formatCode>
                <c:ptCount val="3"/>
                <c:pt idx="0">
                  <c:v>0.889</c:v>
                </c:pt>
                <c:pt idx="1">
                  <c:v>0.889</c:v>
                </c:pt>
                <c:pt idx="2">
                  <c:v>0.833</c:v>
                </c:pt>
              </c:numCache>
            </c:numRef>
          </c:val>
          <c:smooth val="0"/>
        </c:ser>
        <c:ser>
          <c:idx val="2"/>
          <c:order val="2"/>
          <c:tx>
            <c:strRef>
              <c:f>Sheet1!$D$1</c:f>
              <c:strCache>
                <c:ptCount val="1"/>
                <c:pt idx="0">
                  <c:v>HOG + SVM — precision</c:v>
                </c:pt>
              </c:strCache>
            </c:strRef>
          </c:tx>
          <c:spPr>
            <a:solidFill>
              <a:srgbClr val="7C3AED"/>
            </a:solidFill>
            <a:ln>
              <a:solidFill>
                <a:srgbClr val="7C3AED"/>
              </a:solidFill>
            </a:ln>
          </c:spPr>
          <c:cat>
            <c:strRef>
              <c:f>Sheet1!$A$2:$A$4</c:f>
              <c:strCache>
                <c:ptCount val="3"/>
                <c:pt idx="0">
                  <c:v>IoU 0.3</c:v>
                </c:pt>
                <c:pt idx="1">
                  <c:v>IoU 0.5</c:v>
                </c:pt>
                <c:pt idx="2">
                  <c:v>IoU 0.7</c:v>
                </c:pt>
              </c:strCache>
            </c:strRef>
          </c:cat>
          <c:val>
            <c:numRef>
              <c:f>Sheet1!$D$2:$D$4</c:f>
              <c:numCache>
                <c:formatCode>General</c:formatCode>
                <c:ptCount val="3"/>
                <c:pt idx="0">
                  <c:v>1.0</c:v>
                </c:pt>
                <c:pt idx="1">
                  <c:v>0.938</c:v>
                </c:pt>
                <c:pt idx="2">
                  <c:v>0.0</c:v>
                </c:pt>
              </c:numCache>
            </c:numRef>
          </c:val>
          <c:smooth val="0"/>
        </c:ser>
        <c:ser>
          <c:idx val="3"/>
          <c:order val="3"/>
          <c:tx>
            <c:strRef>
              <c:f>Sheet1!$E$1</c:f>
              <c:strCache>
                <c:ptCount val="1"/>
                <c:pt idx="0">
                  <c:v>HOG + SVM — recall</c:v>
                </c:pt>
              </c:strCache>
            </c:strRef>
          </c:tx>
          <c:spPr>
            <a:solidFill>
              <a:srgbClr val="F59E0B"/>
            </a:solidFill>
            <a:ln>
              <a:solidFill>
                <a:srgbClr val="F59E0B"/>
              </a:solidFill>
            </a:ln>
          </c:spPr>
          <c:cat>
            <c:strRef>
              <c:f>Sheet1!$A$2:$A$4</c:f>
              <c:strCache>
                <c:ptCount val="3"/>
                <c:pt idx="0">
                  <c:v>IoU 0.3</c:v>
                </c:pt>
                <c:pt idx="1">
                  <c:v>IoU 0.5</c:v>
                </c:pt>
                <c:pt idx="2">
                  <c:v>IoU 0.7</c:v>
                </c:pt>
              </c:strCache>
            </c:strRef>
          </c:cat>
          <c:val>
            <c:numRef>
              <c:f>Sheet1!$E$2:$E$4</c:f>
              <c:numCache>
                <c:formatCode>General</c:formatCode>
                <c:ptCount val="3"/>
                <c:pt idx="0">
                  <c:v>1.0</c:v>
                </c:pt>
                <c:pt idx="1">
                  <c:v>0.938</c:v>
                </c:pt>
                <c:pt idx="2">
                  <c:v>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txPr>
          <a:bodyPr/>
          <a:lstStyle/>
          <a:p>
            <a:pPr>
              <a:defRPr sz="1000"/>
            </a:pPr>
          </a:p>
        </c:txPr>
        <c:crossAx val="2140495176"/>
        <c:crosses val="autoZero"/>
        <c:auto val="1"/>
        <c:lblAlgn val="ctr"/>
        <c:lblOffset val="100"/>
        <c:noMultiLvlLbl val="0"/>
      </c:catAx>
      <c:valAx>
        <c:axId val="2140495176"/>
        <c:scaling/>
        <c:delete val="0"/>
        <c:axPos val="l"/>
        <c:majorGridlines/>
        <c:title>
          <c:tx>
            <c:rich>
              <a:bodyPr/>
              <a:lstStyle/>
              <a:p>
                <a:r>
                  <a:rPr sz="1000"/>
                  <a:t>precision / recall</a:t>
                </a:r>
              </a:p>
            </c:rich>
          </c:tx>
          <c:layout/>
          <c:overlay val="0"/>
        </c:title>
        <c:majorTickMark val="out"/>
        <c:minorTickMark val="none"/>
        <c:tickLblPos val="nextTo"/>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100">
          <a:latin typeface="Arial"/>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Reported accuracy (%)</c:v>
                </c:pt>
              </c:strCache>
            </c:strRef>
          </c:tx>
          <c:spPr>
            <a:solidFill>
              <a:srgbClr val="1F6FEB"/>
            </a:solidFill>
            <a:ln>
              <a:solidFill>
                <a:srgbClr val="1F6FEB"/>
              </a:solidFill>
            </a:ln>
          </c:spPr>
          <c:cat>
            <c:strRef>
              <c:f>Sheet1!$A$2:$A$6</c:f>
              <c:strCache>
                <c:ptCount val="5"/>
                <c:pt idx="0">
                  <c:v>EfficientFormer
(GenReal)</c:v>
                </c:pt>
                <c:pt idx="1">
                  <c:v>FastViT / CoAt-Lite
(GenReal)</c:v>
                </c:pt>
                <c:pt idx="2">
                  <c:v>CoAt-Lite Mini
(CIFAKE)</c:v>
                </c:pt>
                <c:pt idx="3">
                  <c:v>Xception
(deepfake)</c:v>
                </c:pt>
                <c:pt idx="4">
                  <c:v>DenseNet121
(deepfake)</c:v>
                </c:pt>
              </c:strCache>
            </c:strRef>
          </c:cat>
          <c:val>
            <c:numRef>
              <c:f>Sheet1!$B$2:$B$6</c:f>
              <c:numCache>
                <c:formatCode>General</c:formatCode>
                <c:ptCount val="5"/>
                <c:pt idx="0">
                  <c:v>99.6</c:v>
                </c:pt>
                <c:pt idx="1">
                  <c:v>99.1</c:v>
                </c:pt>
                <c:pt idx="2">
                  <c:v>98.04</c:v>
                </c:pt>
                <c:pt idx="3">
                  <c:v>77.5</c:v>
                </c:pt>
                <c:pt idx="4">
                  <c:v>75.5</c:v>
                </c:pt>
              </c:numCache>
            </c:numRef>
          </c:val>
        </c:ser>
        <c:gapWidth val="6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1000"/>
                  <a:t>reported accuracy (%)</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First-to-last area ratio (truth = 3.876)</c:v>
                </c:pt>
              </c:strCache>
            </c:strRef>
          </c:tx>
          <c:spPr>
            <a:solidFill>
              <a:srgbClr val="1F6FEB"/>
            </a:solidFill>
            <a:ln>
              <a:solidFill>
                <a:srgbClr val="1F6FEB"/>
              </a:solidFill>
            </a:ln>
          </c:spPr>
          <c:cat>
            <c:strRef>
              <c:f>Sheet1!$A$2:$A$4</c:f>
              <c:strCache>
                <c:ptCount val="3"/>
                <c:pt idx="0">
                  <c:v>Mean shift</c:v>
                </c:pt>
                <c:pt idx="1">
                  <c:v>CAMShift</c:v>
                </c:pt>
                <c:pt idx="2">
                  <c:v>TrackerMIL</c:v>
                </c:pt>
              </c:strCache>
            </c:strRef>
          </c:cat>
          <c:val>
            <c:numRef>
              <c:f>Sheet1!$B$2:$B$4</c:f>
              <c:numCache>
                <c:formatCode>General</c:formatCode>
                <c:ptCount val="3"/>
                <c:pt idx="0">
                  <c:v>1.0</c:v>
                </c:pt>
                <c:pt idx="1">
                  <c:v>5.64</c:v>
                </c:pt>
                <c:pt idx="2">
                  <c:v>1.0</c:v>
                </c:pt>
              </c:numCache>
            </c:numRef>
          </c:val>
        </c:ser>
        <c:ser>
          <c:idx val="1"/>
          <c:order val="1"/>
          <c:tx>
            <c:strRef>
              <c:f>Sheet1!$C$1</c:f>
              <c:strCache>
                <c:ptCount val="1"/>
                <c:pt idx="0">
                  <c:v>Relative scale drift (limit 0.50)</c:v>
                </c:pt>
              </c:strCache>
            </c:strRef>
          </c:tx>
          <c:spPr>
            <a:solidFill>
              <a:srgbClr val="10B981"/>
            </a:solidFill>
            <a:ln>
              <a:solidFill>
                <a:srgbClr val="10B981"/>
              </a:solidFill>
            </a:ln>
          </c:spPr>
          <c:cat>
            <c:strRef>
              <c:f>Sheet1!$A$2:$A$4</c:f>
              <c:strCache>
                <c:ptCount val="3"/>
                <c:pt idx="0">
                  <c:v>Mean shift</c:v>
                </c:pt>
                <c:pt idx="1">
                  <c:v>CAMShift</c:v>
                </c:pt>
                <c:pt idx="2">
                  <c:v>TrackerMIL</c:v>
                </c:pt>
              </c:strCache>
            </c:strRef>
          </c:cat>
          <c:val>
            <c:numRef>
              <c:f>Sheet1!$C$2:$C$4</c:f>
              <c:numCache>
                <c:formatCode>General</c:formatCode>
                <c:ptCount val="3"/>
                <c:pt idx="0">
                  <c:v>0.742</c:v>
                </c:pt>
                <c:pt idx="1">
                  <c:v>0.455</c:v>
                </c:pt>
                <c:pt idx="2">
                  <c:v>0.742</c:v>
                </c:pt>
              </c:numCache>
            </c:numRef>
          </c:val>
        </c:ser>
        <c:ser>
          <c:idx val="2"/>
          <c:order val="2"/>
          <c:tx>
            <c:strRef>
              <c:f>Sheet1!$D$1</c:f>
              <c:strCache>
                <c:ptCount val="1"/>
                <c:pt idx="0">
                  <c:v>Mean IoU against truth</c:v>
                </c:pt>
              </c:strCache>
            </c:strRef>
          </c:tx>
          <c:spPr>
            <a:solidFill>
              <a:srgbClr val="7C3AED"/>
            </a:solidFill>
            <a:ln>
              <a:solidFill>
                <a:srgbClr val="7C3AED"/>
              </a:solidFill>
            </a:ln>
          </c:spPr>
          <c:cat>
            <c:strRef>
              <c:f>Sheet1!$A$2:$A$4</c:f>
              <c:strCache>
                <c:ptCount val="3"/>
                <c:pt idx="0">
                  <c:v>Mean shift</c:v>
                </c:pt>
                <c:pt idx="1">
                  <c:v>CAMShift</c:v>
                </c:pt>
                <c:pt idx="2">
                  <c:v>TrackerMIL</c:v>
                </c:pt>
              </c:strCache>
            </c:strRef>
          </c:cat>
          <c:val>
            <c:numRef>
              <c:f>Sheet1!$D$2:$D$4</c:f>
              <c:numCache>
                <c:formatCode>General</c:formatCode>
                <c:ptCount val="3"/>
                <c:pt idx="0">
                  <c:v>0.374</c:v>
                </c:pt>
                <c:pt idx="1">
                  <c:v>0.762</c:v>
                </c:pt>
                <c:pt idx="2">
                  <c:v>0.509</c:v>
                </c:pt>
              </c:numCache>
            </c:numRef>
          </c:val>
        </c:ser>
        <c:gapWidth val="6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100">
          <a:latin typeface="Arial"/>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Median ms per frame</c:v>
                </c:pt>
              </c:strCache>
            </c:strRef>
          </c:tx>
          <c:spPr>
            <a:solidFill>
              <a:srgbClr val="1F6FEB"/>
            </a:solidFill>
            <a:ln>
              <a:solidFill>
                <a:srgbClr val="1F6FEB"/>
              </a:solidFill>
            </a:ln>
          </c:spPr>
          <c:cat>
            <c:strRef>
              <c:f>Sheet1!$A$2:$A$10</c:f>
              <c:strCache>
                <c:ptCount val="9"/>
                <c:pt idx="0">
                  <c:v>decode</c:v>
                </c:pt>
                <c:pt idx="1">
                  <c:v>colour
convert</c:v>
                </c:pt>
                <c:pt idx="2">
                  <c:v>denoise</c:v>
                </c:pt>
                <c:pt idx="3">
                  <c:v>bg
subtract</c:v>
                </c:pt>
                <c:pt idx="4">
                  <c:v>canny</c:v>
                </c:pt>
                <c:pt idx="5">
                  <c:v>ORB
500</c:v>
                </c:pt>
                <c:pt idx="6">
                  <c:v>haar
detect</c:v>
                </c:pt>
                <c:pt idx="7">
                  <c:v>optical
flow</c:v>
                </c:pt>
                <c:pt idx="8">
                  <c:v>jpeg
encode</c:v>
                </c:pt>
              </c:strCache>
            </c:strRef>
          </c:cat>
          <c:val>
            <c:numRef>
              <c:f>Sheet1!$B$2:$B$10</c:f>
              <c:numCache>
                <c:formatCode>General</c:formatCode>
                <c:ptCount val="9"/>
                <c:pt idx="0">
                  <c:v>0.3</c:v>
                </c:pt>
                <c:pt idx="1">
                  <c:v>0.2</c:v>
                </c:pt>
                <c:pt idx="2">
                  <c:v>0.13</c:v>
                </c:pt>
                <c:pt idx="3">
                  <c:v>1.77</c:v>
                </c:pt>
                <c:pt idx="4">
                  <c:v>0.3</c:v>
                </c:pt>
                <c:pt idx="5">
                  <c:v>4.66</c:v>
                </c:pt>
                <c:pt idx="6">
                  <c:v>16.09</c:v>
                </c:pt>
                <c:pt idx="7">
                  <c:v>54.22</c:v>
                </c:pt>
                <c:pt idx="8">
                  <c:v>1.03</c:v>
                </c:pt>
              </c:numCache>
            </c:numRef>
          </c:val>
        </c:ser>
        <c:gapWidth val="6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1000"/>
                  <a:t>milliseconds</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Sampling time (seconds)</c:v>
                </c:pt>
              </c:strCache>
            </c:strRef>
          </c:tx>
          <c:spPr>
            <a:solidFill>
              <a:srgbClr val="1F6FEB"/>
            </a:solidFill>
            <a:ln>
              <a:solidFill>
                <a:srgbClr val="1F6FEB"/>
              </a:solidFill>
            </a:ln>
          </c:spPr>
          <c:cat>
            <c:strRef>
              <c:f>Sheet1!$A$2:$A$3</c:f>
              <c:strCache>
                <c:ptCount val="2"/>
                <c:pt idx="0">
                  <c:v>Image, 25 steps</c:v>
                </c:pt>
                <c:pt idx="1">
                  <c:v>Video, 25 steps × 200 frames</c:v>
                </c:pt>
              </c:strCache>
            </c:strRef>
          </c:cat>
          <c:val>
            <c:numRef>
              <c:f>Sheet1!$B$2:$B$3</c:f>
              <c:numCache>
                <c:formatCode>General</c:formatCode>
                <c:ptCount val="2"/>
                <c:pt idx="0">
                  <c:v>1.0</c:v>
                </c:pt>
                <c:pt idx="1">
                  <c:v>200.0</c:v>
                </c:pt>
              </c:numCache>
            </c:numRef>
          </c:val>
        </c:ser>
        <c:gapWidth val="6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1000"/>
                  <a:t>seconds</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Mbit/s per store</c:v>
                </c:pt>
              </c:strCache>
            </c:strRef>
          </c:tx>
          <c:spPr>
            <a:solidFill>
              <a:srgbClr val="1F6FEB"/>
            </a:solidFill>
            <a:ln>
              <a:solidFill>
                <a:srgbClr val="1F6FEB"/>
              </a:solidFill>
            </a:ln>
          </c:spPr>
          <c:cat>
            <c:strRef>
              <c:f>Sheet1!$A$2:$A$5</c:f>
              <c:strCache>
                <c:ptCount val="4"/>
                <c:pt idx="0">
                  <c:v>A raw frames</c:v>
                </c:pt>
                <c:pt idx="1">
                  <c:v>B encoded video</c:v>
                </c:pt>
                <c:pt idx="2">
                  <c:v>C ORB features</c:v>
                </c:pt>
                <c:pt idx="3">
                  <c:v>D events only</c:v>
                </c:pt>
              </c:strCache>
            </c:strRef>
          </c:cat>
          <c:val>
            <c:numRef>
              <c:f>Sheet1!$B$2:$B$5</c:f>
              <c:numCache>
                <c:formatCode>General</c:formatCode>
                <c:ptCount val="4"/>
                <c:pt idx="0">
                  <c:v>552.96</c:v>
                </c:pt>
                <c:pt idx="1">
                  <c:v>2.5</c:v>
                </c:pt>
                <c:pt idx="2">
                  <c:v>3.2</c:v>
                </c:pt>
                <c:pt idx="3">
                  <c:v>0.00032</c:v>
                </c:pt>
              </c:numCache>
            </c:numRef>
          </c:val>
        </c:ser>
        <c:ser>
          <c:idx val="1"/>
          <c:order val="1"/>
          <c:tx>
            <c:strRef>
              <c:f>Sheet1!$C$1</c:f>
              <c:strCache>
                <c:ptCount val="1"/>
                <c:pt idx="0">
                  <c:v>Available uplink (Mbit/s)</c:v>
                </c:pt>
              </c:strCache>
            </c:strRef>
          </c:tx>
          <c:spPr>
            <a:solidFill>
              <a:srgbClr val="10B981"/>
            </a:solidFill>
            <a:ln>
              <a:solidFill>
                <a:srgbClr val="10B981"/>
              </a:solidFill>
            </a:ln>
          </c:spPr>
          <c:cat>
            <c:strRef>
              <c:f>Sheet1!$A$2:$A$5</c:f>
              <c:strCache>
                <c:ptCount val="4"/>
                <c:pt idx="0">
                  <c:v>A raw frames</c:v>
                </c:pt>
                <c:pt idx="1">
                  <c:v>B encoded video</c:v>
                </c:pt>
                <c:pt idx="2">
                  <c:v>C ORB features</c:v>
                </c:pt>
                <c:pt idx="3">
                  <c:v>D events only</c:v>
                </c:pt>
              </c:strCache>
            </c:strRef>
          </c:cat>
          <c:val>
            <c:numRef>
              <c:f>Sheet1!$C$2:$C$5</c:f>
              <c:numCache>
                <c:formatCode>General</c:formatCode>
                <c:ptCount val="4"/>
                <c:pt idx="0">
                  <c:v>20</c:v>
                </c:pt>
                <c:pt idx="1">
                  <c:v>20</c:v>
                </c:pt>
                <c:pt idx="2">
                  <c:v>20</c:v>
                </c:pt>
                <c:pt idx="3">
                  <c:v>20</c:v>
                </c:pt>
              </c:numCache>
            </c:numRef>
          </c:val>
        </c:ser>
        <c:gapWidth val="6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1000"/>
                  <a:t>Mbit/s per store</a:t>
                </a:r>
              </a:p>
            </c:rich>
          </c:tx>
          <c:layout/>
          <c:overlay val="0"/>
        </c:title>
        <c:majorTickMark val="out"/>
        <c:minorTickMark val="none"/>
        <c:tickLblPos val="nextTo"/>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100">
          <a:latin typeface="Arial"/>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Baseline: FP32, full fine-tune</c:v>
                </c:pt>
              </c:strCache>
            </c:strRef>
          </c:tx>
          <c:spPr>
            <a:solidFill>
              <a:srgbClr val="1F6FEB"/>
            </a:solidFill>
            <a:ln>
              <a:solidFill>
                <a:srgbClr val="1F6FEB"/>
              </a:solidFill>
            </a:ln>
          </c:spPr>
          <c:cat>
            <c:strRef>
              <c:f>Sheet1!$A$2:$A$3</c:f>
              <c:strCache>
                <c:ptCount val="2"/>
                <c:pt idx="0">
                  <c:v>Parameter memory (GB)</c:v>
                </c:pt>
                <c:pt idx="1">
                  <c:v>Trainable params, one layer (millions)</c:v>
                </c:pt>
              </c:strCache>
            </c:strRef>
          </c:cat>
          <c:val>
            <c:numRef>
              <c:f>Sheet1!$B$2:$B$3</c:f>
              <c:numCache>
                <c:formatCode>General</c:formatCode>
                <c:ptCount val="2"/>
                <c:pt idx="0">
                  <c:v>10.4</c:v>
                </c:pt>
                <c:pt idx="1">
                  <c:v>16.78</c:v>
                </c:pt>
              </c:numCache>
            </c:numRef>
          </c:val>
        </c:ser>
        <c:ser>
          <c:idx val="1"/>
          <c:order val="1"/>
          <c:tx>
            <c:strRef>
              <c:f>Sheet1!$C$1</c:f>
              <c:strCache>
                <c:ptCount val="1"/>
                <c:pt idx="0">
                  <c:v>INT8 weights + rank-16 adapter</c:v>
                </c:pt>
              </c:strCache>
            </c:strRef>
          </c:tx>
          <c:spPr>
            <a:solidFill>
              <a:srgbClr val="10B981"/>
            </a:solidFill>
            <a:ln>
              <a:solidFill>
                <a:srgbClr val="10B981"/>
              </a:solidFill>
            </a:ln>
          </c:spPr>
          <c:cat>
            <c:strRef>
              <c:f>Sheet1!$A$2:$A$3</c:f>
              <c:strCache>
                <c:ptCount val="2"/>
                <c:pt idx="0">
                  <c:v>Parameter memory (GB)</c:v>
                </c:pt>
                <c:pt idx="1">
                  <c:v>Trainable params, one layer (millions)</c:v>
                </c:pt>
              </c:strCache>
            </c:strRef>
          </c:cat>
          <c:val>
            <c:numRef>
              <c:f>Sheet1!$C$2:$C$3</c:f>
              <c:numCache>
                <c:formatCode>General</c:formatCode>
                <c:ptCount val="2"/>
                <c:pt idx="0">
                  <c:v>2.6</c:v>
                </c:pt>
                <c:pt idx="1">
                  <c:v>0.13</c:v>
                </c:pt>
              </c:numCache>
            </c:numRef>
          </c:val>
        </c:ser>
        <c:gapWidth val="6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1000"/>
                  <a:t>GB / millions of parameters</a:t>
                </a:r>
              </a:p>
            </c:rich>
          </c:tx>
          <c:layout/>
          <c:overlay val="0"/>
        </c:title>
        <c:majorTickMark val="out"/>
        <c:minorTickMark val="none"/>
        <c:tickLblPos val="nextTo"/>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100">
          <a:latin typeface="Arial"/>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Mean absolute RGB difference</c:v>
                </c:pt>
              </c:strCache>
            </c:strRef>
          </c:tx>
          <c:spPr>
            <a:solidFill>
              <a:srgbClr val="1F6FEB"/>
            </a:solidFill>
            <a:ln>
              <a:solidFill>
                <a:srgbClr val="1F6FEB"/>
              </a:solidFill>
            </a:ln>
          </c:spPr>
          <c:cat>
            <c:strRef>
              <c:f>Sheet1!$A$2:$A$4</c:f>
              <c:strCache>
                <c:ptCount val="3"/>
                <c:pt idx="0">
                  <c:v>Bottle rectangle</c:v>
                </c:pt>
                <c:pt idx="1">
                  <c:v>Outside rectangle</c:v>
                </c:pt>
                <c:pt idx="2">
                  <c:v>Whole image</c:v>
                </c:pt>
              </c:strCache>
            </c:strRef>
          </c:cat>
          <c:val>
            <c:numRef>
              <c:f>Sheet1!$B$2:$B$4</c:f>
              <c:numCache>
                <c:formatCode>General</c:formatCode>
                <c:ptCount val="3"/>
                <c:pt idx="0">
                  <c:v>35.99</c:v>
                </c:pt>
                <c:pt idx="1">
                  <c:v>2.74</c:v>
                </c:pt>
                <c:pt idx="2">
                  <c:v>5.73</c:v>
                </c:pt>
              </c:numCache>
            </c:numRef>
          </c:val>
        </c:ser>
        <c:gapWidth val="6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1000"/>
                  <a:t>Mean absolute RGB difference</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OpenAI imagegen assets generated for this course, 6 Sep 2026. Exact prompts: labs/lab-04-masking-inpainting-outpainting/reference/ai-generated/PROVENANCE.md. No claim of a pixel-perfect edit.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 absolute RGB channel difference on 0-255 scale; approximate rectangular bottle ROI, not a segmentation mask; normalised rectangle [0.47, 0.22, 0.6, 0.91]. Measurements from courseware/assets/edit-measurements.json. Original and edited images are included in Lab04.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4.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5.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6.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8.xml"/><Relationship Id="rId3" Type="http://schemas.openxmlformats.org/officeDocument/2006/relationships/notesSlide" Target="../notesSlides/notesSlide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48856" y="2224737"/>
            <a:ext cx="4681728" cy="26828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oral-bottle-reference.png"/>
          <p:cNvPicPr>
            <a:picLocks noChangeAspect="1"/>
          </p:cNvPicPr>
          <p:nvPr/>
        </p:nvPicPr>
        <p:blipFill>
          <a:blip r:embed="rId2"/>
          <a:stretch>
            <a:fillRect/>
          </a:stretch>
        </p:blipFill>
        <p:spPr>
          <a:xfrm>
            <a:off x="6903720" y="2279601"/>
            <a:ext cx="4572000" cy="2573117"/>
          </a:xfrm>
          <a:prstGeom prst="rect">
            <a:avLst/>
          </a:prstGeom>
        </p:spPr>
      </p:pic>
      <p:sp>
        <p:nvSpPr>
          <p:cNvPr id="7" name="TextBox 6"/>
          <p:cNvSpPr txBox="1"/>
          <p:nvPr/>
        </p:nvSpPr>
        <p:spPr>
          <a:xfrm>
            <a:off x="6903720" y="4907582"/>
            <a:ext cx="4572000" cy="274320"/>
          </a:xfrm>
          <a:prstGeom prst="rect">
            <a:avLst/>
          </a:prstGeom>
          <a:noFill/>
        </p:spPr>
        <p:txBody>
          <a:bodyPr wrap="square" anchor="t">
            <a:spAutoFit/>
          </a:bodyPr>
          <a:lstStyle/>
          <a:p>
            <a:pPr algn="r">
              <a:spcAft>
                <a:spcPts val="400"/>
              </a:spcAft>
            </a:pPr>
            <a:r>
              <a:rPr sz="800" b="0">
                <a:solidFill>
                  <a:srgbClr val="5B6372"/>
                </a:solidFill>
                <a:latin typeface="Arial"/>
              </a:rPr>
              <a:t>AI-generated course reference image · see courseware/assets/imagegen-provenance.json</a:t>
            </a:r>
          </a:p>
        </p:txBody>
      </p:sp>
      <p:pic>
        <p:nvPicPr>
          <p:cNvPr id="8" name="Picture 7" descr="tertiary-infotech-logo.png"/>
          <p:cNvPicPr>
            <a:picLocks noChangeAspect="1"/>
          </p:cNvPicPr>
          <p:nvPr/>
        </p:nvPicPr>
        <p:blipFill>
          <a:blip r:embed="rId3"/>
          <a:stretch>
            <a:fillRect/>
          </a:stretch>
        </p:blipFill>
        <p:spPr>
          <a:xfrm>
            <a:off x="777240" y="566928"/>
            <a:ext cx="868680" cy="868680"/>
          </a:xfrm>
          <a:prstGeom prst="rect">
            <a:avLst/>
          </a:prstGeom>
        </p:spPr>
      </p:pic>
      <p:sp>
        <p:nvSpPr>
          <p:cNvPr id="9" name="Rectangle 8"/>
          <p:cNvSpPr/>
          <p:nvPr/>
        </p:nvSpPr>
        <p:spPr>
          <a:xfrm>
            <a:off x="777240" y="1591056"/>
            <a:ext cx="232072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91056"/>
            <a:ext cx="2320724" cy="310896"/>
          </a:xfrm>
          <a:prstGeom prst="rect">
            <a:avLst/>
          </a:prstGeom>
          <a:noFill/>
        </p:spPr>
        <p:txBody>
          <a:bodyPr wrap="square" anchor="ctr">
            <a:spAutoFit/>
          </a:bodyPr>
          <a:lstStyle/>
          <a:p>
            <a:pPr algn="ctr">
              <a:spcAft>
                <a:spcPts val="400"/>
              </a:spcAft>
            </a:pPr>
            <a:r>
              <a:rPr sz="1100" b="1">
                <a:solidFill>
                  <a:srgbClr val="FFFFFF"/>
                </a:solidFill>
                <a:latin typeface="Arial"/>
              </a:rPr>
              <a:t>GENERATIVE AI · IMAGE &amp; VIDEO</a:t>
            </a:r>
          </a:p>
        </p:txBody>
      </p:sp>
      <p:sp>
        <p:nvSpPr>
          <p:cNvPr id="11" name="TextBox 10"/>
          <p:cNvSpPr txBox="1"/>
          <p:nvPr/>
        </p:nvSpPr>
        <p:spPr>
          <a:xfrm>
            <a:off x="822960" y="2103120"/>
            <a:ext cx="6309360" cy="457200"/>
          </a:xfrm>
          <a:prstGeom prst="rect">
            <a:avLst/>
          </a:prstGeom>
          <a:noFill/>
        </p:spPr>
        <p:txBody>
          <a:bodyPr wrap="square" anchor="t">
            <a:spAutoFit/>
          </a:bodyPr>
          <a:lstStyle/>
          <a:p>
            <a:pPr algn="l">
              <a:spcAft>
                <a:spcPts val="400"/>
              </a:spcAft>
            </a:pPr>
            <a:r>
              <a:rPr sz="1500" b="1">
                <a:solidFill>
                  <a:srgbClr val="1F6FEB"/>
                </a:solidFill>
                <a:latin typeface="Arial"/>
              </a:rPr>
              <a:t>COURSE SLIDES  ·  WSQ</a:t>
            </a:r>
          </a:p>
        </p:txBody>
      </p:sp>
      <p:sp>
        <p:nvSpPr>
          <p:cNvPr id="12" name="TextBox 11"/>
          <p:cNvSpPr txBox="1"/>
          <p:nvPr/>
        </p:nvSpPr>
        <p:spPr>
          <a:xfrm>
            <a:off x="822960" y="2560320"/>
            <a:ext cx="6309360" cy="1737360"/>
          </a:xfrm>
          <a:prstGeom prst="rect">
            <a:avLst/>
          </a:prstGeom>
          <a:noFill/>
        </p:spPr>
        <p:txBody>
          <a:bodyPr wrap="square" anchor="t">
            <a:spAutoFit/>
          </a:bodyPr>
          <a:lstStyle/>
          <a:p>
            <a:pPr algn="l">
              <a:spcAft>
                <a:spcPts val="400"/>
              </a:spcAft>
            </a:pPr>
            <a:r>
              <a:rPr sz="3600" b="1">
                <a:solidFill>
                  <a:srgbClr val="161B26"/>
                </a:solidFill>
                <a:latin typeface="Arial"/>
              </a:rPr>
              <a:t>Generative AI for Image and Video Creation</a:t>
            </a:r>
          </a:p>
        </p:txBody>
      </p:sp>
      <p:sp>
        <p:nvSpPr>
          <p:cNvPr id="13" name="Rectangle 12"/>
          <p:cNvSpPr/>
          <p:nvPr/>
        </p:nvSpPr>
        <p:spPr>
          <a:xfrm>
            <a:off x="841248" y="4224528"/>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498848"/>
            <a:ext cx="6309360" cy="1371600"/>
          </a:xfrm>
          <a:prstGeom prst="rect">
            <a:avLst/>
          </a:prstGeom>
          <a:noFill/>
        </p:spPr>
        <p:txBody>
          <a:bodyPr wrap="square" anchor="t">
            <a:spAutoFit/>
          </a:bodyPr>
          <a:lstStyle/>
          <a:p>
            <a:pPr algn="l">
              <a:spcAft>
                <a:spcPts val="600"/>
              </a:spcAft>
            </a:pPr>
            <a:r>
              <a:rPr sz="1400" b="0">
                <a:solidFill>
                  <a:srgbClr val="5B6372"/>
                </a:solidFill>
                <a:latin typeface="Arial"/>
              </a:rPr>
              <a:t>WSQ Course Code: TGS-2020505925  ·  2 Days  ·  16 Programme Hours</a:t>
            </a:r>
          </a:p>
          <a:p>
            <a:pPr algn="l">
              <a:spcAft>
                <a:spcPts val="600"/>
              </a:spcAft>
            </a:pPr>
            <a:r>
              <a:rPr sz="1400" b="0">
                <a:solidFill>
                  <a:srgbClr val="5B6372"/>
                </a:solidFill>
                <a:latin typeface="Arial"/>
              </a:rPr>
              <a:t>Skills Framework TSC: Computer Vision Technology (ICT-DIT-4022-1.1)</a:t>
            </a:r>
          </a:p>
          <a:p>
            <a:pPr algn="l">
              <a:spcAft>
                <a:spcPts val="600"/>
              </a:spcAft>
            </a:pPr>
            <a:r>
              <a:rPr sz="1400" b="0">
                <a:solidFill>
                  <a:srgbClr val="5B6372"/>
                </a:solidFill>
                <a:latin typeface="Arial"/>
              </a:rPr>
              <a:t>Conducted by Tertiary Infotech Academy Pte Ltd  ·  UEN 201200696W</a:t>
            </a:r>
          </a:p>
        </p:txBody>
      </p:sp>
      <p:sp>
        <p:nvSpPr>
          <p:cNvPr id="15" name="TextBox 14"/>
          <p:cNvSpPr txBox="1"/>
          <p:nvPr/>
        </p:nvSpPr>
        <p:spPr>
          <a:xfrm>
            <a:off x="822960" y="5897880"/>
            <a:ext cx="6309360" cy="365760"/>
          </a:xfrm>
          <a:prstGeom prst="rect">
            <a:avLst/>
          </a:prstGeom>
          <a:noFill/>
        </p:spPr>
        <p:txBody>
          <a:bodyPr wrap="square" anchor="t">
            <a:spAutoFit/>
          </a:bodyPr>
          <a:lstStyle/>
          <a:p>
            <a:pPr algn="l">
              <a:spcAft>
                <a:spcPts val="400"/>
              </a:spcAft>
            </a:pPr>
            <a:r>
              <a:rPr sz="1200" b="0">
                <a:solidFill>
                  <a:srgbClr val="5B6372"/>
                </a:solidFill>
                <a:latin typeface="Arial"/>
              </a:rPr>
              <a:t>Version v11.0  ·  6 September 2026</a:t>
            </a:r>
          </a:p>
        </p:txBody>
      </p:sp>
      <p:sp>
        <p:nvSpPr>
          <p:cNvPr id="16" name="TextBox 15"/>
          <p:cNvSpPr txBox="1"/>
          <p:nvPr/>
        </p:nvSpPr>
        <p:spPr>
          <a:xfrm>
            <a:off x="822960" y="6236208"/>
            <a:ext cx="10515600" cy="310896"/>
          </a:xfrm>
          <a:prstGeom prst="rect">
            <a:avLst/>
          </a:prstGeom>
          <a:noFill/>
        </p:spPr>
        <p:txBody>
          <a:bodyPr wrap="square" anchor="t">
            <a:spAutoFit/>
          </a:bodyPr>
          <a:lstStyle/>
          <a:p>
            <a:pPr algn="l">
              <a:spcAft>
                <a:spcPts val="400"/>
              </a:spcAft>
            </a:pPr>
            <a:r>
              <a:rPr sz="900" b="0">
                <a:solidFill>
                  <a:srgbClr val="5B6372"/>
                </a:solidFill>
                <a:latin typeface="Arial"/>
              </a:rPr>
              <a:t>© 2026 Tertiary Infotech Academy Pte Ltd. All rights reserved.  ·  www.tertiarycourses.com.sg</a:t>
            </a:r>
          </a:p>
        </p:txBody>
      </p:sp>
    </p:spTree>
  </p:cSld>
  <p:clrMapOvr>
    <a:masterClrMapping/>
  </p:clrMapOvr>
  <p:transition spd="fast">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700" b="1">
                <a:solidFill>
                  <a:srgbClr val="1F6FEB"/>
                </a:solidFill>
                <a:latin typeface="Arial"/>
              </a:rPr>
              <a:t>COURSE ADMINISTRATION</a:t>
            </a:r>
          </a:p>
        </p:txBody>
      </p:sp>
      <p:sp>
        <p:nvSpPr>
          <p:cNvPr id="6" name="TextBox 5"/>
          <p:cNvSpPr txBox="1"/>
          <p:nvPr/>
        </p:nvSpPr>
        <p:spPr>
          <a:xfrm>
            <a:off x="1143000" y="2743200"/>
            <a:ext cx="9144000" cy="1463040"/>
          </a:xfrm>
          <a:prstGeom prst="rect">
            <a:avLst/>
          </a:prstGeom>
          <a:noFill/>
        </p:spPr>
        <p:txBody>
          <a:bodyPr wrap="square" anchor="t">
            <a:spAutoFit/>
          </a:bodyPr>
          <a:lstStyle/>
          <a:p>
            <a:pPr algn="l">
              <a:spcAft>
                <a:spcPts val="400"/>
              </a:spcAft>
            </a:pPr>
            <a:r>
              <a:rPr sz="3600" b="1">
                <a:solidFill>
                  <a:srgbClr val="161B26"/>
                </a:solidFill>
                <a:latin typeface="Arial"/>
              </a:rPr>
              <a:t>Welcome and Housekeeping</a:t>
            </a:r>
          </a:p>
        </p:txBody>
      </p:sp>
      <p:sp>
        <p:nvSpPr>
          <p:cNvPr id="7" name="TextBox 6"/>
          <p:cNvSpPr txBox="1"/>
          <p:nvPr/>
        </p:nvSpPr>
        <p:spPr>
          <a:xfrm>
            <a:off x="9326880" y="640080"/>
            <a:ext cx="2377440" cy="1463040"/>
          </a:xfrm>
          <a:prstGeom prst="rect">
            <a:avLst/>
          </a:prstGeom>
          <a:noFill/>
        </p:spPr>
        <p:txBody>
          <a:bodyPr wrap="square" anchor="t">
            <a:spAutoFit/>
          </a:bodyPr>
          <a:lstStyle/>
          <a:p>
            <a:pPr algn="r">
              <a:spcAft>
                <a:spcPts val="400"/>
              </a:spcAft>
            </a:pPr>
            <a:r>
              <a:rPr sz="68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fast">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It is mandatory to take the AM, PM and Assessment digital attendance for WSQ-funded courses.</a:t>
            </a:r>
          </a:p>
          <a:p>
            <a:pPr>
              <a:spcAft>
                <a:spcPts val="1000"/>
              </a:spcAft>
            </a:pPr>
            <a:r>
              <a:rPr sz="1700" b="0">
                <a:solidFill>
                  <a:srgbClr val="161B26"/>
                </a:solidFill>
                <a:latin typeface="Arial"/>
              </a:rPr>
              <a:t>•  The trainer or administrator displays the digital attendance QR code generated from the SSG portal.</a:t>
            </a:r>
          </a:p>
          <a:p>
            <a:pPr>
              <a:spcAft>
                <a:spcPts val="1000"/>
              </a:spcAft>
            </a:pPr>
            <a:r>
              <a:rPr sz="1700" b="0">
                <a:solidFill>
                  <a:srgbClr val="161B26"/>
                </a:solidFill>
                <a:latin typeface="Arial"/>
              </a:rPr>
              <a:t>•  Scan the QR code with your mobile phone camera and submit your attendance.</a:t>
            </a:r>
          </a:p>
          <a:p>
            <a:pPr>
              <a:spcAft>
                <a:spcPts val="1000"/>
              </a:spcAft>
            </a:pPr>
            <a:r>
              <a:rPr sz="1700" b="0">
                <a:solidFill>
                  <a:srgbClr val="161B26"/>
                </a:solidFill>
                <a:latin typeface="Arial"/>
              </a:rPr>
              <a:t>•  A minimum of 75% attendance on the SSG record is required to be eligible for assessment and for funding.</a:t>
            </a:r>
          </a:p>
          <a:p>
            <a:pPr>
              <a:spcAft>
                <a:spcPts val="1000"/>
              </a:spcAft>
            </a:pPr>
            <a:r>
              <a:rPr sz="1700" b="0">
                <a:solidFill>
                  <a:srgbClr val="161B26"/>
                </a:solidFill>
                <a:latin typeface="Arial"/>
              </a:rPr>
              <a:t>•  Attendance is taken three times: AM, PM and again immediately before the assessment block on Day 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5B6372"/>
                </a:solidFill>
                <a:latin typeface="Arial"/>
              </a:rPr>
              <a:t>YOUR TRAINER · GENERAL TEMPLATE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200" b="1">
                <a:solidFill>
                  <a:srgbClr val="FFFFFF"/>
                </a:solidFill>
                <a:latin typeface="Arial"/>
              </a:rPr>
              <a:t>?</a:t>
            </a:r>
          </a:p>
        </p:txBody>
      </p:sp>
      <p:sp>
        <p:nvSpPr>
          <p:cNvPr id="11" name="TextBox 10"/>
          <p:cNvSpPr txBox="1"/>
          <p:nvPr/>
        </p:nvSpPr>
        <p:spPr>
          <a:xfrm>
            <a:off x="914400" y="4114800"/>
            <a:ext cx="3063240" cy="640080"/>
          </a:xfrm>
          <a:prstGeom prst="rect">
            <a:avLst/>
          </a:prstGeom>
          <a:noFill/>
        </p:spPr>
        <p:txBody>
          <a:bodyPr wrap="square" anchor="t">
            <a:spAutoFit/>
          </a:bodyPr>
          <a:lstStyle/>
          <a:p>
            <a:pPr algn="ctr">
              <a:spcAft>
                <a:spcPts val="400"/>
              </a:spcAft>
            </a:pPr>
            <a:r>
              <a:rPr sz="20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200"/>
              </a:spcAft>
            </a:pPr>
            <a:r>
              <a:rPr sz="1250" b="0">
                <a:solidFill>
                  <a:srgbClr val="5B6372"/>
                </a:solidFill>
                <a:latin typeface="Arial"/>
              </a:rPr>
              <a:t>General Trainer template —</a:t>
            </a:r>
          </a:p>
          <a:p>
            <a:pPr algn="ctr">
              <a:spcAft>
                <a:spcPts val="200"/>
              </a:spcAft>
            </a:pPr>
            <a:r>
              <a:rPr sz="1250" b="0">
                <a:solidFill>
                  <a:srgbClr val="5B6372"/>
                </a:solidFill>
                <a:latin typeface="Arial"/>
              </a:rPr>
              <a:t>to be completed by the</a:t>
            </a:r>
          </a:p>
          <a:p>
            <a:pPr algn="ctr">
              <a:spcAft>
                <a:spcPts val="200"/>
              </a:spcAft>
            </a:pPr>
            <a:r>
              <a:rPr sz="1250" b="0">
                <a:solidFill>
                  <a:srgbClr val="5B6372"/>
                </a:solidFill>
                <a:latin typeface="Arial"/>
              </a:rPr>
              <a:t>trainer delivering this run</a:t>
            </a:r>
          </a:p>
        </p:txBody>
      </p:sp>
      <p:sp>
        <p:nvSpPr>
          <p:cNvPr id="13" name="Rectangle 12"/>
          <p:cNvSpPr/>
          <p:nvPr/>
        </p:nvSpPr>
        <p:spPr>
          <a:xfrm>
            <a:off x="4480560" y="178308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1783080"/>
            <a:ext cx="6437376" cy="579120"/>
          </a:xfrm>
          <a:prstGeom prst="rect">
            <a:avLst/>
          </a:prstGeom>
          <a:noFill/>
        </p:spPr>
        <p:txBody>
          <a:bodyPr wrap="square" anchor="ctr">
            <a:spAutoFit/>
          </a:bodyPr>
          <a:lstStyle/>
          <a:p>
            <a:pPr algn="l">
              <a:spcAft>
                <a:spcPts val="300"/>
              </a:spcAft>
            </a:pPr>
            <a:r>
              <a:rPr sz="1050" b="1">
                <a:solidFill>
                  <a:srgbClr val="1F6FEB"/>
                </a:solidFill>
                <a:latin typeface="Arial"/>
              </a:rPr>
              <a:t>NAME</a:t>
            </a:r>
          </a:p>
          <a:p>
            <a:pPr algn="l">
              <a:spcAft>
                <a:spcPts val="300"/>
              </a:spcAft>
            </a:pPr>
            <a:r>
              <a:rPr sz="1200" b="0">
                <a:solidFill>
                  <a:srgbClr val="E2E8F0"/>
                </a:solidFill>
                <a:latin typeface="Arial"/>
              </a:rPr>
              <a:t>____________________________________________</a:t>
            </a:r>
          </a:p>
        </p:txBody>
      </p:sp>
      <p:sp>
        <p:nvSpPr>
          <p:cNvPr id="16" name="Rectangle 15"/>
          <p:cNvSpPr/>
          <p:nvPr/>
        </p:nvSpPr>
        <p:spPr>
          <a:xfrm>
            <a:off x="4480560" y="2526792"/>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6792"/>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2526792"/>
            <a:ext cx="6437376" cy="579120"/>
          </a:xfrm>
          <a:prstGeom prst="rect">
            <a:avLst/>
          </a:prstGeom>
          <a:noFill/>
        </p:spPr>
        <p:txBody>
          <a:bodyPr wrap="square" anchor="ctr">
            <a:spAutoFit/>
          </a:bodyPr>
          <a:lstStyle/>
          <a:p>
            <a:pPr algn="l">
              <a:spcAft>
                <a:spcPts val="300"/>
              </a:spcAft>
            </a:pPr>
            <a:r>
              <a:rPr sz="1050" b="1">
                <a:solidFill>
                  <a:srgbClr val="10B981"/>
                </a:solidFill>
                <a:latin typeface="Arial"/>
              </a:rPr>
              <a:t>TITLE / DESIGNATION</a:t>
            </a:r>
          </a:p>
          <a:p>
            <a:pPr algn="l">
              <a:spcAft>
                <a:spcPts val="300"/>
              </a:spcAft>
            </a:pPr>
            <a:r>
              <a:rPr sz="1200" b="0">
                <a:solidFill>
                  <a:srgbClr val="E2E8F0"/>
                </a:solidFill>
                <a:latin typeface="Arial"/>
              </a:rPr>
              <a:t>____________________________________________</a:t>
            </a:r>
          </a:p>
        </p:txBody>
      </p:sp>
      <p:sp>
        <p:nvSpPr>
          <p:cNvPr id="19" name="Rectangle 18"/>
          <p:cNvSpPr/>
          <p:nvPr/>
        </p:nvSpPr>
        <p:spPr>
          <a:xfrm>
            <a:off x="4480560" y="3270504"/>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0504"/>
            <a:ext cx="91440" cy="579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3270504"/>
            <a:ext cx="6437376" cy="579120"/>
          </a:xfrm>
          <a:prstGeom prst="rect">
            <a:avLst/>
          </a:prstGeom>
          <a:noFill/>
        </p:spPr>
        <p:txBody>
          <a:bodyPr wrap="square" anchor="ctr">
            <a:spAutoFit/>
          </a:bodyPr>
          <a:lstStyle/>
          <a:p>
            <a:pPr algn="l">
              <a:spcAft>
                <a:spcPts val="300"/>
              </a:spcAft>
            </a:pPr>
            <a:r>
              <a:rPr sz="1050" b="1">
                <a:solidFill>
                  <a:srgbClr val="7C3AED"/>
                </a:solidFill>
                <a:latin typeface="Arial"/>
              </a:rPr>
              <a:t>QUALIFICATIONS</a:t>
            </a:r>
          </a:p>
          <a:p>
            <a:pPr algn="l">
              <a:spcAft>
                <a:spcPts val="300"/>
              </a:spcAft>
            </a:pPr>
            <a:r>
              <a:rPr sz="1200" b="0">
                <a:solidFill>
                  <a:srgbClr val="E2E8F0"/>
                </a:solidFill>
                <a:latin typeface="Arial"/>
              </a:rPr>
              <a:t>____________________________________________</a:t>
            </a:r>
          </a:p>
        </p:txBody>
      </p:sp>
      <p:sp>
        <p:nvSpPr>
          <p:cNvPr id="22" name="Rectangle 21"/>
          <p:cNvSpPr/>
          <p:nvPr/>
        </p:nvSpPr>
        <p:spPr>
          <a:xfrm>
            <a:off x="4480560" y="4014216"/>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14216"/>
            <a:ext cx="91440" cy="579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0" y="4014216"/>
            <a:ext cx="6437376" cy="579120"/>
          </a:xfrm>
          <a:prstGeom prst="rect">
            <a:avLst/>
          </a:prstGeom>
          <a:noFill/>
        </p:spPr>
        <p:txBody>
          <a:bodyPr wrap="square" anchor="ctr">
            <a:spAutoFit/>
          </a:bodyPr>
          <a:lstStyle/>
          <a:p>
            <a:pPr algn="l">
              <a:spcAft>
                <a:spcPts val="300"/>
              </a:spcAft>
            </a:pPr>
            <a:r>
              <a:rPr sz="1050" b="1">
                <a:solidFill>
                  <a:srgbClr val="F59E0B"/>
                </a:solidFill>
                <a:latin typeface="Arial"/>
              </a:rPr>
              <a:t>AREAS OF EXPERTISE</a:t>
            </a:r>
          </a:p>
          <a:p>
            <a:pPr algn="l">
              <a:spcAft>
                <a:spcPts val="300"/>
              </a:spcAft>
            </a:pPr>
            <a:r>
              <a:rPr sz="1200" b="0">
                <a:solidFill>
                  <a:srgbClr val="E2E8F0"/>
                </a:solidFill>
                <a:latin typeface="Arial"/>
              </a:rPr>
              <a:t>____________________________________________</a:t>
            </a:r>
          </a:p>
        </p:txBody>
      </p:sp>
      <p:sp>
        <p:nvSpPr>
          <p:cNvPr id="25" name="Rectangle 24"/>
          <p:cNvSpPr/>
          <p:nvPr/>
        </p:nvSpPr>
        <p:spPr>
          <a:xfrm>
            <a:off x="4480560" y="4757928"/>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57928"/>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54880" y="4757928"/>
            <a:ext cx="6437376" cy="579120"/>
          </a:xfrm>
          <a:prstGeom prst="rect">
            <a:avLst/>
          </a:prstGeom>
          <a:noFill/>
        </p:spPr>
        <p:txBody>
          <a:bodyPr wrap="square" anchor="ctr">
            <a:spAutoFit/>
          </a:bodyPr>
          <a:lstStyle/>
          <a:p>
            <a:pPr algn="l">
              <a:spcAft>
                <a:spcPts val="300"/>
              </a:spcAft>
            </a:pPr>
            <a:r>
              <a:rPr sz="1050" b="1">
                <a:solidFill>
                  <a:srgbClr val="1F6FEB"/>
                </a:solidFill>
                <a:latin typeface="Arial"/>
              </a:rPr>
              <a:t>TRAINING AND INDUSTRY EXPERIENCE</a:t>
            </a:r>
          </a:p>
          <a:p>
            <a:pPr algn="l">
              <a:spcAft>
                <a:spcPts val="300"/>
              </a:spcAft>
            </a:pPr>
            <a:r>
              <a:rPr sz="1200" b="0">
                <a:solidFill>
                  <a:srgbClr val="E2E8F0"/>
                </a:solidFill>
                <a:latin typeface="Arial"/>
              </a:rPr>
              <a:t>____________________________________________</a:t>
            </a:r>
          </a:p>
        </p:txBody>
      </p:sp>
      <p:sp>
        <p:nvSpPr>
          <p:cNvPr id="28" name="Rectangle 27"/>
          <p:cNvSpPr/>
          <p:nvPr/>
        </p:nvSpPr>
        <p:spPr>
          <a:xfrm>
            <a:off x="4480560" y="550164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01640"/>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54880" y="5501640"/>
            <a:ext cx="6437376" cy="579120"/>
          </a:xfrm>
          <a:prstGeom prst="rect">
            <a:avLst/>
          </a:prstGeom>
          <a:noFill/>
        </p:spPr>
        <p:txBody>
          <a:bodyPr wrap="square" anchor="ctr">
            <a:spAutoFit/>
          </a:bodyPr>
          <a:lstStyle/>
          <a:p>
            <a:pPr algn="l">
              <a:spcAft>
                <a:spcPts val="300"/>
              </a:spcAft>
            </a:pPr>
            <a:r>
              <a:rPr sz="1050" b="1">
                <a:solidFill>
                  <a:srgbClr val="10B981"/>
                </a:solidFill>
                <a:latin typeface="Arial"/>
              </a:rPr>
              <a:t>CONTACT</a:t>
            </a:r>
          </a:p>
          <a:p>
            <a:pPr algn="l">
              <a:spcAft>
                <a:spcPts val="300"/>
              </a:spcAft>
            </a:pPr>
            <a:r>
              <a:rPr sz="12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200" b="1">
                <a:solidFill>
                  <a:srgbClr val="FFFFFF"/>
                </a:solidFill>
                <a:latin typeface="Arial"/>
              </a:rPr>
              <a:t>AA</a:t>
            </a:r>
          </a:p>
        </p:txBody>
      </p:sp>
      <p:sp>
        <p:nvSpPr>
          <p:cNvPr id="11" name="TextBox 10"/>
          <p:cNvSpPr txBox="1"/>
          <p:nvPr/>
        </p:nvSpPr>
        <p:spPr>
          <a:xfrm>
            <a:off x="914400" y="4114800"/>
            <a:ext cx="3063240" cy="640080"/>
          </a:xfrm>
          <a:prstGeom prst="rect">
            <a:avLst/>
          </a:prstGeom>
          <a:noFill/>
        </p:spPr>
        <p:txBody>
          <a:bodyPr wrap="square" anchor="t">
            <a:spAutoFit/>
          </a:bodyPr>
          <a:lstStyle/>
          <a:p>
            <a:pPr algn="ctr">
              <a:spcAft>
                <a:spcPts val="400"/>
              </a:spcAft>
            </a:pPr>
            <a:r>
              <a:rPr sz="20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200"/>
              </a:spcAft>
            </a:pPr>
            <a:r>
              <a:rPr sz="1250" b="0">
                <a:solidFill>
                  <a:srgbClr val="5B6372"/>
                </a:solidFill>
                <a:latin typeface="Arial"/>
              </a:rPr>
              <a:t>Curriculum Developer and</a:t>
            </a:r>
          </a:p>
          <a:p>
            <a:pPr algn="ctr">
              <a:spcAft>
                <a:spcPts val="200"/>
              </a:spcAft>
            </a:pPr>
            <a:r>
              <a:rPr sz="1250" b="0">
                <a:solidFill>
                  <a:srgbClr val="5B6372"/>
                </a:solidFill>
                <a:latin typeface="Arial"/>
              </a:rPr>
              <a:t>Principal Trainer</a:t>
            </a:r>
          </a:p>
          <a:p>
            <a:pPr algn="ctr">
              <a:spcAft>
                <a:spcPts val="200"/>
              </a:spcAft>
            </a:pPr>
            <a:r>
              <a:rPr sz="1250" b="0">
                <a:solidFill>
                  <a:srgbClr val="5B6372"/>
                </a:solidFill>
                <a:latin typeface="Arial"/>
              </a:rPr>
              <a:t>Tertiary Infotech Academy Pte Ltd</a:t>
            </a:r>
          </a:p>
        </p:txBody>
      </p:sp>
      <p:sp>
        <p:nvSpPr>
          <p:cNvPr id="13" name="Rectangle 12"/>
          <p:cNvSpPr/>
          <p:nvPr/>
        </p:nvSpPr>
        <p:spPr>
          <a:xfrm>
            <a:off x="4480560" y="1783080"/>
            <a:ext cx="6949440" cy="950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50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1783080"/>
            <a:ext cx="6437376" cy="950976"/>
          </a:xfrm>
          <a:prstGeom prst="rect">
            <a:avLst/>
          </a:prstGeom>
          <a:noFill/>
        </p:spPr>
        <p:txBody>
          <a:bodyPr wrap="square" anchor="ctr">
            <a:spAutoFit/>
          </a:bodyPr>
          <a:lstStyle/>
          <a:p>
            <a:pPr algn="l">
              <a:spcAft>
                <a:spcPts val="300"/>
              </a:spcAft>
            </a:pPr>
            <a:r>
              <a:rPr sz="1050" b="1">
                <a:solidFill>
                  <a:srgbClr val="1F6FEB"/>
                </a:solidFill>
                <a:latin typeface="Arial"/>
              </a:rPr>
              <a:t>ROLE</a:t>
            </a:r>
          </a:p>
          <a:p>
            <a:pPr algn="l">
              <a:spcAft>
                <a:spcPts val="300"/>
              </a:spcAft>
            </a:pPr>
            <a:r>
              <a:rPr sz="1250" b="0">
                <a:solidFill>
                  <a:srgbClr val="161B26"/>
                </a:solidFill>
                <a:latin typeface="Arial"/>
              </a:rPr>
              <a:t>Curriculum Developer and Subject Matter Expert for this course (Course Proposal CA-WSQ-2020-013290).</a:t>
            </a:r>
          </a:p>
        </p:txBody>
      </p:sp>
      <p:sp>
        <p:nvSpPr>
          <p:cNvPr id="16" name="Rectangle 15"/>
          <p:cNvSpPr/>
          <p:nvPr/>
        </p:nvSpPr>
        <p:spPr>
          <a:xfrm>
            <a:off x="4480560" y="2898648"/>
            <a:ext cx="6949440" cy="950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898648"/>
            <a:ext cx="91440" cy="9509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2898648"/>
            <a:ext cx="6437376" cy="950976"/>
          </a:xfrm>
          <a:prstGeom prst="rect">
            <a:avLst/>
          </a:prstGeom>
          <a:noFill/>
        </p:spPr>
        <p:txBody>
          <a:bodyPr wrap="square" anchor="ctr">
            <a:spAutoFit/>
          </a:bodyPr>
          <a:lstStyle/>
          <a:p>
            <a:pPr algn="l">
              <a:spcAft>
                <a:spcPts val="300"/>
              </a:spcAft>
            </a:pPr>
            <a:r>
              <a:rPr sz="1050" b="1">
                <a:solidFill>
                  <a:srgbClr val="10B981"/>
                </a:solidFill>
                <a:latin typeface="Arial"/>
              </a:rPr>
              <a:t>BACKGROUND</a:t>
            </a:r>
          </a:p>
          <a:p>
            <a:pPr algn="l">
              <a:spcAft>
                <a:spcPts val="300"/>
              </a:spcAft>
            </a:pPr>
            <a:r>
              <a:rPr sz="1250" b="0">
                <a:solidFill>
                  <a:srgbClr val="161B26"/>
                </a:solidFill>
                <a:latin typeface="Arial"/>
              </a:rPr>
              <a:t>PhD; two decades of engineering, data science and AI practice across industry and training.</a:t>
            </a:r>
          </a:p>
        </p:txBody>
      </p:sp>
      <p:sp>
        <p:nvSpPr>
          <p:cNvPr id="19" name="Rectangle 18"/>
          <p:cNvSpPr/>
          <p:nvPr/>
        </p:nvSpPr>
        <p:spPr>
          <a:xfrm>
            <a:off x="4480560" y="4014216"/>
            <a:ext cx="6949440" cy="950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14216"/>
            <a:ext cx="91440" cy="95097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4014216"/>
            <a:ext cx="6437376" cy="950976"/>
          </a:xfrm>
          <a:prstGeom prst="rect">
            <a:avLst/>
          </a:prstGeom>
          <a:noFill/>
        </p:spPr>
        <p:txBody>
          <a:bodyPr wrap="square" anchor="ctr">
            <a:spAutoFit/>
          </a:bodyPr>
          <a:lstStyle/>
          <a:p>
            <a:pPr algn="l">
              <a:spcAft>
                <a:spcPts val="300"/>
              </a:spcAft>
            </a:pPr>
            <a:r>
              <a:rPr sz="1050" b="1">
                <a:solidFill>
                  <a:srgbClr val="7C3AED"/>
                </a:solidFill>
                <a:latin typeface="Arial"/>
              </a:rPr>
              <a:t>DELIVERS</a:t>
            </a:r>
          </a:p>
          <a:p>
            <a:pPr algn="l">
              <a:spcAft>
                <a:spcPts val="300"/>
              </a:spcAft>
            </a:pPr>
            <a:r>
              <a:rPr sz="1250" b="0">
                <a:solidFill>
                  <a:srgbClr val="161B26"/>
                </a:solidFill>
                <a:latin typeface="Arial"/>
              </a:rPr>
              <a:t>WSQ courses in computer vision, machine learning, deep learning, generative AI and data analytics.</a:t>
            </a:r>
          </a:p>
        </p:txBody>
      </p:sp>
      <p:sp>
        <p:nvSpPr>
          <p:cNvPr id="22" name="Rectangle 21"/>
          <p:cNvSpPr/>
          <p:nvPr/>
        </p:nvSpPr>
        <p:spPr>
          <a:xfrm>
            <a:off x="4480560" y="5129784"/>
            <a:ext cx="6949440" cy="950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29784"/>
            <a:ext cx="91440" cy="9509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0" y="5129784"/>
            <a:ext cx="6437376" cy="950976"/>
          </a:xfrm>
          <a:prstGeom prst="rect">
            <a:avLst/>
          </a:prstGeom>
          <a:noFill/>
        </p:spPr>
        <p:txBody>
          <a:bodyPr wrap="square" anchor="ctr">
            <a:spAutoFit/>
          </a:bodyPr>
          <a:lstStyle/>
          <a:p>
            <a:pPr algn="l">
              <a:spcAft>
                <a:spcPts val="300"/>
              </a:spcAft>
            </a:pPr>
            <a:r>
              <a:rPr sz="1050" b="1">
                <a:solidFill>
                  <a:srgbClr val="F59E0B"/>
                </a:solidFill>
                <a:latin typeface="Arial"/>
              </a:rPr>
              <a:t>FOUNDER</a:t>
            </a:r>
          </a:p>
          <a:p>
            <a:pPr algn="l">
              <a:spcAft>
                <a:spcPts val="300"/>
              </a:spcAft>
            </a:pPr>
            <a:r>
              <a:rPr sz="125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Your name, organisation and role.</a:t>
            </a:r>
          </a:p>
          <a:p>
            <a:pPr>
              <a:spcAft>
                <a:spcPts val="1000"/>
              </a:spcAft>
            </a:pPr>
            <a:r>
              <a:rPr sz="1700" b="0">
                <a:solidFill>
                  <a:srgbClr val="161B26"/>
                </a:solidFill>
                <a:latin typeface="Arial"/>
              </a:rPr>
              <a:t>•  Any experience you have with image or video editing, photography, or generative AI tools.</a:t>
            </a:r>
          </a:p>
          <a:p>
            <a:pPr>
              <a:spcAft>
                <a:spcPts val="1000"/>
              </a:spcAft>
            </a:pPr>
            <a:r>
              <a:rPr sz="1700" b="0">
                <a:solidFill>
                  <a:srgbClr val="161B26"/>
                </a:solidFill>
                <a:latin typeface="Arial"/>
              </a:rPr>
              <a:t>•  Any experience you have with Python (the labs use it, but every script is supplied and explained).</a:t>
            </a:r>
          </a:p>
          <a:p>
            <a:pPr>
              <a:spcAft>
                <a:spcPts val="1000"/>
              </a:spcAft>
            </a:pPr>
            <a:r>
              <a:rPr sz="1700" b="0">
                <a:solidFill>
                  <a:srgbClr val="161B26"/>
                </a:solidFill>
                <a:latin typeface="Arial"/>
              </a:rPr>
              <a:t>•  One image or video task at your workplace that you would like to be able to specify, automate or quality-check by the end of Day 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400"/>
              </a:spcAft>
            </a:pPr>
            <a:r>
              <a:rPr sz="1400" b="0">
                <a:solidFill>
                  <a:srgbClr val="161B26"/>
                </a:solidFill>
                <a:latin typeface="Arial"/>
              </a:rPr>
              <a:t>Set your mobile phone to silent mode.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400"/>
              </a:spcAft>
            </a:pPr>
            <a:r>
              <a:rPr sz="1400" b="0">
                <a:solidFill>
                  <a:srgbClr val="161B26"/>
                </a:solidFill>
                <a:latin typeface="Arial"/>
              </a:rPr>
              <a:t>Participate actively — no question is too small.</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400"/>
              </a:spcAft>
            </a:pPr>
            <a:r>
              <a:rPr sz="1400" b="0">
                <a:solidFill>
                  <a:srgbClr val="161B26"/>
                </a:solidFill>
                <a:latin typeface="Arial"/>
              </a:rPr>
              <a:t>Mutual respect: agree to disagree.</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400"/>
              </a:spcAft>
            </a:pPr>
            <a:r>
              <a:rPr sz="1400" b="0">
                <a:solidFill>
                  <a:srgbClr val="161B26"/>
                </a:solidFill>
                <a:latin typeface="Arial"/>
              </a:rPr>
              <a:t>One conversation at a time.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400"/>
              </a:spcAft>
            </a:pPr>
            <a:r>
              <a:rPr sz="1400" b="0">
                <a:solidFill>
                  <a:srgbClr val="161B26"/>
                </a:solidFill>
                <a:latin typeface="Arial"/>
              </a:rPr>
              <a:t>Be punctual; return from breaks on time.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400"/>
              </a:spcAft>
            </a:pPr>
            <a:r>
              <a:rPr sz="1400" b="0">
                <a:solidFill>
                  <a:srgbClr val="161B26"/>
                </a:solidFill>
                <a:latin typeface="Arial"/>
              </a:rPr>
              <a:t>75% attendance is required for funding eligibility.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COURSE PORTAL · LMS/TMS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57784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577840" cy="45720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1975104"/>
            <a:ext cx="164592" cy="16459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97864" y="1975104"/>
            <a:ext cx="164592" cy="1645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53896" y="1975104"/>
            <a:ext cx="164592" cy="1645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74520" y="1911096"/>
            <a:ext cx="4206240" cy="2926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02536" y="1911096"/>
            <a:ext cx="3931920" cy="292608"/>
          </a:xfrm>
          <a:prstGeom prst="rect">
            <a:avLst/>
          </a:prstGeom>
          <a:noFill/>
        </p:spPr>
        <p:txBody>
          <a:bodyPr wrap="square" anchor="ctr">
            <a:spAutoFit/>
          </a:bodyPr>
          <a:lstStyle/>
          <a:p>
            <a:pPr algn="l">
              <a:spcAft>
                <a:spcPts val="400"/>
              </a:spcAft>
            </a:pPr>
            <a:r>
              <a:rPr sz="1200" b="1">
                <a:solidFill>
                  <a:srgbClr val="1F6FEB"/>
                </a:solidFill>
                <a:latin typeface="Arial"/>
              </a:rPr>
              <a:t>https://lms-tms.tertiaryinfotech.com/</a:t>
            </a:r>
          </a:p>
        </p:txBody>
      </p:sp>
      <p:sp>
        <p:nvSpPr>
          <p:cNvPr id="14" name="Rectangle 13"/>
          <p:cNvSpPr/>
          <p:nvPr/>
        </p:nvSpPr>
        <p:spPr>
          <a:xfrm>
            <a:off x="978408" y="2468880"/>
            <a:ext cx="5175504"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61288" y="2468880"/>
            <a:ext cx="4809744" cy="658368"/>
          </a:xfrm>
          <a:prstGeom prst="rect">
            <a:avLst/>
          </a:prstGeom>
          <a:noFill/>
        </p:spPr>
        <p:txBody>
          <a:bodyPr wrap="square" anchor="ctr">
            <a:spAutoFit/>
          </a:bodyPr>
          <a:lstStyle/>
          <a:p>
            <a:pPr algn="l">
              <a:spcAft>
                <a:spcPts val="200"/>
              </a:spcAft>
            </a:pPr>
            <a:r>
              <a:rPr sz="1400" b="1">
                <a:solidFill>
                  <a:srgbClr val="FFFFFF"/>
                </a:solidFill>
                <a:latin typeface="Arial"/>
              </a:rPr>
              <a:t>Tertiary Infotech LMS/TMS</a:t>
            </a:r>
          </a:p>
          <a:p>
            <a:pPr algn="l">
              <a:spcAft>
                <a:spcPts val="200"/>
              </a:spcAft>
            </a:pPr>
            <a:r>
              <a:rPr sz="1050" b="0">
                <a:solidFill>
                  <a:srgbClr val="B3D4FF"/>
                </a:solidFill>
                <a:latin typeface="Arial"/>
              </a:rPr>
              <a:t>My Courses  ·  Attendance  ·  Assessment</a:t>
            </a:r>
          </a:p>
        </p:txBody>
      </p:sp>
      <p:sp>
        <p:nvSpPr>
          <p:cNvPr id="16" name="Rectangle 15"/>
          <p:cNvSpPr/>
          <p:nvPr/>
        </p:nvSpPr>
        <p:spPr>
          <a:xfrm>
            <a:off x="978408" y="3291840"/>
            <a:ext cx="5175504" cy="47548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61288" y="3291840"/>
            <a:ext cx="4809744" cy="475488"/>
          </a:xfrm>
          <a:prstGeom prst="rect">
            <a:avLst/>
          </a:prstGeom>
          <a:noFill/>
        </p:spPr>
        <p:txBody>
          <a:bodyPr wrap="square" anchor="ctr">
            <a:spAutoFit/>
          </a:bodyPr>
          <a:lstStyle/>
          <a:p>
            <a:pPr algn="l">
              <a:spcAft>
                <a:spcPts val="400"/>
              </a:spcAft>
            </a:pPr>
            <a:r>
              <a:rPr sz="1200" b="1">
                <a:solidFill>
                  <a:srgbClr val="1F6FEB"/>
                </a:solidFill>
                <a:latin typeface="Arial"/>
              </a:rPr>
              <a:t>Generative AI for Image and Video Creation</a:t>
            </a:r>
          </a:p>
        </p:txBody>
      </p:sp>
      <p:sp>
        <p:nvSpPr>
          <p:cNvPr id="18" name="Rectangle 17"/>
          <p:cNvSpPr/>
          <p:nvPr/>
        </p:nvSpPr>
        <p:spPr>
          <a:xfrm>
            <a:off x="978408" y="3858768"/>
            <a:ext cx="5175504"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61288" y="3858768"/>
            <a:ext cx="4809744" cy="475488"/>
          </a:xfrm>
          <a:prstGeom prst="rect">
            <a:avLst/>
          </a:prstGeom>
          <a:noFill/>
        </p:spPr>
        <p:txBody>
          <a:bodyPr wrap="square" anchor="ctr">
            <a:spAutoFit/>
          </a:bodyPr>
          <a:lstStyle/>
          <a:p>
            <a:pPr algn="l">
              <a:spcAft>
                <a:spcPts val="400"/>
              </a:spcAft>
            </a:pPr>
            <a:r>
              <a:rPr sz="1200" b="0">
                <a:solidFill>
                  <a:srgbClr val="161B26"/>
                </a:solidFill>
                <a:latin typeface="Arial"/>
              </a:rPr>
              <a:t>Trainer Slides (PDF)   ⬇</a:t>
            </a:r>
          </a:p>
        </p:txBody>
      </p:sp>
      <p:sp>
        <p:nvSpPr>
          <p:cNvPr id="20" name="Rectangle 19"/>
          <p:cNvSpPr/>
          <p:nvPr/>
        </p:nvSpPr>
        <p:spPr>
          <a:xfrm>
            <a:off x="978408" y="4425696"/>
            <a:ext cx="5175504"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61288" y="4425696"/>
            <a:ext cx="4809744" cy="475488"/>
          </a:xfrm>
          <a:prstGeom prst="rect">
            <a:avLst/>
          </a:prstGeom>
          <a:noFill/>
        </p:spPr>
        <p:txBody>
          <a:bodyPr wrap="square" anchor="ctr">
            <a:spAutoFit/>
          </a:bodyPr>
          <a:lstStyle/>
          <a:p>
            <a:pPr algn="l">
              <a:spcAft>
                <a:spcPts val="400"/>
              </a:spcAft>
            </a:pPr>
            <a:r>
              <a:rPr sz="1200" b="0">
                <a:solidFill>
                  <a:srgbClr val="161B26"/>
                </a:solidFill>
                <a:latin typeface="Arial"/>
              </a:rPr>
              <a:t>Learner Guide (PDF)   ⬇</a:t>
            </a:r>
          </a:p>
        </p:txBody>
      </p:sp>
      <p:sp>
        <p:nvSpPr>
          <p:cNvPr id="22" name="Rectangle 21"/>
          <p:cNvSpPr/>
          <p:nvPr/>
        </p:nvSpPr>
        <p:spPr>
          <a:xfrm>
            <a:off x="978408" y="4992624"/>
            <a:ext cx="5175504"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61288" y="4992624"/>
            <a:ext cx="4809744" cy="475488"/>
          </a:xfrm>
          <a:prstGeom prst="rect">
            <a:avLst/>
          </a:prstGeom>
          <a:noFill/>
        </p:spPr>
        <p:txBody>
          <a:bodyPr wrap="square" anchor="ctr">
            <a:spAutoFit/>
          </a:bodyPr>
          <a:lstStyle/>
          <a:p>
            <a:pPr algn="l">
              <a:spcAft>
                <a:spcPts val="400"/>
              </a:spcAft>
            </a:pPr>
            <a:r>
              <a:rPr sz="1200" b="0">
                <a:solidFill>
                  <a:srgbClr val="161B26"/>
                </a:solidFill>
                <a:latin typeface="Arial"/>
              </a:rPr>
              <a:t>Hands-On Labs (folder)   ⬇</a:t>
            </a:r>
          </a:p>
        </p:txBody>
      </p:sp>
      <p:sp>
        <p:nvSpPr>
          <p:cNvPr id="24" name="Rectangle 23"/>
          <p:cNvSpPr/>
          <p:nvPr/>
        </p:nvSpPr>
        <p:spPr>
          <a:xfrm>
            <a:off x="978408" y="5559552"/>
            <a:ext cx="5175504"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61288" y="5559552"/>
            <a:ext cx="4809744" cy="475488"/>
          </a:xfrm>
          <a:prstGeom prst="rect">
            <a:avLst/>
          </a:prstGeom>
          <a:noFill/>
        </p:spPr>
        <p:txBody>
          <a:bodyPr wrap="square" anchor="ctr">
            <a:spAutoFit/>
          </a:bodyPr>
          <a:lstStyle/>
          <a:p>
            <a:pPr algn="l">
              <a:spcAft>
                <a:spcPts val="400"/>
              </a:spcAft>
            </a:pPr>
            <a:r>
              <a:rPr sz="1200" b="0">
                <a:solidFill>
                  <a:srgbClr val="161B26"/>
                </a:solidFill>
                <a:latin typeface="Arial"/>
              </a:rPr>
              <a:t>Assessment Submission   ↗</a:t>
            </a:r>
          </a:p>
        </p:txBody>
      </p:sp>
      <p:sp>
        <p:nvSpPr>
          <p:cNvPr id="26" name="Rectangle 25"/>
          <p:cNvSpPr/>
          <p:nvPr/>
        </p:nvSpPr>
        <p:spPr>
          <a:xfrm>
            <a:off x="6675120" y="1828800"/>
            <a:ext cx="4754880"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675120" y="1828800"/>
            <a:ext cx="82296" cy="9052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858000" y="2071116"/>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0" y="2071116"/>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30" name="TextBox 29"/>
          <p:cNvSpPr txBox="1"/>
          <p:nvPr/>
        </p:nvSpPr>
        <p:spPr>
          <a:xfrm>
            <a:off x="7443216" y="1828800"/>
            <a:ext cx="3803904" cy="905256"/>
          </a:xfrm>
          <a:prstGeom prst="rect">
            <a:avLst/>
          </a:prstGeom>
          <a:noFill/>
        </p:spPr>
        <p:txBody>
          <a:bodyPr wrap="square" anchor="ctr">
            <a:spAutoFit/>
          </a:bodyPr>
          <a:lstStyle/>
          <a:p>
            <a:pPr algn="l">
              <a:spcAft>
                <a:spcPts val="200"/>
              </a:spcAft>
            </a:pPr>
            <a:r>
              <a:rPr sz="1300" b="1">
                <a:solidFill>
                  <a:srgbClr val="1F6FEB"/>
                </a:solidFill>
                <a:latin typeface="Arial"/>
              </a:rPr>
              <a:t>Sign in</a:t>
            </a:r>
          </a:p>
          <a:p>
            <a:pPr algn="l">
              <a:spcAft>
                <a:spcPts val="200"/>
              </a:spcAft>
            </a:pPr>
            <a:r>
              <a:rPr sz="1100" b="0">
                <a:solidFill>
                  <a:srgbClr val="161B26"/>
                </a:solidFill>
                <a:latin typeface="Arial"/>
              </a:rPr>
              <a:t>lms-tms.tertiaryinfotech.com — log in with your registered email (OTP or password).</a:t>
            </a:r>
          </a:p>
        </p:txBody>
      </p:sp>
      <p:sp>
        <p:nvSpPr>
          <p:cNvPr id="31" name="Rectangle 30"/>
          <p:cNvSpPr/>
          <p:nvPr/>
        </p:nvSpPr>
        <p:spPr>
          <a:xfrm>
            <a:off x="6675120" y="2898648"/>
            <a:ext cx="4754880"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675120" y="2898648"/>
            <a:ext cx="82296" cy="9052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858000" y="31409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0" y="3140964"/>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35" name="TextBox 34"/>
          <p:cNvSpPr txBox="1"/>
          <p:nvPr/>
        </p:nvSpPr>
        <p:spPr>
          <a:xfrm>
            <a:off x="7443216" y="2898648"/>
            <a:ext cx="3803904" cy="905256"/>
          </a:xfrm>
          <a:prstGeom prst="rect">
            <a:avLst/>
          </a:prstGeom>
          <a:noFill/>
        </p:spPr>
        <p:txBody>
          <a:bodyPr wrap="square" anchor="ctr">
            <a:spAutoFit/>
          </a:bodyPr>
          <a:lstStyle/>
          <a:p>
            <a:pPr algn="l">
              <a:spcAft>
                <a:spcPts val="200"/>
              </a:spcAft>
            </a:pPr>
            <a:r>
              <a:rPr sz="1300" b="1">
                <a:solidFill>
                  <a:srgbClr val="10B981"/>
                </a:solidFill>
                <a:latin typeface="Arial"/>
              </a:rPr>
              <a:t>Open your course</a:t>
            </a:r>
          </a:p>
          <a:p>
            <a:pPr algn="l">
              <a:spcAft>
                <a:spcPts val="200"/>
              </a:spcAft>
            </a:pPr>
            <a:r>
              <a:rPr sz="1100" b="0">
                <a:solidFill>
                  <a:srgbClr val="161B26"/>
                </a:solidFill>
                <a:latin typeface="Arial"/>
              </a:rPr>
              <a:t>Select this course under My Courses.</a:t>
            </a:r>
          </a:p>
        </p:txBody>
      </p:sp>
      <p:sp>
        <p:nvSpPr>
          <p:cNvPr id="36" name="Rectangle 35"/>
          <p:cNvSpPr/>
          <p:nvPr/>
        </p:nvSpPr>
        <p:spPr>
          <a:xfrm>
            <a:off x="6675120" y="3968496"/>
            <a:ext cx="4754880"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675120" y="3968496"/>
            <a:ext cx="82296" cy="9052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58000" y="4210812"/>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0" y="421081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40" name="TextBox 39"/>
          <p:cNvSpPr txBox="1"/>
          <p:nvPr/>
        </p:nvSpPr>
        <p:spPr>
          <a:xfrm>
            <a:off x="7443216" y="3968496"/>
            <a:ext cx="3803904" cy="905256"/>
          </a:xfrm>
          <a:prstGeom prst="rect">
            <a:avLst/>
          </a:prstGeom>
          <a:noFill/>
        </p:spPr>
        <p:txBody>
          <a:bodyPr wrap="square" anchor="ctr">
            <a:spAutoFit/>
          </a:bodyPr>
          <a:lstStyle/>
          <a:p>
            <a:pPr algn="l">
              <a:spcAft>
                <a:spcPts val="200"/>
              </a:spcAft>
            </a:pPr>
            <a:r>
              <a:rPr sz="1300" b="1">
                <a:solidFill>
                  <a:srgbClr val="7C3AED"/>
                </a:solidFill>
                <a:latin typeface="Arial"/>
              </a:rPr>
              <a:t>Download materials</a:t>
            </a:r>
          </a:p>
          <a:p>
            <a:pPr algn="l">
              <a:spcAft>
                <a:spcPts val="200"/>
              </a:spcAft>
            </a:pPr>
            <a:r>
              <a:rPr sz="1100" b="0">
                <a:solidFill>
                  <a:srgbClr val="161B26"/>
                </a:solidFill>
                <a:latin typeface="Arial"/>
              </a:rPr>
              <a:t>Slides, Learner Guide and the labs folder — your open-book references for the assessment.</a:t>
            </a:r>
          </a:p>
        </p:txBody>
      </p:sp>
      <p:sp>
        <p:nvSpPr>
          <p:cNvPr id="41" name="Rectangle 40"/>
          <p:cNvSpPr/>
          <p:nvPr/>
        </p:nvSpPr>
        <p:spPr>
          <a:xfrm>
            <a:off x="6675120" y="5038344"/>
            <a:ext cx="4754880"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675120" y="5038344"/>
            <a:ext cx="82296" cy="9052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858000" y="52806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58000" y="52806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45" name="TextBox 44"/>
          <p:cNvSpPr txBox="1"/>
          <p:nvPr/>
        </p:nvSpPr>
        <p:spPr>
          <a:xfrm>
            <a:off x="7443216" y="5038344"/>
            <a:ext cx="3803904" cy="905256"/>
          </a:xfrm>
          <a:prstGeom prst="rect">
            <a:avLst/>
          </a:prstGeom>
          <a:noFill/>
        </p:spPr>
        <p:txBody>
          <a:bodyPr wrap="square" anchor="ctr">
            <a:spAutoFit/>
          </a:bodyPr>
          <a:lstStyle/>
          <a:p>
            <a:pPr algn="l">
              <a:spcAft>
                <a:spcPts val="200"/>
              </a:spcAft>
            </a:pPr>
            <a:r>
              <a:rPr sz="1300" b="1">
                <a:solidFill>
                  <a:srgbClr val="F59E0B"/>
                </a:solidFill>
                <a:latin typeface="Arial"/>
              </a:rPr>
              <a:t>Submit and survey</a:t>
            </a:r>
          </a:p>
          <a:p>
            <a:pPr algn="l">
              <a:spcAft>
                <a:spcPts val="200"/>
              </a:spcAft>
            </a:pPr>
            <a:r>
              <a:rPr sz="1100" b="0">
                <a:solidFill>
                  <a:srgbClr val="161B26"/>
                </a:solidFill>
                <a:latin typeface="Arial"/>
              </a:rPr>
              <a:t>Upload your completed assessment answers here, and complete the TRAQOM survey.</a:t>
            </a:r>
          </a:p>
        </p:txBody>
      </p:sp>
      <p:sp>
        <p:nvSpPr>
          <p:cNvPr id="46" name="TextBox 45"/>
          <p:cNvSpPr txBox="1"/>
          <p:nvPr/>
        </p:nvSpPr>
        <p:spPr>
          <a:xfrm>
            <a:off x="777240" y="6035040"/>
            <a:ext cx="10698480" cy="365760"/>
          </a:xfrm>
          <a:prstGeom prst="rect">
            <a:avLst/>
          </a:prstGeom>
          <a:noFill/>
        </p:spPr>
        <p:txBody>
          <a:bodyPr wrap="square" anchor="t">
            <a:spAutoFit/>
          </a:bodyPr>
          <a:lstStyle/>
          <a:p>
            <a:pPr algn="ctr">
              <a:spcAft>
                <a:spcPts val="400"/>
              </a:spcAft>
            </a:pPr>
            <a:r>
              <a:rPr sz="1250" b="0">
                <a:solidFill>
                  <a:srgbClr val="5B6372"/>
                </a:solidFill>
                <a:latin typeface="Arial"/>
              </a:rPr>
              <a:t>All course material is downloaded from the LMS/TMS portal. Keep it open: both assessment instruments are open book.</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WSQ ALIGNMENT · ICT SKILLS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Skills Framework Alignment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552273"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369393" cy="600891"/>
          </a:xfrm>
          <a:prstGeom prst="rect">
            <a:avLst/>
          </a:prstGeom>
          <a:noFill/>
        </p:spPr>
        <p:txBody>
          <a:bodyPr wrap="square" anchor="ctr">
            <a:spAutoFit/>
          </a:bodyPr>
          <a:lstStyle/>
          <a:p>
            <a:pPr algn="l">
              <a:spcAft>
                <a:spcPts val="400"/>
              </a:spcAft>
            </a:pPr>
            <a:r>
              <a:rPr sz="1250" b="1">
                <a:solidFill>
                  <a:srgbClr val="FFFFFF"/>
                </a:solidFill>
                <a:latin typeface="Arial"/>
              </a:rPr>
              <a:t>Element</a:t>
            </a:r>
          </a:p>
        </p:txBody>
      </p:sp>
      <p:sp>
        <p:nvSpPr>
          <p:cNvPr id="9" name="Rectangle 8"/>
          <p:cNvSpPr/>
          <p:nvPr/>
        </p:nvSpPr>
        <p:spPr>
          <a:xfrm>
            <a:off x="3329513" y="1783080"/>
            <a:ext cx="8082198"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783080"/>
            <a:ext cx="7899318" cy="600891"/>
          </a:xfrm>
          <a:prstGeom prst="rect">
            <a:avLst/>
          </a:prstGeom>
          <a:noFill/>
        </p:spPr>
        <p:txBody>
          <a:bodyPr wrap="square" anchor="ctr">
            <a:spAutoFit/>
          </a:bodyPr>
          <a:lstStyle/>
          <a:p>
            <a:pPr algn="l">
              <a:spcAft>
                <a:spcPts val="400"/>
              </a:spcAft>
            </a:pPr>
            <a:r>
              <a:rPr sz="1250" b="1">
                <a:solidFill>
                  <a:srgbClr val="FFFFFF"/>
                </a:solidFill>
                <a:latin typeface="Arial"/>
              </a:rPr>
              <a:t>Detail</a:t>
            </a:r>
          </a:p>
        </p:txBody>
      </p:sp>
      <p:sp>
        <p:nvSpPr>
          <p:cNvPr id="11" name="Rectangle 10"/>
          <p:cNvSpPr/>
          <p:nvPr/>
        </p:nvSpPr>
        <p:spPr>
          <a:xfrm>
            <a:off x="777240" y="2383971"/>
            <a:ext cx="2552273"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2383971"/>
            <a:ext cx="2369393" cy="600891"/>
          </a:xfrm>
          <a:prstGeom prst="rect">
            <a:avLst/>
          </a:prstGeom>
          <a:noFill/>
        </p:spPr>
        <p:txBody>
          <a:bodyPr wrap="square" anchor="ctr">
            <a:spAutoFit/>
          </a:bodyPr>
          <a:lstStyle/>
          <a:p>
            <a:pPr algn="l">
              <a:spcAft>
                <a:spcPts val="400"/>
              </a:spcAft>
            </a:pPr>
            <a:r>
              <a:rPr sz="1150" b="1">
                <a:solidFill>
                  <a:srgbClr val="161B26"/>
                </a:solidFill>
                <a:latin typeface="Arial"/>
              </a:rPr>
              <a:t>TSC Title</a:t>
            </a:r>
          </a:p>
        </p:txBody>
      </p:sp>
      <p:sp>
        <p:nvSpPr>
          <p:cNvPr id="13" name="Rectangle 12"/>
          <p:cNvSpPr/>
          <p:nvPr/>
        </p:nvSpPr>
        <p:spPr>
          <a:xfrm>
            <a:off x="3329513" y="2383971"/>
            <a:ext cx="808219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39241" y="2383971"/>
            <a:ext cx="7899318" cy="600891"/>
          </a:xfrm>
          <a:prstGeom prst="rect">
            <a:avLst/>
          </a:prstGeom>
          <a:noFill/>
        </p:spPr>
        <p:txBody>
          <a:bodyPr wrap="square" anchor="ctr">
            <a:spAutoFit/>
          </a:bodyPr>
          <a:lstStyle/>
          <a:p>
            <a:pPr algn="l">
              <a:spcAft>
                <a:spcPts val="400"/>
              </a:spcAft>
            </a:pPr>
            <a:r>
              <a:rPr sz="1150" b="0">
                <a:solidFill>
                  <a:srgbClr val="161B26"/>
                </a:solidFill>
                <a:latin typeface="Arial"/>
              </a:rPr>
              <a:t>Computer Vision Technology</a:t>
            </a:r>
          </a:p>
        </p:txBody>
      </p:sp>
      <p:sp>
        <p:nvSpPr>
          <p:cNvPr id="15" name="Rectangle 14"/>
          <p:cNvSpPr/>
          <p:nvPr/>
        </p:nvSpPr>
        <p:spPr>
          <a:xfrm>
            <a:off x="777240" y="2984862"/>
            <a:ext cx="2552273"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984862"/>
            <a:ext cx="2369393" cy="600891"/>
          </a:xfrm>
          <a:prstGeom prst="rect">
            <a:avLst/>
          </a:prstGeom>
          <a:noFill/>
        </p:spPr>
        <p:txBody>
          <a:bodyPr wrap="square" anchor="ctr">
            <a:spAutoFit/>
          </a:bodyPr>
          <a:lstStyle/>
          <a:p>
            <a:pPr algn="l">
              <a:spcAft>
                <a:spcPts val="400"/>
              </a:spcAft>
            </a:pPr>
            <a:r>
              <a:rPr sz="1150" b="1">
                <a:solidFill>
                  <a:srgbClr val="161B26"/>
                </a:solidFill>
                <a:latin typeface="Arial"/>
              </a:rPr>
              <a:t>TSC Code</a:t>
            </a:r>
          </a:p>
        </p:txBody>
      </p:sp>
      <p:sp>
        <p:nvSpPr>
          <p:cNvPr id="17" name="Rectangle 16"/>
          <p:cNvSpPr/>
          <p:nvPr/>
        </p:nvSpPr>
        <p:spPr>
          <a:xfrm>
            <a:off x="3329513" y="2984862"/>
            <a:ext cx="808219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39241" y="2984862"/>
            <a:ext cx="7899318" cy="600891"/>
          </a:xfrm>
          <a:prstGeom prst="rect">
            <a:avLst/>
          </a:prstGeom>
          <a:noFill/>
        </p:spPr>
        <p:txBody>
          <a:bodyPr wrap="square" anchor="ctr">
            <a:spAutoFit/>
          </a:bodyPr>
          <a:lstStyle/>
          <a:p>
            <a:pPr algn="l">
              <a:spcAft>
                <a:spcPts val="400"/>
              </a:spcAft>
            </a:pPr>
            <a:r>
              <a:rPr sz="1150" b="0">
                <a:solidFill>
                  <a:srgbClr val="161B26"/>
                </a:solidFill>
                <a:latin typeface="Arial"/>
              </a:rPr>
              <a:t>ICT-DIT-4022-1.1</a:t>
            </a:r>
          </a:p>
        </p:txBody>
      </p:sp>
      <p:sp>
        <p:nvSpPr>
          <p:cNvPr id="19" name="Rectangle 18"/>
          <p:cNvSpPr/>
          <p:nvPr/>
        </p:nvSpPr>
        <p:spPr>
          <a:xfrm>
            <a:off x="777240" y="3585753"/>
            <a:ext cx="2552273"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585753"/>
            <a:ext cx="2369393" cy="600891"/>
          </a:xfrm>
          <a:prstGeom prst="rect">
            <a:avLst/>
          </a:prstGeom>
          <a:noFill/>
        </p:spPr>
        <p:txBody>
          <a:bodyPr wrap="square" anchor="ctr">
            <a:spAutoFit/>
          </a:bodyPr>
          <a:lstStyle/>
          <a:p>
            <a:pPr algn="l">
              <a:spcAft>
                <a:spcPts val="400"/>
              </a:spcAft>
            </a:pPr>
            <a:r>
              <a:rPr sz="1150" b="1">
                <a:solidFill>
                  <a:srgbClr val="161B26"/>
                </a:solidFill>
                <a:latin typeface="Arial"/>
              </a:rPr>
              <a:t>Proficiency Level</a:t>
            </a:r>
          </a:p>
        </p:txBody>
      </p:sp>
      <p:sp>
        <p:nvSpPr>
          <p:cNvPr id="21" name="Rectangle 20"/>
          <p:cNvSpPr/>
          <p:nvPr/>
        </p:nvSpPr>
        <p:spPr>
          <a:xfrm>
            <a:off x="3329513" y="3585753"/>
            <a:ext cx="808219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39241" y="3585753"/>
            <a:ext cx="7899318" cy="600891"/>
          </a:xfrm>
          <a:prstGeom prst="rect">
            <a:avLst/>
          </a:prstGeom>
          <a:noFill/>
        </p:spPr>
        <p:txBody>
          <a:bodyPr wrap="square" anchor="ctr">
            <a:spAutoFit/>
          </a:bodyPr>
          <a:lstStyle/>
          <a:p>
            <a:pPr algn="l">
              <a:spcAft>
                <a:spcPts val="400"/>
              </a:spcAft>
            </a:pPr>
            <a:r>
              <a:rPr sz="1150" b="0">
                <a:solidFill>
                  <a:srgbClr val="161B26"/>
                </a:solidFill>
                <a:latin typeface="Arial"/>
              </a:rPr>
              <a:t>Level 4 — set up and deploy video analytics algorithms and perform system performance evaluations</a:t>
            </a:r>
          </a:p>
        </p:txBody>
      </p:sp>
      <p:sp>
        <p:nvSpPr>
          <p:cNvPr id="23" name="Rectangle 22"/>
          <p:cNvSpPr/>
          <p:nvPr/>
        </p:nvSpPr>
        <p:spPr>
          <a:xfrm>
            <a:off x="777240" y="4186644"/>
            <a:ext cx="2552273"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4186644"/>
            <a:ext cx="2369393" cy="600891"/>
          </a:xfrm>
          <a:prstGeom prst="rect">
            <a:avLst/>
          </a:prstGeom>
          <a:noFill/>
        </p:spPr>
        <p:txBody>
          <a:bodyPr wrap="square" anchor="ctr">
            <a:spAutoFit/>
          </a:bodyPr>
          <a:lstStyle/>
          <a:p>
            <a:pPr algn="l">
              <a:spcAft>
                <a:spcPts val="400"/>
              </a:spcAft>
            </a:pPr>
            <a:r>
              <a:rPr sz="1150" b="1">
                <a:solidFill>
                  <a:srgbClr val="161B26"/>
                </a:solidFill>
                <a:latin typeface="Arial"/>
              </a:rPr>
              <a:t>TSC Description</a:t>
            </a:r>
          </a:p>
        </p:txBody>
      </p:sp>
      <p:sp>
        <p:nvSpPr>
          <p:cNvPr id="25" name="Rectangle 24"/>
          <p:cNvSpPr/>
          <p:nvPr/>
        </p:nvSpPr>
        <p:spPr>
          <a:xfrm>
            <a:off x="3329513" y="4186644"/>
            <a:ext cx="808219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39241" y="4186644"/>
            <a:ext cx="7899318" cy="600891"/>
          </a:xfrm>
          <a:prstGeom prst="rect">
            <a:avLst/>
          </a:prstGeom>
          <a:noFill/>
        </p:spPr>
        <p:txBody>
          <a:bodyPr wrap="square" anchor="ctr">
            <a:spAutoFit/>
          </a:bodyPr>
          <a:lstStyle/>
          <a:p>
            <a:pPr algn="l">
              <a:spcAft>
                <a:spcPts val="400"/>
              </a:spcAft>
            </a:pPr>
            <a:r>
              <a:rPr sz="1150" b="0">
                <a:solidFill>
                  <a:srgbClr val="161B26"/>
                </a:solidFill>
                <a:latin typeface="Arial"/>
              </a:rPr>
              <a:t>Develop and deploy vision analytics algorithms and spatial sensing and/or reasoning systems</a:t>
            </a:r>
          </a:p>
        </p:txBody>
      </p:sp>
      <p:sp>
        <p:nvSpPr>
          <p:cNvPr id="27" name="Rectangle 26"/>
          <p:cNvSpPr/>
          <p:nvPr/>
        </p:nvSpPr>
        <p:spPr>
          <a:xfrm>
            <a:off x="777240" y="4787535"/>
            <a:ext cx="2552273"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6968" y="4787535"/>
            <a:ext cx="2369393" cy="600891"/>
          </a:xfrm>
          <a:prstGeom prst="rect">
            <a:avLst/>
          </a:prstGeom>
          <a:noFill/>
        </p:spPr>
        <p:txBody>
          <a:bodyPr wrap="square" anchor="ctr">
            <a:spAutoFit/>
          </a:bodyPr>
          <a:lstStyle/>
          <a:p>
            <a:pPr algn="l">
              <a:spcAft>
                <a:spcPts val="400"/>
              </a:spcAft>
            </a:pPr>
            <a:r>
              <a:rPr sz="1150" b="1">
                <a:solidFill>
                  <a:srgbClr val="161B26"/>
                </a:solidFill>
                <a:latin typeface="Arial"/>
              </a:rPr>
              <a:t>Assessed knowledge</a:t>
            </a:r>
          </a:p>
        </p:txBody>
      </p:sp>
      <p:sp>
        <p:nvSpPr>
          <p:cNvPr id="29" name="Rectangle 28"/>
          <p:cNvSpPr/>
          <p:nvPr/>
        </p:nvSpPr>
        <p:spPr>
          <a:xfrm>
            <a:off x="3329513" y="4787535"/>
            <a:ext cx="808219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39241" y="4787535"/>
            <a:ext cx="7899318" cy="600891"/>
          </a:xfrm>
          <a:prstGeom prst="rect">
            <a:avLst/>
          </a:prstGeom>
          <a:noFill/>
        </p:spPr>
        <p:txBody>
          <a:bodyPr wrap="square" anchor="ctr">
            <a:spAutoFit/>
          </a:bodyPr>
          <a:lstStyle/>
          <a:p>
            <a:pPr algn="l">
              <a:spcAft>
                <a:spcPts val="400"/>
              </a:spcAft>
            </a:pPr>
            <a:r>
              <a:rPr sz="1150" b="0">
                <a:solidFill>
                  <a:srgbClr val="161B26"/>
                </a:solidFill>
                <a:latin typeface="Arial"/>
              </a:rPr>
              <a:t>K1 to K13 — assessed in the Written Assessment</a:t>
            </a:r>
          </a:p>
        </p:txBody>
      </p:sp>
      <p:sp>
        <p:nvSpPr>
          <p:cNvPr id="31" name="Rectangle 30"/>
          <p:cNvSpPr/>
          <p:nvPr/>
        </p:nvSpPr>
        <p:spPr>
          <a:xfrm>
            <a:off x="777240" y="5388426"/>
            <a:ext cx="2552273"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5388426"/>
            <a:ext cx="2369393" cy="600891"/>
          </a:xfrm>
          <a:prstGeom prst="rect">
            <a:avLst/>
          </a:prstGeom>
          <a:noFill/>
        </p:spPr>
        <p:txBody>
          <a:bodyPr wrap="square" anchor="ctr">
            <a:spAutoFit/>
          </a:bodyPr>
          <a:lstStyle/>
          <a:p>
            <a:pPr algn="l">
              <a:spcAft>
                <a:spcPts val="400"/>
              </a:spcAft>
            </a:pPr>
            <a:r>
              <a:rPr sz="1150" b="1">
                <a:solidFill>
                  <a:srgbClr val="161B26"/>
                </a:solidFill>
                <a:latin typeface="Arial"/>
              </a:rPr>
              <a:t>Assessed abilities</a:t>
            </a:r>
          </a:p>
        </p:txBody>
      </p:sp>
      <p:sp>
        <p:nvSpPr>
          <p:cNvPr id="33" name="Rectangle 32"/>
          <p:cNvSpPr/>
          <p:nvPr/>
        </p:nvSpPr>
        <p:spPr>
          <a:xfrm>
            <a:off x="3329513" y="5388426"/>
            <a:ext cx="808219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39241" y="5388426"/>
            <a:ext cx="7899318" cy="600891"/>
          </a:xfrm>
          <a:prstGeom prst="rect">
            <a:avLst/>
          </a:prstGeom>
          <a:noFill/>
        </p:spPr>
        <p:txBody>
          <a:bodyPr wrap="square" anchor="ctr">
            <a:spAutoFit/>
          </a:bodyPr>
          <a:lstStyle/>
          <a:p>
            <a:pPr algn="l">
              <a:spcAft>
                <a:spcPts val="400"/>
              </a:spcAft>
            </a:pPr>
            <a:r>
              <a:rPr sz="1150" b="0">
                <a:solidFill>
                  <a:srgbClr val="161B26"/>
                </a:solidFill>
                <a:latin typeface="Arial"/>
              </a:rPr>
              <a:t>A1 to A8 — assessed in the Practical Performance</a:t>
            </a:r>
          </a:p>
        </p:txBody>
      </p:sp>
      <p:sp>
        <p:nvSpPr>
          <p:cNvPr id="35" name="TextBox 34"/>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Every topic, lab and assessment item in this course maps to these TSC knowledge and ability statements. Nothing is assessed that is not taught.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WRITTEN ASSESSMENT · 13 QUESTIONS · 60 MINUTES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Assessed Knowledge — K1 to K13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850757" cy="30044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667877" cy="300445"/>
          </a:xfrm>
          <a:prstGeom prst="rect">
            <a:avLst/>
          </a:prstGeom>
          <a:noFill/>
        </p:spPr>
        <p:txBody>
          <a:bodyPr wrap="square" anchor="ctr">
            <a:spAutoFit/>
          </a:bodyPr>
          <a:lstStyle/>
          <a:p>
            <a:pPr algn="l">
              <a:spcAft>
                <a:spcPts val="400"/>
              </a:spcAft>
            </a:pPr>
            <a:r>
              <a:rPr sz="1150" b="1">
                <a:solidFill>
                  <a:srgbClr val="FFFFFF"/>
                </a:solidFill>
                <a:latin typeface="Arial"/>
              </a:rPr>
              <a:t>Code</a:t>
            </a:r>
          </a:p>
        </p:txBody>
      </p:sp>
      <p:sp>
        <p:nvSpPr>
          <p:cNvPr id="9" name="Rectangle 8"/>
          <p:cNvSpPr/>
          <p:nvPr/>
        </p:nvSpPr>
        <p:spPr>
          <a:xfrm>
            <a:off x="1627997" y="1783080"/>
            <a:ext cx="7656819" cy="30044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37725" y="1783080"/>
            <a:ext cx="7473939" cy="300445"/>
          </a:xfrm>
          <a:prstGeom prst="rect">
            <a:avLst/>
          </a:prstGeom>
          <a:noFill/>
        </p:spPr>
        <p:txBody>
          <a:bodyPr wrap="square" anchor="ctr">
            <a:spAutoFit/>
          </a:bodyPr>
          <a:lstStyle/>
          <a:p>
            <a:pPr algn="l">
              <a:spcAft>
                <a:spcPts val="400"/>
              </a:spcAft>
            </a:pPr>
            <a:r>
              <a:rPr sz="1150" b="1">
                <a:solidFill>
                  <a:srgbClr val="FFFFFF"/>
                </a:solidFill>
                <a:latin typeface="Arial"/>
              </a:rPr>
              <a:t>Knowledge statement</a:t>
            </a:r>
          </a:p>
        </p:txBody>
      </p:sp>
      <p:sp>
        <p:nvSpPr>
          <p:cNvPr id="11" name="Rectangle 10"/>
          <p:cNvSpPr/>
          <p:nvPr/>
        </p:nvSpPr>
        <p:spPr>
          <a:xfrm>
            <a:off x="9284816" y="1783080"/>
            <a:ext cx="2126894" cy="30044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94544" y="1783080"/>
            <a:ext cx="1944014" cy="300445"/>
          </a:xfrm>
          <a:prstGeom prst="rect">
            <a:avLst/>
          </a:prstGeom>
          <a:noFill/>
        </p:spPr>
        <p:txBody>
          <a:bodyPr wrap="square" anchor="ctr">
            <a:spAutoFit/>
          </a:bodyPr>
          <a:lstStyle/>
          <a:p>
            <a:pPr algn="l">
              <a:spcAft>
                <a:spcPts val="400"/>
              </a:spcAft>
            </a:pPr>
            <a:r>
              <a:rPr sz="1150" b="1">
                <a:solidFill>
                  <a:srgbClr val="FFFFFF"/>
                </a:solidFill>
                <a:latin typeface="Arial"/>
              </a:rPr>
              <a:t>Taught in</a:t>
            </a:r>
          </a:p>
        </p:txBody>
      </p:sp>
      <p:sp>
        <p:nvSpPr>
          <p:cNvPr id="13" name="Rectangle 12"/>
          <p:cNvSpPr/>
          <p:nvPr/>
        </p:nvSpPr>
        <p:spPr>
          <a:xfrm>
            <a:off x="777240" y="2083525"/>
            <a:ext cx="850757"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083525"/>
            <a:ext cx="667877" cy="300445"/>
          </a:xfrm>
          <a:prstGeom prst="rect">
            <a:avLst/>
          </a:prstGeom>
          <a:noFill/>
        </p:spPr>
        <p:txBody>
          <a:bodyPr wrap="square" anchor="ctr">
            <a:spAutoFit/>
          </a:bodyPr>
          <a:lstStyle/>
          <a:p>
            <a:pPr algn="l">
              <a:spcAft>
                <a:spcPts val="400"/>
              </a:spcAft>
            </a:pPr>
            <a:r>
              <a:rPr sz="1050" b="1">
                <a:solidFill>
                  <a:srgbClr val="161B26"/>
                </a:solidFill>
                <a:latin typeface="Arial"/>
              </a:rPr>
              <a:t>K1</a:t>
            </a:r>
          </a:p>
        </p:txBody>
      </p:sp>
      <p:sp>
        <p:nvSpPr>
          <p:cNvPr id="15" name="Rectangle 14"/>
          <p:cNvSpPr/>
          <p:nvPr/>
        </p:nvSpPr>
        <p:spPr>
          <a:xfrm>
            <a:off x="1627997" y="2083525"/>
            <a:ext cx="7656819"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737725" y="2083525"/>
            <a:ext cx="7473939" cy="300445"/>
          </a:xfrm>
          <a:prstGeom prst="rect">
            <a:avLst/>
          </a:prstGeom>
          <a:noFill/>
        </p:spPr>
        <p:txBody>
          <a:bodyPr wrap="square" anchor="ctr">
            <a:spAutoFit/>
          </a:bodyPr>
          <a:lstStyle/>
          <a:p>
            <a:pPr algn="l">
              <a:spcAft>
                <a:spcPts val="400"/>
              </a:spcAft>
            </a:pPr>
            <a:r>
              <a:rPr sz="1050" b="0">
                <a:solidFill>
                  <a:srgbClr val="161B26"/>
                </a:solidFill>
                <a:latin typeface="Arial"/>
              </a:rPr>
              <a:t>Vision system concepts</a:t>
            </a:r>
          </a:p>
        </p:txBody>
      </p:sp>
      <p:sp>
        <p:nvSpPr>
          <p:cNvPr id="17" name="Rectangle 16"/>
          <p:cNvSpPr/>
          <p:nvPr/>
        </p:nvSpPr>
        <p:spPr>
          <a:xfrm>
            <a:off x="9284816" y="2083525"/>
            <a:ext cx="2126894"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94544" y="2083525"/>
            <a:ext cx="1944014" cy="300445"/>
          </a:xfrm>
          <a:prstGeom prst="rect">
            <a:avLst/>
          </a:prstGeom>
          <a:noFill/>
        </p:spPr>
        <p:txBody>
          <a:bodyPr wrap="square" anchor="ctr">
            <a:spAutoFit/>
          </a:bodyPr>
          <a:lstStyle/>
          <a:p>
            <a:pPr algn="l">
              <a:spcAft>
                <a:spcPts val="400"/>
              </a:spcAft>
            </a:pPr>
            <a:r>
              <a:rPr sz="1050" b="0">
                <a:solidFill>
                  <a:srgbClr val="161B26"/>
                </a:solidFill>
                <a:latin typeface="Arial"/>
              </a:rPr>
              <a:t>Topic 01</a:t>
            </a:r>
          </a:p>
        </p:txBody>
      </p:sp>
      <p:sp>
        <p:nvSpPr>
          <p:cNvPr id="19" name="Rectangle 18"/>
          <p:cNvSpPr/>
          <p:nvPr/>
        </p:nvSpPr>
        <p:spPr>
          <a:xfrm>
            <a:off x="777240" y="2383970"/>
            <a:ext cx="850757"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383970"/>
            <a:ext cx="667877" cy="300445"/>
          </a:xfrm>
          <a:prstGeom prst="rect">
            <a:avLst/>
          </a:prstGeom>
          <a:noFill/>
        </p:spPr>
        <p:txBody>
          <a:bodyPr wrap="square" anchor="ctr">
            <a:spAutoFit/>
          </a:bodyPr>
          <a:lstStyle/>
          <a:p>
            <a:pPr algn="l">
              <a:spcAft>
                <a:spcPts val="400"/>
              </a:spcAft>
            </a:pPr>
            <a:r>
              <a:rPr sz="1050" b="1">
                <a:solidFill>
                  <a:srgbClr val="161B26"/>
                </a:solidFill>
                <a:latin typeface="Arial"/>
              </a:rPr>
              <a:t>K2</a:t>
            </a:r>
          </a:p>
        </p:txBody>
      </p:sp>
      <p:sp>
        <p:nvSpPr>
          <p:cNvPr id="21" name="Rectangle 20"/>
          <p:cNvSpPr/>
          <p:nvPr/>
        </p:nvSpPr>
        <p:spPr>
          <a:xfrm>
            <a:off x="1627997" y="2383970"/>
            <a:ext cx="7656819"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737725" y="2383970"/>
            <a:ext cx="7473939" cy="300445"/>
          </a:xfrm>
          <a:prstGeom prst="rect">
            <a:avLst/>
          </a:prstGeom>
          <a:noFill/>
        </p:spPr>
        <p:txBody>
          <a:bodyPr wrap="square" anchor="ctr">
            <a:spAutoFit/>
          </a:bodyPr>
          <a:lstStyle/>
          <a:p>
            <a:pPr algn="l">
              <a:spcAft>
                <a:spcPts val="400"/>
              </a:spcAft>
            </a:pPr>
            <a:r>
              <a:rPr sz="1050" b="0">
                <a:solidFill>
                  <a:srgbClr val="161B26"/>
                </a:solidFill>
                <a:latin typeface="Arial"/>
              </a:rPr>
              <a:t>Business applications of vision systems</a:t>
            </a:r>
          </a:p>
        </p:txBody>
      </p:sp>
      <p:sp>
        <p:nvSpPr>
          <p:cNvPr id="23" name="Rectangle 22"/>
          <p:cNvSpPr/>
          <p:nvPr/>
        </p:nvSpPr>
        <p:spPr>
          <a:xfrm>
            <a:off x="9284816" y="2383970"/>
            <a:ext cx="2126894"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94544" y="2383970"/>
            <a:ext cx="1944014" cy="300445"/>
          </a:xfrm>
          <a:prstGeom prst="rect">
            <a:avLst/>
          </a:prstGeom>
          <a:noFill/>
        </p:spPr>
        <p:txBody>
          <a:bodyPr wrap="square" anchor="ctr">
            <a:spAutoFit/>
          </a:bodyPr>
          <a:lstStyle/>
          <a:p>
            <a:pPr algn="l">
              <a:spcAft>
                <a:spcPts val="400"/>
              </a:spcAft>
            </a:pPr>
            <a:r>
              <a:rPr sz="1050" b="0">
                <a:solidFill>
                  <a:srgbClr val="161B26"/>
                </a:solidFill>
                <a:latin typeface="Arial"/>
              </a:rPr>
              <a:t>Topic 01</a:t>
            </a:r>
          </a:p>
        </p:txBody>
      </p:sp>
      <p:sp>
        <p:nvSpPr>
          <p:cNvPr id="25" name="Rectangle 24"/>
          <p:cNvSpPr/>
          <p:nvPr/>
        </p:nvSpPr>
        <p:spPr>
          <a:xfrm>
            <a:off x="777240" y="2684415"/>
            <a:ext cx="850757"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2684415"/>
            <a:ext cx="667877" cy="300445"/>
          </a:xfrm>
          <a:prstGeom prst="rect">
            <a:avLst/>
          </a:prstGeom>
          <a:noFill/>
        </p:spPr>
        <p:txBody>
          <a:bodyPr wrap="square" anchor="ctr">
            <a:spAutoFit/>
          </a:bodyPr>
          <a:lstStyle/>
          <a:p>
            <a:pPr algn="l">
              <a:spcAft>
                <a:spcPts val="400"/>
              </a:spcAft>
            </a:pPr>
            <a:r>
              <a:rPr sz="1050" b="1">
                <a:solidFill>
                  <a:srgbClr val="161B26"/>
                </a:solidFill>
                <a:latin typeface="Arial"/>
              </a:rPr>
              <a:t>K3</a:t>
            </a:r>
          </a:p>
        </p:txBody>
      </p:sp>
      <p:sp>
        <p:nvSpPr>
          <p:cNvPr id="27" name="Rectangle 26"/>
          <p:cNvSpPr/>
          <p:nvPr/>
        </p:nvSpPr>
        <p:spPr>
          <a:xfrm>
            <a:off x="1627997" y="2684415"/>
            <a:ext cx="7656819"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737725" y="2684415"/>
            <a:ext cx="7473939" cy="300445"/>
          </a:xfrm>
          <a:prstGeom prst="rect">
            <a:avLst/>
          </a:prstGeom>
          <a:noFill/>
        </p:spPr>
        <p:txBody>
          <a:bodyPr wrap="square" anchor="ctr">
            <a:spAutoFit/>
          </a:bodyPr>
          <a:lstStyle/>
          <a:p>
            <a:pPr algn="l">
              <a:spcAft>
                <a:spcPts val="400"/>
              </a:spcAft>
            </a:pPr>
            <a:r>
              <a:rPr sz="1050" b="0">
                <a:solidFill>
                  <a:srgbClr val="161B26"/>
                </a:solidFill>
                <a:latin typeface="Arial"/>
              </a:rPr>
              <a:t>Methods to represent image and video data</a:t>
            </a:r>
          </a:p>
        </p:txBody>
      </p:sp>
      <p:sp>
        <p:nvSpPr>
          <p:cNvPr id="29" name="Rectangle 28"/>
          <p:cNvSpPr/>
          <p:nvPr/>
        </p:nvSpPr>
        <p:spPr>
          <a:xfrm>
            <a:off x="9284816" y="2684415"/>
            <a:ext cx="2126894"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94544" y="2684415"/>
            <a:ext cx="1944014" cy="300445"/>
          </a:xfrm>
          <a:prstGeom prst="rect">
            <a:avLst/>
          </a:prstGeom>
          <a:noFill/>
        </p:spPr>
        <p:txBody>
          <a:bodyPr wrap="square" anchor="ctr">
            <a:spAutoFit/>
          </a:bodyPr>
          <a:lstStyle/>
          <a:p>
            <a:pPr algn="l">
              <a:spcAft>
                <a:spcPts val="400"/>
              </a:spcAft>
            </a:pPr>
            <a:r>
              <a:rPr sz="1050" b="0">
                <a:solidFill>
                  <a:srgbClr val="161B26"/>
                </a:solidFill>
                <a:latin typeface="Arial"/>
              </a:rPr>
              <a:t>Topic 02</a:t>
            </a:r>
          </a:p>
        </p:txBody>
      </p:sp>
      <p:sp>
        <p:nvSpPr>
          <p:cNvPr id="31" name="Rectangle 30"/>
          <p:cNvSpPr/>
          <p:nvPr/>
        </p:nvSpPr>
        <p:spPr>
          <a:xfrm>
            <a:off x="777240" y="2984860"/>
            <a:ext cx="850757"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2984860"/>
            <a:ext cx="667877" cy="300445"/>
          </a:xfrm>
          <a:prstGeom prst="rect">
            <a:avLst/>
          </a:prstGeom>
          <a:noFill/>
        </p:spPr>
        <p:txBody>
          <a:bodyPr wrap="square" anchor="ctr">
            <a:spAutoFit/>
          </a:bodyPr>
          <a:lstStyle/>
          <a:p>
            <a:pPr algn="l">
              <a:spcAft>
                <a:spcPts val="400"/>
              </a:spcAft>
            </a:pPr>
            <a:r>
              <a:rPr sz="1050" b="1">
                <a:solidFill>
                  <a:srgbClr val="161B26"/>
                </a:solidFill>
                <a:latin typeface="Arial"/>
              </a:rPr>
              <a:t>K4</a:t>
            </a:r>
          </a:p>
        </p:txBody>
      </p:sp>
      <p:sp>
        <p:nvSpPr>
          <p:cNvPr id="33" name="Rectangle 32"/>
          <p:cNvSpPr/>
          <p:nvPr/>
        </p:nvSpPr>
        <p:spPr>
          <a:xfrm>
            <a:off x="1627997" y="2984860"/>
            <a:ext cx="7656819"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737725" y="2984860"/>
            <a:ext cx="7473939" cy="300445"/>
          </a:xfrm>
          <a:prstGeom prst="rect">
            <a:avLst/>
          </a:prstGeom>
          <a:noFill/>
        </p:spPr>
        <p:txBody>
          <a:bodyPr wrap="square" anchor="ctr">
            <a:spAutoFit/>
          </a:bodyPr>
          <a:lstStyle/>
          <a:p>
            <a:pPr algn="l">
              <a:spcAft>
                <a:spcPts val="400"/>
              </a:spcAft>
            </a:pPr>
            <a:r>
              <a:rPr sz="1050" b="0">
                <a:solidFill>
                  <a:srgbClr val="161B26"/>
                </a:solidFill>
                <a:latin typeface="Arial"/>
              </a:rPr>
              <a:t>Image and video processing, filtering and transformation methods</a:t>
            </a:r>
          </a:p>
        </p:txBody>
      </p:sp>
      <p:sp>
        <p:nvSpPr>
          <p:cNvPr id="35" name="Rectangle 34"/>
          <p:cNvSpPr/>
          <p:nvPr/>
        </p:nvSpPr>
        <p:spPr>
          <a:xfrm>
            <a:off x="9284816" y="2984860"/>
            <a:ext cx="2126894"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94544" y="2984860"/>
            <a:ext cx="1944014" cy="300445"/>
          </a:xfrm>
          <a:prstGeom prst="rect">
            <a:avLst/>
          </a:prstGeom>
          <a:noFill/>
        </p:spPr>
        <p:txBody>
          <a:bodyPr wrap="square" anchor="ctr">
            <a:spAutoFit/>
          </a:bodyPr>
          <a:lstStyle/>
          <a:p>
            <a:pPr algn="l">
              <a:spcAft>
                <a:spcPts val="400"/>
              </a:spcAft>
            </a:pPr>
            <a:r>
              <a:rPr sz="1050" b="0">
                <a:solidFill>
                  <a:srgbClr val="161B26"/>
                </a:solidFill>
                <a:latin typeface="Arial"/>
              </a:rPr>
              <a:t>Topic 02</a:t>
            </a:r>
          </a:p>
        </p:txBody>
      </p:sp>
      <p:sp>
        <p:nvSpPr>
          <p:cNvPr id="37" name="Rectangle 36"/>
          <p:cNvSpPr/>
          <p:nvPr/>
        </p:nvSpPr>
        <p:spPr>
          <a:xfrm>
            <a:off x="777240" y="3285305"/>
            <a:ext cx="850757"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3285305"/>
            <a:ext cx="667877" cy="300445"/>
          </a:xfrm>
          <a:prstGeom prst="rect">
            <a:avLst/>
          </a:prstGeom>
          <a:noFill/>
        </p:spPr>
        <p:txBody>
          <a:bodyPr wrap="square" anchor="ctr">
            <a:spAutoFit/>
          </a:bodyPr>
          <a:lstStyle/>
          <a:p>
            <a:pPr algn="l">
              <a:spcAft>
                <a:spcPts val="400"/>
              </a:spcAft>
            </a:pPr>
            <a:r>
              <a:rPr sz="1050" b="1">
                <a:solidFill>
                  <a:srgbClr val="161B26"/>
                </a:solidFill>
                <a:latin typeface="Arial"/>
              </a:rPr>
              <a:t>K5</a:t>
            </a:r>
          </a:p>
        </p:txBody>
      </p:sp>
      <p:sp>
        <p:nvSpPr>
          <p:cNvPr id="39" name="Rectangle 38"/>
          <p:cNvSpPr/>
          <p:nvPr/>
        </p:nvSpPr>
        <p:spPr>
          <a:xfrm>
            <a:off x="1627997" y="3285305"/>
            <a:ext cx="7656819"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737725" y="3285305"/>
            <a:ext cx="7473939" cy="300445"/>
          </a:xfrm>
          <a:prstGeom prst="rect">
            <a:avLst/>
          </a:prstGeom>
          <a:noFill/>
        </p:spPr>
        <p:txBody>
          <a:bodyPr wrap="square" anchor="ctr">
            <a:spAutoFit/>
          </a:bodyPr>
          <a:lstStyle/>
          <a:p>
            <a:pPr algn="l">
              <a:spcAft>
                <a:spcPts val="400"/>
              </a:spcAft>
            </a:pPr>
            <a:r>
              <a:rPr sz="1050" b="0">
                <a:solidFill>
                  <a:srgbClr val="161B26"/>
                </a:solidFill>
                <a:latin typeface="Arial"/>
              </a:rPr>
              <a:t>Feature extraction and representation techniques</a:t>
            </a:r>
          </a:p>
        </p:txBody>
      </p:sp>
      <p:sp>
        <p:nvSpPr>
          <p:cNvPr id="41" name="Rectangle 40"/>
          <p:cNvSpPr/>
          <p:nvPr/>
        </p:nvSpPr>
        <p:spPr>
          <a:xfrm>
            <a:off x="9284816" y="3285305"/>
            <a:ext cx="2126894"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394544" y="3285305"/>
            <a:ext cx="1944014" cy="300445"/>
          </a:xfrm>
          <a:prstGeom prst="rect">
            <a:avLst/>
          </a:prstGeom>
          <a:noFill/>
        </p:spPr>
        <p:txBody>
          <a:bodyPr wrap="square" anchor="ctr">
            <a:spAutoFit/>
          </a:bodyPr>
          <a:lstStyle/>
          <a:p>
            <a:pPr algn="l">
              <a:spcAft>
                <a:spcPts val="400"/>
              </a:spcAft>
            </a:pPr>
            <a:r>
              <a:rPr sz="1050" b="0">
                <a:solidFill>
                  <a:srgbClr val="161B26"/>
                </a:solidFill>
                <a:latin typeface="Arial"/>
              </a:rPr>
              <a:t>Topic 03</a:t>
            </a:r>
          </a:p>
        </p:txBody>
      </p:sp>
      <p:sp>
        <p:nvSpPr>
          <p:cNvPr id="43" name="Rectangle 42"/>
          <p:cNvSpPr/>
          <p:nvPr/>
        </p:nvSpPr>
        <p:spPr>
          <a:xfrm>
            <a:off x="777240" y="3585750"/>
            <a:ext cx="850757"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3585750"/>
            <a:ext cx="667877" cy="300445"/>
          </a:xfrm>
          <a:prstGeom prst="rect">
            <a:avLst/>
          </a:prstGeom>
          <a:noFill/>
        </p:spPr>
        <p:txBody>
          <a:bodyPr wrap="square" anchor="ctr">
            <a:spAutoFit/>
          </a:bodyPr>
          <a:lstStyle/>
          <a:p>
            <a:pPr algn="l">
              <a:spcAft>
                <a:spcPts val="400"/>
              </a:spcAft>
            </a:pPr>
            <a:r>
              <a:rPr sz="1050" b="1">
                <a:solidFill>
                  <a:srgbClr val="161B26"/>
                </a:solidFill>
                <a:latin typeface="Arial"/>
              </a:rPr>
              <a:t>K6</a:t>
            </a:r>
          </a:p>
        </p:txBody>
      </p:sp>
      <p:sp>
        <p:nvSpPr>
          <p:cNvPr id="45" name="Rectangle 44"/>
          <p:cNvSpPr/>
          <p:nvPr/>
        </p:nvSpPr>
        <p:spPr>
          <a:xfrm>
            <a:off x="1627997" y="3585750"/>
            <a:ext cx="7656819"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737725" y="3585750"/>
            <a:ext cx="7473939" cy="300445"/>
          </a:xfrm>
          <a:prstGeom prst="rect">
            <a:avLst/>
          </a:prstGeom>
          <a:noFill/>
        </p:spPr>
        <p:txBody>
          <a:bodyPr wrap="square" anchor="ctr">
            <a:spAutoFit/>
          </a:bodyPr>
          <a:lstStyle/>
          <a:p>
            <a:pPr algn="l">
              <a:spcAft>
                <a:spcPts val="400"/>
              </a:spcAft>
            </a:pPr>
            <a:r>
              <a:rPr sz="1050" b="0">
                <a:solidFill>
                  <a:srgbClr val="161B26"/>
                </a:solidFill>
                <a:latin typeface="Arial"/>
              </a:rPr>
              <a:t>Local feature descriptions, edge, colour, texture and motion</a:t>
            </a:r>
          </a:p>
        </p:txBody>
      </p:sp>
      <p:sp>
        <p:nvSpPr>
          <p:cNvPr id="47" name="Rectangle 46"/>
          <p:cNvSpPr/>
          <p:nvPr/>
        </p:nvSpPr>
        <p:spPr>
          <a:xfrm>
            <a:off x="9284816" y="3585750"/>
            <a:ext cx="2126894"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394544" y="3585750"/>
            <a:ext cx="1944014" cy="300445"/>
          </a:xfrm>
          <a:prstGeom prst="rect">
            <a:avLst/>
          </a:prstGeom>
          <a:noFill/>
        </p:spPr>
        <p:txBody>
          <a:bodyPr wrap="square" anchor="ctr">
            <a:spAutoFit/>
          </a:bodyPr>
          <a:lstStyle/>
          <a:p>
            <a:pPr algn="l">
              <a:spcAft>
                <a:spcPts val="400"/>
              </a:spcAft>
            </a:pPr>
            <a:r>
              <a:rPr sz="1050" b="0">
                <a:solidFill>
                  <a:srgbClr val="161B26"/>
                </a:solidFill>
                <a:latin typeface="Arial"/>
              </a:rPr>
              <a:t>Topic 03</a:t>
            </a:r>
          </a:p>
        </p:txBody>
      </p:sp>
      <p:sp>
        <p:nvSpPr>
          <p:cNvPr id="49" name="Rectangle 48"/>
          <p:cNvSpPr/>
          <p:nvPr/>
        </p:nvSpPr>
        <p:spPr>
          <a:xfrm>
            <a:off x="777240" y="3886195"/>
            <a:ext cx="850757"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86968" y="3886195"/>
            <a:ext cx="667877" cy="300445"/>
          </a:xfrm>
          <a:prstGeom prst="rect">
            <a:avLst/>
          </a:prstGeom>
          <a:noFill/>
        </p:spPr>
        <p:txBody>
          <a:bodyPr wrap="square" anchor="ctr">
            <a:spAutoFit/>
          </a:bodyPr>
          <a:lstStyle/>
          <a:p>
            <a:pPr algn="l">
              <a:spcAft>
                <a:spcPts val="400"/>
              </a:spcAft>
            </a:pPr>
            <a:r>
              <a:rPr sz="1050" b="1">
                <a:solidFill>
                  <a:srgbClr val="161B26"/>
                </a:solidFill>
                <a:latin typeface="Arial"/>
              </a:rPr>
              <a:t>K7</a:t>
            </a:r>
          </a:p>
        </p:txBody>
      </p:sp>
      <p:sp>
        <p:nvSpPr>
          <p:cNvPr id="51" name="Rectangle 50"/>
          <p:cNvSpPr/>
          <p:nvPr/>
        </p:nvSpPr>
        <p:spPr>
          <a:xfrm>
            <a:off x="1627997" y="3886195"/>
            <a:ext cx="7656819"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737725" y="3886195"/>
            <a:ext cx="7473939" cy="300445"/>
          </a:xfrm>
          <a:prstGeom prst="rect">
            <a:avLst/>
          </a:prstGeom>
          <a:noFill/>
        </p:spPr>
        <p:txBody>
          <a:bodyPr wrap="square" anchor="ctr">
            <a:spAutoFit/>
          </a:bodyPr>
          <a:lstStyle/>
          <a:p>
            <a:pPr algn="l">
              <a:spcAft>
                <a:spcPts val="400"/>
              </a:spcAft>
            </a:pPr>
            <a:r>
              <a:rPr sz="1050" b="0">
                <a:solidFill>
                  <a:srgbClr val="161B26"/>
                </a:solidFill>
                <a:latin typeface="Arial"/>
              </a:rPr>
              <a:t>Global feature descriptions, statistical and geometrical methods</a:t>
            </a:r>
          </a:p>
        </p:txBody>
      </p:sp>
      <p:sp>
        <p:nvSpPr>
          <p:cNvPr id="53" name="Rectangle 52"/>
          <p:cNvSpPr/>
          <p:nvPr/>
        </p:nvSpPr>
        <p:spPr>
          <a:xfrm>
            <a:off x="9284816" y="3886195"/>
            <a:ext cx="2126894"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394544" y="3886195"/>
            <a:ext cx="1944014" cy="300445"/>
          </a:xfrm>
          <a:prstGeom prst="rect">
            <a:avLst/>
          </a:prstGeom>
          <a:noFill/>
        </p:spPr>
        <p:txBody>
          <a:bodyPr wrap="square" anchor="ctr">
            <a:spAutoFit/>
          </a:bodyPr>
          <a:lstStyle/>
          <a:p>
            <a:pPr algn="l">
              <a:spcAft>
                <a:spcPts val="400"/>
              </a:spcAft>
            </a:pPr>
            <a:r>
              <a:rPr sz="1050" b="0">
                <a:solidFill>
                  <a:srgbClr val="161B26"/>
                </a:solidFill>
                <a:latin typeface="Arial"/>
              </a:rPr>
              <a:t>Topic 03</a:t>
            </a:r>
          </a:p>
        </p:txBody>
      </p:sp>
      <p:sp>
        <p:nvSpPr>
          <p:cNvPr id="55" name="Rectangle 54"/>
          <p:cNvSpPr/>
          <p:nvPr/>
        </p:nvSpPr>
        <p:spPr>
          <a:xfrm>
            <a:off x="777240" y="4186640"/>
            <a:ext cx="850757"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 y="4186640"/>
            <a:ext cx="667877" cy="300445"/>
          </a:xfrm>
          <a:prstGeom prst="rect">
            <a:avLst/>
          </a:prstGeom>
          <a:noFill/>
        </p:spPr>
        <p:txBody>
          <a:bodyPr wrap="square" anchor="ctr">
            <a:spAutoFit/>
          </a:bodyPr>
          <a:lstStyle/>
          <a:p>
            <a:pPr algn="l">
              <a:spcAft>
                <a:spcPts val="400"/>
              </a:spcAft>
            </a:pPr>
            <a:r>
              <a:rPr sz="1050" b="1">
                <a:solidFill>
                  <a:srgbClr val="161B26"/>
                </a:solidFill>
                <a:latin typeface="Arial"/>
              </a:rPr>
              <a:t>K8</a:t>
            </a:r>
          </a:p>
        </p:txBody>
      </p:sp>
      <p:sp>
        <p:nvSpPr>
          <p:cNvPr id="57" name="Rectangle 56"/>
          <p:cNvSpPr/>
          <p:nvPr/>
        </p:nvSpPr>
        <p:spPr>
          <a:xfrm>
            <a:off x="1627997" y="4186640"/>
            <a:ext cx="7656819"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737725" y="4186640"/>
            <a:ext cx="7473939" cy="300445"/>
          </a:xfrm>
          <a:prstGeom prst="rect">
            <a:avLst/>
          </a:prstGeom>
          <a:noFill/>
        </p:spPr>
        <p:txBody>
          <a:bodyPr wrap="square" anchor="ctr">
            <a:spAutoFit/>
          </a:bodyPr>
          <a:lstStyle/>
          <a:p>
            <a:pPr algn="l">
              <a:spcAft>
                <a:spcPts val="400"/>
              </a:spcAft>
            </a:pPr>
            <a:r>
              <a:rPr sz="1050" b="0">
                <a:solidFill>
                  <a:srgbClr val="161B26"/>
                </a:solidFill>
                <a:latin typeface="Arial"/>
              </a:rPr>
              <a:t>Deep learning concepts</a:t>
            </a:r>
          </a:p>
        </p:txBody>
      </p:sp>
      <p:sp>
        <p:nvSpPr>
          <p:cNvPr id="59" name="Rectangle 58"/>
          <p:cNvSpPr/>
          <p:nvPr/>
        </p:nvSpPr>
        <p:spPr>
          <a:xfrm>
            <a:off x="9284816" y="4186640"/>
            <a:ext cx="2126894"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394544" y="4186640"/>
            <a:ext cx="1944014" cy="300445"/>
          </a:xfrm>
          <a:prstGeom prst="rect">
            <a:avLst/>
          </a:prstGeom>
          <a:noFill/>
        </p:spPr>
        <p:txBody>
          <a:bodyPr wrap="square" anchor="ctr">
            <a:spAutoFit/>
          </a:bodyPr>
          <a:lstStyle/>
          <a:p>
            <a:pPr algn="l">
              <a:spcAft>
                <a:spcPts val="400"/>
              </a:spcAft>
            </a:pPr>
            <a:r>
              <a:rPr sz="1050" b="0">
                <a:solidFill>
                  <a:srgbClr val="161B26"/>
                </a:solidFill>
                <a:latin typeface="Arial"/>
              </a:rPr>
              <a:t>Topic 04</a:t>
            </a:r>
          </a:p>
        </p:txBody>
      </p:sp>
      <p:sp>
        <p:nvSpPr>
          <p:cNvPr id="61" name="Rectangle 60"/>
          <p:cNvSpPr/>
          <p:nvPr/>
        </p:nvSpPr>
        <p:spPr>
          <a:xfrm>
            <a:off x="777240" y="4487085"/>
            <a:ext cx="850757"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86968" y="4487085"/>
            <a:ext cx="667877" cy="300445"/>
          </a:xfrm>
          <a:prstGeom prst="rect">
            <a:avLst/>
          </a:prstGeom>
          <a:noFill/>
        </p:spPr>
        <p:txBody>
          <a:bodyPr wrap="square" anchor="ctr">
            <a:spAutoFit/>
          </a:bodyPr>
          <a:lstStyle/>
          <a:p>
            <a:pPr algn="l">
              <a:spcAft>
                <a:spcPts val="400"/>
              </a:spcAft>
            </a:pPr>
            <a:r>
              <a:rPr sz="1050" b="1">
                <a:solidFill>
                  <a:srgbClr val="161B26"/>
                </a:solidFill>
                <a:latin typeface="Arial"/>
              </a:rPr>
              <a:t>K9</a:t>
            </a:r>
          </a:p>
        </p:txBody>
      </p:sp>
      <p:sp>
        <p:nvSpPr>
          <p:cNvPr id="63" name="Rectangle 62"/>
          <p:cNvSpPr/>
          <p:nvPr/>
        </p:nvSpPr>
        <p:spPr>
          <a:xfrm>
            <a:off x="1627997" y="4487085"/>
            <a:ext cx="7656819"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737725" y="4487085"/>
            <a:ext cx="7473939" cy="300445"/>
          </a:xfrm>
          <a:prstGeom prst="rect">
            <a:avLst/>
          </a:prstGeom>
          <a:noFill/>
        </p:spPr>
        <p:txBody>
          <a:bodyPr wrap="square" anchor="ctr">
            <a:spAutoFit/>
          </a:bodyPr>
          <a:lstStyle/>
          <a:p>
            <a:pPr algn="l">
              <a:spcAft>
                <a:spcPts val="400"/>
              </a:spcAft>
            </a:pPr>
            <a:r>
              <a:rPr sz="1050" b="0">
                <a:solidFill>
                  <a:srgbClr val="161B26"/>
                </a:solidFill>
                <a:latin typeface="Arial"/>
              </a:rPr>
              <a:t>Object segmentation, detection and recognition</a:t>
            </a:r>
          </a:p>
        </p:txBody>
      </p:sp>
      <p:sp>
        <p:nvSpPr>
          <p:cNvPr id="65" name="Rectangle 64"/>
          <p:cNvSpPr/>
          <p:nvPr/>
        </p:nvSpPr>
        <p:spPr>
          <a:xfrm>
            <a:off x="9284816" y="4487085"/>
            <a:ext cx="2126894"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394544" y="4487085"/>
            <a:ext cx="1944014" cy="300445"/>
          </a:xfrm>
          <a:prstGeom prst="rect">
            <a:avLst/>
          </a:prstGeom>
          <a:noFill/>
        </p:spPr>
        <p:txBody>
          <a:bodyPr wrap="square" anchor="ctr">
            <a:spAutoFit/>
          </a:bodyPr>
          <a:lstStyle/>
          <a:p>
            <a:pPr algn="l">
              <a:spcAft>
                <a:spcPts val="400"/>
              </a:spcAft>
            </a:pPr>
            <a:r>
              <a:rPr sz="1050" b="0">
                <a:solidFill>
                  <a:srgbClr val="161B26"/>
                </a:solidFill>
                <a:latin typeface="Arial"/>
              </a:rPr>
              <a:t>Topic 04</a:t>
            </a:r>
          </a:p>
        </p:txBody>
      </p:sp>
      <p:sp>
        <p:nvSpPr>
          <p:cNvPr id="67" name="Rectangle 66"/>
          <p:cNvSpPr/>
          <p:nvPr/>
        </p:nvSpPr>
        <p:spPr>
          <a:xfrm>
            <a:off x="777240" y="4787530"/>
            <a:ext cx="850757"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86968" y="4787530"/>
            <a:ext cx="667877" cy="300445"/>
          </a:xfrm>
          <a:prstGeom prst="rect">
            <a:avLst/>
          </a:prstGeom>
          <a:noFill/>
        </p:spPr>
        <p:txBody>
          <a:bodyPr wrap="square" anchor="ctr">
            <a:spAutoFit/>
          </a:bodyPr>
          <a:lstStyle/>
          <a:p>
            <a:pPr algn="l">
              <a:spcAft>
                <a:spcPts val="400"/>
              </a:spcAft>
            </a:pPr>
            <a:r>
              <a:rPr sz="1050" b="1">
                <a:solidFill>
                  <a:srgbClr val="161B26"/>
                </a:solidFill>
                <a:latin typeface="Arial"/>
              </a:rPr>
              <a:t>K10</a:t>
            </a:r>
          </a:p>
        </p:txBody>
      </p:sp>
      <p:sp>
        <p:nvSpPr>
          <p:cNvPr id="69" name="Rectangle 68"/>
          <p:cNvSpPr/>
          <p:nvPr/>
        </p:nvSpPr>
        <p:spPr>
          <a:xfrm>
            <a:off x="1627997" y="4787530"/>
            <a:ext cx="7656819"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737725" y="4787530"/>
            <a:ext cx="7473939" cy="300445"/>
          </a:xfrm>
          <a:prstGeom prst="rect">
            <a:avLst/>
          </a:prstGeom>
          <a:noFill/>
        </p:spPr>
        <p:txBody>
          <a:bodyPr wrap="square" anchor="ctr">
            <a:spAutoFit/>
          </a:bodyPr>
          <a:lstStyle/>
          <a:p>
            <a:pPr algn="l">
              <a:spcAft>
                <a:spcPts val="400"/>
              </a:spcAft>
            </a:pPr>
            <a:r>
              <a:rPr sz="1050" b="0">
                <a:solidFill>
                  <a:srgbClr val="161B26"/>
                </a:solidFill>
                <a:latin typeface="Arial"/>
              </a:rPr>
              <a:t>Activity tracking, generative models, scene understanding and event discovery</a:t>
            </a:r>
          </a:p>
        </p:txBody>
      </p:sp>
      <p:sp>
        <p:nvSpPr>
          <p:cNvPr id="71" name="Rectangle 70"/>
          <p:cNvSpPr/>
          <p:nvPr/>
        </p:nvSpPr>
        <p:spPr>
          <a:xfrm>
            <a:off x="9284816" y="4787530"/>
            <a:ext cx="2126894"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394544" y="4787530"/>
            <a:ext cx="1944014" cy="300445"/>
          </a:xfrm>
          <a:prstGeom prst="rect">
            <a:avLst/>
          </a:prstGeom>
          <a:noFill/>
        </p:spPr>
        <p:txBody>
          <a:bodyPr wrap="square" anchor="ctr">
            <a:spAutoFit/>
          </a:bodyPr>
          <a:lstStyle/>
          <a:p>
            <a:pPr algn="l">
              <a:spcAft>
                <a:spcPts val="400"/>
              </a:spcAft>
            </a:pPr>
            <a:r>
              <a:rPr sz="1050" b="0">
                <a:solidFill>
                  <a:srgbClr val="161B26"/>
                </a:solidFill>
                <a:latin typeface="Arial"/>
              </a:rPr>
              <a:t>Topic 04</a:t>
            </a:r>
          </a:p>
        </p:txBody>
      </p:sp>
      <p:sp>
        <p:nvSpPr>
          <p:cNvPr id="73" name="Rectangle 72"/>
          <p:cNvSpPr/>
          <p:nvPr/>
        </p:nvSpPr>
        <p:spPr>
          <a:xfrm>
            <a:off x="777240" y="5087975"/>
            <a:ext cx="850757"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86968" y="5087975"/>
            <a:ext cx="667877" cy="300445"/>
          </a:xfrm>
          <a:prstGeom prst="rect">
            <a:avLst/>
          </a:prstGeom>
          <a:noFill/>
        </p:spPr>
        <p:txBody>
          <a:bodyPr wrap="square" anchor="ctr">
            <a:spAutoFit/>
          </a:bodyPr>
          <a:lstStyle/>
          <a:p>
            <a:pPr algn="l">
              <a:spcAft>
                <a:spcPts val="400"/>
              </a:spcAft>
            </a:pPr>
            <a:r>
              <a:rPr sz="1050" b="1">
                <a:solidFill>
                  <a:srgbClr val="161B26"/>
                </a:solidFill>
                <a:latin typeface="Arial"/>
              </a:rPr>
              <a:t>K11</a:t>
            </a:r>
          </a:p>
        </p:txBody>
      </p:sp>
      <p:sp>
        <p:nvSpPr>
          <p:cNvPr id="75" name="Rectangle 74"/>
          <p:cNvSpPr/>
          <p:nvPr/>
        </p:nvSpPr>
        <p:spPr>
          <a:xfrm>
            <a:off x="1627997" y="5087975"/>
            <a:ext cx="7656819"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737725" y="5087975"/>
            <a:ext cx="7473939" cy="300445"/>
          </a:xfrm>
          <a:prstGeom prst="rect">
            <a:avLst/>
          </a:prstGeom>
          <a:noFill/>
        </p:spPr>
        <p:txBody>
          <a:bodyPr wrap="square" anchor="ctr">
            <a:spAutoFit/>
          </a:bodyPr>
          <a:lstStyle/>
          <a:p>
            <a:pPr algn="l">
              <a:spcAft>
                <a:spcPts val="400"/>
              </a:spcAft>
            </a:pPr>
            <a:r>
              <a:rPr sz="1050" b="0">
                <a:solidFill>
                  <a:srgbClr val="161B26"/>
                </a:solidFill>
                <a:latin typeface="Arial"/>
              </a:rPr>
              <a:t>Vision system architecture</a:t>
            </a:r>
          </a:p>
        </p:txBody>
      </p:sp>
      <p:sp>
        <p:nvSpPr>
          <p:cNvPr id="77" name="Rectangle 76"/>
          <p:cNvSpPr/>
          <p:nvPr/>
        </p:nvSpPr>
        <p:spPr>
          <a:xfrm>
            <a:off x="9284816" y="5087975"/>
            <a:ext cx="2126894"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394544" y="5087975"/>
            <a:ext cx="1944014" cy="300445"/>
          </a:xfrm>
          <a:prstGeom prst="rect">
            <a:avLst/>
          </a:prstGeom>
          <a:noFill/>
        </p:spPr>
        <p:txBody>
          <a:bodyPr wrap="square" anchor="ctr">
            <a:spAutoFit/>
          </a:bodyPr>
          <a:lstStyle/>
          <a:p>
            <a:pPr algn="l">
              <a:spcAft>
                <a:spcPts val="400"/>
              </a:spcAft>
            </a:pPr>
            <a:r>
              <a:rPr sz="1050" b="0">
                <a:solidFill>
                  <a:srgbClr val="161B26"/>
                </a:solidFill>
                <a:latin typeface="Arial"/>
              </a:rPr>
              <a:t>Topic 05</a:t>
            </a:r>
          </a:p>
        </p:txBody>
      </p:sp>
      <p:sp>
        <p:nvSpPr>
          <p:cNvPr id="79" name="Rectangle 78"/>
          <p:cNvSpPr/>
          <p:nvPr/>
        </p:nvSpPr>
        <p:spPr>
          <a:xfrm>
            <a:off x="777240" y="5388420"/>
            <a:ext cx="850757"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86968" y="5388420"/>
            <a:ext cx="667877" cy="300445"/>
          </a:xfrm>
          <a:prstGeom prst="rect">
            <a:avLst/>
          </a:prstGeom>
          <a:noFill/>
        </p:spPr>
        <p:txBody>
          <a:bodyPr wrap="square" anchor="ctr">
            <a:spAutoFit/>
          </a:bodyPr>
          <a:lstStyle/>
          <a:p>
            <a:pPr algn="l">
              <a:spcAft>
                <a:spcPts val="400"/>
              </a:spcAft>
            </a:pPr>
            <a:r>
              <a:rPr sz="1050" b="1">
                <a:solidFill>
                  <a:srgbClr val="161B26"/>
                </a:solidFill>
                <a:latin typeface="Arial"/>
              </a:rPr>
              <a:t>K12</a:t>
            </a:r>
          </a:p>
        </p:txBody>
      </p:sp>
      <p:sp>
        <p:nvSpPr>
          <p:cNvPr id="81" name="Rectangle 80"/>
          <p:cNvSpPr/>
          <p:nvPr/>
        </p:nvSpPr>
        <p:spPr>
          <a:xfrm>
            <a:off x="1627997" y="5388420"/>
            <a:ext cx="7656819"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737725" y="5388420"/>
            <a:ext cx="7473939" cy="300445"/>
          </a:xfrm>
          <a:prstGeom prst="rect">
            <a:avLst/>
          </a:prstGeom>
          <a:noFill/>
        </p:spPr>
        <p:txBody>
          <a:bodyPr wrap="square" anchor="ctr">
            <a:spAutoFit/>
          </a:bodyPr>
          <a:lstStyle/>
          <a:p>
            <a:pPr algn="l">
              <a:spcAft>
                <a:spcPts val="400"/>
              </a:spcAft>
            </a:pPr>
            <a:r>
              <a:rPr sz="1050" b="0">
                <a:solidFill>
                  <a:srgbClr val="161B26"/>
                </a:solidFill>
                <a:latin typeface="Arial"/>
              </a:rPr>
              <a:t>Vision communication protocols</a:t>
            </a:r>
          </a:p>
        </p:txBody>
      </p:sp>
      <p:sp>
        <p:nvSpPr>
          <p:cNvPr id="83" name="Rectangle 82"/>
          <p:cNvSpPr/>
          <p:nvPr/>
        </p:nvSpPr>
        <p:spPr>
          <a:xfrm>
            <a:off x="9284816" y="5388420"/>
            <a:ext cx="2126894"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394544" y="5388420"/>
            <a:ext cx="1944014" cy="300445"/>
          </a:xfrm>
          <a:prstGeom prst="rect">
            <a:avLst/>
          </a:prstGeom>
          <a:noFill/>
        </p:spPr>
        <p:txBody>
          <a:bodyPr wrap="square" anchor="ctr">
            <a:spAutoFit/>
          </a:bodyPr>
          <a:lstStyle/>
          <a:p>
            <a:pPr algn="l">
              <a:spcAft>
                <a:spcPts val="400"/>
              </a:spcAft>
            </a:pPr>
            <a:r>
              <a:rPr sz="1050" b="0">
                <a:solidFill>
                  <a:srgbClr val="161B26"/>
                </a:solidFill>
                <a:latin typeface="Arial"/>
              </a:rPr>
              <a:t>Topic 05</a:t>
            </a:r>
          </a:p>
        </p:txBody>
      </p:sp>
      <p:sp>
        <p:nvSpPr>
          <p:cNvPr id="85" name="Rectangle 84"/>
          <p:cNvSpPr/>
          <p:nvPr/>
        </p:nvSpPr>
        <p:spPr>
          <a:xfrm>
            <a:off x="777240" y="5688865"/>
            <a:ext cx="850757"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86968" y="5688865"/>
            <a:ext cx="667877" cy="300445"/>
          </a:xfrm>
          <a:prstGeom prst="rect">
            <a:avLst/>
          </a:prstGeom>
          <a:noFill/>
        </p:spPr>
        <p:txBody>
          <a:bodyPr wrap="square" anchor="ctr">
            <a:spAutoFit/>
          </a:bodyPr>
          <a:lstStyle/>
          <a:p>
            <a:pPr algn="l">
              <a:spcAft>
                <a:spcPts val="400"/>
              </a:spcAft>
            </a:pPr>
            <a:r>
              <a:rPr sz="1050" b="1">
                <a:solidFill>
                  <a:srgbClr val="161B26"/>
                </a:solidFill>
                <a:latin typeface="Arial"/>
              </a:rPr>
              <a:t>K13</a:t>
            </a:r>
          </a:p>
        </p:txBody>
      </p:sp>
      <p:sp>
        <p:nvSpPr>
          <p:cNvPr id="87" name="Rectangle 86"/>
          <p:cNvSpPr/>
          <p:nvPr/>
        </p:nvSpPr>
        <p:spPr>
          <a:xfrm>
            <a:off x="1627997" y="5688865"/>
            <a:ext cx="7656819"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737725" y="5688865"/>
            <a:ext cx="7473939" cy="300445"/>
          </a:xfrm>
          <a:prstGeom prst="rect">
            <a:avLst/>
          </a:prstGeom>
          <a:noFill/>
        </p:spPr>
        <p:txBody>
          <a:bodyPr wrap="square" anchor="ctr">
            <a:spAutoFit/>
          </a:bodyPr>
          <a:lstStyle/>
          <a:p>
            <a:pPr algn="l">
              <a:spcAft>
                <a:spcPts val="400"/>
              </a:spcAft>
            </a:pPr>
            <a:r>
              <a:rPr sz="1050" b="0">
                <a:solidFill>
                  <a:srgbClr val="161B26"/>
                </a:solidFill>
                <a:latin typeface="Arial"/>
              </a:rPr>
              <a:t>Real-world design constraints and solution options</a:t>
            </a:r>
          </a:p>
        </p:txBody>
      </p:sp>
      <p:sp>
        <p:nvSpPr>
          <p:cNvPr id="89" name="Rectangle 88"/>
          <p:cNvSpPr/>
          <p:nvPr/>
        </p:nvSpPr>
        <p:spPr>
          <a:xfrm>
            <a:off x="9284816" y="5688865"/>
            <a:ext cx="2126894"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9394544" y="5688865"/>
            <a:ext cx="1944014" cy="300445"/>
          </a:xfrm>
          <a:prstGeom prst="rect">
            <a:avLst/>
          </a:prstGeom>
          <a:noFill/>
        </p:spPr>
        <p:txBody>
          <a:bodyPr wrap="square" anchor="ctr">
            <a:spAutoFit/>
          </a:bodyPr>
          <a:lstStyle/>
          <a:p>
            <a:pPr algn="l">
              <a:spcAft>
                <a:spcPts val="400"/>
              </a:spcAft>
            </a:pPr>
            <a:r>
              <a:rPr sz="1050" b="0">
                <a:solidFill>
                  <a:srgbClr val="161B26"/>
                </a:solidFill>
                <a:latin typeface="Arial"/>
              </a:rPr>
              <a:t>Topic 05</a:t>
            </a:r>
          </a:p>
        </p:txBody>
      </p:sp>
      <p:sp>
        <p:nvSpPr>
          <p:cNvPr id="91" name="TextBox 90"/>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The Written Assessment carries exactly one question per knowledge statement, in this order.</a:t>
            </a:r>
          </a:p>
        </p:txBody>
      </p:sp>
      <p:sp>
        <p:nvSpPr>
          <p:cNvPr id="92" name="TextBox 9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93" name="TextBox 9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4" name="TextBox 9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PRACTICAL PERFORMANCE · 5 TASKS · 90 MINUTES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Assessed Abilities — A1 to A8</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850757" cy="4673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667877" cy="467360"/>
          </a:xfrm>
          <a:prstGeom prst="rect">
            <a:avLst/>
          </a:prstGeom>
          <a:noFill/>
        </p:spPr>
        <p:txBody>
          <a:bodyPr wrap="square" anchor="ctr">
            <a:spAutoFit/>
          </a:bodyPr>
          <a:lstStyle/>
          <a:p>
            <a:pPr algn="l">
              <a:spcAft>
                <a:spcPts val="400"/>
              </a:spcAft>
            </a:pPr>
            <a:r>
              <a:rPr sz="1150" b="1">
                <a:solidFill>
                  <a:srgbClr val="FFFFFF"/>
                </a:solidFill>
                <a:latin typeface="Arial"/>
              </a:rPr>
              <a:t>Code</a:t>
            </a:r>
          </a:p>
        </p:txBody>
      </p:sp>
      <p:sp>
        <p:nvSpPr>
          <p:cNvPr id="9" name="Rectangle 8"/>
          <p:cNvSpPr/>
          <p:nvPr/>
        </p:nvSpPr>
        <p:spPr>
          <a:xfrm>
            <a:off x="1627997" y="1783080"/>
            <a:ext cx="6593372" cy="4673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37725" y="1783080"/>
            <a:ext cx="6410492" cy="467360"/>
          </a:xfrm>
          <a:prstGeom prst="rect">
            <a:avLst/>
          </a:prstGeom>
          <a:noFill/>
        </p:spPr>
        <p:txBody>
          <a:bodyPr wrap="square" anchor="ctr">
            <a:spAutoFit/>
          </a:bodyPr>
          <a:lstStyle/>
          <a:p>
            <a:pPr algn="l">
              <a:spcAft>
                <a:spcPts val="400"/>
              </a:spcAft>
            </a:pPr>
            <a:r>
              <a:rPr sz="1150" b="1">
                <a:solidFill>
                  <a:srgbClr val="FFFFFF"/>
                </a:solidFill>
                <a:latin typeface="Arial"/>
              </a:rPr>
              <a:t>Ability statement</a:t>
            </a:r>
          </a:p>
        </p:txBody>
      </p:sp>
      <p:sp>
        <p:nvSpPr>
          <p:cNvPr id="11" name="Rectangle 10"/>
          <p:cNvSpPr/>
          <p:nvPr/>
        </p:nvSpPr>
        <p:spPr>
          <a:xfrm>
            <a:off x="8221369" y="1783080"/>
            <a:ext cx="3190341" cy="4673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31097" y="1783080"/>
            <a:ext cx="3007461" cy="467360"/>
          </a:xfrm>
          <a:prstGeom prst="rect">
            <a:avLst/>
          </a:prstGeom>
          <a:noFill/>
        </p:spPr>
        <p:txBody>
          <a:bodyPr wrap="square" anchor="ctr">
            <a:spAutoFit/>
          </a:bodyPr>
          <a:lstStyle/>
          <a:p>
            <a:pPr algn="l">
              <a:spcAft>
                <a:spcPts val="400"/>
              </a:spcAft>
            </a:pPr>
            <a:r>
              <a:rPr sz="1150" b="1">
                <a:solidFill>
                  <a:srgbClr val="FFFFFF"/>
                </a:solidFill>
                <a:latin typeface="Arial"/>
              </a:rPr>
              <a:t>Practised in</a:t>
            </a:r>
          </a:p>
        </p:txBody>
      </p:sp>
      <p:sp>
        <p:nvSpPr>
          <p:cNvPr id="13" name="Rectangle 12"/>
          <p:cNvSpPr/>
          <p:nvPr/>
        </p:nvSpPr>
        <p:spPr>
          <a:xfrm>
            <a:off x="777240" y="2250440"/>
            <a:ext cx="850757"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50440"/>
            <a:ext cx="667877" cy="467360"/>
          </a:xfrm>
          <a:prstGeom prst="rect">
            <a:avLst/>
          </a:prstGeom>
          <a:noFill/>
        </p:spPr>
        <p:txBody>
          <a:bodyPr wrap="square" anchor="ctr">
            <a:spAutoFit/>
          </a:bodyPr>
          <a:lstStyle/>
          <a:p>
            <a:pPr algn="l">
              <a:spcAft>
                <a:spcPts val="400"/>
              </a:spcAft>
            </a:pPr>
            <a:r>
              <a:rPr sz="1050" b="1">
                <a:solidFill>
                  <a:srgbClr val="161B26"/>
                </a:solidFill>
                <a:latin typeface="Arial"/>
              </a:rPr>
              <a:t>A1</a:t>
            </a:r>
          </a:p>
        </p:txBody>
      </p:sp>
      <p:sp>
        <p:nvSpPr>
          <p:cNvPr id="15" name="Rectangle 14"/>
          <p:cNvSpPr/>
          <p:nvPr/>
        </p:nvSpPr>
        <p:spPr>
          <a:xfrm>
            <a:off x="1627997" y="2250440"/>
            <a:ext cx="6593372"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737725" y="2250440"/>
            <a:ext cx="6410492" cy="467360"/>
          </a:xfrm>
          <a:prstGeom prst="rect">
            <a:avLst/>
          </a:prstGeom>
          <a:noFill/>
        </p:spPr>
        <p:txBody>
          <a:bodyPr wrap="square" anchor="ctr">
            <a:spAutoFit/>
          </a:bodyPr>
          <a:lstStyle/>
          <a:p>
            <a:pPr algn="l">
              <a:spcAft>
                <a:spcPts val="400"/>
              </a:spcAft>
            </a:pPr>
            <a:r>
              <a:rPr sz="1050" b="0">
                <a:solidFill>
                  <a:srgbClr val="161B26"/>
                </a:solidFill>
                <a:latin typeface="Arial"/>
              </a:rPr>
              <a:t>Identify the needs of vision systems technology in industrial applications</a:t>
            </a:r>
          </a:p>
        </p:txBody>
      </p:sp>
      <p:sp>
        <p:nvSpPr>
          <p:cNvPr id="17" name="Rectangle 16"/>
          <p:cNvSpPr/>
          <p:nvPr/>
        </p:nvSpPr>
        <p:spPr>
          <a:xfrm>
            <a:off x="8221369" y="2250440"/>
            <a:ext cx="3190341"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1097" y="2250440"/>
            <a:ext cx="3007461" cy="467360"/>
          </a:xfrm>
          <a:prstGeom prst="rect">
            <a:avLst/>
          </a:prstGeom>
          <a:noFill/>
        </p:spPr>
        <p:txBody>
          <a:bodyPr wrap="square" anchor="ctr">
            <a:spAutoFit/>
          </a:bodyPr>
          <a:lstStyle/>
          <a:p>
            <a:pPr algn="l">
              <a:spcAft>
                <a:spcPts val="400"/>
              </a:spcAft>
            </a:pPr>
            <a:r>
              <a:rPr sz="1050" b="0">
                <a:solidFill>
                  <a:srgbClr val="161B26"/>
                </a:solidFill>
                <a:latin typeface="Arial"/>
              </a:rPr>
              <a:t>Lab 01</a:t>
            </a:r>
          </a:p>
        </p:txBody>
      </p:sp>
      <p:sp>
        <p:nvSpPr>
          <p:cNvPr id="19" name="Rectangle 18"/>
          <p:cNvSpPr/>
          <p:nvPr/>
        </p:nvSpPr>
        <p:spPr>
          <a:xfrm>
            <a:off x="777240" y="2717800"/>
            <a:ext cx="850757"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717800"/>
            <a:ext cx="667877" cy="467360"/>
          </a:xfrm>
          <a:prstGeom prst="rect">
            <a:avLst/>
          </a:prstGeom>
          <a:noFill/>
        </p:spPr>
        <p:txBody>
          <a:bodyPr wrap="square" anchor="ctr">
            <a:spAutoFit/>
          </a:bodyPr>
          <a:lstStyle/>
          <a:p>
            <a:pPr algn="l">
              <a:spcAft>
                <a:spcPts val="400"/>
              </a:spcAft>
            </a:pPr>
            <a:r>
              <a:rPr sz="1050" b="1">
                <a:solidFill>
                  <a:srgbClr val="161B26"/>
                </a:solidFill>
                <a:latin typeface="Arial"/>
              </a:rPr>
              <a:t>A2</a:t>
            </a:r>
          </a:p>
        </p:txBody>
      </p:sp>
      <p:sp>
        <p:nvSpPr>
          <p:cNvPr id="21" name="Rectangle 20"/>
          <p:cNvSpPr/>
          <p:nvPr/>
        </p:nvSpPr>
        <p:spPr>
          <a:xfrm>
            <a:off x="1627997" y="2717800"/>
            <a:ext cx="6593372"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737725" y="2717800"/>
            <a:ext cx="6410492" cy="467360"/>
          </a:xfrm>
          <a:prstGeom prst="rect">
            <a:avLst/>
          </a:prstGeom>
          <a:noFill/>
        </p:spPr>
        <p:txBody>
          <a:bodyPr wrap="square" anchor="ctr">
            <a:spAutoFit/>
          </a:bodyPr>
          <a:lstStyle/>
          <a:p>
            <a:pPr algn="l">
              <a:spcAft>
                <a:spcPts val="400"/>
              </a:spcAft>
            </a:pPr>
            <a:r>
              <a:rPr sz="1050" b="0">
                <a:solidFill>
                  <a:srgbClr val="161B26"/>
                </a:solidFill>
                <a:latin typeface="Arial"/>
              </a:rPr>
              <a:t>Apply the principles of processing, filtering and analysis methods for video data</a:t>
            </a:r>
          </a:p>
        </p:txBody>
      </p:sp>
      <p:sp>
        <p:nvSpPr>
          <p:cNvPr id="23" name="Rectangle 22"/>
          <p:cNvSpPr/>
          <p:nvPr/>
        </p:nvSpPr>
        <p:spPr>
          <a:xfrm>
            <a:off x="8221369" y="2717800"/>
            <a:ext cx="3190341"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31097" y="2717800"/>
            <a:ext cx="3007461" cy="467360"/>
          </a:xfrm>
          <a:prstGeom prst="rect">
            <a:avLst/>
          </a:prstGeom>
          <a:noFill/>
        </p:spPr>
        <p:txBody>
          <a:bodyPr wrap="square" anchor="ctr">
            <a:spAutoFit/>
          </a:bodyPr>
          <a:lstStyle/>
          <a:p>
            <a:pPr algn="l">
              <a:spcAft>
                <a:spcPts val="400"/>
              </a:spcAft>
            </a:pPr>
            <a:r>
              <a:rPr sz="1050" b="0">
                <a:solidFill>
                  <a:srgbClr val="161B26"/>
                </a:solidFill>
                <a:latin typeface="Arial"/>
              </a:rPr>
              <a:t>Lab 02, Lab 03, Lab 04, Lab 05</a:t>
            </a:r>
          </a:p>
        </p:txBody>
      </p:sp>
      <p:sp>
        <p:nvSpPr>
          <p:cNvPr id="25" name="Rectangle 24"/>
          <p:cNvSpPr/>
          <p:nvPr/>
        </p:nvSpPr>
        <p:spPr>
          <a:xfrm>
            <a:off x="777240" y="3185160"/>
            <a:ext cx="850757"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185160"/>
            <a:ext cx="667877" cy="467360"/>
          </a:xfrm>
          <a:prstGeom prst="rect">
            <a:avLst/>
          </a:prstGeom>
          <a:noFill/>
        </p:spPr>
        <p:txBody>
          <a:bodyPr wrap="square" anchor="ctr">
            <a:spAutoFit/>
          </a:bodyPr>
          <a:lstStyle/>
          <a:p>
            <a:pPr algn="l">
              <a:spcAft>
                <a:spcPts val="400"/>
              </a:spcAft>
            </a:pPr>
            <a:r>
              <a:rPr sz="1050" b="1">
                <a:solidFill>
                  <a:srgbClr val="161B26"/>
                </a:solidFill>
                <a:latin typeface="Arial"/>
              </a:rPr>
              <a:t>A3</a:t>
            </a:r>
          </a:p>
        </p:txBody>
      </p:sp>
      <p:sp>
        <p:nvSpPr>
          <p:cNvPr id="27" name="Rectangle 26"/>
          <p:cNvSpPr/>
          <p:nvPr/>
        </p:nvSpPr>
        <p:spPr>
          <a:xfrm>
            <a:off x="1627997" y="3185160"/>
            <a:ext cx="6593372"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737725" y="3185160"/>
            <a:ext cx="6410492" cy="467360"/>
          </a:xfrm>
          <a:prstGeom prst="rect">
            <a:avLst/>
          </a:prstGeom>
          <a:noFill/>
        </p:spPr>
        <p:txBody>
          <a:bodyPr wrap="square" anchor="ctr">
            <a:spAutoFit/>
          </a:bodyPr>
          <a:lstStyle/>
          <a:p>
            <a:pPr algn="l">
              <a:spcAft>
                <a:spcPts val="400"/>
              </a:spcAft>
            </a:pPr>
            <a:r>
              <a:rPr sz="1050" b="0">
                <a:solidFill>
                  <a:srgbClr val="161B26"/>
                </a:solidFill>
                <a:latin typeface="Arial"/>
              </a:rPr>
              <a:t>Analyse global feature descriptions</a:t>
            </a:r>
          </a:p>
        </p:txBody>
      </p:sp>
      <p:sp>
        <p:nvSpPr>
          <p:cNvPr id="29" name="Rectangle 28"/>
          <p:cNvSpPr/>
          <p:nvPr/>
        </p:nvSpPr>
        <p:spPr>
          <a:xfrm>
            <a:off x="8221369" y="3185160"/>
            <a:ext cx="3190341"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31097" y="3185160"/>
            <a:ext cx="3007461" cy="467360"/>
          </a:xfrm>
          <a:prstGeom prst="rect">
            <a:avLst/>
          </a:prstGeom>
          <a:noFill/>
        </p:spPr>
        <p:txBody>
          <a:bodyPr wrap="square" anchor="ctr">
            <a:spAutoFit/>
          </a:bodyPr>
          <a:lstStyle/>
          <a:p>
            <a:pPr algn="l">
              <a:spcAft>
                <a:spcPts val="400"/>
              </a:spcAft>
            </a:pPr>
            <a:r>
              <a:rPr sz="1050" b="0">
                <a:solidFill>
                  <a:srgbClr val="161B26"/>
                </a:solidFill>
                <a:latin typeface="Arial"/>
              </a:rPr>
              <a:t>Lab 07</a:t>
            </a:r>
          </a:p>
        </p:txBody>
      </p:sp>
      <p:sp>
        <p:nvSpPr>
          <p:cNvPr id="31" name="Rectangle 30"/>
          <p:cNvSpPr/>
          <p:nvPr/>
        </p:nvSpPr>
        <p:spPr>
          <a:xfrm>
            <a:off x="777240" y="3652520"/>
            <a:ext cx="850757"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652520"/>
            <a:ext cx="667877" cy="467360"/>
          </a:xfrm>
          <a:prstGeom prst="rect">
            <a:avLst/>
          </a:prstGeom>
          <a:noFill/>
        </p:spPr>
        <p:txBody>
          <a:bodyPr wrap="square" anchor="ctr">
            <a:spAutoFit/>
          </a:bodyPr>
          <a:lstStyle/>
          <a:p>
            <a:pPr algn="l">
              <a:spcAft>
                <a:spcPts val="400"/>
              </a:spcAft>
            </a:pPr>
            <a:r>
              <a:rPr sz="1050" b="1">
                <a:solidFill>
                  <a:srgbClr val="161B26"/>
                </a:solidFill>
                <a:latin typeface="Arial"/>
              </a:rPr>
              <a:t>A4</a:t>
            </a:r>
          </a:p>
        </p:txBody>
      </p:sp>
      <p:sp>
        <p:nvSpPr>
          <p:cNvPr id="33" name="Rectangle 32"/>
          <p:cNvSpPr/>
          <p:nvPr/>
        </p:nvSpPr>
        <p:spPr>
          <a:xfrm>
            <a:off x="1627997" y="3652520"/>
            <a:ext cx="6593372"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737725" y="3652520"/>
            <a:ext cx="6410492" cy="467360"/>
          </a:xfrm>
          <a:prstGeom prst="rect">
            <a:avLst/>
          </a:prstGeom>
          <a:noFill/>
        </p:spPr>
        <p:txBody>
          <a:bodyPr wrap="square" anchor="ctr">
            <a:spAutoFit/>
          </a:bodyPr>
          <a:lstStyle/>
          <a:p>
            <a:pPr algn="l">
              <a:spcAft>
                <a:spcPts val="400"/>
              </a:spcAft>
            </a:pPr>
            <a:r>
              <a:rPr sz="1050" b="0">
                <a:solidFill>
                  <a:srgbClr val="161B26"/>
                </a:solidFill>
                <a:latin typeface="Arial"/>
              </a:rPr>
              <a:t>Design and implement feature extraction and representation methods</a:t>
            </a:r>
          </a:p>
        </p:txBody>
      </p:sp>
      <p:sp>
        <p:nvSpPr>
          <p:cNvPr id="35" name="Rectangle 34"/>
          <p:cNvSpPr/>
          <p:nvPr/>
        </p:nvSpPr>
        <p:spPr>
          <a:xfrm>
            <a:off x="8221369" y="3652520"/>
            <a:ext cx="3190341"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31097" y="3652520"/>
            <a:ext cx="3007461" cy="467360"/>
          </a:xfrm>
          <a:prstGeom prst="rect">
            <a:avLst/>
          </a:prstGeom>
          <a:noFill/>
        </p:spPr>
        <p:txBody>
          <a:bodyPr wrap="square" anchor="ctr">
            <a:spAutoFit/>
          </a:bodyPr>
          <a:lstStyle/>
          <a:p>
            <a:pPr algn="l">
              <a:spcAft>
                <a:spcPts val="400"/>
              </a:spcAft>
            </a:pPr>
            <a:r>
              <a:rPr sz="1050" b="0">
                <a:solidFill>
                  <a:srgbClr val="161B26"/>
                </a:solidFill>
                <a:latin typeface="Arial"/>
              </a:rPr>
              <a:t>Lab 06, Lab 07</a:t>
            </a:r>
          </a:p>
        </p:txBody>
      </p:sp>
      <p:sp>
        <p:nvSpPr>
          <p:cNvPr id="37" name="Rectangle 36"/>
          <p:cNvSpPr/>
          <p:nvPr/>
        </p:nvSpPr>
        <p:spPr>
          <a:xfrm>
            <a:off x="777240" y="4119880"/>
            <a:ext cx="850757"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4119880"/>
            <a:ext cx="667877" cy="467360"/>
          </a:xfrm>
          <a:prstGeom prst="rect">
            <a:avLst/>
          </a:prstGeom>
          <a:noFill/>
        </p:spPr>
        <p:txBody>
          <a:bodyPr wrap="square" anchor="ctr">
            <a:spAutoFit/>
          </a:bodyPr>
          <a:lstStyle/>
          <a:p>
            <a:pPr algn="l">
              <a:spcAft>
                <a:spcPts val="400"/>
              </a:spcAft>
            </a:pPr>
            <a:r>
              <a:rPr sz="1050" b="1">
                <a:solidFill>
                  <a:srgbClr val="161B26"/>
                </a:solidFill>
                <a:latin typeface="Arial"/>
              </a:rPr>
              <a:t>A5</a:t>
            </a:r>
          </a:p>
        </p:txBody>
      </p:sp>
      <p:sp>
        <p:nvSpPr>
          <p:cNvPr id="39" name="Rectangle 38"/>
          <p:cNvSpPr/>
          <p:nvPr/>
        </p:nvSpPr>
        <p:spPr>
          <a:xfrm>
            <a:off x="1627997" y="4119880"/>
            <a:ext cx="6593372"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737725" y="4119880"/>
            <a:ext cx="6410492" cy="467360"/>
          </a:xfrm>
          <a:prstGeom prst="rect">
            <a:avLst/>
          </a:prstGeom>
          <a:noFill/>
        </p:spPr>
        <p:txBody>
          <a:bodyPr wrap="square" anchor="ctr">
            <a:spAutoFit/>
          </a:bodyPr>
          <a:lstStyle/>
          <a:p>
            <a:pPr algn="l">
              <a:spcAft>
                <a:spcPts val="400"/>
              </a:spcAft>
            </a:pPr>
            <a:r>
              <a:rPr sz="1050" b="0">
                <a:solidFill>
                  <a:srgbClr val="161B26"/>
                </a:solidFill>
                <a:latin typeface="Arial"/>
              </a:rPr>
              <a:t>Design and apply machine-learning based methods for object detection, object tracking and activity recognition</a:t>
            </a:r>
          </a:p>
        </p:txBody>
      </p:sp>
      <p:sp>
        <p:nvSpPr>
          <p:cNvPr id="41" name="Rectangle 40"/>
          <p:cNvSpPr/>
          <p:nvPr/>
        </p:nvSpPr>
        <p:spPr>
          <a:xfrm>
            <a:off x="8221369" y="4119880"/>
            <a:ext cx="3190341"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31097" y="4119880"/>
            <a:ext cx="3007461" cy="467360"/>
          </a:xfrm>
          <a:prstGeom prst="rect">
            <a:avLst/>
          </a:prstGeom>
          <a:noFill/>
        </p:spPr>
        <p:txBody>
          <a:bodyPr wrap="square" anchor="ctr">
            <a:spAutoFit/>
          </a:bodyPr>
          <a:lstStyle/>
          <a:p>
            <a:pPr algn="l">
              <a:spcAft>
                <a:spcPts val="400"/>
              </a:spcAft>
            </a:pPr>
            <a:r>
              <a:rPr sz="1050" b="0">
                <a:solidFill>
                  <a:srgbClr val="161B26"/>
                </a:solidFill>
                <a:latin typeface="Arial"/>
              </a:rPr>
              <a:t>Lab 08</a:t>
            </a:r>
          </a:p>
        </p:txBody>
      </p:sp>
      <p:sp>
        <p:nvSpPr>
          <p:cNvPr id="43" name="Rectangle 42"/>
          <p:cNvSpPr/>
          <p:nvPr/>
        </p:nvSpPr>
        <p:spPr>
          <a:xfrm>
            <a:off x="777240" y="4587240"/>
            <a:ext cx="850757"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4587240"/>
            <a:ext cx="667877" cy="467360"/>
          </a:xfrm>
          <a:prstGeom prst="rect">
            <a:avLst/>
          </a:prstGeom>
          <a:noFill/>
        </p:spPr>
        <p:txBody>
          <a:bodyPr wrap="square" anchor="ctr">
            <a:spAutoFit/>
          </a:bodyPr>
          <a:lstStyle/>
          <a:p>
            <a:pPr algn="l">
              <a:spcAft>
                <a:spcPts val="400"/>
              </a:spcAft>
            </a:pPr>
            <a:r>
              <a:rPr sz="1050" b="1">
                <a:solidFill>
                  <a:srgbClr val="161B26"/>
                </a:solidFill>
                <a:latin typeface="Arial"/>
              </a:rPr>
              <a:t>A6</a:t>
            </a:r>
          </a:p>
        </p:txBody>
      </p:sp>
      <p:sp>
        <p:nvSpPr>
          <p:cNvPr id="45" name="Rectangle 44"/>
          <p:cNvSpPr/>
          <p:nvPr/>
        </p:nvSpPr>
        <p:spPr>
          <a:xfrm>
            <a:off x="1627997" y="4587240"/>
            <a:ext cx="6593372"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737725" y="4587240"/>
            <a:ext cx="6410492" cy="467360"/>
          </a:xfrm>
          <a:prstGeom prst="rect">
            <a:avLst/>
          </a:prstGeom>
          <a:noFill/>
        </p:spPr>
        <p:txBody>
          <a:bodyPr wrap="square" anchor="ctr">
            <a:spAutoFit/>
          </a:bodyPr>
          <a:lstStyle/>
          <a:p>
            <a:pPr algn="l">
              <a:spcAft>
                <a:spcPts val="400"/>
              </a:spcAft>
            </a:pPr>
            <a:r>
              <a:rPr sz="1050" b="0">
                <a:solidFill>
                  <a:srgbClr val="161B26"/>
                </a:solidFill>
                <a:latin typeface="Arial"/>
              </a:rPr>
              <a:t>Design and apply video analytics algorithms for high-level video analytics tasks</a:t>
            </a:r>
          </a:p>
        </p:txBody>
      </p:sp>
      <p:sp>
        <p:nvSpPr>
          <p:cNvPr id="47" name="Rectangle 46"/>
          <p:cNvSpPr/>
          <p:nvPr/>
        </p:nvSpPr>
        <p:spPr>
          <a:xfrm>
            <a:off x="8221369" y="4587240"/>
            <a:ext cx="3190341"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331097" y="4587240"/>
            <a:ext cx="3007461" cy="467360"/>
          </a:xfrm>
          <a:prstGeom prst="rect">
            <a:avLst/>
          </a:prstGeom>
          <a:noFill/>
        </p:spPr>
        <p:txBody>
          <a:bodyPr wrap="square" anchor="ctr">
            <a:spAutoFit/>
          </a:bodyPr>
          <a:lstStyle/>
          <a:p>
            <a:pPr algn="l">
              <a:spcAft>
                <a:spcPts val="400"/>
              </a:spcAft>
            </a:pPr>
            <a:r>
              <a:rPr sz="1050" b="0">
                <a:solidFill>
                  <a:srgbClr val="161B26"/>
                </a:solidFill>
                <a:latin typeface="Arial"/>
              </a:rPr>
              <a:t>Lab 09, Lab 10, Lab 11</a:t>
            </a:r>
          </a:p>
        </p:txBody>
      </p:sp>
      <p:sp>
        <p:nvSpPr>
          <p:cNvPr id="49" name="Rectangle 48"/>
          <p:cNvSpPr/>
          <p:nvPr/>
        </p:nvSpPr>
        <p:spPr>
          <a:xfrm>
            <a:off x="777240" y="5054600"/>
            <a:ext cx="850757"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86968" y="5054600"/>
            <a:ext cx="667877" cy="467360"/>
          </a:xfrm>
          <a:prstGeom prst="rect">
            <a:avLst/>
          </a:prstGeom>
          <a:noFill/>
        </p:spPr>
        <p:txBody>
          <a:bodyPr wrap="square" anchor="ctr">
            <a:spAutoFit/>
          </a:bodyPr>
          <a:lstStyle/>
          <a:p>
            <a:pPr algn="l">
              <a:spcAft>
                <a:spcPts val="400"/>
              </a:spcAft>
            </a:pPr>
            <a:r>
              <a:rPr sz="1050" b="1">
                <a:solidFill>
                  <a:srgbClr val="161B26"/>
                </a:solidFill>
                <a:latin typeface="Arial"/>
              </a:rPr>
              <a:t>A7</a:t>
            </a:r>
          </a:p>
        </p:txBody>
      </p:sp>
      <p:sp>
        <p:nvSpPr>
          <p:cNvPr id="51" name="Rectangle 50"/>
          <p:cNvSpPr/>
          <p:nvPr/>
        </p:nvSpPr>
        <p:spPr>
          <a:xfrm>
            <a:off x="1627997" y="5054600"/>
            <a:ext cx="6593372"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737725" y="5054600"/>
            <a:ext cx="6410492" cy="467360"/>
          </a:xfrm>
          <a:prstGeom prst="rect">
            <a:avLst/>
          </a:prstGeom>
          <a:noFill/>
        </p:spPr>
        <p:txBody>
          <a:bodyPr wrap="square" anchor="ctr">
            <a:spAutoFit/>
          </a:bodyPr>
          <a:lstStyle/>
          <a:p>
            <a:pPr algn="l">
              <a:spcAft>
                <a:spcPts val="400"/>
              </a:spcAft>
            </a:pPr>
            <a:r>
              <a:rPr sz="1050" b="0">
                <a:solidFill>
                  <a:srgbClr val="161B26"/>
                </a:solidFill>
                <a:latin typeface="Arial"/>
              </a:rPr>
              <a:t>Design the architecture of applied vision systems</a:t>
            </a:r>
          </a:p>
        </p:txBody>
      </p:sp>
      <p:sp>
        <p:nvSpPr>
          <p:cNvPr id="53" name="Rectangle 52"/>
          <p:cNvSpPr/>
          <p:nvPr/>
        </p:nvSpPr>
        <p:spPr>
          <a:xfrm>
            <a:off x="8221369" y="5054600"/>
            <a:ext cx="3190341"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331097" y="5054600"/>
            <a:ext cx="3007461" cy="467360"/>
          </a:xfrm>
          <a:prstGeom prst="rect">
            <a:avLst/>
          </a:prstGeom>
          <a:noFill/>
        </p:spPr>
        <p:txBody>
          <a:bodyPr wrap="square" anchor="ctr">
            <a:spAutoFit/>
          </a:bodyPr>
          <a:lstStyle/>
          <a:p>
            <a:pPr algn="l">
              <a:spcAft>
                <a:spcPts val="400"/>
              </a:spcAft>
            </a:pPr>
            <a:r>
              <a:rPr sz="1050" b="0">
                <a:solidFill>
                  <a:srgbClr val="161B26"/>
                </a:solidFill>
                <a:latin typeface="Arial"/>
              </a:rPr>
              <a:t>Lab 12</a:t>
            </a:r>
          </a:p>
        </p:txBody>
      </p:sp>
      <p:sp>
        <p:nvSpPr>
          <p:cNvPr id="55" name="Rectangle 54"/>
          <p:cNvSpPr/>
          <p:nvPr/>
        </p:nvSpPr>
        <p:spPr>
          <a:xfrm>
            <a:off x="777240" y="5521960"/>
            <a:ext cx="850757"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 y="5521960"/>
            <a:ext cx="667877" cy="467360"/>
          </a:xfrm>
          <a:prstGeom prst="rect">
            <a:avLst/>
          </a:prstGeom>
          <a:noFill/>
        </p:spPr>
        <p:txBody>
          <a:bodyPr wrap="square" anchor="ctr">
            <a:spAutoFit/>
          </a:bodyPr>
          <a:lstStyle/>
          <a:p>
            <a:pPr algn="l">
              <a:spcAft>
                <a:spcPts val="400"/>
              </a:spcAft>
            </a:pPr>
            <a:r>
              <a:rPr sz="1050" b="1">
                <a:solidFill>
                  <a:srgbClr val="161B26"/>
                </a:solidFill>
                <a:latin typeface="Arial"/>
              </a:rPr>
              <a:t>A8</a:t>
            </a:r>
          </a:p>
        </p:txBody>
      </p:sp>
      <p:sp>
        <p:nvSpPr>
          <p:cNvPr id="57" name="Rectangle 56"/>
          <p:cNvSpPr/>
          <p:nvPr/>
        </p:nvSpPr>
        <p:spPr>
          <a:xfrm>
            <a:off x="1627997" y="5521960"/>
            <a:ext cx="6593372"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737725" y="5521960"/>
            <a:ext cx="6410492" cy="467360"/>
          </a:xfrm>
          <a:prstGeom prst="rect">
            <a:avLst/>
          </a:prstGeom>
          <a:noFill/>
        </p:spPr>
        <p:txBody>
          <a:bodyPr wrap="square" anchor="ctr">
            <a:spAutoFit/>
          </a:bodyPr>
          <a:lstStyle/>
          <a:p>
            <a:pPr algn="l">
              <a:spcAft>
                <a:spcPts val="400"/>
              </a:spcAft>
            </a:pPr>
            <a:r>
              <a:rPr sz="1050" b="0">
                <a:solidFill>
                  <a:srgbClr val="161B26"/>
                </a:solidFill>
                <a:latin typeface="Arial"/>
              </a:rPr>
              <a:t>Design, develop and evaluate edge-based and cloud-based systems</a:t>
            </a:r>
          </a:p>
        </p:txBody>
      </p:sp>
      <p:sp>
        <p:nvSpPr>
          <p:cNvPr id="59" name="Rectangle 58"/>
          <p:cNvSpPr/>
          <p:nvPr/>
        </p:nvSpPr>
        <p:spPr>
          <a:xfrm>
            <a:off x="8221369" y="5521960"/>
            <a:ext cx="3190341"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331097" y="5521960"/>
            <a:ext cx="3007461" cy="467360"/>
          </a:xfrm>
          <a:prstGeom prst="rect">
            <a:avLst/>
          </a:prstGeom>
          <a:noFill/>
        </p:spPr>
        <p:txBody>
          <a:bodyPr wrap="square" anchor="ctr">
            <a:spAutoFit/>
          </a:bodyPr>
          <a:lstStyle/>
          <a:p>
            <a:pPr algn="l">
              <a:spcAft>
                <a:spcPts val="400"/>
              </a:spcAft>
            </a:pPr>
            <a:r>
              <a:rPr sz="1050" b="0">
                <a:solidFill>
                  <a:srgbClr val="161B26"/>
                </a:solidFill>
                <a:latin typeface="Arial"/>
              </a:rPr>
              <a:t>Lab 12</a:t>
            </a:r>
          </a:p>
        </p:txBody>
      </p:sp>
      <p:sp>
        <p:nvSpPr>
          <p:cNvPr id="61" name="TextBox 60"/>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PP Task 1 covers A1; Task 2 covers A2 and A3; Task 3 covers A4; Task 4 covers A5 and A6; Task 5 covers A7 and A8.</a:t>
            </a:r>
          </a:p>
        </p:txBody>
      </p:sp>
      <p:sp>
        <p:nvSpPr>
          <p:cNvPr id="62" name="TextBox 6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63" name="TextBox 6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4" name="TextBox 6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BY THE END OF THIS COURSE YOU WILL BE ABLE TO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455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799844"/>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79984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9482328" cy="399288"/>
          </a:xfrm>
          <a:prstGeom prst="rect">
            <a:avLst/>
          </a:prstGeom>
          <a:noFill/>
        </p:spPr>
        <p:txBody>
          <a:bodyPr wrap="square" anchor="ctr">
            <a:spAutoFit/>
          </a:bodyPr>
          <a:lstStyle/>
          <a:p>
            <a:pPr algn="l">
              <a:spcAft>
                <a:spcPts val="200"/>
              </a:spcAft>
            </a:pPr>
            <a:r>
              <a:rPr sz="1400" b="1">
                <a:solidFill>
                  <a:srgbClr val="161B26"/>
                </a:solidFill>
                <a:latin typeface="Arial"/>
              </a:rPr>
              <a:t>LO1</a:t>
            </a:r>
          </a:p>
          <a:p>
            <a:pPr algn="l">
              <a:spcAft>
                <a:spcPts val="200"/>
              </a:spcAft>
            </a:pPr>
            <a:r>
              <a:rPr sz="1100" b="0">
                <a:solidFill>
                  <a:srgbClr val="5B6372"/>
                </a:solidFill>
                <a:latin typeface="Arial"/>
              </a:rPr>
              <a:t>Understand basic vision systems concepts and applications</a:t>
            </a:r>
          </a:p>
        </p:txBody>
      </p:sp>
      <p:sp>
        <p:nvSpPr>
          <p:cNvPr id="12" name="Rectangle 11"/>
          <p:cNvSpPr/>
          <p:nvPr/>
        </p:nvSpPr>
        <p:spPr>
          <a:xfrm>
            <a:off x="777240" y="2548128"/>
            <a:ext cx="10634472"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48128"/>
            <a:ext cx="91440" cy="5455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2639568"/>
            <a:ext cx="9482328" cy="399288"/>
          </a:xfrm>
          <a:prstGeom prst="rect">
            <a:avLst/>
          </a:prstGeom>
          <a:noFill/>
        </p:spPr>
        <p:txBody>
          <a:bodyPr wrap="square" anchor="ctr">
            <a:spAutoFit/>
          </a:bodyPr>
          <a:lstStyle/>
          <a:p>
            <a:pPr algn="l">
              <a:spcAft>
                <a:spcPts val="200"/>
              </a:spcAft>
            </a:pPr>
            <a:r>
              <a:rPr sz="1400" b="1">
                <a:solidFill>
                  <a:srgbClr val="161B26"/>
                </a:solidFill>
                <a:latin typeface="Arial"/>
              </a:rPr>
              <a:t>LO2</a:t>
            </a:r>
          </a:p>
          <a:p>
            <a:pPr algn="l">
              <a:spcAft>
                <a:spcPts val="200"/>
              </a:spcAft>
            </a:pPr>
            <a:r>
              <a:rPr sz="1100" b="0">
                <a:solidFill>
                  <a:srgbClr val="5B6372"/>
                </a:solidFill>
                <a:latin typeface="Arial"/>
              </a:rPr>
              <a:t>Apply image processing</a:t>
            </a:r>
          </a:p>
        </p:txBody>
      </p:sp>
      <p:sp>
        <p:nvSpPr>
          <p:cNvPr id="17" name="Rectangle 16"/>
          <p:cNvSpPr/>
          <p:nvPr/>
        </p:nvSpPr>
        <p:spPr>
          <a:xfrm>
            <a:off x="777240" y="3313176"/>
            <a:ext cx="10634472"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5455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329940"/>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32994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9482328" cy="399288"/>
          </a:xfrm>
          <a:prstGeom prst="rect">
            <a:avLst/>
          </a:prstGeom>
          <a:noFill/>
        </p:spPr>
        <p:txBody>
          <a:bodyPr wrap="square" anchor="ctr">
            <a:spAutoFit/>
          </a:bodyPr>
          <a:lstStyle/>
          <a:p>
            <a:pPr algn="l">
              <a:spcAft>
                <a:spcPts val="200"/>
              </a:spcAft>
            </a:pPr>
            <a:r>
              <a:rPr sz="1400" b="1">
                <a:solidFill>
                  <a:srgbClr val="161B26"/>
                </a:solidFill>
                <a:latin typeface="Arial"/>
              </a:rPr>
              <a:t>LO3</a:t>
            </a:r>
          </a:p>
          <a:p>
            <a:pPr algn="l">
              <a:spcAft>
                <a:spcPts val="200"/>
              </a:spcAft>
            </a:pPr>
            <a:r>
              <a:rPr sz="1100" b="0">
                <a:solidFill>
                  <a:srgbClr val="5B6372"/>
                </a:solidFill>
                <a:latin typeface="Arial"/>
              </a:rPr>
              <a:t>Implement feature extraction</a:t>
            </a:r>
          </a:p>
        </p:txBody>
      </p:sp>
      <p:sp>
        <p:nvSpPr>
          <p:cNvPr id="22" name="Rectangle 21"/>
          <p:cNvSpPr/>
          <p:nvPr/>
        </p:nvSpPr>
        <p:spPr>
          <a:xfrm>
            <a:off x="777240" y="4078224"/>
            <a:ext cx="10634472"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78224"/>
            <a:ext cx="91440" cy="5455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4094988"/>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409498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4169664"/>
            <a:ext cx="9482328" cy="399288"/>
          </a:xfrm>
          <a:prstGeom prst="rect">
            <a:avLst/>
          </a:prstGeom>
          <a:noFill/>
        </p:spPr>
        <p:txBody>
          <a:bodyPr wrap="square" anchor="ctr">
            <a:spAutoFit/>
          </a:bodyPr>
          <a:lstStyle/>
          <a:p>
            <a:pPr algn="l">
              <a:spcAft>
                <a:spcPts val="200"/>
              </a:spcAft>
            </a:pPr>
            <a:r>
              <a:rPr sz="1400" b="1">
                <a:solidFill>
                  <a:srgbClr val="161B26"/>
                </a:solidFill>
                <a:latin typeface="Arial"/>
              </a:rPr>
              <a:t>LO4</a:t>
            </a:r>
          </a:p>
          <a:p>
            <a:pPr algn="l">
              <a:spcAft>
                <a:spcPts val="200"/>
              </a:spcAft>
            </a:pPr>
            <a:r>
              <a:rPr sz="1100" b="0">
                <a:solidFill>
                  <a:srgbClr val="5B6372"/>
                </a:solidFill>
                <a:latin typeface="Arial"/>
              </a:rPr>
              <a:t>Apply machine learning based computer vision methods</a:t>
            </a:r>
          </a:p>
        </p:txBody>
      </p:sp>
      <p:sp>
        <p:nvSpPr>
          <p:cNvPr id="27" name="Rectangle 26"/>
          <p:cNvSpPr/>
          <p:nvPr/>
        </p:nvSpPr>
        <p:spPr>
          <a:xfrm>
            <a:off x="777240" y="4843272"/>
            <a:ext cx="10634472"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5455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486003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9482328" cy="399288"/>
          </a:xfrm>
          <a:prstGeom prst="rect">
            <a:avLst/>
          </a:prstGeom>
          <a:noFill/>
        </p:spPr>
        <p:txBody>
          <a:bodyPr wrap="square" anchor="ctr">
            <a:spAutoFit/>
          </a:bodyPr>
          <a:lstStyle/>
          <a:p>
            <a:pPr algn="l">
              <a:spcAft>
                <a:spcPts val="200"/>
              </a:spcAft>
            </a:pPr>
            <a:r>
              <a:rPr sz="1400" b="1">
                <a:solidFill>
                  <a:srgbClr val="161B26"/>
                </a:solidFill>
                <a:latin typeface="Arial"/>
              </a:rPr>
              <a:t>LO5</a:t>
            </a:r>
          </a:p>
          <a:p>
            <a:pPr algn="l">
              <a:spcAft>
                <a:spcPts val="200"/>
              </a:spcAft>
            </a:pPr>
            <a:r>
              <a:rPr sz="1100" b="0">
                <a:solidFill>
                  <a:srgbClr val="5B6372"/>
                </a:solidFill>
                <a:latin typeface="Arial"/>
              </a:rPr>
              <a:t>Implement video analytics algorithms</a:t>
            </a:r>
          </a:p>
        </p:txBody>
      </p:sp>
      <p:sp>
        <p:nvSpPr>
          <p:cNvPr id="32" name="Rectangle 31"/>
          <p:cNvSpPr/>
          <p:nvPr/>
        </p:nvSpPr>
        <p:spPr>
          <a:xfrm>
            <a:off x="777240" y="5608320"/>
            <a:ext cx="10634472"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608320"/>
            <a:ext cx="91440" cy="5455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14984" y="5625084"/>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4984" y="562508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1709928" y="5699760"/>
            <a:ext cx="9482328" cy="399288"/>
          </a:xfrm>
          <a:prstGeom prst="rect">
            <a:avLst/>
          </a:prstGeom>
          <a:noFill/>
        </p:spPr>
        <p:txBody>
          <a:bodyPr wrap="square" anchor="ctr">
            <a:spAutoFit/>
          </a:bodyPr>
          <a:lstStyle/>
          <a:p>
            <a:pPr algn="l">
              <a:spcAft>
                <a:spcPts val="200"/>
              </a:spcAft>
            </a:pPr>
            <a:r>
              <a:rPr sz="1400" b="1">
                <a:solidFill>
                  <a:srgbClr val="161B26"/>
                </a:solidFill>
                <a:latin typeface="Arial"/>
              </a:rPr>
              <a:t>LO6</a:t>
            </a:r>
          </a:p>
          <a:p>
            <a:pPr algn="l">
              <a:spcAft>
                <a:spcPts val="200"/>
              </a:spcAft>
            </a:pPr>
            <a:r>
              <a:rPr sz="1100" b="0">
                <a:solidFill>
                  <a:srgbClr val="5B6372"/>
                </a:solidFill>
                <a:latin typeface="Arial"/>
              </a:rPr>
              <a:t>Evaluate edge vs cloud-based computer vision systems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THE JOURNEY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Course Outline — Five Delivery Topics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F6FEB"/>
                </a:solidFill>
                <a:latin typeface="Arial"/>
              </a:rPr>
              <a:t>Day 1</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Day 2</a:t>
            </a:r>
          </a:p>
        </p:txBody>
      </p:sp>
      <p:sp>
        <p:nvSpPr>
          <p:cNvPr id="13" name="TextBox 12"/>
          <p:cNvSpPr txBox="1"/>
          <p:nvPr/>
        </p:nvSpPr>
        <p:spPr>
          <a:xfrm>
            <a:off x="1005840" y="2423160"/>
            <a:ext cx="4754880" cy="3017520"/>
          </a:xfrm>
          <a:prstGeom prst="rect">
            <a:avLst/>
          </a:prstGeom>
          <a:noFill/>
        </p:spPr>
        <p:txBody>
          <a:bodyPr wrap="square">
            <a:spAutoFit/>
          </a:bodyPr>
          <a:lstStyle/>
          <a:p>
            <a:pPr>
              <a:spcAft>
                <a:spcPts val="800"/>
              </a:spcAft>
            </a:pPr>
            <a:r>
              <a:rPr sz="1400" b="1">
                <a:solidFill>
                  <a:srgbClr val="161B26"/>
                </a:solidFill>
                <a:latin typeface="Arial"/>
              </a:rPr>
              <a:t>•  Topic 01 — Generative AI Fundamentals for Image and Video Creation</a:t>
            </a:r>
          </a:p>
          <a:p>
            <a:pPr>
              <a:spcAft>
                <a:spcPts val="800"/>
              </a:spcAft>
            </a:pPr>
            <a:r>
              <a:rPr sz="1200" b="0">
                <a:solidFill>
                  <a:srgbClr val="5B6372"/>
                </a:solidFill>
                <a:latin typeface="Arial"/>
              </a:rPr>
              <a:t>–  LU1 · ELO1 · K1, K2, A1</a:t>
            </a:r>
          </a:p>
          <a:p>
            <a:pPr>
              <a:spcAft>
                <a:spcPts val="800"/>
              </a:spcAft>
            </a:pPr>
            <a:r>
              <a:rPr sz="1400" b="1">
                <a:solidFill>
                  <a:srgbClr val="161B26"/>
                </a:solidFill>
                <a:latin typeface="Arial"/>
              </a:rPr>
              <a:t>•  Topic 02 — AI Image Generation, Editing and Visual Enhancement</a:t>
            </a:r>
          </a:p>
          <a:p>
            <a:pPr>
              <a:spcAft>
                <a:spcPts val="800"/>
              </a:spcAft>
            </a:pPr>
            <a:r>
              <a:rPr sz="1200" b="0">
                <a:solidFill>
                  <a:srgbClr val="5B6372"/>
                </a:solidFill>
                <a:latin typeface="Arial"/>
              </a:rPr>
              <a:t>–  LU2 · ELO2 · K3, K4, A2</a:t>
            </a:r>
          </a:p>
          <a:p>
            <a:pPr>
              <a:spcAft>
                <a:spcPts val="800"/>
              </a:spcAft>
            </a:pPr>
            <a:r>
              <a:rPr sz="1400" b="1">
                <a:solidFill>
                  <a:srgbClr val="161B26"/>
                </a:solidFill>
                <a:latin typeface="Arial"/>
              </a:rPr>
              <a:t>•  Topic 03 — AI-Based Visual Features, Styles and Consistency</a:t>
            </a:r>
          </a:p>
          <a:p>
            <a:pPr>
              <a:spcAft>
                <a:spcPts val="800"/>
              </a:spcAft>
            </a:pPr>
            <a:r>
              <a:rPr sz="1200" b="0">
                <a:solidFill>
                  <a:srgbClr val="5B6372"/>
                </a:solidFill>
                <a:latin typeface="Arial"/>
              </a:rPr>
              <a:t>–  LU3 · ELO3 · K5, K6, K7, A3, A4</a:t>
            </a:r>
          </a:p>
        </p:txBody>
      </p:sp>
      <p:sp>
        <p:nvSpPr>
          <p:cNvPr id="14" name="TextBox 13"/>
          <p:cNvSpPr txBox="1"/>
          <p:nvPr/>
        </p:nvSpPr>
        <p:spPr>
          <a:xfrm>
            <a:off x="6583680" y="2423160"/>
            <a:ext cx="4617720" cy="3017520"/>
          </a:xfrm>
          <a:prstGeom prst="rect">
            <a:avLst/>
          </a:prstGeom>
          <a:noFill/>
        </p:spPr>
        <p:txBody>
          <a:bodyPr wrap="square">
            <a:spAutoFit/>
          </a:bodyPr>
          <a:lstStyle/>
          <a:p>
            <a:pPr>
              <a:spcAft>
                <a:spcPts val="800"/>
              </a:spcAft>
            </a:pPr>
            <a:r>
              <a:rPr sz="1400" b="1">
                <a:solidFill>
                  <a:srgbClr val="161B26"/>
                </a:solidFill>
                <a:latin typeface="Arial"/>
              </a:rPr>
              <a:t>•  Topic 04 — Generative AI Video Creation, Animation and Editing</a:t>
            </a:r>
          </a:p>
          <a:p>
            <a:pPr>
              <a:spcAft>
                <a:spcPts val="800"/>
              </a:spcAft>
            </a:pPr>
            <a:r>
              <a:rPr sz="1200" b="0">
                <a:solidFill>
                  <a:srgbClr val="5B6372"/>
                </a:solidFill>
                <a:latin typeface="Arial"/>
              </a:rPr>
              <a:t>–  LU4 + LU5 · ELO4 + ELO5 · K8, K9, K10, A5, A6</a:t>
            </a:r>
          </a:p>
          <a:p>
            <a:pPr>
              <a:spcAft>
                <a:spcPts val="800"/>
              </a:spcAft>
            </a:pPr>
            <a:r>
              <a:rPr sz="1400" b="1">
                <a:solidFill>
                  <a:srgbClr val="161B26"/>
                </a:solidFill>
                <a:latin typeface="Arial"/>
              </a:rPr>
              <a:t>•  Topic 05 — Evaluating Cloud and Edge AI Creative Workflows</a:t>
            </a:r>
          </a:p>
          <a:p>
            <a:pPr>
              <a:spcAft>
                <a:spcPts val="800"/>
              </a:spcAft>
            </a:pPr>
            <a:r>
              <a:rPr sz="1200" b="0">
                <a:solidFill>
                  <a:srgbClr val="5B6372"/>
                </a:solidFill>
                <a:latin typeface="Arial"/>
              </a:rPr>
              <a:t>–  LU6 · ELO6 · K11, K12, K13, A7, A8</a:t>
            </a:r>
          </a:p>
          <a:p>
            <a:pPr>
              <a:spcAft>
                <a:spcPts val="800"/>
              </a:spcAft>
            </a:pPr>
            <a:r>
              <a:rPr sz="1400" b="1">
                <a:solidFill>
                  <a:srgbClr val="161B26"/>
                </a:solidFill>
                <a:latin typeface="Arial"/>
              </a:rPr>
              <a:t>•  12 hands-on labs</a:t>
            </a:r>
          </a:p>
          <a:p>
            <a:pPr>
              <a:spcAft>
                <a:spcPts val="800"/>
              </a:spcAft>
            </a:pPr>
            <a:r>
              <a:rPr sz="1200" b="0">
                <a:solidFill>
                  <a:srgbClr val="5B6372"/>
                </a:solidFill>
                <a:latin typeface="Arial"/>
              </a:rPr>
              <a:t>–  Every topic is practised on data you measure yourself, with an evidence checklist per lab</a:t>
            </a:r>
          </a:p>
        </p:txBody>
      </p:sp>
      <p:sp>
        <p:nvSpPr>
          <p:cNvPr id="15" name="TextBox 14"/>
          <p:cNvSpPr txBox="1"/>
          <p:nvPr/>
        </p:nvSpPr>
        <p:spPr>
          <a:xfrm>
            <a:off x="777240" y="5669280"/>
            <a:ext cx="10698480" cy="640080"/>
          </a:xfrm>
          <a:prstGeom prst="rect">
            <a:avLst/>
          </a:prstGeom>
          <a:noFill/>
        </p:spPr>
        <p:txBody>
          <a:bodyPr wrap="square" anchor="ctr">
            <a:spAutoFit/>
          </a:bodyPr>
          <a:lstStyle/>
          <a:p>
            <a:pPr algn="ctr">
              <a:spcAft>
                <a:spcPts val="400"/>
              </a:spcAft>
            </a:pPr>
            <a:r>
              <a:rPr sz="1250" b="0">
                <a:solidFill>
                  <a:srgbClr val="5B6372"/>
                </a:solidFill>
                <a:latin typeface="Arial"/>
              </a:rPr>
              <a:t>Five delivery topics mapped onto the six approved Learning Units. Topic 04 consolidates LU4 and LU5 concept delivery; both units keep their full practical allocation.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DAY 1 · FOUNDATIONS, IMAGE GENERATION AND EDITING, AND VISUAL FEAT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Lesson Plan — Day 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169791" cy="350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986911" cy="350520"/>
          </a:xfrm>
          <a:prstGeom prst="rect">
            <a:avLst/>
          </a:prstGeom>
          <a:noFill/>
        </p:spPr>
        <p:txBody>
          <a:bodyPr wrap="square" anchor="ctr">
            <a:spAutoFit/>
          </a:bodyPr>
          <a:lstStyle/>
          <a:p>
            <a:pPr algn="l">
              <a:spcAft>
                <a:spcPts val="400"/>
              </a:spcAft>
            </a:pPr>
            <a:r>
              <a:rPr sz="1000" b="1">
                <a:solidFill>
                  <a:srgbClr val="FFFFFF"/>
                </a:solidFill>
                <a:latin typeface="Arial"/>
              </a:rPr>
              <a:t>Time</a:t>
            </a:r>
          </a:p>
        </p:txBody>
      </p:sp>
      <p:sp>
        <p:nvSpPr>
          <p:cNvPr id="9" name="Rectangle 8"/>
          <p:cNvSpPr/>
          <p:nvPr/>
        </p:nvSpPr>
        <p:spPr>
          <a:xfrm>
            <a:off x="1947031" y="1783080"/>
            <a:ext cx="638068" cy="350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6759" y="1783080"/>
            <a:ext cx="455188" cy="350520"/>
          </a:xfrm>
          <a:prstGeom prst="rect">
            <a:avLst/>
          </a:prstGeom>
          <a:noFill/>
        </p:spPr>
        <p:txBody>
          <a:bodyPr wrap="square" anchor="ctr">
            <a:spAutoFit/>
          </a:bodyPr>
          <a:lstStyle/>
          <a:p>
            <a:pPr algn="l">
              <a:spcAft>
                <a:spcPts val="400"/>
              </a:spcAft>
            </a:pPr>
            <a:r>
              <a:rPr sz="1000" b="1">
                <a:solidFill>
                  <a:srgbClr val="FFFFFF"/>
                </a:solidFill>
                <a:latin typeface="Arial"/>
              </a:rPr>
              <a:t>Min</a:t>
            </a:r>
          </a:p>
        </p:txBody>
      </p:sp>
      <p:sp>
        <p:nvSpPr>
          <p:cNvPr id="11" name="Rectangle 10"/>
          <p:cNvSpPr/>
          <p:nvPr/>
        </p:nvSpPr>
        <p:spPr>
          <a:xfrm>
            <a:off x="2585099" y="1783080"/>
            <a:ext cx="1063447" cy="350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94827" y="1783080"/>
            <a:ext cx="880567" cy="350520"/>
          </a:xfrm>
          <a:prstGeom prst="rect">
            <a:avLst/>
          </a:prstGeom>
          <a:noFill/>
        </p:spPr>
        <p:txBody>
          <a:bodyPr wrap="square" anchor="ctr">
            <a:spAutoFit/>
          </a:bodyPr>
          <a:lstStyle/>
          <a:p>
            <a:pPr algn="l">
              <a:spcAft>
                <a:spcPts val="400"/>
              </a:spcAft>
            </a:pPr>
            <a:r>
              <a:rPr sz="1000" b="1">
                <a:solidFill>
                  <a:srgbClr val="FFFFFF"/>
                </a:solidFill>
                <a:latin typeface="Arial"/>
              </a:rPr>
              <a:t>Component</a:t>
            </a:r>
          </a:p>
        </p:txBody>
      </p:sp>
      <p:sp>
        <p:nvSpPr>
          <p:cNvPr id="13" name="Rectangle 12"/>
          <p:cNvSpPr/>
          <p:nvPr/>
        </p:nvSpPr>
        <p:spPr>
          <a:xfrm>
            <a:off x="3648546" y="1783080"/>
            <a:ext cx="7763164" cy="350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58274" y="1783080"/>
            <a:ext cx="7580284" cy="350520"/>
          </a:xfrm>
          <a:prstGeom prst="rect">
            <a:avLst/>
          </a:prstGeom>
          <a:noFill/>
        </p:spPr>
        <p:txBody>
          <a:bodyPr wrap="square" anchor="ctr">
            <a:spAutoFit/>
          </a:bodyPr>
          <a:lstStyle/>
          <a:p>
            <a:pPr algn="l">
              <a:spcAft>
                <a:spcPts val="400"/>
              </a:spcAft>
            </a:pPr>
            <a:r>
              <a:rPr sz="1000" b="1">
                <a:solidFill>
                  <a:srgbClr val="FFFFFF"/>
                </a:solidFill>
                <a:latin typeface="Arial"/>
              </a:rPr>
              <a:t>Session</a:t>
            </a:r>
          </a:p>
        </p:txBody>
      </p:sp>
      <p:sp>
        <p:nvSpPr>
          <p:cNvPr id="15" name="Rectangle 14"/>
          <p:cNvSpPr/>
          <p:nvPr/>
        </p:nvSpPr>
        <p:spPr>
          <a:xfrm>
            <a:off x="777240" y="2133600"/>
            <a:ext cx="1169791"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133600"/>
            <a:ext cx="986911" cy="350520"/>
          </a:xfrm>
          <a:prstGeom prst="rect">
            <a:avLst/>
          </a:prstGeom>
          <a:noFill/>
        </p:spPr>
        <p:txBody>
          <a:bodyPr wrap="square" anchor="ctr">
            <a:spAutoFit/>
          </a:bodyPr>
          <a:lstStyle/>
          <a:p>
            <a:pPr algn="l">
              <a:spcAft>
                <a:spcPts val="400"/>
              </a:spcAft>
            </a:pPr>
            <a:r>
              <a:rPr sz="900" b="1">
                <a:solidFill>
                  <a:srgbClr val="161B26"/>
                </a:solidFill>
                <a:latin typeface="Arial"/>
              </a:rPr>
              <a:t>08:45–09:00</a:t>
            </a:r>
          </a:p>
        </p:txBody>
      </p:sp>
      <p:sp>
        <p:nvSpPr>
          <p:cNvPr id="17" name="Rectangle 16"/>
          <p:cNvSpPr/>
          <p:nvPr/>
        </p:nvSpPr>
        <p:spPr>
          <a:xfrm>
            <a:off x="1947031" y="2133600"/>
            <a:ext cx="638068"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56759" y="2133600"/>
            <a:ext cx="455188" cy="350520"/>
          </a:xfrm>
          <a:prstGeom prst="rect">
            <a:avLst/>
          </a:prstGeom>
          <a:noFill/>
        </p:spPr>
        <p:txBody>
          <a:bodyPr wrap="square" anchor="ctr">
            <a:spAutoFit/>
          </a:bodyPr>
          <a:lstStyle/>
          <a:p>
            <a:pPr algn="l">
              <a:spcAft>
                <a:spcPts val="400"/>
              </a:spcAft>
            </a:pPr>
            <a:r>
              <a:rPr sz="900" b="0">
                <a:solidFill>
                  <a:srgbClr val="161B26"/>
                </a:solidFill>
                <a:latin typeface="Arial"/>
              </a:rPr>
              <a:t>15</a:t>
            </a:r>
          </a:p>
        </p:txBody>
      </p:sp>
      <p:sp>
        <p:nvSpPr>
          <p:cNvPr id="19" name="Rectangle 18"/>
          <p:cNvSpPr/>
          <p:nvPr/>
        </p:nvSpPr>
        <p:spPr>
          <a:xfrm>
            <a:off x="2585099" y="2133600"/>
            <a:ext cx="1063447"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94827" y="2133600"/>
            <a:ext cx="880567" cy="350520"/>
          </a:xfrm>
          <a:prstGeom prst="rect">
            <a:avLst/>
          </a:prstGeom>
          <a:noFill/>
        </p:spPr>
        <p:txBody>
          <a:bodyPr wrap="square" anchor="ctr">
            <a:spAutoFit/>
          </a:bodyPr>
          <a:lstStyle/>
          <a:p>
            <a:pPr algn="l">
              <a:spcAft>
                <a:spcPts val="400"/>
              </a:spcAft>
            </a:pPr>
            <a:r>
              <a:rPr sz="900" b="0">
                <a:solidFill>
                  <a:srgbClr val="161B26"/>
                </a:solidFill>
                <a:latin typeface="Arial"/>
              </a:rPr>
              <a:t>ADMIN</a:t>
            </a:r>
          </a:p>
        </p:txBody>
      </p:sp>
      <p:sp>
        <p:nvSpPr>
          <p:cNvPr id="21" name="Rectangle 20"/>
          <p:cNvSpPr/>
          <p:nvPr/>
        </p:nvSpPr>
        <p:spPr>
          <a:xfrm>
            <a:off x="3648546" y="2133600"/>
            <a:ext cx="7763164"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58274" y="2133600"/>
            <a:ext cx="7580284" cy="350520"/>
          </a:xfrm>
          <a:prstGeom prst="rect">
            <a:avLst/>
          </a:prstGeom>
          <a:noFill/>
        </p:spPr>
        <p:txBody>
          <a:bodyPr wrap="square" anchor="ctr">
            <a:spAutoFit/>
          </a:bodyPr>
          <a:lstStyle/>
          <a:p>
            <a:pPr algn="l">
              <a:spcAft>
                <a:spcPts val="400"/>
              </a:spcAft>
            </a:pPr>
            <a:r>
              <a:rPr sz="900" b="0">
                <a:solidFill>
                  <a:srgbClr val="161B26"/>
                </a:solidFill>
                <a:latin typeface="Arial"/>
              </a:rPr>
              <a:t>Course welcome, attendance, introductions and LMS access; outside programme minutes</a:t>
            </a:r>
          </a:p>
        </p:txBody>
      </p:sp>
      <p:sp>
        <p:nvSpPr>
          <p:cNvPr id="23" name="Rectangle 22"/>
          <p:cNvSpPr/>
          <p:nvPr/>
        </p:nvSpPr>
        <p:spPr>
          <a:xfrm>
            <a:off x="777240" y="2484120"/>
            <a:ext cx="1169791"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2484120"/>
            <a:ext cx="986911" cy="350520"/>
          </a:xfrm>
          <a:prstGeom prst="rect">
            <a:avLst/>
          </a:prstGeom>
          <a:noFill/>
        </p:spPr>
        <p:txBody>
          <a:bodyPr wrap="square" anchor="ctr">
            <a:spAutoFit/>
          </a:bodyPr>
          <a:lstStyle/>
          <a:p>
            <a:pPr algn="l">
              <a:spcAft>
                <a:spcPts val="400"/>
              </a:spcAft>
            </a:pPr>
            <a:r>
              <a:rPr sz="900" b="1">
                <a:solidFill>
                  <a:srgbClr val="161B26"/>
                </a:solidFill>
                <a:latin typeface="Arial"/>
              </a:rPr>
              <a:t>09:00–10:15</a:t>
            </a:r>
          </a:p>
        </p:txBody>
      </p:sp>
      <p:sp>
        <p:nvSpPr>
          <p:cNvPr id="25" name="Rectangle 24"/>
          <p:cNvSpPr/>
          <p:nvPr/>
        </p:nvSpPr>
        <p:spPr>
          <a:xfrm>
            <a:off x="1947031" y="2484120"/>
            <a:ext cx="638068"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056759" y="2484120"/>
            <a:ext cx="455188" cy="350520"/>
          </a:xfrm>
          <a:prstGeom prst="rect">
            <a:avLst/>
          </a:prstGeom>
          <a:noFill/>
        </p:spPr>
        <p:txBody>
          <a:bodyPr wrap="square" anchor="ctr">
            <a:spAutoFit/>
          </a:bodyPr>
          <a:lstStyle/>
          <a:p>
            <a:pPr algn="l">
              <a:spcAft>
                <a:spcPts val="400"/>
              </a:spcAft>
            </a:pPr>
            <a:r>
              <a:rPr sz="900" b="0">
                <a:solidFill>
                  <a:srgbClr val="161B26"/>
                </a:solidFill>
                <a:latin typeface="Arial"/>
              </a:rPr>
              <a:t>75</a:t>
            </a:r>
          </a:p>
        </p:txBody>
      </p:sp>
      <p:sp>
        <p:nvSpPr>
          <p:cNvPr id="27" name="Rectangle 26"/>
          <p:cNvSpPr/>
          <p:nvPr/>
        </p:nvSpPr>
        <p:spPr>
          <a:xfrm>
            <a:off x="2585099" y="2484120"/>
            <a:ext cx="1063447"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94827" y="2484120"/>
            <a:ext cx="880567" cy="350520"/>
          </a:xfrm>
          <a:prstGeom prst="rect">
            <a:avLst/>
          </a:prstGeom>
          <a:noFill/>
        </p:spPr>
        <p:txBody>
          <a:bodyPr wrap="square" anchor="ctr">
            <a:spAutoFit/>
          </a:bodyPr>
          <a:lstStyle/>
          <a:p>
            <a:pPr algn="l">
              <a:spcAft>
                <a:spcPts val="400"/>
              </a:spcAft>
            </a:pPr>
            <a:r>
              <a:rPr sz="900" b="0">
                <a:solidFill>
                  <a:srgbClr val="161B26"/>
                </a:solidFill>
                <a:latin typeface="Arial"/>
              </a:rPr>
              <a:t>CR</a:t>
            </a:r>
          </a:p>
        </p:txBody>
      </p:sp>
      <p:sp>
        <p:nvSpPr>
          <p:cNvPr id="29" name="Rectangle 28"/>
          <p:cNvSpPr/>
          <p:nvPr/>
        </p:nvSpPr>
        <p:spPr>
          <a:xfrm>
            <a:off x="3648546" y="2484120"/>
            <a:ext cx="7763164"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58274" y="2484120"/>
            <a:ext cx="7580284" cy="350520"/>
          </a:xfrm>
          <a:prstGeom prst="rect">
            <a:avLst/>
          </a:prstGeom>
          <a:noFill/>
        </p:spPr>
        <p:txBody>
          <a:bodyPr wrap="square" anchor="ctr">
            <a:spAutoFit/>
          </a:bodyPr>
          <a:lstStyle/>
          <a:p>
            <a:pPr algn="l">
              <a:spcAft>
                <a:spcPts val="400"/>
              </a:spcAft>
            </a:pPr>
            <a:r>
              <a:rPr sz="900" b="0">
                <a:solidFill>
                  <a:srgbClr val="161B26"/>
                </a:solidFill>
                <a:latin typeface="Arial"/>
              </a:rPr>
              <a:t>Topic1 / LU1: vision and generative pipelines; facilitated Lab01 needs-analysis discussion (K1,K</a:t>
            </a:r>
          </a:p>
        </p:txBody>
      </p:sp>
      <p:sp>
        <p:nvSpPr>
          <p:cNvPr id="31" name="Rectangle 30"/>
          <p:cNvSpPr/>
          <p:nvPr/>
        </p:nvSpPr>
        <p:spPr>
          <a:xfrm>
            <a:off x="777240" y="2834640"/>
            <a:ext cx="1169791"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2834640"/>
            <a:ext cx="986911" cy="350520"/>
          </a:xfrm>
          <a:prstGeom prst="rect">
            <a:avLst/>
          </a:prstGeom>
          <a:noFill/>
        </p:spPr>
        <p:txBody>
          <a:bodyPr wrap="square" anchor="ctr">
            <a:spAutoFit/>
          </a:bodyPr>
          <a:lstStyle/>
          <a:p>
            <a:pPr algn="l">
              <a:spcAft>
                <a:spcPts val="400"/>
              </a:spcAft>
            </a:pPr>
            <a:r>
              <a:rPr sz="900" b="1">
                <a:solidFill>
                  <a:srgbClr val="161B26"/>
                </a:solidFill>
                <a:latin typeface="Arial"/>
              </a:rPr>
              <a:t>10:15–10:30</a:t>
            </a:r>
          </a:p>
        </p:txBody>
      </p:sp>
      <p:sp>
        <p:nvSpPr>
          <p:cNvPr id="33" name="Rectangle 32"/>
          <p:cNvSpPr/>
          <p:nvPr/>
        </p:nvSpPr>
        <p:spPr>
          <a:xfrm>
            <a:off x="1947031" y="2834640"/>
            <a:ext cx="638068"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56759" y="2834640"/>
            <a:ext cx="455188" cy="350520"/>
          </a:xfrm>
          <a:prstGeom prst="rect">
            <a:avLst/>
          </a:prstGeom>
          <a:noFill/>
        </p:spPr>
        <p:txBody>
          <a:bodyPr wrap="square" anchor="ctr">
            <a:spAutoFit/>
          </a:bodyPr>
          <a:lstStyle/>
          <a:p>
            <a:pPr algn="l">
              <a:spcAft>
                <a:spcPts val="400"/>
              </a:spcAft>
            </a:pPr>
            <a:r>
              <a:rPr sz="900" b="0">
                <a:solidFill>
                  <a:srgbClr val="161B26"/>
                </a:solidFill>
                <a:latin typeface="Arial"/>
              </a:rPr>
              <a:t>15</a:t>
            </a:r>
          </a:p>
        </p:txBody>
      </p:sp>
      <p:sp>
        <p:nvSpPr>
          <p:cNvPr id="35" name="Rectangle 34"/>
          <p:cNvSpPr/>
          <p:nvPr/>
        </p:nvSpPr>
        <p:spPr>
          <a:xfrm>
            <a:off x="2585099" y="2834640"/>
            <a:ext cx="1063447"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694827" y="2834640"/>
            <a:ext cx="880567" cy="350520"/>
          </a:xfrm>
          <a:prstGeom prst="rect">
            <a:avLst/>
          </a:prstGeom>
          <a:noFill/>
        </p:spPr>
        <p:txBody>
          <a:bodyPr wrap="square" anchor="ctr">
            <a:spAutoFit/>
          </a:bodyPr>
          <a:lstStyle/>
          <a:p>
            <a:pPr algn="l">
              <a:spcAft>
                <a:spcPts val="400"/>
              </a:spcAft>
            </a:pPr>
            <a:r>
              <a:rPr sz="900" b="0">
                <a:solidFill>
                  <a:srgbClr val="161B26"/>
                </a:solidFill>
                <a:latin typeface="Arial"/>
              </a:rPr>
              <a:t>BREAK</a:t>
            </a:r>
          </a:p>
        </p:txBody>
      </p:sp>
      <p:sp>
        <p:nvSpPr>
          <p:cNvPr id="37" name="Rectangle 36"/>
          <p:cNvSpPr/>
          <p:nvPr/>
        </p:nvSpPr>
        <p:spPr>
          <a:xfrm>
            <a:off x="3648546" y="2834640"/>
            <a:ext cx="7763164"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58274" y="2834640"/>
            <a:ext cx="7580284" cy="350520"/>
          </a:xfrm>
          <a:prstGeom prst="rect">
            <a:avLst/>
          </a:prstGeom>
          <a:noFill/>
        </p:spPr>
        <p:txBody>
          <a:bodyPr wrap="square" anchor="ctr">
            <a:spAutoFit/>
          </a:bodyPr>
          <a:lstStyle/>
          <a:p>
            <a:pPr algn="l">
              <a:spcAft>
                <a:spcPts val="400"/>
              </a:spcAft>
            </a:pPr>
            <a:r>
              <a:rPr sz="900" b="0">
                <a:solidFill>
                  <a:srgbClr val="161B26"/>
                </a:solidFill>
                <a:latin typeface="Arial"/>
              </a:rPr>
              <a:t>Tea break; excluded</a:t>
            </a:r>
          </a:p>
        </p:txBody>
      </p:sp>
      <p:sp>
        <p:nvSpPr>
          <p:cNvPr id="39" name="Rectangle 38"/>
          <p:cNvSpPr/>
          <p:nvPr/>
        </p:nvSpPr>
        <p:spPr>
          <a:xfrm>
            <a:off x="777240" y="3185160"/>
            <a:ext cx="1169791"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3185160"/>
            <a:ext cx="986911" cy="350520"/>
          </a:xfrm>
          <a:prstGeom prst="rect">
            <a:avLst/>
          </a:prstGeom>
          <a:noFill/>
        </p:spPr>
        <p:txBody>
          <a:bodyPr wrap="square" anchor="ctr">
            <a:spAutoFit/>
          </a:bodyPr>
          <a:lstStyle/>
          <a:p>
            <a:pPr algn="l">
              <a:spcAft>
                <a:spcPts val="400"/>
              </a:spcAft>
            </a:pPr>
            <a:r>
              <a:rPr sz="900" b="1">
                <a:solidFill>
                  <a:srgbClr val="161B26"/>
                </a:solidFill>
                <a:latin typeface="Arial"/>
              </a:rPr>
              <a:t>10:30–11:45</a:t>
            </a:r>
          </a:p>
        </p:txBody>
      </p:sp>
      <p:sp>
        <p:nvSpPr>
          <p:cNvPr id="41" name="Rectangle 40"/>
          <p:cNvSpPr/>
          <p:nvPr/>
        </p:nvSpPr>
        <p:spPr>
          <a:xfrm>
            <a:off x="1947031" y="3185160"/>
            <a:ext cx="638068"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056759" y="3185160"/>
            <a:ext cx="455188" cy="350520"/>
          </a:xfrm>
          <a:prstGeom prst="rect">
            <a:avLst/>
          </a:prstGeom>
          <a:noFill/>
        </p:spPr>
        <p:txBody>
          <a:bodyPr wrap="square" anchor="ctr">
            <a:spAutoFit/>
          </a:bodyPr>
          <a:lstStyle/>
          <a:p>
            <a:pPr algn="l">
              <a:spcAft>
                <a:spcPts val="400"/>
              </a:spcAft>
            </a:pPr>
            <a:r>
              <a:rPr sz="900" b="0">
                <a:solidFill>
                  <a:srgbClr val="161B26"/>
                </a:solidFill>
                <a:latin typeface="Arial"/>
              </a:rPr>
              <a:t>75</a:t>
            </a:r>
          </a:p>
        </p:txBody>
      </p:sp>
      <p:sp>
        <p:nvSpPr>
          <p:cNvPr id="43" name="Rectangle 42"/>
          <p:cNvSpPr/>
          <p:nvPr/>
        </p:nvSpPr>
        <p:spPr>
          <a:xfrm>
            <a:off x="2585099" y="3185160"/>
            <a:ext cx="1063447"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694827" y="3185160"/>
            <a:ext cx="880567" cy="350520"/>
          </a:xfrm>
          <a:prstGeom prst="rect">
            <a:avLst/>
          </a:prstGeom>
          <a:noFill/>
        </p:spPr>
        <p:txBody>
          <a:bodyPr wrap="square" anchor="ctr">
            <a:spAutoFit/>
          </a:bodyPr>
          <a:lstStyle/>
          <a:p>
            <a:pPr algn="l">
              <a:spcAft>
                <a:spcPts val="400"/>
              </a:spcAft>
            </a:pPr>
            <a:r>
              <a:rPr sz="900" b="0">
                <a:solidFill>
                  <a:srgbClr val="161B26"/>
                </a:solidFill>
                <a:latin typeface="Arial"/>
              </a:rPr>
              <a:t>CR</a:t>
            </a:r>
          </a:p>
        </p:txBody>
      </p:sp>
      <p:sp>
        <p:nvSpPr>
          <p:cNvPr id="45" name="Rectangle 44"/>
          <p:cNvSpPr/>
          <p:nvPr/>
        </p:nvSpPr>
        <p:spPr>
          <a:xfrm>
            <a:off x="3648546" y="3185160"/>
            <a:ext cx="7763164"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58274" y="3185160"/>
            <a:ext cx="7580284" cy="350520"/>
          </a:xfrm>
          <a:prstGeom prst="rect">
            <a:avLst/>
          </a:prstGeom>
          <a:noFill/>
        </p:spPr>
        <p:txBody>
          <a:bodyPr wrap="square" anchor="ctr">
            <a:spAutoFit/>
          </a:bodyPr>
          <a:lstStyle/>
          <a:p>
            <a:pPr algn="l">
              <a:spcAft>
                <a:spcPts val="400"/>
              </a:spcAft>
            </a:pPr>
            <a:r>
              <a:rPr sz="900" b="0">
                <a:solidFill>
                  <a:srgbClr val="161B26"/>
                </a:solidFill>
                <a:latin typeface="Arial"/>
              </a:rPr>
              <a:t>Topic2 / LU2: image representation, filtering, geometric transforms and controlled generation/ed</a:t>
            </a:r>
          </a:p>
        </p:txBody>
      </p:sp>
      <p:sp>
        <p:nvSpPr>
          <p:cNvPr id="47" name="Rectangle 46"/>
          <p:cNvSpPr/>
          <p:nvPr/>
        </p:nvSpPr>
        <p:spPr>
          <a:xfrm>
            <a:off x="777240" y="3535680"/>
            <a:ext cx="1169791"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6968" y="3535680"/>
            <a:ext cx="986911" cy="350520"/>
          </a:xfrm>
          <a:prstGeom prst="rect">
            <a:avLst/>
          </a:prstGeom>
          <a:noFill/>
        </p:spPr>
        <p:txBody>
          <a:bodyPr wrap="square" anchor="ctr">
            <a:spAutoFit/>
          </a:bodyPr>
          <a:lstStyle/>
          <a:p>
            <a:pPr algn="l">
              <a:spcAft>
                <a:spcPts val="400"/>
              </a:spcAft>
            </a:pPr>
            <a:r>
              <a:rPr sz="900" b="1">
                <a:solidFill>
                  <a:srgbClr val="161B26"/>
                </a:solidFill>
                <a:latin typeface="Arial"/>
              </a:rPr>
              <a:t>11:45–12:45</a:t>
            </a:r>
          </a:p>
        </p:txBody>
      </p:sp>
      <p:sp>
        <p:nvSpPr>
          <p:cNvPr id="49" name="Rectangle 48"/>
          <p:cNvSpPr/>
          <p:nvPr/>
        </p:nvSpPr>
        <p:spPr>
          <a:xfrm>
            <a:off x="1947031" y="3535680"/>
            <a:ext cx="638068"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056759" y="3535680"/>
            <a:ext cx="455188" cy="350520"/>
          </a:xfrm>
          <a:prstGeom prst="rect">
            <a:avLst/>
          </a:prstGeom>
          <a:noFill/>
        </p:spPr>
        <p:txBody>
          <a:bodyPr wrap="square" anchor="ctr">
            <a:spAutoFit/>
          </a:bodyPr>
          <a:lstStyle/>
          <a:p>
            <a:pPr algn="l">
              <a:spcAft>
                <a:spcPts val="400"/>
              </a:spcAft>
            </a:pPr>
            <a:r>
              <a:rPr sz="900" b="0">
                <a:solidFill>
                  <a:srgbClr val="161B26"/>
                </a:solidFill>
                <a:latin typeface="Arial"/>
              </a:rPr>
              <a:t>60</a:t>
            </a:r>
          </a:p>
        </p:txBody>
      </p:sp>
      <p:sp>
        <p:nvSpPr>
          <p:cNvPr id="51" name="Rectangle 50"/>
          <p:cNvSpPr/>
          <p:nvPr/>
        </p:nvSpPr>
        <p:spPr>
          <a:xfrm>
            <a:off x="2585099" y="3535680"/>
            <a:ext cx="1063447"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694827" y="3535680"/>
            <a:ext cx="880567" cy="350520"/>
          </a:xfrm>
          <a:prstGeom prst="rect">
            <a:avLst/>
          </a:prstGeom>
          <a:noFill/>
        </p:spPr>
        <p:txBody>
          <a:bodyPr wrap="square" anchor="ctr">
            <a:spAutoFit/>
          </a:bodyPr>
          <a:lstStyle/>
          <a:p>
            <a:pPr algn="l">
              <a:spcAft>
                <a:spcPts val="400"/>
              </a:spcAft>
            </a:pPr>
            <a:r>
              <a:rPr sz="900" b="0">
                <a:solidFill>
                  <a:srgbClr val="161B26"/>
                </a:solidFill>
                <a:latin typeface="Arial"/>
              </a:rPr>
              <a:t>PP</a:t>
            </a:r>
          </a:p>
        </p:txBody>
      </p:sp>
      <p:sp>
        <p:nvSpPr>
          <p:cNvPr id="53" name="Rectangle 52"/>
          <p:cNvSpPr/>
          <p:nvPr/>
        </p:nvSpPr>
        <p:spPr>
          <a:xfrm>
            <a:off x="3648546" y="3535680"/>
            <a:ext cx="7763164"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758274" y="3535680"/>
            <a:ext cx="7580284" cy="350520"/>
          </a:xfrm>
          <a:prstGeom prst="rect">
            <a:avLst/>
          </a:prstGeom>
          <a:noFill/>
        </p:spPr>
        <p:txBody>
          <a:bodyPr wrap="square" anchor="ctr">
            <a:spAutoFit/>
          </a:bodyPr>
          <a:lstStyle/>
          <a:p>
            <a:pPr algn="l">
              <a:spcAft>
                <a:spcPts val="400"/>
              </a:spcAft>
            </a:pPr>
            <a:r>
              <a:rPr sz="900" b="0">
                <a:solidFill>
                  <a:srgbClr val="161B26"/>
                </a:solidFill>
                <a:latin typeface="Arial"/>
              </a:rPr>
              <a:t>LU2 practical: Labs02,03,04,05 core exercises, 15 minutes each; extensions completed after class</a:t>
            </a:r>
          </a:p>
        </p:txBody>
      </p:sp>
      <p:sp>
        <p:nvSpPr>
          <p:cNvPr id="55" name="Rectangle 54"/>
          <p:cNvSpPr/>
          <p:nvPr/>
        </p:nvSpPr>
        <p:spPr>
          <a:xfrm>
            <a:off x="777240" y="3886200"/>
            <a:ext cx="1169791"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 y="3886200"/>
            <a:ext cx="986911" cy="350520"/>
          </a:xfrm>
          <a:prstGeom prst="rect">
            <a:avLst/>
          </a:prstGeom>
          <a:noFill/>
        </p:spPr>
        <p:txBody>
          <a:bodyPr wrap="square" anchor="ctr">
            <a:spAutoFit/>
          </a:bodyPr>
          <a:lstStyle/>
          <a:p>
            <a:pPr algn="l">
              <a:spcAft>
                <a:spcPts val="400"/>
              </a:spcAft>
            </a:pPr>
            <a:r>
              <a:rPr sz="900" b="1">
                <a:solidFill>
                  <a:srgbClr val="161B26"/>
                </a:solidFill>
                <a:latin typeface="Arial"/>
              </a:rPr>
              <a:t>12:45–13:45</a:t>
            </a:r>
          </a:p>
        </p:txBody>
      </p:sp>
      <p:sp>
        <p:nvSpPr>
          <p:cNvPr id="57" name="Rectangle 56"/>
          <p:cNvSpPr/>
          <p:nvPr/>
        </p:nvSpPr>
        <p:spPr>
          <a:xfrm>
            <a:off x="1947031" y="3886200"/>
            <a:ext cx="638068"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056759" y="3886200"/>
            <a:ext cx="455188" cy="350520"/>
          </a:xfrm>
          <a:prstGeom prst="rect">
            <a:avLst/>
          </a:prstGeom>
          <a:noFill/>
        </p:spPr>
        <p:txBody>
          <a:bodyPr wrap="square" anchor="ctr">
            <a:spAutoFit/>
          </a:bodyPr>
          <a:lstStyle/>
          <a:p>
            <a:pPr algn="l">
              <a:spcAft>
                <a:spcPts val="400"/>
              </a:spcAft>
            </a:pPr>
            <a:r>
              <a:rPr sz="900" b="0">
                <a:solidFill>
                  <a:srgbClr val="161B26"/>
                </a:solidFill>
                <a:latin typeface="Arial"/>
              </a:rPr>
              <a:t>60</a:t>
            </a:r>
          </a:p>
        </p:txBody>
      </p:sp>
      <p:sp>
        <p:nvSpPr>
          <p:cNvPr id="59" name="Rectangle 58"/>
          <p:cNvSpPr/>
          <p:nvPr/>
        </p:nvSpPr>
        <p:spPr>
          <a:xfrm>
            <a:off x="2585099" y="3886200"/>
            <a:ext cx="1063447"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694827" y="3886200"/>
            <a:ext cx="880567" cy="350520"/>
          </a:xfrm>
          <a:prstGeom prst="rect">
            <a:avLst/>
          </a:prstGeom>
          <a:noFill/>
        </p:spPr>
        <p:txBody>
          <a:bodyPr wrap="square" anchor="ctr">
            <a:spAutoFit/>
          </a:bodyPr>
          <a:lstStyle/>
          <a:p>
            <a:pPr algn="l">
              <a:spcAft>
                <a:spcPts val="400"/>
              </a:spcAft>
            </a:pPr>
            <a:r>
              <a:rPr sz="900" b="0">
                <a:solidFill>
                  <a:srgbClr val="161B26"/>
                </a:solidFill>
                <a:latin typeface="Arial"/>
              </a:rPr>
              <a:t>LUNCH</a:t>
            </a:r>
          </a:p>
        </p:txBody>
      </p:sp>
      <p:sp>
        <p:nvSpPr>
          <p:cNvPr id="61" name="Rectangle 60"/>
          <p:cNvSpPr/>
          <p:nvPr/>
        </p:nvSpPr>
        <p:spPr>
          <a:xfrm>
            <a:off x="3648546" y="3886200"/>
            <a:ext cx="7763164"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758274" y="3886200"/>
            <a:ext cx="7580284" cy="350520"/>
          </a:xfrm>
          <a:prstGeom prst="rect">
            <a:avLst/>
          </a:prstGeom>
          <a:noFill/>
        </p:spPr>
        <p:txBody>
          <a:bodyPr wrap="square" anchor="ctr">
            <a:spAutoFit/>
          </a:bodyPr>
          <a:lstStyle/>
          <a:p>
            <a:pPr algn="l">
              <a:spcAft>
                <a:spcPts val="400"/>
              </a:spcAft>
            </a:pPr>
            <a:r>
              <a:rPr sz="900" b="0">
                <a:solidFill>
                  <a:srgbClr val="161B26"/>
                </a:solidFill>
                <a:latin typeface="Arial"/>
              </a:rPr>
              <a:t>Lunch; excluded</a:t>
            </a:r>
          </a:p>
        </p:txBody>
      </p:sp>
      <p:sp>
        <p:nvSpPr>
          <p:cNvPr id="63" name="Rectangle 62"/>
          <p:cNvSpPr/>
          <p:nvPr/>
        </p:nvSpPr>
        <p:spPr>
          <a:xfrm>
            <a:off x="777240" y="4236720"/>
            <a:ext cx="1169791"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86968" y="4236720"/>
            <a:ext cx="986911" cy="350520"/>
          </a:xfrm>
          <a:prstGeom prst="rect">
            <a:avLst/>
          </a:prstGeom>
          <a:noFill/>
        </p:spPr>
        <p:txBody>
          <a:bodyPr wrap="square" anchor="ctr">
            <a:spAutoFit/>
          </a:bodyPr>
          <a:lstStyle/>
          <a:p>
            <a:pPr algn="l">
              <a:spcAft>
                <a:spcPts val="400"/>
              </a:spcAft>
            </a:pPr>
            <a:r>
              <a:rPr sz="900" b="1">
                <a:solidFill>
                  <a:srgbClr val="161B26"/>
                </a:solidFill>
                <a:latin typeface="Arial"/>
              </a:rPr>
              <a:t>13:45–15:00</a:t>
            </a:r>
          </a:p>
        </p:txBody>
      </p:sp>
      <p:sp>
        <p:nvSpPr>
          <p:cNvPr id="65" name="Rectangle 64"/>
          <p:cNvSpPr/>
          <p:nvPr/>
        </p:nvSpPr>
        <p:spPr>
          <a:xfrm>
            <a:off x="1947031" y="4236720"/>
            <a:ext cx="638068"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056759" y="4236720"/>
            <a:ext cx="455188" cy="350520"/>
          </a:xfrm>
          <a:prstGeom prst="rect">
            <a:avLst/>
          </a:prstGeom>
          <a:noFill/>
        </p:spPr>
        <p:txBody>
          <a:bodyPr wrap="square" anchor="ctr">
            <a:spAutoFit/>
          </a:bodyPr>
          <a:lstStyle/>
          <a:p>
            <a:pPr algn="l">
              <a:spcAft>
                <a:spcPts val="400"/>
              </a:spcAft>
            </a:pPr>
            <a:r>
              <a:rPr sz="900" b="0">
                <a:solidFill>
                  <a:srgbClr val="161B26"/>
                </a:solidFill>
                <a:latin typeface="Arial"/>
              </a:rPr>
              <a:t>75</a:t>
            </a:r>
          </a:p>
        </p:txBody>
      </p:sp>
      <p:sp>
        <p:nvSpPr>
          <p:cNvPr id="67" name="Rectangle 66"/>
          <p:cNvSpPr/>
          <p:nvPr/>
        </p:nvSpPr>
        <p:spPr>
          <a:xfrm>
            <a:off x="2585099" y="4236720"/>
            <a:ext cx="1063447"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694827" y="4236720"/>
            <a:ext cx="880567" cy="350520"/>
          </a:xfrm>
          <a:prstGeom prst="rect">
            <a:avLst/>
          </a:prstGeom>
          <a:noFill/>
        </p:spPr>
        <p:txBody>
          <a:bodyPr wrap="square" anchor="ctr">
            <a:spAutoFit/>
          </a:bodyPr>
          <a:lstStyle/>
          <a:p>
            <a:pPr algn="l">
              <a:spcAft>
                <a:spcPts val="400"/>
              </a:spcAft>
            </a:pPr>
            <a:r>
              <a:rPr sz="900" b="0">
                <a:solidFill>
                  <a:srgbClr val="161B26"/>
                </a:solidFill>
                <a:latin typeface="Arial"/>
              </a:rPr>
              <a:t>CR</a:t>
            </a:r>
          </a:p>
        </p:txBody>
      </p:sp>
      <p:sp>
        <p:nvSpPr>
          <p:cNvPr id="69" name="Rectangle 68"/>
          <p:cNvSpPr/>
          <p:nvPr/>
        </p:nvSpPr>
        <p:spPr>
          <a:xfrm>
            <a:off x="3648546" y="4236720"/>
            <a:ext cx="7763164"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758274" y="4236720"/>
            <a:ext cx="7580284" cy="350520"/>
          </a:xfrm>
          <a:prstGeom prst="rect">
            <a:avLst/>
          </a:prstGeom>
          <a:noFill/>
        </p:spPr>
        <p:txBody>
          <a:bodyPr wrap="square" anchor="ctr">
            <a:spAutoFit/>
          </a:bodyPr>
          <a:lstStyle/>
          <a:p>
            <a:pPr algn="l">
              <a:spcAft>
                <a:spcPts val="400"/>
              </a:spcAft>
            </a:pPr>
            <a:r>
              <a:rPr sz="900" b="0">
                <a:solidFill>
                  <a:srgbClr val="161B26"/>
                </a:solidFill>
                <a:latin typeface="Arial"/>
              </a:rPr>
              <a:t>Topic3 / LU3: local/global descriptors, visual style and consistency (K5,K6,K7)</a:t>
            </a:r>
          </a:p>
        </p:txBody>
      </p:sp>
      <p:sp>
        <p:nvSpPr>
          <p:cNvPr id="71" name="Rectangle 70"/>
          <p:cNvSpPr/>
          <p:nvPr/>
        </p:nvSpPr>
        <p:spPr>
          <a:xfrm>
            <a:off x="777240" y="4587240"/>
            <a:ext cx="1169791"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86968" y="4587240"/>
            <a:ext cx="986911" cy="350520"/>
          </a:xfrm>
          <a:prstGeom prst="rect">
            <a:avLst/>
          </a:prstGeom>
          <a:noFill/>
        </p:spPr>
        <p:txBody>
          <a:bodyPr wrap="square" anchor="ctr">
            <a:spAutoFit/>
          </a:bodyPr>
          <a:lstStyle/>
          <a:p>
            <a:pPr algn="l">
              <a:spcAft>
                <a:spcPts val="400"/>
              </a:spcAft>
            </a:pPr>
            <a:r>
              <a:rPr sz="900" b="1">
                <a:solidFill>
                  <a:srgbClr val="161B26"/>
                </a:solidFill>
                <a:latin typeface="Arial"/>
              </a:rPr>
              <a:t>15:00–15:15</a:t>
            </a:r>
          </a:p>
        </p:txBody>
      </p:sp>
      <p:sp>
        <p:nvSpPr>
          <p:cNvPr id="73" name="Rectangle 72"/>
          <p:cNvSpPr/>
          <p:nvPr/>
        </p:nvSpPr>
        <p:spPr>
          <a:xfrm>
            <a:off x="1947031" y="4587240"/>
            <a:ext cx="638068"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056759" y="4587240"/>
            <a:ext cx="455188" cy="350520"/>
          </a:xfrm>
          <a:prstGeom prst="rect">
            <a:avLst/>
          </a:prstGeom>
          <a:noFill/>
        </p:spPr>
        <p:txBody>
          <a:bodyPr wrap="square" anchor="ctr">
            <a:spAutoFit/>
          </a:bodyPr>
          <a:lstStyle/>
          <a:p>
            <a:pPr algn="l">
              <a:spcAft>
                <a:spcPts val="400"/>
              </a:spcAft>
            </a:pPr>
            <a:r>
              <a:rPr sz="900" b="0">
                <a:solidFill>
                  <a:srgbClr val="161B26"/>
                </a:solidFill>
                <a:latin typeface="Arial"/>
              </a:rPr>
              <a:t>15</a:t>
            </a:r>
          </a:p>
        </p:txBody>
      </p:sp>
      <p:sp>
        <p:nvSpPr>
          <p:cNvPr id="75" name="Rectangle 74"/>
          <p:cNvSpPr/>
          <p:nvPr/>
        </p:nvSpPr>
        <p:spPr>
          <a:xfrm>
            <a:off x="2585099" y="4587240"/>
            <a:ext cx="1063447"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694827" y="4587240"/>
            <a:ext cx="880567" cy="350520"/>
          </a:xfrm>
          <a:prstGeom prst="rect">
            <a:avLst/>
          </a:prstGeom>
          <a:noFill/>
        </p:spPr>
        <p:txBody>
          <a:bodyPr wrap="square" anchor="ctr">
            <a:spAutoFit/>
          </a:bodyPr>
          <a:lstStyle/>
          <a:p>
            <a:pPr algn="l">
              <a:spcAft>
                <a:spcPts val="400"/>
              </a:spcAft>
            </a:pPr>
            <a:r>
              <a:rPr sz="900" b="0">
                <a:solidFill>
                  <a:srgbClr val="161B26"/>
                </a:solidFill>
                <a:latin typeface="Arial"/>
              </a:rPr>
              <a:t>BREAK</a:t>
            </a:r>
          </a:p>
        </p:txBody>
      </p:sp>
      <p:sp>
        <p:nvSpPr>
          <p:cNvPr id="77" name="Rectangle 76"/>
          <p:cNvSpPr/>
          <p:nvPr/>
        </p:nvSpPr>
        <p:spPr>
          <a:xfrm>
            <a:off x="3648546" y="4587240"/>
            <a:ext cx="7763164"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3758274" y="4587240"/>
            <a:ext cx="7580284" cy="350520"/>
          </a:xfrm>
          <a:prstGeom prst="rect">
            <a:avLst/>
          </a:prstGeom>
          <a:noFill/>
        </p:spPr>
        <p:txBody>
          <a:bodyPr wrap="square" anchor="ctr">
            <a:spAutoFit/>
          </a:bodyPr>
          <a:lstStyle/>
          <a:p>
            <a:pPr algn="l">
              <a:spcAft>
                <a:spcPts val="400"/>
              </a:spcAft>
            </a:pPr>
            <a:r>
              <a:rPr sz="900" b="0">
                <a:solidFill>
                  <a:srgbClr val="161B26"/>
                </a:solidFill>
                <a:latin typeface="Arial"/>
              </a:rPr>
              <a:t>Tea break; excluded</a:t>
            </a:r>
          </a:p>
        </p:txBody>
      </p:sp>
      <p:sp>
        <p:nvSpPr>
          <p:cNvPr id="79" name="Rectangle 78"/>
          <p:cNvSpPr/>
          <p:nvPr/>
        </p:nvSpPr>
        <p:spPr>
          <a:xfrm>
            <a:off x="777240" y="4937760"/>
            <a:ext cx="1169791"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86968" y="4937760"/>
            <a:ext cx="986911" cy="350520"/>
          </a:xfrm>
          <a:prstGeom prst="rect">
            <a:avLst/>
          </a:prstGeom>
          <a:noFill/>
        </p:spPr>
        <p:txBody>
          <a:bodyPr wrap="square" anchor="ctr">
            <a:spAutoFit/>
          </a:bodyPr>
          <a:lstStyle/>
          <a:p>
            <a:pPr algn="l">
              <a:spcAft>
                <a:spcPts val="400"/>
              </a:spcAft>
            </a:pPr>
            <a:r>
              <a:rPr sz="900" b="1">
                <a:solidFill>
                  <a:srgbClr val="161B26"/>
                </a:solidFill>
                <a:latin typeface="Arial"/>
              </a:rPr>
              <a:t>15:15–16:15</a:t>
            </a:r>
          </a:p>
        </p:txBody>
      </p:sp>
      <p:sp>
        <p:nvSpPr>
          <p:cNvPr id="81" name="Rectangle 80"/>
          <p:cNvSpPr/>
          <p:nvPr/>
        </p:nvSpPr>
        <p:spPr>
          <a:xfrm>
            <a:off x="1947031" y="4937760"/>
            <a:ext cx="638068"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056759" y="4937760"/>
            <a:ext cx="455188" cy="350520"/>
          </a:xfrm>
          <a:prstGeom prst="rect">
            <a:avLst/>
          </a:prstGeom>
          <a:noFill/>
        </p:spPr>
        <p:txBody>
          <a:bodyPr wrap="square" anchor="ctr">
            <a:spAutoFit/>
          </a:bodyPr>
          <a:lstStyle/>
          <a:p>
            <a:pPr algn="l">
              <a:spcAft>
                <a:spcPts val="400"/>
              </a:spcAft>
            </a:pPr>
            <a:r>
              <a:rPr sz="900" b="0">
                <a:solidFill>
                  <a:srgbClr val="161B26"/>
                </a:solidFill>
                <a:latin typeface="Arial"/>
              </a:rPr>
              <a:t>60</a:t>
            </a:r>
          </a:p>
        </p:txBody>
      </p:sp>
      <p:sp>
        <p:nvSpPr>
          <p:cNvPr id="83" name="Rectangle 82"/>
          <p:cNvSpPr/>
          <p:nvPr/>
        </p:nvSpPr>
        <p:spPr>
          <a:xfrm>
            <a:off x="2585099" y="4937760"/>
            <a:ext cx="1063447"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694827" y="4937760"/>
            <a:ext cx="880567" cy="350520"/>
          </a:xfrm>
          <a:prstGeom prst="rect">
            <a:avLst/>
          </a:prstGeom>
          <a:noFill/>
        </p:spPr>
        <p:txBody>
          <a:bodyPr wrap="square" anchor="ctr">
            <a:spAutoFit/>
          </a:bodyPr>
          <a:lstStyle/>
          <a:p>
            <a:pPr algn="l">
              <a:spcAft>
                <a:spcPts val="400"/>
              </a:spcAft>
            </a:pPr>
            <a:r>
              <a:rPr sz="900" b="0">
                <a:solidFill>
                  <a:srgbClr val="161B26"/>
                </a:solidFill>
                <a:latin typeface="Arial"/>
              </a:rPr>
              <a:t>PP</a:t>
            </a:r>
          </a:p>
        </p:txBody>
      </p:sp>
      <p:sp>
        <p:nvSpPr>
          <p:cNvPr id="85" name="Rectangle 84"/>
          <p:cNvSpPr/>
          <p:nvPr/>
        </p:nvSpPr>
        <p:spPr>
          <a:xfrm>
            <a:off x="3648546" y="4937760"/>
            <a:ext cx="7763164"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3758274" y="4937760"/>
            <a:ext cx="7580284" cy="350520"/>
          </a:xfrm>
          <a:prstGeom prst="rect">
            <a:avLst/>
          </a:prstGeom>
          <a:noFill/>
        </p:spPr>
        <p:txBody>
          <a:bodyPr wrap="square" anchor="ctr">
            <a:spAutoFit/>
          </a:bodyPr>
          <a:lstStyle/>
          <a:p>
            <a:pPr algn="l">
              <a:spcAft>
                <a:spcPts val="400"/>
              </a:spcAft>
            </a:pPr>
            <a:r>
              <a:rPr sz="900" b="0">
                <a:solidFill>
                  <a:srgbClr val="161B26"/>
                </a:solidFill>
                <a:latin typeface="Arial"/>
              </a:rPr>
              <a:t>LU3 practical: Labs06 and07, 30 minutes each (A3,A4)</a:t>
            </a:r>
          </a:p>
        </p:txBody>
      </p:sp>
      <p:sp>
        <p:nvSpPr>
          <p:cNvPr id="87" name="Rectangle 86"/>
          <p:cNvSpPr/>
          <p:nvPr/>
        </p:nvSpPr>
        <p:spPr>
          <a:xfrm>
            <a:off x="777240" y="5288280"/>
            <a:ext cx="1169791"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86968" y="5288280"/>
            <a:ext cx="986911" cy="350520"/>
          </a:xfrm>
          <a:prstGeom prst="rect">
            <a:avLst/>
          </a:prstGeom>
          <a:noFill/>
        </p:spPr>
        <p:txBody>
          <a:bodyPr wrap="square" anchor="ctr">
            <a:spAutoFit/>
          </a:bodyPr>
          <a:lstStyle/>
          <a:p>
            <a:pPr algn="l">
              <a:spcAft>
                <a:spcPts val="400"/>
              </a:spcAft>
            </a:pPr>
            <a:r>
              <a:rPr sz="900" b="1">
                <a:solidFill>
                  <a:srgbClr val="161B26"/>
                </a:solidFill>
                <a:latin typeface="Arial"/>
              </a:rPr>
              <a:t>16:15–17:30</a:t>
            </a:r>
          </a:p>
        </p:txBody>
      </p:sp>
      <p:sp>
        <p:nvSpPr>
          <p:cNvPr id="89" name="Rectangle 88"/>
          <p:cNvSpPr/>
          <p:nvPr/>
        </p:nvSpPr>
        <p:spPr>
          <a:xfrm>
            <a:off x="1947031" y="5288280"/>
            <a:ext cx="638068"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2056759" y="5288280"/>
            <a:ext cx="455188" cy="350520"/>
          </a:xfrm>
          <a:prstGeom prst="rect">
            <a:avLst/>
          </a:prstGeom>
          <a:noFill/>
        </p:spPr>
        <p:txBody>
          <a:bodyPr wrap="square" anchor="ctr">
            <a:spAutoFit/>
          </a:bodyPr>
          <a:lstStyle/>
          <a:p>
            <a:pPr algn="l">
              <a:spcAft>
                <a:spcPts val="400"/>
              </a:spcAft>
            </a:pPr>
            <a:r>
              <a:rPr sz="900" b="0">
                <a:solidFill>
                  <a:srgbClr val="161B26"/>
                </a:solidFill>
                <a:latin typeface="Arial"/>
              </a:rPr>
              <a:t>75</a:t>
            </a:r>
          </a:p>
        </p:txBody>
      </p:sp>
      <p:sp>
        <p:nvSpPr>
          <p:cNvPr id="91" name="Rectangle 90"/>
          <p:cNvSpPr/>
          <p:nvPr/>
        </p:nvSpPr>
        <p:spPr>
          <a:xfrm>
            <a:off x="2585099" y="5288280"/>
            <a:ext cx="1063447"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694827" y="5288280"/>
            <a:ext cx="880567" cy="350520"/>
          </a:xfrm>
          <a:prstGeom prst="rect">
            <a:avLst/>
          </a:prstGeom>
          <a:noFill/>
        </p:spPr>
        <p:txBody>
          <a:bodyPr wrap="square" anchor="ctr">
            <a:spAutoFit/>
          </a:bodyPr>
          <a:lstStyle/>
          <a:p>
            <a:pPr algn="l">
              <a:spcAft>
                <a:spcPts val="400"/>
              </a:spcAft>
            </a:pPr>
            <a:r>
              <a:rPr sz="900" b="0">
                <a:solidFill>
                  <a:srgbClr val="161B26"/>
                </a:solidFill>
                <a:latin typeface="Arial"/>
              </a:rPr>
              <a:t>CR</a:t>
            </a:r>
          </a:p>
        </p:txBody>
      </p:sp>
      <p:sp>
        <p:nvSpPr>
          <p:cNvPr id="93" name="Rectangle 92"/>
          <p:cNvSpPr/>
          <p:nvPr/>
        </p:nvSpPr>
        <p:spPr>
          <a:xfrm>
            <a:off x="3648546" y="5288280"/>
            <a:ext cx="7763164"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3758274" y="5288280"/>
            <a:ext cx="7580284" cy="350520"/>
          </a:xfrm>
          <a:prstGeom prst="rect">
            <a:avLst/>
          </a:prstGeom>
          <a:noFill/>
        </p:spPr>
        <p:txBody>
          <a:bodyPr wrap="square" anchor="ctr">
            <a:spAutoFit/>
          </a:bodyPr>
          <a:lstStyle/>
          <a:p>
            <a:pPr algn="l">
              <a:spcAft>
                <a:spcPts val="400"/>
              </a:spcAft>
            </a:pPr>
            <a:r>
              <a:rPr sz="900" b="0">
                <a:solidFill>
                  <a:srgbClr val="161B26"/>
                </a:solidFill>
                <a:latin typeface="Arial"/>
              </a:rPr>
              <a:t>Topic4 / LU4: learned vision models, segmentation/detection/recognition and evaluation (K8,K9)</a:t>
            </a:r>
          </a:p>
        </p:txBody>
      </p:sp>
      <p:sp>
        <p:nvSpPr>
          <p:cNvPr id="95" name="Rectangle 94"/>
          <p:cNvSpPr/>
          <p:nvPr/>
        </p:nvSpPr>
        <p:spPr>
          <a:xfrm>
            <a:off x="777240" y="5638800"/>
            <a:ext cx="1169791"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86968" y="5638800"/>
            <a:ext cx="986911" cy="350520"/>
          </a:xfrm>
          <a:prstGeom prst="rect">
            <a:avLst/>
          </a:prstGeom>
          <a:noFill/>
        </p:spPr>
        <p:txBody>
          <a:bodyPr wrap="square" anchor="ctr">
            <a:spAutoFit/>
          </a:bodyPr>
          <a:lstStyle/>
          <a:p>
            <a:pPr algn="l">
              <a:spcAft>
                <a:spcPts val="400"/>
              </a:spcAft>
            </a:pPr>
            <a:r>
              <a:rPr sz="900" b="1">
                <a:solidFill>
                  <a:srgbClr val="161B26"/>
                </a:solidFill>
                <a:latin typeface="Arial"/>
              </a:rPr>
              <a:t>17:30–18:30</a:t>
            </a:r>
          </a:p>
        </p:txBody>
      </p:sp>
      <p:sp>
        <p:nvSpPr>
          <p:cNvPr id="97" name="Rectangle 96"/>
          <p:cNvSpPr/>
          <p:nvPr/>
        </p:nvSpPr>
        <p:spPr>
          <a:xfrm>
            <a:off x="1947031" y="5638800"/>
            <a:ext cx="638068"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2056759" y="5638800"/>
            <a:ext cx="455188" cy="350520"/>
          </a:xfrm>
          <a:prstGeom prst="rect">
            <a:avLst/>
          </a:prstGeom>
          <a:noFill/>
        </p:spPr>
        <p:txBody>
          <a:bodyPr wrap="square" anchor="ctr">
            <a:spAutoFit/>
          </a:bodyPr>
          <a:lstStyle/>
          <a:p>
            <a:pPr algn="l">
              <a:spcAft>
                <a:spcPts val="400"/>
              </a:spcAft>
            </a:pPr>
            <a:r>
              <a:rPr sz="900" b="0">
                <a:solidFill>
                  <a:srgbClr val="161B26"/>
                </a:solidFill>
                <a:latin typeface="Arial"/>
              </a:rPr>
              <a:t>60</a:t>
            </a:r>
          </a:p>
        </p:txBody>
      </p:sp>
      <p:sp>
        <p:nvSpPr>
          <p:cNvPr id="99" name="Rectangle 98"/>
          <p:cNvSpPr/>
          <p:nvPr/>
        </p:nvSpPr>
        <p:spPr>
          <a:xfrm>
            <a:off x="2585099" y="5638800"/>
            <a:ext cx="1063447"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2694827" y="5638800"/>
            <a:ext cx="880567" cy="350520"/>
          </a:xfrm>
          <a:prstGeom prst="rect">
            <a:avLst/>
          </a:prstGeom>
          <a:noFill/>
        </p:spPr>
        <p:txBody>
          <a:bodyPr wrap="square" anchor="ctr">
            <a:spAutoFit/>
          </a:bodyPr>
          <a:lstStyle/>
          <a:p>
            <a:pPr algn="l">
              <a:spcAft>
                <a:spcPts val="400"/>
              </a:spcAft>
            </a:pPr>
            <a:r>
              <a:rPr sz="900" b="0">
                <a:solidFill>
                  <a:srgbClr val="161B26"/>
                </a:solidFill>
                <a:latin typeface="Arial"/>
              </a:rPr>
              <a:t>PP</a:t>
            </a:r>
          </a:p>
        </p:txBody>
      </p:sp>
      <p:sp>
        <p:nvSpPr>
          <p:cNvPr id="101" name="Rectangle 100"/>
          <p:cNvSpPr/>
          <p:nvPr/>
        </p:nvSpPr>
        <p:spPr>
          <a:xfrm>
            <a:off x="3648546" y="5638800"/>
            <a:ext cx="7763164"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3758274" y="5638800"/>
            <a:ext cx="7580284" cy="350520"/>
          </a:xfrm>
          <a:prstGeom prst="rect">
            <a:avLst/>
          </a:prstGeom>
          <a:noFill/>
        </p:spPr>
        <p:txBody>
          <a:bodyPr wrap="square" anchor="ctr">
            <a:spAutoFit/>
          </a:bodyPr>
          <a:lstStyle/>
          <a:p>
            <a:pPr algn="l">
              <a:spcAft>
                <a:spcPts val="400"/>
              </a:spcAft>
            </a:pPr>
            <a:r>
              <a:rPr sz="900" b="0">
                <a:solidFill>
                  <a:srgbClr val="161B26"/>
                </a:solidFill>
                <a:latin typeface="Arial"/>
              </a:rPr>
              <a:t>LU4 practical part1: Lab08 object detection/evaluation (A5)</a:t>
            </a:r>
          </a:p>
        </p:txBody>
      </p:sp>
      <p:sp>
        <p:nvSpPr>
          <p:cNvPr id="103" name="TextBox 102"/>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Programme minutes on Day 1: 480 (classroom facilitation + practical + assessment). Lunch, tea breaks and administration are additional, non-instructional time.</a:t>
            </a:r>
          </a:p>
        </p:txBody>
      </p:sp>
      <p:sp>
        <p:nvSpPr>
          <p:cNvPr id="104" name="TextBox 10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105" name="TextBox 10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6" name="TextBox 10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DAY 2 · VIDEO CREATION AND ANALYTICS, CLOUD-VERSUS-EDGE EVALUATION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Lesson Plan — Day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169791" cy="3235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986911" cy="323556"/>
          </a:xfrm>
          <a:prstGeom prst="rect">
            <a:avLst/>
          </a:prstGeom>
          <a:noFill/>
        </p:spPr>
        <p:txBody>
          <a:bodyPr wrap="square" anchor="ctr">
            <a:spAutoFit/>
          </a:bodyPr>
          <a:lstStyle/>
          <a:p>
            <a:pPr algn="l">
              <a:spcAft>
                <a:spcPts val="400"/>
              </a:spcAft>
            </a:pPr>
            <a:r>
              <a:rPr sz="1000" b="1">
                <a:solidFill>
                  <a:srgbClr val="FFFFFF"/>
                </a:solidFill>
                <a:latin typeface="Arial"/>
              </a:rPr>
              <a:t>Time</a:t>
            </a:r>
          </a:p>
        </p:txBody>
      </p:sp>
      <p:sp>
        <p:nvSpPr>
          <p:cNvPr id="9" name="Rectangle 8"/>
          <p:cNvSpPr/>
          <p:nvPr/>
        </p:nvSpPr>
        <p:spPr>
          <a:xfrm>
            <a:off x="1947031" y="1783080"/>
            <a:ext cx="638068" cy="3235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6759" y="1783080"/>
            <a:ext cx="455188" cy="323556"/>
          </a:xfrm>
          <a:prstGeom prst="rect">
            <a:avLst/>
          </a:prstGeom>
          <a:noFill/>
        </p:spPr>
        <p:txBody>
          <a:bodyPr wrap="square" anchor="ctr">
            <a:spAutoFit/>
          </a:bodyPr>
          <a:lstStyle/>
          <a:p>
            <a:pPr algn="l">
              <a:spcAft>
                <a:spcPts val="400"/>
              </a:spcAft>
            </a:pPr>
            <a:r>
              <a:rPr sz="1000" b="1">
                <a:solidFill>
                  <a:srgbClr val="FFFFFF"/>
                </a:solidFill>
                <a:latin typeface="Arial"/>
              </a:rPr>
              <a:t>Min</a:t>
            </a:r>
          </a:p>
        </p:txBody>
      </p:sp>
      <p:sp>
        <p:nvSpPr>
          <p:cNvPr id="11" name="Rectangle 10"/>
          <p:cNvSpPr/>
          <p:nvPr/>
        </p:nvSpPr>
        <p:spPr>
          <a:xfrm>
            <a:off x="2585099" y="1783080"/>
            <a:ext cx="1063447" cy="3235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94827" y="1783080"/>
            <a:ext cx="880567" cy="323556"/>
          </a:xfrm>
          <a:prstGeom prst="rect">
            <a:avLst/>
          </a:prstGeom>
          <a:noFill/>
        </p:spPr>
        <p:txBody>
          <a:bodyPr wrap="square" anchor="ctr">
            <a:spAutoFit/>
          </a:bodyPr>
          <a:lstStyle/>
          <a:p>
            <a:pPr algn="l">
              <a:spcAft>
                <a:spcPts val="400"/>
              </a:spcAft>
            </a:pPr>
            <a:r>
              <a:rPr sz="1000" b="1">
                <a:solidFill>
                  <a:srgbClr val="FFFFFF"/>
                </a:solidFill>
                <a:latin typeface="Arial"/>
              </a:rPr>
              <a:t>Component</a:t>
            </a:r>
          </a:p>
        </p:txBody>
      </p:sp>
      <p:sp>
        <p:nvSpPr>
          <p:cNvPr id="13" name="Rectangle 12"/>
          <p:cNvSpPr/>
          <p:nvPr/>
        </p:nvSpPr>
        <p:spPr>
          <a:xfrm>
            <a:off x="3648546" y="1783080"/>
            <a:ext cx="7763164" cy="3235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58274" y="1783080"/>
            <a:ext cx="7580284" cy="323556"/>
          </a:xfrm>
          <a:prstGeom prst="rect">
            <a:avLst/>
          </a:prstGeom>
          <a:noFill/>
        </p:spPr>
        <p:txBody>
          <a:bodyPr wrap="square" anchor="ctr">
            <a:spAutoFit/>
          </a:bodyPr>
          <a:lstStyle/>
          <a:p>
            <a:pPr algn="l">
              <a:spcAft>
                <a:spcPts val="400"/>
              </a:spcAft>
            </a:pPr>
            <a:r>
              <a:rPr sz="1000" b="1">
                <a:solidFill>
                  <a:srgbClr val="FFFFFF"/>
                </a:solidFill>
                <a:latin typeface="Arial"/>
              </a:rPr>
              <a:t>Session</a:t>
            </a:r>
          </a:p>
        </p:txBody>
      </p:sp>
      <p:sp>
        <p:nvSpPr>
          <p:cNvPr id="15" name="Rectangle 14"/>
          <p:cNvSpPr/>
          <p:nvPr/>
        </p:nvSpPr>
        <p:spPr>
          <a:xfrm>
            <a:off x="777240" y="2106636"/>
            <a:ext cx="1169791"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106636"/>
            <a:ext cx="986911" cy="323556"/>
          </a:xfrm>
          <a:prstGeom prst="rect">
            <a:avLst/>
          </a:prstGeom>
          <a:noFill/>
        </p:spPr>
        <p:txBody>
          <a:bodyPr wrap="square" anchor="ctr">
            <a:spAutoFit/>
          </a:bodyPr>
          <a:lstStyle/>
          <a:p>
            <a:pPr algn="l">
              <a:spcAft>
                <a:spcPts val="400"/>
              </a:spcAft>
            </a:pPr>
            <a:r>
              <a:rPr sz="900" b="1">
                <a:solidFill>
                  <a:srgbClr val="161B26"/>
                </a:solidFill>
                <a:latin typeface="Arial"/>
              </a:rPr>
              <a:t>08:45–09:00</a:t>
            </a:r>
          </a:p>
        </p:txBody>
      </p:sp>
      <p:sp>
        <p:nvSpPr>
          <p:cNvPr id="17" name="Rectangle 16"/>
          <p:cNvSpPr/>
          <p:nvPr/>
        </p:nvSpPr>
        <p:spPr>
          <a:xfrm>
            <a:off x="1947031" y="2106636"/>
            <a:ext cx="638068"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56759" y="2106636"/>
            <a:ext cx="455188" cy="323556"/>
          </a:xfrm>
          <a:prstGeom prst="rect">
            <a:avLst/>
          </a:prstGeom>
          <a:noFill/>
        </p:spPr>
        <p:txBody>
          <a:bodyPr wrap="square" anchor="ctr">
            <a:spAutoFit/>
          </a:bodyPr>
          <a:lstStyle/>
          <a:p>
            <a:pPr algn="l">
              <a:spcAft>
                <a:spcPts val="400"/>
              </a:spcAft>
            </a:pPr>
            <a:r>
              <a:rPr sz="900" b="0">
                <a:solidFill>
                  <a:srgbClr val="161B26"/>
                </a:solidFill>
                <a:latin typeface="Arial"/>
              </a:rPr>
              <a:t>15</a:t>
            </a:r>
          </a:p>
        </p:txBody>
      </p:sp>
      <p:sp>
        <p:nvSpPr>
          <p:cNvPr id="19" name="Rectangle 18"/>
          <p:cNvSpPr/>
          <p:nvPr/>
        </p:nvSpPr>
        <p:spPr>
          <a:xfrm>
            <a:off x="2585099" y="2106636"/>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94827" y="2106636"/>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ADMIN</a:t>
            </a:r>
          </a:p>
        </p:txBody>
      </p:sp>
      <p:sp>
        <p:nvSpPr>
          <p:cNvPr id="21" name="Rectangle 20"/>
          <p:cNvSpPr/>
          <p:nvPr/>
        </p:nvSpPr>
        <p:spPr>
          <a:xfrm>
            <a:off x="3648546" y="2106636"/>
            <a:ext cx="7763164"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58274" y="2106636"/>
            <a:ext cx="7580284" cy="323556"/>
          </a:xfrm>
          <a:prstGeom prst="rect">
            <a:avLst/>
          </a:prstGeom>
          <a:noFill/>
        </p:spPr>
        <p:txBody>
          <a:bodyPr wrap="square" anchor="ctr">
            <a:spAutoFit/>
          </a:bodyPr>
          <a:lstStyle/>
          <a:p>
            <a:pPr algn="l">
              <a:spcAft>
                <a:spcPts val="400"/>
              </a:spcAft>
            </a:pPr>
            <a:r>
              <a:rPr sz="900" b="0">
                <a:solidFill>
                  <a:srgbClr val="161B26"/>
                </a:solidFill>
                <a:latin typeface="Arial"/>
              </a:rPr>
              <a:t>Attendance and technical setup; outside programme minutes</a:t>
            </a:r>
          </a:p>
        </p:txBody>
      </p:sp>
      <p:sp>
        <p:nvSpPr>
          <p:cNvPr id="23" name="Rectangle 22"/>
          <p:cNvSpPr/>
          <p:nvPr/>
        </p:nvSpPr>
        <p:spPr>
          <a:xfrm>
            <a:off x="777240" y="2430192"/>
            <a:ext cx="1169791"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2430192"/>
            <a:ext cx="986911" cy="323556"/>
          </a:xfrm>
          <a:prstGeom prst="rect">
            <a:avLst/>
          </a:prstGeom>
          <a:noFill/>
        </p:spPr>
        <p:txBody>
          <a:bodyPr wrap="square" anchor="ctr">
            <a:spAutoFit/>
          </a:bodyPr>
          <a:lstStyle/>
          <a:p>
            <a:pPr algn="l">
              <a:spcAft>
                <a:spcPts val="400"/>
              </a:spcAft>
            </a:pPr>
            <a:r>
              <a:rPr sz="900" b="1">
                <a:solidFill>
                  <a:srgbClr val="161B26"/>
                </a:solidFill>
                <a:latin typeface="Arial"/>
              </a:rPr>
              <a:t>09:00–10:00</a:t>
            </a:r>
          </a:p>
        </p:txBody>
      </p:sp>
      <p:sp>
        <p:nvSpPr>
          <p:cNvPr id="25" name="Rectangle 24"/>
          <p:cNvSpPr/>
          <p:nvPr/>
        </p:nvSpPr>
        <p:spPr>
          <a:xfrm>
            <a:off x="1947031" y="2430192"/>
            <a:ext cx="638068"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056759" y="2430192"/>
            <a:ext cx="455188" cy="323556"/>
          </a:xfrm>
          <a:prstGeom prst="rect">
            <a:avLst/>
          </a:prstGeom>
          <a:noFill/>
        </p:spPr>
        <p:txBody>
          <a:bodyPr wrap="square" anchor="ctr">
            <a:spAutoFit/>
          </a:bodyPr>
          <a:lstStyle/>
          <a:p>
            <a:pPr algn="l">
              <a:spcAft>
                <a:spcPts val="400"/>
              </a:spcAft>
            </a:pPr>
            <a:r>
              <a:rPr sz="900" b="0">
                <a:solidFill>
                  <a:srgbClr val="161B26"/>
                </a:solidFill>
                <a:latin typeface="Arial"/>
              </a:rPr>
              <a:t>60</a:t>
            </a:r>
          </a:p>
        </p:txBody>
      </p:sp>
      <p:sp>
        <p:nvSpPr>
          <p:cNvPr id="27" name="Rectangle 26"/>
          <p:cNvSpPr/>
          <p:nvPr/>
        </p:nvSpPr>
        <p:spPr>
          <a:xfrm>
            <a:off x="2585099" y="2430192"/>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94827" y="2430192"/>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PP</a:t>
            </a:r>
          </a:p>
        </p:txBody>
      </p:sp>
      <p:sp>
        <p:nvSpPr>
          <p:cNvPr id="29" name="Rectangle 28"/>
          <p:cNvSpPr/>
          <p:nvPr/>
        </p:nvSpPr>
        <p:spPr>
          <a:xfrm>
            <a:off x="3648546" y="2430192"/>
            <a:ext cx="7763164"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58274" y="2430192"/>
            <a:ext cx="7580284" cy="323556"/>
          </a:xfrm>
          <a:prstGeom prst="rect">
            <a:avLst/>
          </a:prstGeom>
          <a:noFill/>
        </p:spPr>
        <p:txBody>
          <a:bodyPr wrap="square" anchor="ctr">
            <a:spAutoFit/>
          </a:bodyPr>
          <a:lstStyle/>
          <a:p>
            <a:pPr algn="l">
              <a:spcAft>
                <a:spcPts val="400"/>
              </a:spcAft>
            </a:pPr>
            <a:r>
              <a:rPr sz="900" b="0">
                <a:solidFill>
                  <a:srgbClr val="161B26"/>
                </a:solidFill>
                <a:latin typeface="Arial"/>
              </a:rPr>
              <a:t>LU4 practical part2: Labs09 storyboard/video prompts and11 captions/export, 30 minutes each (A5,</a:t>
            </a:r>
          </a:p>
        </p:txBody>
      </p:sp>
      <p:sp>
        <p:nvSpPr>
          <p:cNvPr id="31" name="Rectangle 30"/>
          <p:cNvSpPr/>
          <p:nvPr/>
        </p:nvSpPr>
        <p:spPr>
          <a:xfrm>
            <a:off x="777240" y="2753748"/>
            <a:ext cx="1169791"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2753748"/>
            <a:ext cx="986911" cy="323556"/>
          </a:xfrm>
          <a:prstGeom prst="rect">
            <a:avLst/>
          </a:prstGeom>
          <a:noFill/>
        </p:spPr>
        <p:txBody>
          <a:bodyPr wrap="square" anchor="ctr">
            <a:spAutoFit/>
          </a:bodyPr>
          <a:lstStyle/>
          <a:p>
            <a:pPr algn="l">
              <a:spcAft>
                <a:spcPts val="400"/>
              </a:spcAft>
            </a:pPr>
            <a:r>
              <a:rPr sz="900" b="1">
                <a:solidFill>
                  <a:srgbClr val="161B26"/>
                </a:solidFill>
                <a:latin typeface="Arial"/>
              </a:rPr>
              <a:t>10:00–10:15</a:t>
            </a:r>
          </a:p>
        </p:txBody>
      </p:sp>
      <p:sp>
        <p:nvSpPr>
          <p:cNvPr id="33" name="Rectangle 32"/>
          <p:cNvSpPr/>
          <p:nvPr/>
        </p:nvSpPr>
        <p:spPr>
          <a:xfrm>
            <a:off x="1947031" y="2753748"/>
            <a:ext cx="638068"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56759" y="2753748"/>
            <a:ext cx="455188" cy="323556"/>
          </a:xfrm>
          <a:prstGeom prst="rect">
            <a:avLst/>
          </a:prstGeom>
          <a:noFill/>
        </p:spPr>
        <p:txBody>
          <a:bodyPr wrap="square" anchor="ctr">
            <a:spAutoFit/>
          </a:bodyPr>
          <a:lstStyle/>
          <a:p>
            <a:pPr algn="l">
              <a:spcAft>
                <a:spcPts val="400"/>
              </a:spcAft>
            </a:pPr>
            <a:r>
              <a:rPr sz="900" b="0">
                <a:solidFill>
                  <a:srgbClr val="161B26"/>
                </a:solidFill>
                <a:latin typeface="Arial"/>
              </a:rPr>
              <a:t>15</a:t>
            </a:r>
          </a:p>
        </p:txBody>
      </p:sp>
      <p:sp>
        <p:nvSpPr>
          <p:cNvPr id="35" name="Rectangle 34"/>
          <p:cNvSpPr/>
          <p:nvPr/>
        </p:nvSpPr>
        <p:spPr>
          <a:xfrm>
            <a:off x="2585099" y="2753748"/>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694827" y="2753748"/>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BREAK</a:t>
            </a:r>
          </a:p>
        </p:txBody>
      </p:sp>
      <p:sp>
        <p:nvSpPr>
          <p:cNvPr id="37" name="Rectangle 36"/>
          <p:cNvSpPr/>
          <p:nvPr/>
        </p:nvSpPr>
        <p:spPr>
          <a:xfrm>
            <a:off x="3648546" y="2753748"/>
            <a:ext cx="7763164"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58274" y="2753748"/>
            <a:ext cx="7580284" cy="323556"/>
          </a:xfrm>
          <a:prstGeom prst="rect">
            <a:avLst/>
          </a:prstGeom>
          <a:noFill/>
        </p:spPr>
        <p:txBody>
          <a:bodyPr wrap="square" anchor="ctr">
            <a:spAutoFit/>
          </a:bodyPr>
          <a:lstStyle/>
          <a:p>
            <a:pPr algn="l">
              <a:spcAft>
                <a:spcPts val="400"/>
              </a:spcAft>
            </a:pPr>
            <a:r>
              <a:rPr sz="900" b="0">
                <a:solidFill>
                  <a:srgbClr val="161B26"/>
                </a:solidFill>
                <a:latin typeface="Arial"/>
              </a:rPr>
              <a:t>Tea break; excluded</a:t>
            </a:r>
          </a:p>
        </p:txBody>
      </p:sp>
      <p:sp>
        <p:nvSpPr>
          <p:cNvPr id="39" name="Rectangle 38"/>
          <p:cNvSpPr/>
          <p:nvPr/>
        </p:nvSpPr>
        <p:spPr>
          <a:xfrm>
            <a:off x="777240" y="3077304"/>
            <a:ext cx="1169791"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3077304"/>
            <a:ext cx="986911" cy="323556"/>
          </a:xfrm>
          <a:prstGeom prst="rect">
            <a:avLst/>
          </a:prstGeom>
          <a:noFill/>
        </p:spPr>
        <p:txBody>
          <a:bodyPr wrap="square" anchor="ctr">
            <a:spAutoFit/>
          </a:bodyPr>
          <a:lstStyle/>
          <a:p>
            <a:pPr algn="l">
              <a:spcAft>
                <a:spcPts val="400"/>
              </a:spcAft>
            </a:pPr>
            <a:r>
              <a:rPr sz="900" b="1">
                <a:solidFill>
                  <a:srgbClr val="161B26"/>
                </a:solidFill>
                <a:latin typeface="Arial"/>
              </a:rPr>
              <a:t>10:15–11:30</a:t>
            </a:r>
          </a:p>
        </p:txBody>
      </p:sp>
      <p:sp>
        <p:nvSpPr>
          <p:cNvPr id="41" name="Rectangle 40"/>
          <p:cNvSpPr/>
          <p:nvPr/>
        </p:nvSpPr>
        <p:spPr>
          <a:xfrm>
            <a:off x="1947031" y="3077304"/>
            <a:ext cx="638068"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056759" y="3077304"/>
            <a:ext cx="455188" cy="323556"/>
          </a:xfrm>
          <a:prstGeom prst="rect">
            <a:avLst/>
          </a:prstGeom>
          <a:noFill/>
        </p:spPr>
        <p:txBody>
          <a:bodyPr wrap="square" anchor="ctr">
            <a:spAutoFit/>
          </a:bodyPr>
          <a:lstStyle/>
          <a:p>
            <a:pPr algn="l">
              <a:spcAft>
                <a:spcPts val="400"/>
              </a:spcAft>
            </a:pPr>
            <a:r>
              <a:rPr sz="900" b="0">
                <a:solidFill>
                  <a:srgbClr val="161B26"/>
                </a:solidFill>
                <a:latin typeface="Arial"/>
              </a:rPr>
              <a:t>75</a:t>
            </a:r>
          </a:p>
        </p:txBody>
      </p:sp>
      <p:sp>
        <p:nvSpPr>
          <p:cNvPr id="43" name="Rectangle 42"/>
          <p:cNvSpPr/>
          <p:nvPr/>
        </p:nvSpPr>
        <p:spPr>
          <a:xfrm>
            <a:off x="2585099" y="3077304"/>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694827" y="3077304"/>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CR</a:t>
            </a:r>
          </a:p>
        </p:txBody>
      </p:sp>
      <p:sp>
        <p:nvSpPr>
          <p:cNvPr id="45" name="Rectangle 44"/>
          <p:cNvSpPr/>
          <p:nvPr/>
        </p:nvSpPr>
        <p:spPr>
          <a:xfrm>
            <a:off x="3648546" y="3077304"/>
            <a:ext cx="7763164"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58274" y="3077304"/>
            <a:ext cx="7580284" cy="323556"/>
          </a:xfrm>
          <a:prstGeom prst="rect">
            <a:avLst/>
          </a:prstGeom>
          <a:noFill/>
        </p:spPr>
        <p:txBody>
          <a:bodyPr wrap="square" anchor="ctr">
            <a:spAutoFit/>
          </a:bodyPr>
          <a:lstStyle/>
          <a:p>
            <a:pPr algn="l">
              <a:spcAft>
                <a:spcPts val="400"/>
              </a:spcAft>
            </a:pPr>
            <a:r>
              <a:rPr sz="900" b="0">
                <a:solidFill>
                  <a:srgbClr val="161B26"/>
                </a:solidFill>
                <a:latin typeface="Arial"/>
              </a:rPr>
              <a:t>Topic4 / LU5: temporal consistency, tracking, generative video and event analysis (K10)</a:t>
            </a:r>
          </a:p>
        </p:txBody>
      </p:sp>
      <p:sp>
        <p:nvSpPr>
          <p:cNvPr id="47" name="Rectangle 46"/>
          <p:cNvSpPr/>
          <p:nvPr/>
        </p:nvSpPr>
        <p:spPr>
          <a:xfrm>
            <a:off x="777240" y="3400860"/>
            <a:ext cx="1169791"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6968" y="3400860"/>
            <a:ext cx="986911" cy="323556"/>
          </a:xfrm>
          <a:prstGeom prst="rect">
            <a:avLst/>
          </a:prstGeom>
          <a:noFill/>
        </p:spPr>
        <p:txBody>
          <a:bodyPr wrap="square" anchor="ctr">
            <a:spAutoFit/>
          </a:bodyPr>
          <a:lstStyle/>
          <a:p>
            <a:pPr algn="l">
              <a:spcAft>
                <a:spcPts val="400"/>
              </a:spcAft>
            </a:pPr>
            <a:r>
              <a:rPr sz="900" b="1">
                <a:solidFill>
                  <a:srgbClr val="161B26"/>
                </a:solidFill>
                <a:latin typeface="Arial"/>
              </a:rPr>
              <a:t>11:30–12:30</a:t>
            </a:r>
          </a:p>
        </p:txBody>
      </p:sp>
      <p:sp>
        <p:nvSpPr>
          <p:cNvPr id="49" name="Rectangle 48"/>
          <p:cNvSpPr/>
          <p:nvPr/>
        </p:nvSpPr>
        <p:spPr>
          <a:xfrm>
            <a:off x="1947031" y="3400860"/>
            <a:ext cx="638068"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056759" y="3400860"/>
            <a:ext cx="455188" cy="323556"/>
          </a:xfrm>
          <a:prstGeom prst="rect">
            <a:avLst/>
          </a:prstGeom>
          <a:noFill/>
        </p:spPr>
        <p:txBody>
          <a:bodyPr wrap="square" anchor="ctr">
            <a:spAutoFit/>
          </a:bodyPr>
          <a:lstStyle/>
          <a:p>
            <a:pPr algn="l">
              <a:spcAft>
                <a:spcPts val="400"/>
              </a:spcAft>
            </a:pPr>
            <a:r>
              <a:rPr sz="900" b="0">
                <a:solidFill>
                  <a:srgbClr val="161B26"/>
                </a:solidFill>
                <a:latin typeface="Arial"/>
              </a:rPr>
              <a:t>60</a:t>
            </a:r>
          </a:p>
        </p:txBody>
      </p:sp>
      <p:sp>
        <p:nvSpPr>
          <p:cNvPr id="51" name="Rectangle 50"/>
          <p:cNvSpPr/>
          <p:nvPr/>
        </p:nvSpPr>
        <p:spPr>
          <a:xfrm>
            <a:off x="2585099" y="3400860"/>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694827" y="3400860"/>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PP</a:t>
            </a:r>
          </a:p>
        </p:txBody>
      </p:sp>
      <p:sp>
        <p:nvSpPr>
          <p:cNvPr id="53" name="Rectangle 52"/>
          <p:cNvSpPr/>
          <p:nvPr/>
        </p:nvSpPr>
        <p:spPr>
          <a:xfrm>
            <a:off x="3648546" y="3400860"/>
            <a:ext cx="7763164"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758274" y="3400860"/>
            <a:ext cx="7580284" cy="323556"/>
          </a:xfrm>
          <a:prstGeom prst="rect">
            <a:avLst/>
          </a:prstGeom>
          <a:noFill/>
        </p:spPr>
        <p:txBody>
          <a:bodyPr wrap="square" anchor="ctr">
            <a:spAutoFit/>
          </a:bodyPr>
          <a:lstStyle/>
          <a:p>
            <a:pPr algn="l">
              <a:spcAft>
                <a:spcPts val="400"/>
              </a:spcAft>
            </a:pPr>
            <a:r>
              <a:rPr sz="900" b="0">
                <a:solidFill>
                  <a:srgbClr val="161B26"/>
                </a:solidFill>
                <a:latin typeface="Arial"/>
              </a:rPr>
              <a:t>LU5 practical: Lab10 motion, tracking and temporal continuity (A6)</a:t>
            </a:r>
          </a:p>
        </p:txBody>
      </p:sp>
      <p:sp>
        <p:nvSpPr>
          <p:cNvPr id="55" name="Rectangle 54"/>
          <p:cNvSpPr/>
          <p:nvPr/>
        </p:nvSpPr>
        <p:spPr>
          <a:xfrm>
            <a:off x="777240" y="3724416"/>
            <a:ext cx="1169791"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 y="3724416"/>
            <a:ext cx="986911" cy="323556"/>
          </a:xfrm>
          <a:prstGeom prst="rect">
            <a:avLst/>
          </a:prstGeom>
          <a:noFill/>
        </p:spPr>
        <p:txBody>
          <a:bodyPr wrap="square" anchor="ctr">
            <a:spAutoFit/>
          </a:bodyPr>
          <a:lstStyle/>
          <a:p>
            <a:pPr algn="l">
              <a:spcAft>
                <a:spcPts val="400"/>
              </a:spcAft>
            </a:pPr>
            <a:r>
              <a:rPr sz="900" b="1">
                <a:solidFill>
                  <a:srgbClr val="161B26"/>
                </a:solidFill>
                <a:latin typeface="Arial"/>
              </a:rPr>
              <a:t>12:30–13:30</a:t>
            </a:r>
          </a:p>
        </p:txBody>
      </p:sp>
      <p:sp>
        <p:nvSpPr>
          <p:cNvPr id="57" name="Rectangle 56"/>
          <p:cNvSpPr/>
          <p:nvPr/>
        </p:nvSpPr>
        <p:spPr>
          <a:xfrm>
            <a:off x="1947031" y="3724416"/>
            <a:ext cx="638068"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056759" y="3724416"/>
            <a:ext cx="455188" cy="323556"/>
          </a:xfrm>
          <a:prstGeom prst="rect">
            <a:avLst/>
          </a:prstGeom>
          <a:noFill/>
        </p:spPr>
        <p:txBody>
          <a:bodyPr wrap="square" anchor="ctr">
            <a:spAutoFit/>
          </a:bodyPr>
          <a:lstStyle/>
          <a:p>
            <a:pPr algn="l">
              <a:spcAft>
                <a:spcPts val="400"/>
              </a:spcAft>
            </a:pPr>
            <a:r>
              <a:rPr sz="900" b="0">
                <a:solidFill>
                  <a:srgbClr val="161B26"/>
                </a:solidFill>
                <a:latin typeface="Arial"/>
              </a:rPr>
              <a:t>60</a:t>
            </a:r>
          </a:p>
        </p:txBody>
      </p:sp>
      <p:sp>
        <p:nvSpPr>
          <p:cNvPr id="59" name="Rectangle 58"/>
          <p:cNvSpPr/>
          <p:nvPr/>
        </p:nvSpPr>
        <p:spPr>
          <a:xfrm>
            <a:off x="2585099" y="3724416"/>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694827" y="3724416"/>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LUNCH</a:t>
            </a:r>
          </a:p>
        </p:txBody>
      </p:sp>
      <p:sp>
        <p:nvSpPr>
          <p:cNvPr id="61" name="Rectangle 60"/>
          <p:cNvSpPr/>
          <p:nvPr/>
        </p:nvSpPr>
        <p:spPr>
          <a:xfrm>
            <a:off x="3648546" y="3724416"/>
            <a:ext cx="7763164"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758274" y="3724416"/>
            <a:ext cx="7580284" cy="323556"/>
          </a:xfrm>
          <a:prstGeom prst="rect">
            <a:avLst/>
          </a:prstGeom>
          <a:noFill/>
        </p:spPr>
        <p:txBody>
          <a:bodyPr wrap="square" anchor="ctr">
            <a:spAutoFit/>
          </a:bodyPr>
          <a:lstStyle/>
          <a:p>
            <a:pPr algn="l">
              <a:spcAft>
                <a:spcPts val="400"/>
              </a:spcAft>
            </a:pPr>
            <a:r>
              <a:rPr sz="900" b="0">
                <a:solidFill>
                  <a:srgbClr val="161B26"/>
                </a:solidFill>
                <a:latin typeface="Arial"/>
              </a:rPr>
              <a:t>Lunch; excluded</a:t>
            </a:r>
          </a:p>
        </p:txBody>
      </p:sp>
      <p:sp>
        <p:nvSpPr>
          <p:cNvPr id="63" name="Rectangle 62"/>
          <p:cNvSpPr/>
          <p:nvPr/>
        </p:nvSpPr>
        <p:spPr>
          <a:xfrm>
            <a:off x="777240" y="4047972"/>
            <a:ext cx="1169791"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86968" y="4047972"/>
            <a:ext cx="986911" cy="323556"/>
          </a:xfrm>
          <a:prstGeom prst="rect">
            <a:avLst/>
          </a:prstGeom>
          <a:noFill/>
        </p:spPr>
        <p:txBody>
          <a:bodyPr wrap="square" anchor="ctr">
            <a:spAutoFit/>
          </a:bodyPr>
          <a:lstStyle/>
          <a:p>
            <a:pPr algn="l">
              <a:spcAft>
                <a:spcPts val="400"/>
              </a:spcAft>
            </a:pPr>
            <a:r>
              <a:rPr sz="900" b="1">
                <a:solidFill>
                  <a:srgbClr val="161B26"/>
                </a:solidFill>
                <a:latin typeface="Arial"/>
              </a:rPr>
              <a:t>13:30–14:45</a:t>
            </a:r>
          </a:p>
        </p:txBody>
      </p:sp>
      <p:sp>
        <p:nvSpPr>
          <p:cNvPr id="65" name="Rectangle 64"/>
          <p:cNvSpPr/>
          <p:nvPr/>
        </p:nvSpPr>
        <p:spPr>
          <a:xfrm>
            <a:off x="1947031" y="4047972"/>
            <a:ext cx="638068"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056759" y="4047972"/>
            <a:ext cx="455188" cy="323556"/>
          </a:xfrm>
          <a:prstGeom prst="rect">
            <a:avLst/>
          </a:prstGeom>
          <a:noFill/>
        </p:spPr>
        <p:txBody>
          <a:bodyPr wrap="square" anchor="ctr">
            <a:spAutoFit/>
          </a:bodyPr>
          <a:lstStyle/>
          <a:p>
            <a:pPr algn="l">
              <a:spcAft>
                <a:spcPts val="400"/>
              </a:spcAft>
            </a:pPr>
            <a:r>
              <a:rPr sz="900" b="0">
                <a:solidFill>
                  <a:srgbClr val="161B26"/>
                </a:solidFill>
                <a:latin typeface="Arial"/>
              </a:rPr>
              <a:t>75</a:t>
            </a:r>
          </a:p>
        </p:txBody>
      </p:sp>
      <p:sp>
        <p:nvSpPr>
          <p:cNvPr id="67" name="Rectangle 66"/>
          <p:cNvSpPr/>
          <p:nvPr/>
        </p:nvSpPr>
        <p:spPr>
          <a:xfrm>
            <a:off x="2585099" y="4047972"/>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694827" y="4047972"/>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CR</a:t>
            </a:r>
          </a:p>
        </p:txBody>
      </p:sp>
      <p:sp>
        <p:nvSpPr>
          <p:cNvPr id="69" name="Rectangle 68"/>
          <p:cNvSpPr/>
          <p:nvPr/>
        </p:nvSpPr>
        <p:spPr>
          <a:xfrm>
            <a:off x="3648546" y="4047972"/>
            <a:ext cx="7763164"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758274" y="4047972"/>
            <a:ext cx="7580284" cy="323556"/>
          </a:xfrm>
          <a:prstGeom prst="rect">
            <a:avLst/>
          </a:prstGeom>
          <a:noFill/>
        </p:spPr>
        <p:txBody>
          <a:bodyPr wrap="square" anchor="ctr">
            <a:spAutoFit/>
          </a:bodyPr>
          <a:lstStyle/>
          <a:p>
            <a:pPr algn="l">
              <a:spcAft>
                <a:spcPts val="400"/>
              </a:spcAft>
            </a:pPr>
            <a:r>
              <a:rPr sz="900" b="0">
                <a:solidFill>
                  <a:srgbClr val="161B26"/>
                </a:solidFill>
                <a:latin typeface="Arial"/>
              </a:rPr>
              <a:t>Topic5 / LU6: architectures, protocols and measured deployment trade-offs (K11,K12,K13)</a:t>
            </a:r>
          </a:p>
        </p:txBody>
      </p:sp>
      <p:sp>
        <p:nvSpPr>
          <p:cNvPr id="71" name="Rectangle 70"/>
          <p:cNvSpPr/>
          <p:nvPr/>
        </p:nvSpPr>
        <p:spPr>
          <a:xfrm>
            <a:off x="777240" y="4371528"/>
            <a:ext cx="1169791"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86968" y="4371528"/>
            <a:ext cx="986911" cy="323556"/>
          </a:xfrm>
          <a:prstGeom prst="rect">
            <a:avLst/>
          </a:prstGeom>
          <a:noFill/>
        </p:spPr>
        <p:txBody>
          <a:bodyPr wrap="square" anchor="ctr">
            <a:spAutoFit/>
          </a:bodyPr>
          <a:lstStyle/>
          <a:p>
            <a:pPr algn="l">
              <a:spcAft>
                <a:spcPts val="400"/>
              </a:spcAft>
            </a:pPr>
            <a:r>
              <a:rPr sz="900" b="1">
                <a:solidFill>
                  <a:srgbClr val="161B26"/>
                </a:solidFill>
                <a:latin typeface="Arial"/>
              </a:rPr>
              <a:t>14:45–15:00</a:t>
            </a:r>
          </a:p>
        </p:txBody>
      </p:sp>
      <p:sp>
        <p:nvSpPr>
          <p:cNvPr id="73" name="Rectangle 72"/>
          <p:cNvSpPr/>
          <p:nvPr/>
        </p:nvSpPr>
        <p:spPr>
          <a:xfrm>
            <a:off x="1947031" y="4371528"/>
            <a:ext cx="638068"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056759" y="4371528"/>
            <a:ext cx="455188" cy="323556"/>
          </a:xfrm>
          <a:prstGeom prst="rect">
            <a:avLst/>
          </a:prstGeom>
          <a:noFill/>
        </p:spPr>
        <p:txBody>
          <a:bodyPr wrap="square" anchor="ctr">
            <a:spAutoFit/>
          </a:bodyPr>
          <a:lstStyle/>
          <a:p>
            <a:pPr algn="l">
              <a:spcAft>
                <a:spcPts val="400"/>
              </a:spcAft>
            </a:pPr>
            <a:r>
              <a:rPr sz="900" b="0">
                <a:solidFill>
                  <a:srgbClr val="161B26"/>
                </a:solidFill>
                <a:latin typeface="Arial"/>
              </a:rPr>
              <a:t>15</a:t>
            </a:r>
          </a:p>
        </p:txBody>
      </p:sp>
      <p:sp>
        <p:nvSpPr>
          <p:cNvPr id="75" name="Rectangle 74"/>
          <p:cNvSpPr/>
          <p:nvPr/>
        </p:nvSpPr>
        <p:spPr>
          <a:xfrm>
            <a:off x="2585099" y="4371528"/>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694827" y="4371528"/>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BREAK</a:t>
            </a:r>
          </a:p>
        </p:txBody>
      </p:sp>
      <p:sp>
        <p:nvSpPr>
          <p:cNvPr id="77" name="Rectangle 76"/>
          <p:cNvSpPr/>
          <p:nvPr/>
        </p:nvSpPr>
        <p:spPr>
          <a:xfrm>
            <a:off x="3648546" y="4371528"/>
            <a:ext cx="7763164"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3758274" y="4371528"/>
            <a:ext cx="7580284" cy="323556"/>
          </a:xfrm>
          <a:prstGeom prst="rect">
            <a:avLst/>
          </a:prstGeom>
          <a:noFill/>
        </p:spPr>
        <p:txBody>
          <a:bodyPr wrap="square" anchor="ctr">
            <a:spAutoFit/>
          </a:bodyPr>
          <a:lstStyle/>
          <a:p>
            <a:pPr algn="l">
              <a:spcAft>
                <a:spcPts val="400"/>
              </a:spcAft>
            </a:pPr>
            <a:r>
              <a:rPr sz="900" b="0">
                <a:solidFill>
                  <a:srgbClr val="161B26"/>
                </a:solidFill>
                <a:latin typeface="Arial"/>
              </a:rPr>
              <a:t>Tea break; excluded</a:t>
            </a:r>
          </a:p>
        </p:txBody>
      </p:sp>
      <p:sp>
        <p:nvSpPr>
          <p:cNvPr id="79" name="Rectangle 78"/>
          <p:cNvSpPr/>
          <p:nvPr/>
        </p:nvSpPr>
        <p:spPr>
          <a:xfrm>
            <a:off x="777240" y="4695084"/>
            <a:ext cx="1169791"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86968" y="4695084"/>
            <a:ext cx="986911" cy="323556"/>
          </a:xfrm>
          <a:prstGeom prst="rect">
            <a:avLst/>
          </a:prstGeom>
          <a:noFill/>
        </p:spPr>
        <p:txBody>
          <a:bodyPr wrap="square" anchor="ctr">
            <a:spAutoFit/>
          </a:bodyPr>
          <a:lstStyle/>
          <a:p>
            <a:pPr algn="l">
              <a:spcAft>
                <a:spcPts val="400"/>
              </a:spcAft>
            </a:pPr>
            <a:r>
              <a:rPr sz="900" b="1">
                <a:solidFill>
                  <a:srgbClr val="161B26"/>
                </a:solidFill>
                <a:latin typeface="Arial"/>
              </a:rPr>
              <a:t>15:00–16:00</a:t>
            </a:r>
          </a:p>
        </p:txBody>
      </p:sp>
      <p:sp>
        <p:nvSpPr>
          <p:cNvPr id="81" name="Rectangle 80"/>
          <p:cNvSpPr/>
          <p:nvPr/>
        </p:nvSpPr>
        <p:spPr>
          <a:xfrm>
            <a:off x="1947031" y="4695084"/>
            <a:ext cx="638068"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056759" y="4695084"/>
            <a:ext cx="455188" cy="323556"/>
          </a:xfrm>
          <a:prstGeom prst="rect">
            <a:avLst/>
          </a:prstGeom>
          <a:noFill/>
        </p:spPr>
        <p:txBody>
          <a:bodyPr wrap="square" anchor="ctr">
            <a:spAutoFit/>
          </a:bodyPr>
          <a:lstStyle/>
          <a:p>
            <a:pPr algn="l">
              <a:spcAft>
                <a:spcPts val="400"/>
              </a:spcAft>
            </a:pPr>
            <a:r>
              <a:rPr sz="900" b="0">
                <a:solidFill>
                  <a:srgbClr val="161B26"/>
                </a:solidFill>
                <a:latin typeface="Arial"/>
              </a:rPr>
              <a:t>60</a:t>
            </a:r>
          </a:p>
        </p:txBody>
      </p:sp>
      <p:sp>
        <p:nvSpPr>
          <p:cNvPr id="83" name="Rectangle 82"/>
          <p:cNvSpPr/>
          <p:nvPr/>
        </p:nvSpPr>
        <p:spPr>
          <a:xfrm>
            <a:off x="2585099" y="4695084"/>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694827" y="4695084"/>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PP</a:t>
            </a:r>
          </a:p>
        </p:txBody>
      </p:sp>
      <p:sp>
        <p:nvSpPr>
          <p:cNvPr id="85" name="Rectangle 84"/>
          <p:cNvSpPr/>
          <p:nvPr/>
        </p:nvSpPr>
        <p:spPr>
          <a:xfrm>
            <a:off x="3648546" y="4695084"/>
            <a:ext cx="7763164"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3758274" y="4695084"/>
            <a:ext cx="7580284" cy="323556"/>
          </a:xfrm>
          <a:prstGeom prst="rect">
            <a:avLst/>
          </a:prstGeom>
          <a:noFill/>
        </p:spPr>
        <p:txBody>
          <a:bodyPr wrap="square" anchor="ctr">
            <a:spAutoFit/>
          </a:bodyPr>
          <a:lstStyle/>
          <a:p>
            <a:pPr algn="l">
              <a:spcAft>
                <a:spcPts val="400"/>
              </a:spcAft>
            </a:pPr>
            <a:r>
              <a:rPr sz="900" b="0">
                <a:solidFill>
                  <a:srgbClr val="161B26"/>
                </a:solidFill>
                <a:latin typeface="Arial"/>
              </a:rPr>
              <a:t>LU6 practical: Lab12 cloud-edge architecture and evaluation (A7,A8)</a:t>
            </a:r>
          </a:p>
        </p:txBody>
      </p:sp>
      <p:sp>
        <p:nvSpPr>
          <p:cNvPr id="87" name="Rectangle 86"/>
          <p:cNvSpPr/>
          <p:nvPr/>
        </p:nvSpPr>
        <p:spPr>
          <a:xfrm>
            <a:off x="777240" y="5018640"/>
            <a:ext cx="1169791"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86968" y="5018640"/>
            <a:ext cx="986911" cy="323556"/>
          </a:xfrm>
          <a:prstGeom prst="rect">
            <a:avLst/>
          </a:prstGeom>
          <a:noFill/>
        </p:spPr>
        <p:txBody>
          <a:bodyPr wrap="square" anchor="ctr">
            <a:spAutoFit/>
          </a:bodyPr>
          <a:lstStyle/>
          <a:p>
            <a:pPr algn="l">
              <a:spcAft>
                <a:spcPts val="400"/>
              </a:spcAft>
            </a:pPr>
            <a:r>
              <a:rPr sz="900" b="1">
                <a:solidFill>
                  <a:srgbClr val="161B26"/>
                </a:solidFill>
                <a:latin typeface="Arial"/>
              </a:rPr>
              <a:t>16:00–16:10</a:t>
            </a:r>
          </a:p>
        </p:txBody>
      </p:sp>
      <p:sp>
        <p:nvSpPr>
          <p:cNvPr id="89" name="Rectangle 88"/>
          <p:cNvSpPr/>
          <p:nvPr/>
        </p:nvSpPr>
        <p:spPr>
          <a:xfrm>
            <a:off x="1947031" y="5018640"/>
            <a:ext cx="638068"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2056759" y="5018640"/>
            <a:ext cx="455188" cy="323556"/>
          </a:xfrm>
          <a:prstGeom prst="rect">
            <a:avLst/>
          </a:prstGeom>
          <a:noFill/>
        </p:spPr>
        <p:txBody>
          <a:bodyPr wrap="square" anchor="ctr">
            <a:spAutoFit/>
          </a:bodyPr>
          <a:lstStyle/>
          <a:p>
            <a:pPr algn="l">
              <a:spcAft>
                <a:spcPts val="400"/>
              </a:spcAft>
            </a:pPr>
            <a:r>
              <a:rPr sz="900" b="0">
                <a:solidFill>
                  <a:srgbClr val="161B26"/>
                </a:solidFill>
                <a:latin typeface="Arial"/>
              </a:rPr>
              <a:t>10</a:t>
            </a:r>
          </a:p>
        </p:txBody>
      </p:sp>
      <p:sp>
        <p:nvSpPr>
          <p:cNvPr id="91" name="Rectangle 90"/>
          <p:cNvSpPr/>
          <p:nvPr/>
        </p:nvSpPr>
        <p:spPr>
          <a:xfrm>
            <a:off x="2585099" y="5018640"/>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694827" y="5018640"/>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ADMIN</a:t>
            </a:r>
          </a:p>
        </p:txBody>
      </p:sp>
      <p:sp>
        <p:nvSpPr>
          <p:cNvPr id="93" name="Rectangle 92"/>
          <p:cNvSpPr/>
          <p:nvPr/>
        </p:nvSpPr>
        <p:spPr>
          <a:xfrm>
            <a:off x="3648546" y="5018640"/>
            <a:ext cx="7763164"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3758274" y="5018640"/>
            <a:ext cx="7580284" cy="323556"/>
          </a:xfrm>
          <a:prstGeom prst="rect">
            <a:avLst/>
          </a:prstGeom>
          <a:noFill/>
        </p:spPr>
        <p:txBody>
          <a:bodyPr wrap="square" anchor="ctr">
            <a:spAutoFit/>
          </a:bodyPr>
          <a:lstStyle/>
          <a:p>
            <a:pPr algn="l">
              <a:spcAft>
                <a:spcPts val="400"/>
              </a:spcAft>
            </a:pPr>
            <a:r>
              <a:rPr sz="900" b="0">
                <a:solidFill>
                  <a:srgbClr val="161B26"/>
                </a:solidFill>
                <a:latin typeface="Arial"/>
              </a:rPr>
              <a:t>Assessment briefing and attendance; outside programme minutes</a:t>
            </a:r>
          </a:p>
        </p:txBody>
      </p:sp>
      <p:sp>
        <p:nvSpPr>
          <p:cNvPr id="95" name="Rectangle 94"/>
          <p:cNvSpPr/>
          <p:nvPr/>
        </p:nvSpPr>
        <p:spPr>
          <a:xfrm>
            <a:off x="777240" y="5342196"/>
            <a:ext cx="1169791"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86968" y="5342196"/>
            <a:ext cx="986911" cy="323556"/>
          </a:xfrm>
          <a:prstGeom prst="rect">
            <a:avLst/>
          </a:prstGeom>
          <a:noFill/>
        </p:spPr>
        <p:txBody>
          <a:bodyPr wrap="square" anchor="ctr">
            <a:spAutoFit/>
          </a:bodyPr>
          <a:lstStyle/>
          <a:p>
            <a:pPr algn="l">
              <a:spcAft>
                <a:spcPts val="400"/>
              </a:spcAft>
            </a:pPr>
            <a:r>
              <a:rPr sz="900" b="1">
                <a:solidFill>
                  <a:srgbClr val="161B26"/>
                </a:solidFill>
                <a:latin typeface="Arial"/>
              </a:rPr>
              <a:t>16:10–17:10</a:t>
            </a:r>
          </a:p>
        </p:txBody>
      </p:sp>
      <p:sp>
        <p:nvSpPr>
          <p:cNvPr id="97" name="Rectangle 96"/>
          <p:cNvSpPr/>
          <p:nvPr/>
        </p:nvSpPr>
        <p:spPr>
          <a:xfrm>
            <a:off x="1947031" y="5342196"/>
            <a:ext cx="638068"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2056759" y="5342196"/>
            <a:ext cx="455188" cy="323556"/>
          </a:xfrm>
          <a:prstGeom prst="rect">
            <a:avLst/>
          </a:prstGeom>
          <a:noFill/>
        </p:spPr>
        <p:txBody>
          <a:bodyPr wrap="square" anchor="ctr">
            <a:spAutoFit/>
          </a:bodyPr>
          <a:lstStyle/>
          <a:p>
            <a:pPr algn="l">
              <a:spcAft>
                <a:spcPts val="400"/>
              </a:spcAft>
            </a:pPr>
            <a:r>
              <a:rPr sz="900" b="0">
                <a:solidFill>
                  <a:srgbClr val="161B26"/>
                </a:solidFill>
                <a:latin typeface="Arial"/>
              </a:rPr>
              <a:t>60</a:t>
            </a:r>
          </a:p>
        </p:txBody>
      </p:sp>
      <p:sp>
        <p:nvSpPr>
          <p:cNvPr id="99" name="Rectangle 98"/>
          <p:cNvSpPr/>
          <p:nvPr/>
        </p:nvSpPr>
        <p:spPr>
          <a:xfrm>
            <a:off x="2585099" y="5342196"/>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2694827" y="5342196"/>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AS</a:t>
            </a:r>
          </a:p>
        </p:txBody>
      </p:sp>
      <p:sp>
        <p:nvSpPr>
          <p:cNvPr id="101" name="Rectangle 100"/>
          <p:cNvSpPr/>
          <p:nvPr/>
        </p:nvSpPr>
        <p:spPr>
          <a:xfrm>
            <a:off x="3648546" y="5342196"/>
            <a:ext cx="7763164"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3758274" y="5342196"/>
            <a:ext cx="7580284" cy="323556"/>
          </a:xfrm>
          <a:prstGeom prst="rect">
            <a:avLst/>
          </a:prstGeom>
          <a:noFill/>
        </p:spPr>
        <p:txBody>
          <a:bodyPr wrap="square" anchor="ctr">
            <a:spAutoFit/>
          </a:bodyPr>
          <a:lstStyle/>
          <a:p>
            <a:pPr algn="l">
              <a:spcAft>
                <a:spcPts val="400"/>
              </a:spcAft>
            </a:pPr>
            <a:r>
              <a:rPr sz="900" b="0">
                <a:solidFill>
                  <a:srgbClr val="161B26"/>
                </a:solidFill>
                <a:latin typeface="Arial"/>
              </a:rPr>
              <a:t>Written Assessment: 13 open-ended questions, K1-K13, individual/open book</a:t>
            </a:r>
          </a:p>
        </p:txBody>
      </p:sp>
      <p:sp>
        <p:nvSpPr>
          <p:cNvPr id="103" name="Rectangle 102"/>
          <p:cNvSpPr/>
          <p:nvPr/>
        </p:nvSpPr>
        <p:spPr>
          <a:xfrm>
            <a:off x="777240" y="5665752"/>
            <a:ext cx="1169791"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886968" y="5665752"/>
            <a:ext cx="986911" cy="323556"/>
          </a:xfrm>
          <a:prstGeom prst="rect">
            <a:avLst/>
          </a:prstGeom>
          <a:noFill/>
        </p:spPr>
        <p:txBody>
          <a:bodyPr wrap="square" anchor="ctr">
            <a:spAutoFit/>
          </a:bodyPr>
          <a:lstStyle/>
          <a:p>
            <a:pPr algn="l">
              <a:spcAft>
                <a:spcPts val="400"/>
              </a:spcAft>
            </a:pPr>
            <a:r>
              <a:rPr sz="900" b="1">
                <a:solidFill>
                  <a:srgbClr val="161B26"/>
                </a:solidFill>
                <a:latin typeface="Arial"/>
              </a:rPr>
              <a:t>17:10–18:40</a:t>
            </a:r>
          </a:p>
        </p:txBody>
      </p:sp>
      <p:sp>
        <p:nvSpPr>
          <p:cNvPr id="105" name="Rectangle 104"/>
          <p:cNvSpPr/>
          <p:nvPr/>
        </p:nvSpPr>
        <p:spPr>
          <a:xfrm>
            <a:off x="1947031" y="5665752"/>
            <a:ext cx="638068"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056759" y="5665752"/>
            <a:ext cx="455188" cy="323556"/>
          </a:xfrm>
          <a:prstGeom prst="rect">
            <a:avLst/>
          </a:prstGeom>
          <a:noFill/>
        </p:spPr>
        <p:txBody>
          <a:bodyPr wrap="square" anchor="ctr">
            <a:spAutoFit/>
          </a:bodyPr>
          <a:lstStyle/>
          <a:p>
            <a:pPr algn="l">
              <a:spcAft>
                <a:spcPts val="400"/>
              </a:spcAft>
            </a:pPr>
            <a:r>
              <a:rPr sz="900" b="0">
                <a:solidFill>
                  <a:srgbClr val="161B26"/>
                </a:solidFill>
                <a:latin typeface="Arial"/>
              </a:rPr>
              <a:t>90</a:t>
            </a:r>
          </a:p>
        </p:txBody>
      </p:sp>
      <p:sp>
        <p:nvSpPr>
          <p:cNvPr id="107" name="Rectangle 106"/>
          <p:cNvSpPr/>
          <p:nvPr/>
        </p:nvSpPr>
        <p:spPr>
          <a:xfrm>
            <a:off x="2585099" y="5665752"/>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2694827" y="5665752"/>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AS</a:t>
            </a:r>
          </a:p>
        </p:txBody>
      </p:sp>
      <p:sp>
        <p:nvSpPr>
          <p:cNvPr id="109" name="Rectangle 108"/>
          <p:cNvSpPr/>
          <p:nvPr/>
        </p:nvSpPr>
        <p:spPr>
          <a:xfrm>
            <a:off x="3648546" y="5665752"/>
            <a:ext cx="7763164"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3758274" y="5665752"/>
            <a:ext cx="7580284" cy="323556"/>
          </a:xfrm>
          <a:prstGeom prst="rect">
            <a:avLst/>
          </a:prstGeom>
          <a:noFill/>
        </p:spPr>
        <p:txBody>
          <a:bodyPr wrap="square" anchor="ctr">
            <a:spAutoFit/>
          </a:bodyPr>
          <a:lstStyle/>
          <a:p>
            <a:pPr algn="l">
              <a:spcAft>
                <a:spcPts val="400"/>
              </a:spcAft>
            </a:pPr>
            <a:r>
              <a:rPr sz="900" b="0">
                <a:solidFill>
                  <a:srgbClr val="161B26"/>
                </a:solidFill>
                <a:latin typeface="Arial"/>
              </a:rPr>
              <a:t>Practical Performance: five tasks, A1-A8, individual/open book; submission and sign-off</a:t>
            </a:r>
          </a:p>
        </p:txBody>
      </p:sp>
      <p:sp>
        <p:nvSpPr>
          <p:cNvPr id="111" name="TextBox 110"/>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Programme minutes on Day 2: 480 (classroom facilitation + practical + assessment). Lunch, tea breaks and administration are additional, non-instructional time.</a:t>
            </a:r>
          </a:p>
        </p:txBody>
      </p:sp>
      <p:sp>
        <p:nvSpPr>
          <p:cNvPr id="112" name="TextBox 1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113" name="TextBox 1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4" name="TextBox 1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APPROVED COURSE PROPOSAL CA-WSQ-2020-013290 · PART 4 SECTION 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Programme Hours — 16 Hours Reconciled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450 min classroom</a:t>
            </a:r>
          </a:p>
          <a:p>
            <a:pPr algn="l">
              <a:spcAft>
                <a:spcPts val="200"/>
              </a:spcAft>
            </a:pPr>
            <a:r>
              <a:rPr sz="1100" b="0">
                <a:solidFill>
                  <a:srgbClr val="161B26"/>
                </a:solidFill>
                <a:latin typeface="Arial"/>
              </a:rPr>
              <a:t>7.5 hours across the five topics, 75 min per approved Learning Unit.</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360 min practical</a:t>
            </a:r>
          </a:p>
          <a:p>
            <a:pPr algn="l">
              <a:spcAft>
                <a:spcPts val="200"/>
              </a:spcAft>
            </a:pPr>
            <a:r>
              <a:rPr sz="1100" b="0">
                <a:solidFill>
                  <a:srgbClr val="161B26"/>
                </a:solidFill>
                <a:latin typeface="Arial"/>
              </a:rPr>
              <a:t>6 hours across 12 labs: 0 / 60 / 60 / 180 / 60 by topic.</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150 min assessment</a:t>
            </a:r>
          </a:p>
          <a:p>
            <a:pPr algn="l">
              <a:spcAft>
                <a:spcPts val="200"/>
              </a:spcAft>
            </a:pPr>
            <a:r>
              <a:rPr sz="1100" b="0">
                <a:solidFill>
                  <a:srgbClr val="161B26"/>
                </a:solidFill>
                <a:latin typeface="Arial"/>
              </a:rPr>
              <a:t>WA 60 min + PP 90 min = 2.5 h, per the registered Assessment Plan.</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Breaks are additional</a:t>
            </a:r>
          </a:p>
          <a:p>
            <a:pPr algn="l">
              <a:spcAft>
                <a:spcPts val="200"/>
              </a:spcAft>
            </a:pPr>
            <a:r>
              <a:rPr sz="1100" b="0">
                <a:solidFill>
                  <a:srgbClr val="161B26"/>
                </a:solidFill>
                <a:latin typeface="Arial"/>
              </a:rPr>
              <a:t>1-hour lunch, two 15-minute tea breaks and the administration block sit outside the 960 programme minutes.</a:t>
            </a:r>
          </a:p>
        </p:txBody>
      </p:sp>
      <p:sp>
        <p:nvSpPr>
          <p:cNvPr id="20" name="Rectangle 19"/>
          <p:cNvSpPr/>
          <p:nvPr/>
        </p:nvSpPr>
        <p:spPr>
          <a:xfrm>
            <a:off x="777240" y="5925312"/>
            <a:ext cx="1417320"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MEASURED</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Column totals taken from the approved course proposal: 7.5 h classroom facilitation + 6 h practical + 2.5 h assessment = 16 h (960 min). The Lesson Plan schedule sums to exactly these figures.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EVERY FOLDER IS INDEPENDENTLY USABLE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12 Hands-On Labs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31723" cy="3235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348843" cy="323556"/>
          </a:xfrm>
          <a:prstGeom prst="rect">
            <a:avLst/>
          </a:prstGeom>
          <a:noFill/>
        </p:spPr>
        <p:txBody>
          <a:bodyPr wrap="square" anchor="ctr">
            <a:spAutoFit/>
          </a:bodyPr>
          <a:lstStyle/>
          <a:p>
            <a:pPr algn="l">
              <a:spcAft>
                <a:spcPts val="400"/>
              </a:spcAft>
            </a:pPr>
            <a:r>
              <a:rPr sz="1000" b="1">
                <a:solidFill>
                  <a:srgbClr val="FFFFFF"/>
                </a:solidFill>
                <a:latin typeface="Arial"/>
              </a:rPr>
              <a:t>Lab</a:t>
            </a:r>
          </a:p>
        </p:txBody>
      </p:sp>
      <p:sp>
        <p:nvSpPr>
          <p:cNvPr id="9" name="Rectangle 8"/>
          <p:cNvSpPr/>
          <p:nvPr/>
        </p:nvSpPr>
        <p:spPr>
          <a:xfrm>
            <a:off x="1308963" y="1783080"/>
            <a:ext cx="5423580" cy="3235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18691" y="1783080"/>
            <a:ext cx="5240700" cy="323556"/>
          </a:xfrm>
          <a:prstGeom prst="rect">
            <a:avLst/>
          </a:prstGeom>
          <a:noFill/>
        </p:spPr>
        <p:txBody>
          <a:bodyPr wrap="square" anchor="ctr">
            <a:spAutoFit/>
          </a:bodyPr>
          <a:lstStyle/>
          <a:p>
            <a:pPr algn="l">
              <a:spcAft>
                <a:spcPts val="400"/>
              </a:spcAft>
            </a:pPr>
            <a:r>
              <a:rPr sz="1000" b="1">
                <a:solidFill>
                  <a:srgbClr val="FFFFFF"/>
                </a:solidFill>
                <a:latin typeface="Arial"/>
              </a:rPr>
              <a:t>Title</a:t>
            </a:r>
          </a:p>
        </p:txBody>
      </p:sp>
      <p:sp>
        <p:nvSpPr>
          <p:cNvPr id="11" name="Rectangle 10"/>
          <p:cNvSpPr/>
          <p:nvPr/>
        </p:nvSpPr>
        <p:spPr>
          <a:xfrm>
            <a:off x="6732543" y="1783080"/>
            <a:ext cx="744413" cy="3235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2271" y="1783080"/>
            <a:ext cx="561533" cy="323556"/>
          </a:xfrm>
          <a:prstGeom prst="rect">
            <a:avLst/>
          </a:prstGeom>
          <a:noFill/>
        </p:spPr>
        <p:txBody>
          <a:bodyPr wrap="square" anchor="ctr">
            <a:spAutoFit/>
          </a:bodyPr>
          <a:lstStyle/>
          <a:p>
            <a:pPr algn="l">
              <a:spcAft>
                <a:spcPts val="400"/>
              </a:spcAft>
            </a:pPr>
            <a:r>
              <a:rPr sz="1000" b="1">
                <a:solidFill>
                  <a:srgbClr val="FFFFFF"/>
                </a:solidFill>
                <a:latin typeface="Arial"/>
              </a:rPr>
              <a:t>Topic</a:t>
            </a:r>
          </a:p>
        </p:txBody>
      </p:sp>
      <p:sp>
        <p:nvSpPr>
          <p:cNvPr id="13" name="Rectangle 12"/>
          <p:cNvSpPr/>
          <p:nvPr/>
        </p:nvSpPr>
        <p:spPr>
          <a:xfrm>
            <a:off x="7476956" y="1783080"/>
            <a:ext cx="1063447" cy="3235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6684" y="1783080"/>
            <a:ext cx="880567" cy="323556"/>
          </a:xfrm>
          <a:prstGeom prst="rect">
            <a:avLst/>
          </a:prstGeom>
          <a:noFill/>
        </p:spPr>
        <p:txBody>
          <a:bodyPr wrap="square" anchor="ctr">
            <a:spAutoFit/>
          </a:bodyPr>
          <a:lstStyle/>
          <a:p>
            <a:pPr algn="l">
              <a:spcAft>
                <a:spcPts val="400"/>
              </a:spcAft>
            </a:pPr>
            <a:r>
              <a:rPr sz="1000" b="1">
                <a:solidFill>
                  <a:srgbClr val="FFFFFF"/>
                </a:solidFill>
                <a:latin typeface="Arial"/>
              </a:rPr>
              <a:t>A</a:t>
            </a:r>
          </a:p>
        </p:txBody>
      </p:sp>
      <p:sp>
        <p:nvSpPr>
          <p:cNvPr id="15" name="Rectangle 14"/>
          <p:cNvSpPr/>
          <p:nvPr/>
        </p:nvSpPr>
        <p:spPr>
          <a:xfrm>
            <a:off x="8540403" y="1783080"/>
            <a:ext cx="1807860" cy="3235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50131" y="1783080"/>
            <a:ext cx="1624980" cy="323556"/>
          </a:xfrm>
          <a:prstGeom prst="rect">
            <a:avLst/>
          </a:prstGeom>
          <a:noFill/>
        </p:spPr>
        <p:txBody>
          <a:bodyPr wrap="square" anchor="ctr">
            <a:spAutoFit/>
          </a:bodyPr>
          <a:lstStyle/>
          <a:p>
            <a:pPr algn="l">
              <a:spcAft>
                <a:spcPts val="400"/>
              </a:spcAft>
            </a:pPr>
            <a:r>
              <a:rPr sz="1000" b="1">
                <a:solidFill>
                  <a:srgbClr val="FFFFFF"/>
                </a:solidFill>
                <a:latin typeface="Arial"/>
              </a:rPr>
              <a:t>K</a:t>
            </a:r>
          </a:p>
        </p:txBody>
      </p:sp>
      <p:sp>
        <p:nvSpPr>
          <p:cNvPr id="17" name="Rectangle 16"/>
          <p:cNvSpPr/>
          <p:nvPr/>
        </p:nvSpPr>
        <p:spPr>
          <a:xfrm>
            <a:off x="10348263" y="1783080"/>
            <a:ext cx="1063447" cy="3235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57991" y="1783080"/>
            <a:ext cx="880567" cy="323556"/>
          </a:xfrm>
          <a:prstGeom prst="rect">
            <a:avLst/>
          </a:prstGeom>
          <a:noFill/>
        </p:spPr>
        <p:txBody>
          <a:bodyPr wrap="square" anchor="ctr">
            <a:spAutoFit/>
          </a:bodyPr>
          <a:lstStyle/>
          <a:p>
            <a:pPr algn="l">
              <a:spcAft>
                <a:spcPts val="400"/>
              </a:spcAft>
            </a:pPr>
            <a:r>
              <a:rPr sz="1000" b="1">
                <a:solidFill>
                  <a:srgbClr val="FFFFFF"/>
                </a:solidFill>
                <a:latin typeface="Arial"/>
              </a:rPr>
              <a:t>In class</a:t>
            </a:r>
          </a:p>
        </p:txBody>
      </p:sp>
      <p:sp>
        <p:nvSpPr>
          <p:cNvPr id="19" name="Rectangle 18"/>
          <p:cNvSpPr/>
          <p:nvPr/>
        </p:nvSpPr>
        <p:spPr>
          <a:xfrm>
            <a:off x="777240" y="2106636"/>
            <a:ext cx="53172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106636"/>
            <a:ext cx="348843" cy="323556"/>
          </a:xfrm>
          <a:prstGeom prst="rect">
            <a:avLst/>
          </a:prstGeom>
          <a:noFill/>
        </p:spPr>
        <p:txBody>
          <a:bodyPr wrap="square" anchor="ctr">
            <a:spAutoFit/>
          </a:bodyPr>
          <a:lstStyle/>
          <a:p>
            <a:pPr algn="l">
              <a:spcAft>
                <a:spcPts val="400"/>
              </a:spcAft>
            </a:pPr>
            <a:r>
              <a:rPr sz="900" b="1">
                <a:solidFill>
                  <a:srgbClr val="161B26"/>
                </a:solidFill>
                <a:latin typeface="Arial"/>
              </a:rPr>
              <a:t>01</a:t>
            </a:r>
          </a:p>
        </p:txBody>
      </p:sp>
      <p:sp>
        <p:nvSpPr>
          <p:cNvPr id="21" name="Rectangle 20"/>
          <p:cNvSpPr/>
          <p:nvPr/>
        </p:nvSpPr>
        <p:spPr>
          <a:xfrm>
            <a:off x="1308963" y="2106636"/>
            <a:ext cx="542358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18691" y="2106636"/>
            <a:ext cx="5240700" cy="323556"/>
          </a:xfrm>
          <a:prstGeom prst="rect">
            <a:avLst/>
          </a:prstGeom>
          <a:noFill/>
        </p:spPr>
        <p:txBody>
          <a:bodyPr wrap="square" anchor="ctr">
            <a:spAutoFit/>
          </a:bodyPr>
          <a:lstStyle/>
          <a:p>
            <a:pPr algn="l">
              <a:spcAft>
                <a:spcPts val="400"/>
              </a:spcAft>
            </a:pPr>
            <a:r>
              <a:rPr sz="900" b="0">
                <a:solidFill>
                  <a:srgbClr val="161B26"/>
                </a:solidFill>
                <a:latin typeface="Arial"/>
              </a:rPr>
              <a:t>Vision-System Needs Analysis and Generative Pipeline…</a:t>
            </a:r>
          </a:p>
        </p:txBody>
      </p:sp>
      <p:sp>
        <p:nvSpPr>
          <p:cNvPr id="23" name="Rectangle 22"/>
          <p:cNvSpPr/>
          <p:nvPr/>
        </p:nvSpPr>
        <p:spPr>
          <a:xfrm>
            <a:off x="6732543" y="2106636"/>
            <a:ext cx="74441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42271" y="2106636"/>
            <a:ext cx="561533" cy="323556"/>
          </a:xfrm>
          <a:prstGeom prst="rect">
            <a:avLst/>
          </a:prstGeom>
          <a:noFill/>
        </p:spPr>
        <p:txBody>
          <a:bodyPr wrap="square" anchor="ctr">
            <a:spAutoFit/>
          </a:bodyPr>
          <a:lstStyle/>
          <a:p>
            <a:pPr algn="l">
              <a:spcAft>
                <a:spcPts val="400"/>
              </a:spcAft>
            </a:pPr>
            <a:r>
              <a:rPr sz="900" b="0">
                <a:solidFill>
                  <a:srgbClr val="161B26"/>
                </a:solidFill>
                <a:latin typeface="Arial"/>
              </a:rPr>
              <a:t>01</a:t>
            </a:r>
          </a:p>
        </p:txBody>
      </p:sp>
      <p:sp>
        <p:nvSpPr>
          <p:cNvPr id="25" name="Rectangle 24"/>
          <p:cNvSpPr/>
          <p:nvPr/>
        </p:nvSpPr>
        <p:spPr>
          <a:xfrm>
            <a:off x="7476956" y="2106636"/>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6684" y="2106636"/>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A1</a:t>
            </a:r>
          </a:p>
        </p:txBody>
      </p:sp>
      <p:sp>
        <p:nvSpPr>
          <p:cNvPr id="27" name="Rectangle 26"/>
          <p:cNvSpPr/>
          <p:nvPr/>
        </p:nvSpPr>
        <p:spPr>
          <a:xfrm>
            <a:off x="8540403" y="2106636"/>
            <a:ext cx="180786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50131" y="2106636"/>
            <a:ext cx="1624980" cy="323556"/>
          </a:xfrm>
          <a:prstGeom prst="rect">
            <a:avLst/>
          </a:prstGeom>
          <a:noFill/>
        </p:spPr>
        <p:txBody>
          <a:bodyPr wrap="square" anchor="ctr">
            <a:spAutoFit/>
          </a:bodyPr>
          <a:lstStyle/>
          <a:p>
            <a:pPr algn="l">
              <a:spcAft>
                <a:spcPts val="400"/>
              </a:spcAft>
            </a:pPr>
            <a:r>
              <a:rPr sz="900" b="0">
                <a:solidFill>
                  <a:srgbClr val="161B26"/>
                </a:solidFill>
                <a:latin typeface="Arial"/>
              </a:rPr>
              <a:t>K1, K2</a:t>
            </a:r>
          </a:p>
        </p:txBody>
      </p:sp>
      <p:sp>
        <p:nvSpPr>
          <p:cNvPr id="29" name="Rectangle 28"/>
          <p:cNvSpPr/>
          <p:nvPr/>
        </p:nvSpPr>
        <p:spPr>
          <a:xfrm>
            <a:off x="10348263" y="2106636"/>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457991" y="2106636"/>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in LU1</a:t>
            </a:r>
          </a:p>
        </p:txBody>
      </p:sp>
      <p:sp>
        <p:nvSpPr>
          <p:cNvPr id="31" name="Rectangle 30"/>
          <p:cNvSpPr/>
          <p:nvPr/>
        </p:nvSpPr>
        <p:spPr>
          <a:xfrm>
            <a:off x="777240" y="2430192"/>
            <a:ext cx="53172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2430192"/>
            <a:ext cx="348843" cy="323556"/>
          </a:xfrm>
          <a:prstGeom prst="rect">
            <a:avLst/>
          </a:prstGeom>
          <a:noFill/>
        </p:spPr>
        <p:txBody>
          <a:bodyPr wrap="square" anchor="ctr">
            <a:spAutoFit/>
          </a:bodyPr>
          <a:lstStyle/>
          <a:p>
            <a:pPr algn="l">
              <a:spcAft>
                <a:spcPts val="400"/>
              </a:spcAft>
            </a:pPr>
            <a:r>
              <a:rPr sz="900" b="1">
                <a:solidFill>
                  <a:srgbClr val="161B26"/>
                </a:solidFill>
                <a:latin typeface="Arial"/>
              </a:rPr>
              <a:t>02</a:t>
            </a:r>
          </a:p>
        </p:txBody>
      </p:sp>
      <p:sp>
        <p:nvSpPr>
          <p:cNvPr id="33" name="Rectangle 32"/>
          <p:cNvSpPr/>
          <p:nvPr/>
        </p:nvSpPr>
        <p:spPr>
          <a:xfrm>
            <a:off x="1308963" y="2430192"/>
            <a:ext cx="542358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418691" y="2430192"/>
            <a:ext cx="5240700" cy="323556"/>
          </a:xfrm>
          <a:prstGeom prst="rect">
            <a:avLst/>
          </a:prstGeom>
          <a:noFill/>
        </p:spPr>
        <p:txBody>
          <a:bodyPr wrap="square" anchor="ctr">
            <a:spAutoFit/>
          </a:bodyPr>
          <a:lstStyle/>
          <a:p>
            <a:pPr algn="l">
              <a:spcAft>
                <a:spcPts val="400"/>
              </a:spcAft>
            </a:pPr>
            <a:r>
              <a:rPr sz="900" b="0">
                <a:solidFill>
                  <a:srgbClr val="161B26"/>
                </a:solidFill>
                <a:latin typeface="Arial"/>
              </a:rPr>
              <a:t>Image and Video Data Representation</a:t>
            </a:r>
          </a:p>
        </p:txBody>
      </p:sp>
      <p:sp>
        <p:nvSpPr>
          <p:cNvPr id="35" name="Rectangle 34"/>
          <p:cNvSpPr/>
          <p:nvPr/>
        </p:nvSpPr>
        <p:spPr>
          <a:xfrm>
            <a:off x="6732543" y="2430192"/>
            <a:ext cx="74441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42271" y="2430192"/>
            <a:ext cx="561533" cy="323556"/>
          </a:xfrm>
          <a:prstGeom prst="rect">
            <a:avLst/>
          </a:prstGeom>
          <a:noFill/>
        </p:spPr>
        <p:txBody>
          <a:bodyPr wrap="square" anchor="ctr">
            <a:spAutoFit/>
          </a:bodyPr>
          <a:lstStyle/>
          <a:p>
            <a:pPr algn="l">
              <a:spcAft>
                <a:spcPts val="400"/>
              </a:spcAft>
            </a:pPr>
            <a:r>
              <a:rPr sz="900" b="0">
                <a:solidFill>
                  <a:srgbClr val="161B26"/>
                </a:solidFill>
                <a:latin typeface="Arial"/>
              </a:rPr>
              <a:t>02</a:t>
            </a:r>
          </a:p>
        </p:txBody>
      </p:sp>
      <p:sp>
        <p:nvSpPr>
          <p:cNvPr id="37" name="Rectangle 36"/>
          <p:cNvSpPr/>
          <p:nvPr/>
        </p:nvSpPr>
        <p:spPr>
          <a:xfrm>
            <a:off x="7476956" y="2430192"/>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86684" y="2430192"/>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A2</a:t>
            </a:r>
          </a:p>
        </p:txBody>
      </p:sp>
      <p:sp>
        <p:nvSpPr>
          <p:cNvPr id="39" name="Rectangle 38"/>
          <p:cNvSpPr/>
          <p:nvPr/>
        </p:nvSpPr>
        <p:spPr>
          <a:xfrm>
            <a:off x="8540403" y="2430192"/>
            <a:ext cx="180786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0131" y="2430192"/>
            <a:ext cx="1624980" cy="323556"/>
          </a:xfrm>
          <a:prstGeom prst="rect">
            <a:avLst/>
          </a:prstGeom>
          <a:noFill/>
        </p:spPr>
        <p:txBody>
          <a:bodyPr wrap="square" anchor="ctr">
            <a:spAutoFit/>
          </a:bodyPr>
          <a:lstStyle/>
          <a:p>
            <a:pPr algn="l">
              <a:spcAft>
                <a:spcPts val="400"/>
              </a:spcAft>
            </a:pPr>
            <a:r>
              <a:rPr sz="900" b="0">
                <a:solidFill>
                  <a:srgbClr val="161B26"/>
                </a:solidFill>
                <a:latin typeface="Arial"/>
              </a:rPr>
              <a:t>K3</a:t>
            </a:r>
          </a:p>
        </p:txBody>
      </p:sp>
      <p:sp>
        <p:nvSpPr>
          <p:cNvPr id="41" name="Rectangle 40"/>
          <p:cNvSpPr/>
          <p:nvPr/>
        </p:nvSpPr>
        <p:spPr>
          <a:xfrm>
            <a:off x="10348263" y="2430192"/>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457991" y="2430192"/>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15 min</a:t>
            </a:r>
          </a:p>
        </p:txBody>
      </p:sp>
      <p:sp>
        <p:nvSpPr>
          <p:cNvPr id="43" name="Rectangle 42"/>
          <p:cNvSpPr/>
          <p:nvPr/>
        </p:nvSpPr>
        <p:spPr>
          <a:xfrm>
            <a:off x="777240" y="2753748"/>
            <a:ext cx="53172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2753748"/>
            <a:ext cx="348843" cy="323556"/>
          </a:xfrm>
          <a:prstGeom prst="rect">
            <a:avLst/>
          </a:prstGeom>
          <a:noFill/>
        </p:spPr>
        <p:txBody>
          <a:bodyPr wrap="square" anchor="ctr">
            <a:spAutoFit/>
          </a:bodyPr>
          <a:lstStyle/>
          <a:p>
            <a:pPr algn="l">
              <a:spcAft>
                <a:spcPts val="400"/>
              </a:spcAft>
            </a:pPr>
            <a:r>
              <a:rPr sz="900" b="1">
                <a:solidFill>
                  <a:srgbClr val="161B26"/>
                </a:solidFill>
                <a:latin typeface="Arial"/>
              </a:rPr>
              <a:t>03</a:t>
            </a:r>
          </a:p>
        </p:txBody>
      </p:sp>
      <p:sp>
        <p:nvSpPr>
          <p:cNvPr id="45" name="Rectangle 44"/>
          <p:cNvSpPr/>
          <p:nvPr/>
        </p:nvSpPr>
        <p:spPr>
          <a:xfrm>
            <a:off x="1308963" y="2753748"/>
            <a:ext cx="542358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418691" y="2753748"/>
            <a:ext cx="5240700" cy="323556"/>
          </a:xfrm>
          <a:prstGeom prst="rect">
            <a:avLst/>
          </a:prstGeom>
          <a:noFill/>
        </p:spPr>
        <p:txBody>
          <a:bodyPr wrap="square" anchor="ctr">
            <a:spAutoFit/>
          </a:bodyPr>
          <a:lstStyle/>
          <a:p>
            <a:pPr algn="l">
              <a:spcAft>
                <a:spcPts val="400"/>
              </a:spcAft>
            </a:pPr>
            <a:r>
              <a:rPr sz="900" b="0">
                <a:solidFill>
                  <a:srgbClr val="161B26"/>
                </a:solidFill>
                <a:latin typeface="Arial"/>
              </a:rPr>
              <a:t>Prompt Experiment Matrix for Controlled Image Generation</a:t>
            </a:r>
          </a:p>
        </p:txBody>
      </p:sp>
      <p:sp>
        <p:nvSpPr>
          <p:cNvPr id="47" name="Rectangle 46"/>
          <p:cNvSpPr/>
          <p:nvPr/>
        </p:nvSpPr>
        <p:spPr>
          <a:xfrm>
            <a:off x="6732543" y="2753748"/>
            <a:ext cx="74441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842271" y="2753748"/>
            <a:ext cx="561533" cy="323556"/>
          </a:xfrm>
          <a:prstGeom prst="rect">
            <a:avLst/>
          </a:prstGeom>
          <a:noFill/>
        </p:spPr>
        <p:txBody>
          <a:bodyPr wrap="square" anchor="ctr">
            <a:spAutoFit/>
          </a:bodyPr>
          <a:lstStyle/>
          <a:p>
            <a:pPr algn="l">
              <a:spcAft>
                <a:spcPts val="400"/>
              </a:spcAft>
            </a:pPr>
            <a:r>
              <a:rPr sz="900" b="0">
                <a:solidFill>
                  <a:srgbClr val="161B26"/>
                </a:solidFill>
                <a:latin typeface="Arial"/>
              </a:rPr>
              <a:t>02</a:t>
            </a:r>
          </a:p>
        </p:txBody>
      </p:sp>
      <p:sp>
        <p:nvSpPr>
          <p:cNvPr id="49" name="Rectangle 48"/>
          <p:cNvSpPr/>
          <p:nvPr/>
        </p:nvSpPr>
        <p:spPr>
          <a:xfrm>
            <a:off x="7476956" y="2753748"/>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586684" y="2753748"/>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A2</a:t>
            </a:r>
          </a:p>
        </p:txBody>
      </p:sp>
      <p:sp>
        <p:nvSpPr>
          <p:cNvPr id="51" name="Rectangle 50"/>
          <p:cNvSpPr/>
          <p:nvPr/>
        </p:nvSpPr>
        <p:spPr>
          <a:xfrm>
            <a:off x="8540403" y="2753748"/>
            <a:ext cx="180786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50131" y="2753748"/>
            <a:ext cx="1624980" cy="323556"/>
          </a:xfrm>
          <a:prstGeom prst="rect">
            <a:avLst/>
          </a:prstGeom>
          <a:noFill/>
        </p:spPr>
        <p:txBody>
          <a:bodyPr wrap="square" anchor="ctr">
            <a:spAutoFit/>
          </a:bodyPr>
          <a:lstStyle/>
          <a:p>
            <a:pPr algn="l">
              <a:spcAft>
                <a:spcPts val="400"/>
              </a:spcAft>
            </a:pPr>
            <a:r>
              <a:rPr sz="900" b="0">
                <a:solidFill>
                  <a:srgbClr val="161B26"/>
                </a:solidFill>
                <a:latin typeface="Arial"/>
              </a:rPr>
              <a:t>K3, K4</a:t>
            </a:r>
          </a:p>
        </p:txBody>
      </p:sp>
      <p:sp>
        <p:nvSpPr>
          <p:cNvPr id="53" name="Rectangle 52"/>
          <p:cNvSpPr/>
          <p:nvPr/>
        </p:nvSpPr>
        <p:spPr>
          <a:xfrm>
            <a:off x="10348263" y="2753748"/>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457991" y="2753748"/>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15 min</a:t>
            </a:r>
          </a:p>
        </p:txBody>
      </p:sp>
      <p:sp>
        <p:nvSpPr>
          <p:cNvPr id="55" name="Rectangle 54"/>
          <p:cNvSpPr/>
          <p:nvPr/>
        </p:nvSpPr>
        <p:spPr>
          <a:xfrm>
            <a:off x="777240" y="3077304"/>
            <a:ext cx="53172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 y="3077304"/>
            <a:ext cx="348843" cy="323556"/>
          </a:xfrm>
          <a:prstGeom prst="rect">
            <a:avLst/>
          </a:prstGeom>
          <a:noFill/>
        </p:spPr>
        <p:txBody>
          <a:bodyPr wrap="square" anchor="ctr">
            <a:spAutoFit/>
          </a:bodyPr>
          <a:lstStyle/>
          <a:p>
            <a:pPr algn="l">
              <a:spcAft>
                <a:spcPts val="400"/>
              </a:spcAft>
            </a:pPr>
            <a:r>
              <a:rPr sz="900" b="1">
                <a:solidFill>
                  <a:srgbClr val="161B26"/>
                </a:solidFill>
                <a:latin typeface="Arial"/>
              </a:rPr>
              <a:t>04</a:t>
            </a:r>
          </a:p>
        </p:txBody>
      </p:sp>
      <p:sp>
        <p:nvSpPr>
          <p:cNvPr id="57" name="Rectangle 56"/>
          <p:cNvSpPr/>
          <p:nvPr/>
        </p:nvSpPr>
        <p:spPr>
          <a:xfrm>
            <a:off x="1308963" y="3077304"/>
            <a:ext cx="542358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418691" y="3077304"/>
            <a:ext cx="5240700" cy="323556"/>
          </a:xfrm>
          <a:prstGeom prst="rect">
            <a:avLst/>
          </a:prstGeom>
          <a:noFill/>
        </p:spPr>
        <p:txBody>
          <a:bodyPr wrap="square" anchor="ctr">
            <a:spAutoFit/>
          </a:bodyPr>
          <a:lstStyle/>
          <a:p>
            <a:pPr algn="l">
              <a:spcAft>
                <a:spcPts val="400"/>
              </a:spcAft>
            </a:pPr>
            <a:r>
              <a:rPr sz="900" b="0">
                <a:solidFill>
                  <a:srgbClr val="161B26"/>
                </a:solidFill>
                <a:latin typeface="Arial"/>
              </a:rPr>
              <a:t>Masking, Inpainting, Outpainting and Background Swap</a:t>
            </a:r>
          </a:p>
        </p:txBody>
      </p:sp>
      <p:sp>
        <p:nvSpPr>
          <p:cNvPr id="59" name="Rectangle 58"/>
          <p:cNvSpPr/>
          <p:nvPr/>
        </p:nvSpPr>
        <p:spPr>
          <a:xfrm>
            <a:off x="6732543" y="3077304"/>
            <a:ext cx="74441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842271" y="3077304"/>
            <a:ext cx="561533" cy="323556"/>
          </a:xfrm>
          <a:prstGeom prst="rect">
            <a:avLst/>
          </a:prstGeom>
          <a:noFill/>
        </p:spPr>
        <p:txBody>
          <a:bodyPr wrap="square" anchor="ctr">
            <a:spAutoFit/>
          </a:bodyPr>
          <a:lstStyle/>
          <a:p>
            <a:pPr algn="l">
              <a:spcAft>
                <a:spcPts val="400"/>
              </a:spcAft>
            </a:pPr>
            <a:r>
              <a:rPr sz="900" b="0">
                <a:solidFill>
                  <a:srgbClr val="161B26"/>
                </a:solidFill>
                <a:latin typeface="Arial"/>
              </a:rPr>
              <a:t>02</a:t>
            </a:r>
          </a:p>
        </p:txBody>
      </p:sp>
      <p:sp>
        <p:nvSpPr>
          <p:cNvPr id="61" name="Rectangle 60"/>
          <p:cNvSpPr/>
          <p:nvPr/>
        </p:nvSpPr>
        <p:spPr>
          <a:xfrm>
            <a:off x="7476956" y="3077304"/>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586684" y="3077304"/>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A2</a:t>
            </a:r>
          </a:p>
        </p:txBody>
      </p:sp>
      <p:sp>
        <p:nvSpPr>
          <p:cNvPr id="63" name="Rectangle 62"/>
          <p:cNvSpPr/>
          <p:nvPr/>
        </p:nvSpPr>
        <p:spPr>
          <a:xfrm>
            <a:off x="8540403" y="3077304"/>
            <a:ext cx="180786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650131" y="3077304"/>
            <a:ext cx="1624980" cy="323556"/>
          </a:xfrm>
          <a:prstGeom prst="rect">
            <a:avLst/>
          </a:prstGeom>
          <a:noFill/>
        </p:spPr>
        <p:txBody>
          <a:bodyPr wrap="square" anchor="ctr">
            <a:spAutoFit/>
          </a:bodyPr>
          <a:lstStyle/>
          <a:p>
            <a:pPr algn="l">
              <a:spcAft>
                <a:spcPts val="400"/>
              </a:spcAft>
            </a:pPr>
            <a:r>
              <a:rPr sz="900" b="0">
                <a:solidFill>
                  <a:srgbClr val="161B26"/>
                </a:solidFill>
                <a:latin typeface="Arial"/>
              </a:rPr>
              <a:t>K3, K4</a:t>
            </a:r>
          </a:p>
        </p:txBody>
      </p:sp>
      <p:sp>
        <p:nvSpPr>
          <p:cNvPr id="65" name="Rectangle 64"/>
          <p:cNvSpPr/>
          <p:nvPr/>
        </p:nvSpPr>
        <p:spPr>
          <a:xfrm>
            <a:off x="10348263" y="3077304"/>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457991" y="3077304"/>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15 min</a:t>
            </a:r>
          </a:p>
        </p:txBody>
      </p:sp>
      <p:sp>
        <p:nvSpPr>
          <p:cNvPr id="67" name="Rectangle 66"/>
          <p:cNvSpPr/>
          <p:nvPr/>
        </p:nvSpPr>
        <p:spPr>
          <a:xfrm>
            <a:off x="777240" y="3400860"/>
            <a:ext cx="53172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86968" y="3400860"/>
            <a:ext cx="348843" cy="323556"/>
          </a:xfrm>
          <a:prstGeom prst="rect">
            <a:avLst/>
          </a:prstGeom>
          <a:noFill/>
        </p:spPr>
        <p:txBody>
          <a:bodyPr wrap="square" anchor="ctr">
            <a:spAutoFit/>
          </a:bodyPr>
          <a:lstStyle/>
          <a:p>
            <a:pPr algn="l">
              <a:spcAft>
                <a:spcPts val="400"/>
              </a:spcAft>
            </a:pPr>
            <a:r>
              <a:rPr sz="900" b="1">
                <a:solidFill>
                  <a:srgbClr val="161B26"/>
                </a:solidFill>
                <a:latin typeface="Arial"/>
              </a:rPr>
              <a:t>05</a:t>
            </a:r>
          </a:p>
        </p:txBody>
      </p:sp>
      <p:sp>
        <p:nvSpPr>
          <p:cNvPr id="69" name="Rectangle 68"/>
          <p:cNvSpPr/>
          <p:nvPr/>
        </p:nvSpPr>
        <p:spPr>
          <a:xfrm>
            <a:off x="1308963" y="3400860"/>
            <a:ext cx="542358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418691" y="3400860"/>
            <a:ext cx="5240700" cy="323556"/>
          </a:xfrm>
          <a:prstGeom prst="rect">
            <a:avLst/>
          </a:prstGeom>
          <a:noFill/>
        </p:spPr>
        <p:txBody>
          <a:bodyPr wrap="square" anchor="ctr">
            <a:spAutoFit/>
          </a:bodyPr>
          <a:lstStyle/>
          <a:p>
            <a:pPr algn="l">
              <a:spcAft>
                <a:spcPts val="400"/>
              </a:spcAft>
            </a:pPr>
            <a:r>
              <a:rPr sz="900" b="0">
                <a:solidFill>
                  <a:srgbClr val="161B26"/>
                </a:solidFill>
                <a:latin typeface="Arial"/>
              </a:rPr>
              <a:t>Filtering, Enhancement and Restoration Measured with PSNR…</a:t>
            </a:r>
          </a:p>
        </p:txBody>
      </p:sp>
      <p:sp>
        <p:nvSpPr>
          <p:cNvPr id="71" name="Rectangle 70"/>
          <p:cNvSpPr/>
          <p:nvPr/>
        </p:nvSpPr>
        <p:spPr>
          <a:xfrm>
            <a:off x="6732543" y="3400860"/>
            <a:ext cx="74441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842271" y="3400860"/>
            <a:ext cx="561533" cy="323556"/>
          </a:xfrm>
          <a:prstGeom prst="rect">
            <a:avLst/>
          </a:prstGeom>
          <a:noFill/>
        </p:spPr>
        <p:txBody>
          <a:bodyPr wrap="square" anchor="ctr">
            <a:spAutoFit/>
          </a:bodyPr>
          <a:lstStyle/>
          <a:p>
            <a:pPr algn="l">
              <a:spcAft>
                <a:spcPts val="400"/>
              </a:spcAft>
            </a:pPr>
            <a:r>
              <a:rPr sz="900" b="0">
                <a:solidFill>
                  <a:srgbClr val="161B26"/>
                </a:solidFill>
                <a:latin typeface="Arial"/>
              </a:rPr>
              <a:t>02</a:t>
            </a:r>
          </a:p>
        </p:txBody>
      </p:sp>
      <p:sp>
        <p:nvSpPr>
          <p:cNvPr id="73" name="Rectangle 72"/>
          <p:cNvSpPr/>
          <p:nvPr/>
        </p:nvSpPr>
        <p:spPr>
          <a:xfrm>
            <a:off x="7476956" y="3400860"/>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586684" y="3400860"/>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A2</a:t>
            </a:r>
          </a:p>
        </p:txBody>
      </p:sp>
      <p:sp>
        <p:nvSpPr>
          <p:cNvPr id="75" name="Rectangle 74"/>
          <p:cNvSpPr/>
          <p:nvPr/>
        </p:nvSpPr>
        <p:spPr>
          <a:xfrm>
            <a:off x="8540403" y="3400860"/>
            <a:ext cx="180786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650131" y="3400860"/>
            <a:ext cx="1624980" cy="323556"/>
          </a:xfrm>
          <a:prstGeom prst="rect">
            <a:avLst/>
          </a:prstGeom>
          <a:noFill/>
        </p:spPr>
        <p:txBody>
          <a:bodyPr wrap="square" anchor="ctr">
            <a:spAutoFit/>
          </a:bodyPr>
          <a:lstStyle/>
          <a:p>
            <a:pPr algn="l">
              <a:spcAft>
                <a:spcPts val="400"/>
              </a:spcAft>
            </a:pPr>
            <a:r>
              <a:rPr sz="900" b="0">
                <a:solidFill>
                  <a:srgbClr val="161B26"/>
                </a:solidFill>
                <a:latin typeface="Arial"/>
              </a:rPr>
              <a:t>K4</a:t>
            </a:r>
          </a:p>
        </p:txBody>
      </p:sp>
      <p:sp>
        <p:nvSpPr>
          <p:cNvPr id="77" name="Rectangle 76"/>
          <p:cNvSpPr/>
          <p:nvPr/>
        </p:nvSpPr>
        <p:spPr>
          <a:xfrm>
            <a:off x="10348263" y="3400860"/>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457991" y="3400860"/>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15 min</a:t>
            </a:r>
          </a:p>
        </p:txBody>
      </p:sp>
      <p:sp>
        <p:nvSpPr>
          <p:cNvPr id="79" name="Rectangle 78"/>
          <p:cNvSpPr/>
          <p:nvPr/>
        </p:nvSpPr>
        <p:spPr>
          <a:xfrm>
            <a:off x="777240" y="3724416"/>
            <a:ext cx="53172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86968" y="3724416"/>
            <a:ext cx="348843" cy="323556"/>
          </a:xfrm>
          <a:prstGeom prst="rect">
            <a:avLst/>
          </a:prstGeom>
          <a:noFill/>
        </p:spPr>
        <p:txBody>
          <a:bodyPr wrap="square" anchor="ctr">
            <a:spAutoFit/>
          </a:bodyPr>
          <a:lstStyle/>
          <a:p>
            <a:pPr algn="l">
              <a:spcAft>
                <a:spcPts val="400"/>
              </a:spcAft>
            </a:pPr>
            <a:r>
              <a:rPr sz="900" b="1">
                <a:solidFill>
                  <a:srgbClr val="161B26"/>
                </a:solidFill>
                <a:latin typeface="Arial"/>
              </a:rPr>
              <a:t>06</a:t>
            </a:r>
          </a:p>
        </p:txBody>
      </p:sp>
      <p:sp>
        <p:nvSpPr>
          <p:cNvPr id="81" name="Rectangle 80"/>
          <p:cNvSpPr/>
          <p:nvPr/>
        </p:nvSpPr>
        <p:spPr>
          <a:xfrm>
            <a:off x="1308963" y="3724416"/>
            <a:ext cx="542358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418691" y="3724416"/>
            <a:ext cx="5240700" cy="323556"/>
          </a:xfrm>
          <a:prstGeom prst="rect">
            <a:avLst/>
          </a:prstGeom>
          <a:noFill/>
        </p:spPr>
        <p:txBody>
          <a:bodyPr wrap="square" anchor="ctr">
            <a:spAutoFit/>
          </a:bodyPr>
          <a:lstStyle/>
          <a:p>
            <a:pPr algn="l">
              <a:spcAft>
                <a:spcPts val="400"/>
              </a:spcAft>
            </a:pPr>
            <a:r>
              <a:rPr sz="900" b="0">
                <a:solidFill>
                  <a:srgbClr val="161B26"/>
                </a:solidFill>
                <a:latin typeface="Arial"/>
              </a:rPr>
              <a:t>Local Features: Colour Segmentation, Canny Edges and Corner…</a:t>
            </a:r>
          </a:p>
        </p:txBody>
      </p:sp>
      <p:sp>
        <p:nvSpPr>
          <p:cNvPr id="83" name="Rectangle 82"/>
          <p:cNvSpPr/>
          <p:nvPr/>
        </p:nvSpPr>
        <p:spPr>
          <a:xfrm>
            <a:off x="6732543" y="3724416"/>
            <a:ext cx="74441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842271" y="3724416"/>
            <a:ext cx="561533" cy="323556"/>
          </a:xfrm>
          <a:prstGeom prst="rect">
            <a:avLst/>
          </a:prstGeom>
          <a:noFill/>
        </p:spPr>
        <p:txBody>
          <a:bodyPr wrap="square" anchor="ctr">
            <a:spAutoFit/>
          </a:bodyPr>
          <a:lstStyle/>
          <a:p>
            <a:pPr algn="l">
              <a:spcAft>
                <a:spcPts val="400"/>
              </a:spcAft>
            </a:pPr>
            <a:r>
              <a:rPr sz="900" b="0">
                <a:solidFill>
                  <a:srgbClr val="161B26"/>
                </a:solidFill>
                <a:latin typeface="Arial"/>
              </a:rPr>
              <a:t>03</a:t>
            </a:r>
          </a:p>
        </p:txBody>
      </p:sp>
      <p:sp>
        <p:nvSpPr>
          <p:cNvPr id="85" name="Rectangle 84"/>
          <p:cNvSpPr/>
          <p:nvPr/>
        </p:nvSpPr>
        <p:spPr>
          <a:xfrm>
            <a:off x="7476956" y="3724416"/>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586684" y="3724416"/>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A4</a:t>
            </a:r>
          </a:p>
        </p:txBody>
      </p:sp>
      <p:sp>
        <p:nvSpPr>
          <p:cNvPr id="87" name="Rectangle 86"/>
          <p:cNvSpPr/>
          <p:nvPr/>
        </p:nvSpPr>
        <p:spPr>
          <a:xfrm>
            <a:off x="8540403" y="3724416"/>
            <a:ext cx="180786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650131" y="3724416"/>
            <a:ext cx="1624980" cy="323556"/>
          </a:xfrm>
          <a:prstGeom prst="rect">
            <a:avLst/>
          </a:prstGeom>
          <a:noFill/>
        </p:spPr>
        <p:txBody>
          <a:bodyPr wrap="square" anchor="ctr">
            <a:spAutoFit/>
          </a:bodyPr>
          <a:lstStyle/>
          <a:p>
            <a:pPr algn="l">
              <a:spcAft>
                <a:spcPts val="400"/>
              </a:spcAft>
            </a:pPr>
            <a:r>
              <a:rPr sz="900" b="0">
                <a:solidFill>
                  <a:srgbClr val="161B26"/>
                </a:solidFill>
                <a:latin typeface="Arial"/>
              </a:rPr>
              <a:t>K5, K6</a:t>
            </a:r>
          </a:p>
        </p:txBody>
      </p:sp>
      <p:sp>
        <p:nvSpPr>
          <p:cNvPr id="89" name="Rectangle 88"/>
          <p:cNvSpPr/>
          <p:nvPr/>
        </p:nvSpPr>
        <p:spPr>
          <a:xfrm>
            <a:off x="10348263" y="3724416"/>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0457991" y="3724416"/>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30 min</a:t>
            </a:r>
          </a:p>
        </p:txBody>
      </p:sp>
      <p:sp>
        <p:nvSpPr>
          <p:cNvPr id="91" name="Rectangle 90"/>
          <p:cNvSpPr/>
          <p:nvPr/>
        </p:nvSpPr>
        <p:spPr>
          <a:xfrm>
            <a:off x="777240" y="4047972"/>
            <a:ext cx="53172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86968" y="4047972"/>
            <a:ext cx="348843" cy="323556"/>
          </a:xfrm>
          <a:prstGeom prst="rect">
            <a:avLst/>
          </a:prstGeom>
          <a:noFill/>
        </p:spPr>
        <p:txBody>
          <a:bodyPr wrap="square" anchor="ctr">
            <a:spAutoFit/>
          </a:bodyPr>
          <a:lstStyle/>
          <a:p>
            <a:pPr algn="l">
              <a:spcAft>
                <a:spcPts val="400"/>
              </a:spcAft>
            </a:pPr>
            <a:r>
              <a:rPr sz="900" b="1">
                <a:solidFill>
                  <a:srgbClr val="161B26"/>
                </a:solidFill>
                <a:latin typeface="Arial"/>
              </a:rPr>
              <a:t>07</a:t>
            </a:r>
          </a:p>
        </p:txBody>
      </p:sp>
      <p:sp>
        <p:nvSpPr>
          <p:cNvPr id="93" name="Rectangle 92"/>
          <p:cNvSpPr/>
          <p:nvPr/>
        </p:nvSpPr>
        <p:spPr>
          <a:xfrm>
            <a:off x="1308963" y="4047972"/>
            <a:ext cx="542358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418691" y="4047972"/>
            <a:ext cx="5240700" cy="323556"/>
          </a:xfrm>
          <a:prstGeom prst="rect">
            <a:avLst/>
          </a:prstGeom>
          <a:noFill/>
        </p:spPr>
        <p:txBody>
          <a:bodyPr wrap="square" anchor="ctr">
            <a:spAutoFit/>
          </a:bodyPr>
          <a:lstStyle/>
          <a:p>
            <a:pPr algn="l">
              <a:spcAft>
                <a:spcPts val="400"/>
              </a:spcAft>
            </a:pPr>
            <a:r>
              <a:rPr sz="900" b="0">
                <a:solidFill>
                  <a:srgbClr val="161B26"/>
                </a:solidFill>
                <a:latin typeface="Arial"/>
              </a:rPr>
              <a:t>Global Descriptors, Template Matching and Brand-Consistency…</a:t>
            </a:r>
          </a:p>
        </p:txBody>
      </p:sp>
      <p:sp>
        <p:nvSpPr>
          <p:cNvPr id="95" name="Rectangle 94"/>
          <p:cNvSpPr/>
          <p:nvPr/>
        </p:nvSpPr>
        <p:spPr>
          <a:xfrm>
            <a:off x="6732543" y="4047972"/>
            <a:ext cx="74441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842271" y="4047972"/>
            <a:ext cx="561533" cy="323556"/>
          </a:xfrm>
          <a:prstGeom prst="rect">
            <a:avLst/>
          </a:prstGeom>
          <a:noFill/>
        </p:spPr>
        <p:txBody>
          <a:bodyPr wrap="square" anchor="ctr">
            <a:spAutoFit/>
          </a:bodyPr>
          <a:lstStyle/>
          <a:p>
            <a:pPr algn="l">
              <a:spcAft>
                <a:spcPts val="400"/>
              </a:spcAft>
            </a:pPr>
            <a:r>
              <a:rPr sz="900" b="0">
                <a:solidFill>
                  <a:srgbClr val="161B26"/>
                </a:solidFill>
                <a:latin typeface="Arial"/>
              </a:rPr>
              <a:t>03</a:t>
            </a:r>
          </a:p>
        </p:txBody>
      </p:sp>
      <p:sp>
        <p:nvSpPr>
          <p:cNvPr id="97" name="Rectangle 96"/>
          <p:cNvSpPr/>
          <p:nvPr/>
        </p:nvSpPr>
        <p:spPr>
          <a:xfrm>
            <a:off x="7476956" y="4047972"/>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7586684" y="4047972"/>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A3, A4</a:t>
            </a:r>
          </a:p>
        </p:txBody>
      </p:sp>
      <p:sp>
        <p:nvSpPr>
          <p:cNvPr id="99" name="Rectangle 98"/>
          <p:cNvSpPr/>
          <p:nvPr/>
        </p:nvSpPr>
        <p:spPr>
          <a:xfrm>
            <a:off x="8540403" y="4047972"/>
            <a:ext cx="180786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8650131" y="4047972"/>
            <a:ext cx="1624980" cy="323556"/>
          </a:xfrm>
          <a:prstGeom prst="rect">
            <a:avLst/>
          </a:prstGeom>
          <a:noFill/>
        </p:spPr>
        <p:txBody>
          <a:bodyPr wrap="square" anchor="ctr">
            <a:spAutoFit/>
          </a:bodyPr>
          <a:lstStyle/>
          <a:p>
            <a:pPr algn="l">
              <a:spcAft>
                <a:spcPts val="400"/>
              </a:spcAft>
            </a:pPr>
            <a:r>
              <a:rPr sz="900" b="0">
                <a:solidFill>
                  <a:srgbClr val="161B26"/>
                </a:solidFill>
                <a:latin typeface="Arial"/>
              </a:rPr>
              <a:t>K7</a:t>
            </a:r>
          </a:p>
        </p:txBody>
      </p:sp>
      <p:sp>
        <p:nvSpPr>
          <p:cNvPr id="101" name="Rectangle 100"/>
          <p:cNvSpPr/>
          <p:nvPr/>
        </p:nvSpPr>
        <p:spPr>
          <a:xfrm>
            <a:off x="10348263" y="4047972"/>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0457991" y="4047972"/>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30 min</a:t>
            </a:r>
          </a:p>
        </p:txBody>
      </p:sp>
      <p:sp>
        <p:nvSpPr>
          <p:cNvPr id="103" name="Rectangle 102"/>
          <p:cNvSpPr/>
          <p:nvPr/>
        </p:nvSpPr>
        <p:spPr>
          <a:xfrm>
            <a:off x="777240" y="4371528"/>
            <a:ext cx="53172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886968" y="4371528"/>
            <a:ext cx="348843" cy="323556"/>
          </a:xfrm>
          <a:prstGeom prst="rect">
            <a:avLst/>
          </a:prstGeom>
          <a:noFill/>
        </p:spPr>
        <p:txBody>
          <a:bodyPr wrap="square" anchor="ctr">
            <a:spAutoFit/>
          </a:bodyPr>
          <a:lstStyle/>
          <a:p>
            <a:pPr algn="l">
              <a:spcAft>
                <a:spcPts val="400"/>
              </a:spcAft>
            </a:pPr>
            <a:r>
              <a:rPr sz="900" b="1">
                <a:solidFill>
                  <a:srgbClr val="161B26"/>
                </a:solidFill>
                <a:latin typeface="Arial"/>
              </a:rPr>
              <a:t>08</a:t>
            </a:r>
          </a:p>
        </p:txBody>
      </p:sp>
      <p:sp>
        <p:nvSpPr>
          <p:cNvPr id="105" name="Rectangle 104"/>
          <p:cNvSpPr/>
          <p:nvPr/>
        </p:nvSpPr>
        <p:spPr>
          <a:xfrm>
            <a:off x="1308963" y="4371528"/>
            <a:ext cx="542358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418691" y="4371528"/>
            <a:ext cx="5240700" cy="323556"/>
          </a:xfrm>
          <a:prstGeom prst="rect">
            <a:avLst/>
          </a:prstGeom>
          <a:noFill/>
        </p:spPr>
        <p:txBody>
          <a:bodyPr wrap="square" anchor="ctr">
            <a:spAutoFit/>
          </a:bodyPr>
          <a:lstStyle/>
          <a:p>
            <a:pPr algn="l">
              <a:spcAft>
                <a:spcPts val="400"/>
              </a:spcAft>
            </a:pPr>
            <a:r>
              <a:rPr sz="900" b="0">
                <a:solidFill>
                  <a:srgbClr val="161B26"/>
                </a:solidFill>
                <a:latin typeface="Arial"/>
              </a:rPr>
              <a:t>Object Detection and Quantitative Evaluation</a:t>
            </a:r>
          </a:p>
        </p:txBody>
      </p:sp>
      <p:sp>
        <p:nvSpPr>
          <p:cNvPr id="107" name="Rectangle 106"/>
          <p:cNvSpPr/>
          <p:nvPr/>
        </p:nvSpPr>
        <p:spPr>
          <a:xfrm>
            <a:off x="6732543" y="4371528"/>
            <a:ext cx="74441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6842271" y="4371528"/>
            <a:ext cx="561533" cy="323556"/>
          </a:xfrm>
          <a:prstGeom prst="rect">
            <a:avLst/>
          </a:prstGeom>
          <a:noFill/>
        </p:spPr>
        <p:txBody>
          <a:bodyPr wrap="square" anchor="ctr">
            <a:spAutoFit/>
          </a:bodyPr>
          <a:lstStyle/>
          <a:p>
            <a:pPr algn="l">
              <a:spcAft>
                <a:spcPts val="400"/>
              </a:spcAft>
            </a:pPr>
            <a:r>
              <a:rPr sz="900" b="0">
                <a:solidFill>
                  <a:srgbClr val="161B26"/>
                </a:solidFill>
                <a:latin typeface="Arial"/>
              </a:rPr>
              <a:t>04</a:t>
            </a:r>
          </a:p>
        </p:txBody>
      </p:sp>
      <p:sp>
        <p:nvSpPr>
          <p:cNvPr id="109" name="Rectangle 108"/>
          <p:cNvSpPr/>
          <p:nvPr/>
        </p:nvSpPr>
        <p:spPr>
          <a:xfrm>
            <a:off x="7476956" y="4371528"/>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7586684" y="4371528"/>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A5</a:t>
            </a:r>
          </a:p>
        </p:txBody>
      </p:sp>
      <p:sp>
        <p:nvSpPr>
          <p:cNvPr id="111" name="Rectangle 110"/>
          <p:cNvSpPr/>
          <p:nvPr/>
        </p:nvSpPr>
        <p:spPr>
          <a:xfrm>
            <a:off x="8540403" y="4371528"/>
            <a:ext cx="180786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8650131" y="4371528"/>
            <a:ext cx="1624980" cy="323556"/>
          </a:xfrm>
          <a:prstGeom prst="rect">
            <a:avLst/>
          </a:prstGeom>
          <a:noFill/>
        </p:spPr>
        <p:txBody>
          <a:bodyPr wrap="square" anchor="ctr">
            <a:spAutoFit/>
          </a:bodyPr>
          <a:lstStyle/>
          <a:p>
            <a:pPr algn="l">
              <a:spcAft>
                <a:spcPts val="400"/>
              </a:spcAft>
            </a:pPr>
            <a:r>
              <a:rPr sz="900" b="0">
                <a:solidFill>
                  <a:srgbClr val="161B26"/>
                </a:solidFill>
                <a:latin typeface="Arial"/>
              </a:rPr>
              <a:t>K8, K9</a:t>
            </a:r>
          </a:p>
        </p:txBody>
      </p:sp>
      <p:sp>
        <p:nvSpPr>
          <p:cNvPr id="113" name="Rectangle 112"/>
          <p:cNvSpPr/>
          <p:nvPr/>
        </p:nvSpPr>
        <p:spPr>
          <a:xfrm>
            <a:off x="10348263" y="4371528"/>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0457991" y="4371528"/>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60 min</a:t>
            </a:r>
          </a:p>
        </p:txBody>
      </p:sp>
      <p:sp>
        <p:nvSpPr>
          <p:cNvPr id="115" name="Rectangle 114"/>
          <p:cNvSpPr/>
          <p:nvPr/>
        </p:nvSpPr>
        <p:spPr>
          <a:xfrm>
            <a:off x="777240" y="4695084"/>
            <a:ext cx="53172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886968" y="4695084"/>
            <a:ext cx="348843" cy="323556"/>
          </a:xfrm>
          <a:prstGeom prst="rect">
            <a:avLst/>
          </a:prstGeom>
          <a:noFill/>
        </p:spPr>
        <p:txBody>
          <a:bodyPr wrap="square" anchor="ctr">
            <a:spAutoFit/>
          </a:bodyPr>
          <a:lstStyle/>
          <a:p>
            <a:pPr algn="l">
              <a:spcAft>
                <a:spcPts val="400"/>
              </a:spcAft>
            </a:pPr>
            <a:r>
              <a:rPr sz="900" b="1">
                <a:solidFill>
                  <a:srgbClr val="161B26"/>
                </a:solidFill>
                <a:latin typeface="Arial"/>
              </a:rPr>
              <a:t>09</a:t>
            </a:r>
          </a:p>
        </p:txBody>
      </p:sp>
      <p:sp>
        <p:nvSpPr>
          <p:cNvPr id="117" name="Rectangle 116"/>
          <p:cNvSpPr/>
          <p:nvPr/>
        </p:nvSpPr>
        <p:spPr>
          <a:xfrm>
            <a:off x="1308963" y="4695084"/>
            <a:ext cx="542358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1418691" y="4695084"/>
            <a:ext cx="5240700" cy="323556"/>
          </a:xfrm>
          <a:prstGeom prst="rect">
            <a:avLst/>
          </a:prstGeom>
          <a:noFill/>
        </p:spPr>
        <p:txBody>
          <a:bodyPr wrap="square" anchor="ctr">
            <a:spAutoFit/>
          </a:bodyPr>
          <a:lstStyle/>
          <a:p>
            <a:pPr algn="l">
              <a:spcAft>
                <a:spcPts val="400"/>
              </a:spcAft>
            </a:pPr>
            <a:r>
              <a:rPr sz="900" b="0">
                <a:solidFill>
                  <a:srgbClr val="161B26"/>
                </a:solidFill>
                <a:latin typeface="Arial"/>
              </a:rPr>
              <a:t>Storyboard to Video Prompt Pack and Deterministic Animatic</a:t>
            </a:r>
          </a:p>
        </p:txBody>
      </p:sp>
      <p:sp>
        <p:nvSpPr>
          <p:cNvPr id="119" name="Rectangle 118"/>
          <p:cNvSpPr/>
          <p:nvPr/>
        </p:nvSpPr>
        <p:spPr>
          <a:xfrm>
            <a:off x="6732543" y="4695084"/>
            <a:ext cx="74441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6842271" y="4695084"/>
            <a:ext cx="561533" cy="323556"/>
          </a:xfrm>
          <a:prstGeom prst="rect">
            <a:avLst/>
          </a:prstGeom>
          <a:noFill/>
        </p:spPr>
        <p:txBody>
          <a:bodyPr wrap="square" anchor="ctr">
            <a:spAutoFit/>
          </a:bodyPr>
          <a:lstStyle/>
          <a:p>
            <a:pPr algn="l">
              <a:spcAft>
                <a:spcPts val="400"/>
              </a:spcAft>
            </a:pPr>
            <a:r>
              <a:rPr sz="900" b="0">
                <a:solidFill>
                  <a:srgbClr val="161B26"/>
                </a:solidFill>
                <a:latin typeface="Arial"/>
              </a:rPr>
              <a:t>04</a:t>
            </a:r>
          </a:p>
        </p:txBody>
      </p:sp>
      <p:sp>
        <p:nvSpPr>
          <p:cNvPr id="121" name="Rectangle 120"/>
          <p:cNvSpPr/>
          <p:nvPr/>
        </p:nvSpPr>
        <p:spPr>
          <a:xfrm>
            <a:off x="7476956" y="4695084"/>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7586684" y="4695084"/>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A6</a:t>
            </a:r>
          </a:p>
        </p:txBody>
      </p:sp>
      <p:sp>
        <p:nvSpPr>
          <p:cNvPr id="123" name="Rectangle 122"/>
          <p:cNvSpPr/>
          <p:nvPr/>
        </p:nvSpPr>
        <p:spPr>
          <a:xfrm>
            <a:off x="8540403" y="4695084"/>
            <a:ext cx="180786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8650131" y="4695084"/>
            <a:ext cx="1624980" cy="323556"/>
          </a:xfrm>
          <a:prstGeom prst="rect">
            <a:avLst/>
          </a:prstGeom>
          <a:noFill/>
        </p:spPr>
        <p:txBody>
          <a:bodyPr wrap="square" anchor="ctr">
            <a:spAutoFit/>
          </a:bodyPr>
          <a:lstStyle/>
          <a:p>
            <a:pPr algn="l">
              <a:spcAft>
                <a:spcPts val="400"/>
              </a:spcAft>
            </a:pPr>
            <a:r>
              <a:rPr sz="900" b="0">
                <a:solidFill>
                  <a:srgbClr val="161B26"/>
                </a:solidFill>
                <a:latin typeface="Arial"/>
              </a:rPr>
              <a:t>K10</a:t>
            </a:r>
          </a:p>
        </p:txBody>
      </p:sp>
      <p:sp>
        <p:nvSpPr>
          <p:cNvPr id="125" name="Rectangle 124"/>
          <p:cNvSpPr/>
          <p:nvPr/>
        </p:nvSpPr>
        <p:spPr>
          <a:xfrm>
            <a:off x="10348263" y="4695084"/>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10457991" y="4695084"/>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30 min</a:t>
            </a:r>
          </a:p>
        </p:txBody>
      </p:sp>
      <p:sp>
        <p:nvSpPr>
          <p:cNvPr id="127" name="Rectangle 126"/>
          <p:cNvSpPr/>
          <p:nvPr/>
        </p:nvSpPr>
        <p:spPr>
          <a:xfrm>
            <a:off x="777240" y="5018640"/>
            <a:ext cx="53172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886968" y="5018640"/>
            <a:ext cx="348843" cy="323556"/>
          </a:xfrm>
          <a:prstGeom prst="rect">
            <a:avLst/>
          </a:prstGeom>
          <a:noFill/>
        </p:spPr>
        <p:txBody>
          <a:bodyPr wrap="square" anchor="ctr">
            <a:spAutoFit/>
          </a:bodyPr>
          <a:lstStyle/>
          <a:p>
            <a:pPr algn="l">
              <a:spcAft>
                <a:spcPts val="400"/>
              </a:spcAft>
            </a:pPr>
            <a:r>
              <a:rPr sz="900" b="1">
                <a:solidFill>
                  <a:srgbClr val="161B26"/>
                </a:solidFill>
                <a:latin typeface="Arial"/>
              </a:rPr>
              <a:t>10</a:t>
            </a:r>
          </a:p>
        </p:txBody>
      </p:sp>
      <p:sp>
        <p:nvSpPr>
          <p:cNvPr id="129" name="Rectangle 128"/>
          <p:cNvSpPr/>
          <p:nvPr/>
        </p:nvSpPr>
        <p:spPr>
          <a:xfrm>
            <a:off x="1308963" y="5018640"/>
            <a:ext cx="542358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418691" y="5018640"/>
            <a:ext cx="5240700" cy="323556"/>
          </a:xfrm>
          <a:prstGeom prst="rect">
            <a:avLst/>
          </a:prstGeom>
          <a:noFill/>
        </p:spPr>
        <p:txBody>
          <a:bodyPr wrap="square" anchor="ctr">
            <a:spAutoFit/>
          </a:bodyPr>
          <a:lstStyle/>
          <a:p>
            <a:pPr algn="l">
              <a:spcAft>
                <a:spcPts val="400"/>
              </a:spcAft>
            </a:pPr>
            <a:r>
              <a:rPr sz="900" b="0">
                <a:solidFill>
                  <a:srgbClr val="161B26"/>
                </a:solidFill>
                <a:latin typeface="Arial"/>
              </a:rPr>
              <a:t>Motion, Tracking and Temporal Continuity Measurement</a:t>
            </a:r>
          </a:p>
        </p:txBody>
      </p:sp>
      <p:sp>
        <p:nvSpPr>
          <p:cNvPr id="131" name="Rectangle 130"/>
          <p:cNvSpPr/>
          <p:nvPr/>
        </p:nvSpPr>
        <p:spPr>
          <a:xfrm>
            <a:off x="6732543" y="5018640"/>
            <a:ext cx="74441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6842271" y="5018640"/>
            <a:ext cx="561533" cy="323556"/>
          </a:xfrm>
          <a:prstGeom prst="rect">
            <a:avLst/>
          </a:prstGeom>
          <a:noFill/>
        </p:spPr>
        <p:txBody>
          <a:bodyPr wrap="square" anchor="ctr">
            <a:spAutoFit/>
          </a:bodyPr>
          <a:lstStyle/>
          <a:p>
            <a:pPr algn="l">
              <a:spcAft>
                <a:spcPts val="400"/>
              </a:spcAft>
            </a:pPr>
            <a:r>
              <a:rPr sz="900" b="0">
                <a:solidFill>
                  <a:srgbClr val="161B26"/>
                </a:solidFill>
                <a:latin typeface="Arial"/>
              </a:rPr>
              <a:t>04</a:t>
            </a:r>
          </a:p>
        </p:txBody>
      </p:sp>
      <p:sp>
        <p:nvSpPr>
          <p:cNvPr id="133" name="Rectangle 132"/>
          <p:cNvSpPr/>
          <p:nvPr/>
        </p:nvSpPr>
        <p:spPr>
          <a:xfrm>
            <a:off x="7476956" y="5018640"/>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7586684" y="5018640"/>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A6</a:t>
            </a:r>
          </a:p>
        </p:txBody>
      </p:sp>
      <p:sp>
        <p:nvSpPr>
          <p:cNvPr id="135" name="Rectangle 134"/>
          <p:cNvSpPr/>
          <p:nvPr/>
        </p:nvSpPr>
        <p:spPr>
          <a:xfrm>
            <a:off x="8540403" y="5018640"/>
            <a:ext cx="180786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8650131" y="5018640"/>
            <a:ext cx="1624980" cy="323556"/>
          </a:xfrm>
          <a:prstGeom prst="rect">
            <a:avLst/>
          </a:prstGeom>
          <a:noFill/>
        </p:spPr>
        <p:txBody>
          <a:bodyPr wrap="square" anchor="ctr">
            <a:spAutoFit/>
          </a:bodyPr>
          <a:lstStyle/>
          <a:p>
            <a:pPr algn="l">
              <a:spcAft>
                <a:spcPts val="400"/>
              </a:spcAft>
            </a:pPr>
            <a:r>
              <a:rPr sz="900" b="0">
                <a:solidFill>
                  <a:srgbClr val="161B26"/>
                </a:solidFill>
                <a:latin typeface="Arial"/>
              </a:rPr>
              <a:t>K10</a:t>
            </a:r>
          </a:p>
        </p:txBody>
      </p:sp>
      <p:sp>
        <p:nvSpPr>
          <p:cNvPr id="137" name="Rectangle 136"/>
          <p:cNvSpPr/>
          <p:nvPr/>
        </p:nvSpPr>
        <p:spPr>
          <a:xfrm>
            <a:off x="10348263" y="5018640"/>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0457991" y="5018640"/>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60 min</a:t>
            </a:r>
          </a:p>
        </p:txBody>
      </p:sp>
      <p:sp>
        <p:nvSpPr>
          <p:cNvPr id="139" name="Rectangle 138"/>
          <p:cNvSpPr/>
          <p:nvPr/>
        </p:nvSpPr>
        <p:spPr>
          <a:xfrm>
            <a:off x="777240" y="5342196"/>
            <a:ext cx="53172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886968" y="5342196"/>
            <a:ext cx="348843" cy="323556"/>
          </a:xfrm>
          <a:prstGeom prst="rect">
            <a:avLst/>
          </a:prstGeom>
          <a:noFill/>
        </p:spPr>
        <p:txBody>
          <a:bodyPr wrap="square" anchor="ctr">
            <a:spAutoFit/>
          </a:bodyPr>
          <a:lstStyle/>
          <a:p>
            <a:pPr algn="l">
              <a:spcAft>
                <a:spcPts val="400"/>
              </a:spcAft>
            </a:pPr>
            <a:r>
              <a:rPr sz="900" b="1">
                <a:solidFill>
                  <a:srgbClr val="161B26"/>
                </a:solidFill>
                <a:latin typeface="Arial"/>
              </a:rPr>
              <a:t>11</a:t>
            </a:r>
          </a:p>
        </p:txBody>
      </p:sp>
      <p:sp>
        <p:nvSpPr>
          <p:cNvPr id="141" name="Rectangle 140"/>
          <p:cNvSpPr/>
          <p:nvPr/>
        </p:nvSpPr>
        <p:spPr>
          <a:xfrm>
            <a:off x="1308963" y="5342196"/>
            <a:ext cx="542358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1418691" y="5342196"/>
            <a:ext cx="5240700" cy="323556"/>
          </a:xfrm>
          <a:prstGeom prst="rect">
            <a:avLst/>
          </a:prstGeom>
          <a:noFill/>
        </p:spPr>
        <p:txBody>
          <a:bodyPr wrap="square" anchor="ctr">
            <a:spAutoFit/>
          </a:bodyPr>
          <a:lstStyle/>
          <a:p>
            <a:pPr algn="l">
              <a:spcAft>
                <a:spcPts val="400"/>
              </a:spcAft>
            </a:pPr>
            <a:r>
              <a:rPr sz="900" b="0">
                <a:solidFill>
                  <a:srgbClr val="161B26"/>
                </a:solidFill>
                <a:latin typeface="Arial"/>
              </a:rPr>
              <a:t>Captions, Overlays, Safe Areas and Export Profiles</a:t>
            </a:r>
          </a:p>
        </p:txBody>
      </p:sp>
      <p:sp>
        <p:nvSpPr>
          <p:cNvPr id="143" name="Rectangle 142"/>
          <p:cNvSpPr/>
          <p:nvPr/>
        </p:nvSpPr>
        <p:spPr>
          <a:xfrm>
            <a:off x="6732543" y="5342196"/>
            <a:ext cx="74441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6842271" y="5342196"/>
            <a:ext cx="561533" cy="323556"/>
          </a:xfrm>
          <a:prstGeom prst="rect">
            <a:avLst/>
          </a:prstGeom>
          <a:noFill/>
        </p:spPr>
        <p:txBody>
          <a:bodyPr wrap="square" anchor="ctr">
            <a:spAutoFit/>
          </a:bodyPr>
          <a:lstStyle/>
          <a:p>
            <a:pPr algn="l">
              <a:spcAft>
                <a:spcPts val="400"/>
              </a:spcAft>
            </a:pPr>
            <a:r>
              <a:rPr sz="900" b="0">
                <a:solidFill>
                  <a:srgbClr val="161B26"/>
                </a:solidFill>
                <a:latin typeface="Arial"/>
              </a:rPr>
              <a:t>04</a:t>
            </a:r>
          </a:p>
        </p:txBody>
      </p:sp>
      <p:sp>
        <p:nvSpPr>
          <p:cNvPr id="145" name="Rectangle 144"/>
          <p:cNvSpPr/>
          <p:nvPr/>
        </p:nvSpPr>
        <p:spPr>
          <a:xfrm>
            <a:off x="7476956" y="5342196"/>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7586684" y="5342196"/>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A6</a:t>
            </a:r>
          </a:p>
        </p:txBody>
      </p:sp>
      <p:sp>
        <p:nvSpPr>
          <p:cNvPr id="147" name="Rectangle 146"/>
          <p:cNvSpPr/>
          <p:nvPr/>
        </p:nvSpPr>
        <p:spPr>
          <a:xfrm>
            <a:off x="8540403" y="5342196"/>
            <a:ext cx="180786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8650131" y="5342196"/>
            <a:ext cx="1624980" cy="323556"/>
          </a:xfrm>
          <a:prstGeom prst="rect">
            <a:avLst/>
          </a:prstGeom>
          <a:noFill/>
        </p:spPr>
        <p:txBody>
          <a:bodyPr wrap="square" anchor="ctr">
            <a:spAutoFit/>
          </a:bodyPr>
          <a:lstStyle/>
          <a:p>
            <a:pPr algn="l">
              <a:spcAft>
                <a:spcPts val="400"/>
              </a:spcAft>
            </a:pPr>
            <a:r>
              <a:rPr sz="900" b="0">
                <a:solidFill>
                  <a:srgbClr val="161B26"/>
                </a:solidFill>
                <a:latin typeface="Arial"/>
              </a:rPr>
              <a:t>K10</a:t>
            </a:r>
          </a:p>
        </p:txBody>
      </p:sp>
      <p:sp>
        <p:nvSpPr>
          <p:cNvPr id="149" name="Rectangle 148"/>
          <p:cNvSpPr/>
          <p:nvPr/>
        </p:nvSpPr>
        <p:spPr>
          <a:xfrm>
            <a:off x="10348263" y="5342196"/>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0457991" y="5342196"/>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30 min</a:t>
            </a:r>
          </a:p>
        </p:txBody>
      </p:sp>
      <p:sp>
        <p:nvSpPr>
          <p:cNvPr id="151" name="Rectangle 150"/>
          <p:cNvSpPr/>
          <p:nvPr/>
        </p:nvSpPr>
        <p:spPr>
          <a:xfrm>
            <a:off x="777240" y="5665752"/>
            <a:ext cx="53172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886968" y="5665752"/>
            <a:ext cx="348843" cy="323556"/>
          </a:xfrm>
          <a:prstGeom prst="rect">
            <a:avLst/>
          </a:prstGeom>
          <a:noFill/>
        </p:spPr>
        <p:txBody>
          <a:bodyPr wrap="square" anchor="ctr">
            <a:spAutoFit/>
          </a:bodyPr>
          <a:lstStyle/>
          <a:p>
            <a:pPr algn="l">
              <a:spcAft>
                <a:spcPts val="400"/>
              </a:spcAft>
            </a:pPr>
            <a:r>
              <a:rPr sz="900" b="1">
                <a:solidFill>
                  <a:srgbClr val="161B26"/>
                </a:solidFill>
                <a:latin typeface="Arial"/>
              </a:rPr>
              <a:t>12</a:t>
            </a:r>
          </a:p>
        </p:txBody>
      </p:sp>
      <p:sp>
        <p:nvSpPr>
          <p:cNvPr id="153" name="Rectangle 152"/>
          <p:cNvSpPr/>
          <p:nvPr/>
        </p:nvSpPr>
        <p:spPr>
          <a:xfrm>
            <a:off x="1308963" y="5665752"/>
            <a:ext cx="542358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1418691" y="5665752"/>
            <a:ext cx="5240700" cy="323556"/>
          </a:xfrm>
          <a:prstGeom prst="rect">
            <a:avLst/>
          </a:prstGeom>
          <a:noFill/>
        </p:spPr>
        <p:txBody>
          <a:bodyPr wrap="square" anchor="ctr">
            <a:spAutoFit/>
          </a:bodyPr>
          <a:lstStyle/>
          <a:p>
            <a:pPr algn="l">
              <a:spcAft>
                <a:spcPts val="400"/>
              </a:spcAft>
            </a:pPr>
            <a:r>
              <a:rPr sz="900" b="0">
                <a:solidFill>
                  <a:srgbClr val="161B26"/>
                </a:solidFill>
                <a:latin typeface="Arial"/>
              </a:rPr>
              <a:t>Cloud-Edge Architecture Design and Measured Trade-offs</a:t>
            </a:r>
          </a:p>
        </p:txBody>
      </p:sp>
      <p:sp>
        <p:nvSpPr>
          <p:cNvPr id="155" name="Rectangle 154"/>
          <p:cNvSpPr/>
          <p:nvPr/>
        </p:nvSpPr>
        <p:spPr>
          <a:xfrm>
            <a:off x="6732543" y="5665752"/>
            <a:ext cx="74441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6842271" y="5665752"/>
            <a:ext cx="561533" cy="323556"/>
          </a:xfrm>
          <a:prstGeom prst="rect">
            <a:avLst/>
          </a:prstGeom>
          <a:noFill/>
        </p:spPr>
        <p:txBody>
          <a:bodyPr wrap="square" anchor="ctr">
            <a:spAutoFit/>
          </a:bodyPr>
          <a:lstStyle/>
          <a:p>
            <a:pPr algn="l">
              <a:spcAft>
                <a:spcPts val="400"/>
              </a:spcAft>
            </a:pPr>
            <a:r>
              <a:rPr sz="900" b="0">
                <a:solidFill>
                  <a:srgbClr val="161B26"/>
                </a:solidFill>
                <a:latin typeface="Arial"/>
              </a:rPr>
              <a:t>05</a:t>
            </a:r>
          </a:p>
        </p:txBody>
      </p:sp>
      <p:sp>
        <p:nvSpPr>
          <p:cNvPr id="157" name="Rectangle 156"/>
          <p:cNvSpPr/>
          <p:nvPr/>
        </p:nvSpPr>
        <p:spPr>
          <a:xfrm>
            <a:off x="7476956" y="5665752"/>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7586684" y="5665752"/>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A7, A8</a:t>
            </a:r>
          </a:p>
        </p:txBody>
      </p:sp>
      <p:sp>
        <p:nvSpPr>
          <p:cNvPr id="159" name="Rectangle 158"/>
          <p:cNvSpPr/>
          <p:nvPr/>
        </p:nvSpPr>
        <p:spPr>
          <a:xfrm>
            <a:off x="8540403" y="5665752"/>
            <a:ext cx="180786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8650131" y="5665752"/>
            <a:ext cx="1624980" cy="323556"/>
          </a:xfrm>
          <a:prstGeom prst="rect">
            <a:avLst/>
          </a:prstGeom>
          <a:noFill/>
        </p:spPr>
        <p:txBody>
          <a:bodyPr wrap="square" anchor="ctr">
            <a:spAutoFit/>
          </a:bodyPr>
          <a:lstStyle/>
          <a:p>
            <a:pPr algn="l">
              <a:spcAft>
                <a:spcPts val="400"/>
              </a:spcAft>
            </a:pPr>
            <a:r>
              <a:rPr sz="900" b="0">
                <a:solidFill>
                  <a:srgbClr val="161B26"/>
                </a:solidFill>
                <a:latin typeface="Arial"/>
              </a:rPr>
              <a:t>K11, K12, K13</a:t>
            </a:r>
          </a:p>
        </p:txBody>
      </p:sp>
      <p:sp>
        <p:nvSpPr>
          <p:cNvPr id="161" name="Rectangle 160"/>
          <p:cNvSpPr/>
          <p:nvPr/>
        </p:nvSpPr>
        <p:spPr>
          <a:xfrm>
            <a:off x="10348263" y="5665752"/>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0457991" y="5665752"/>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60 min</a:t>
            </a:r>
          </a:p>
        </p:txBody>
      </p:sp>
      <p:sp>
        <p:nvSpPr>
          <p:cNvPr id="163" name="TextBox 162"/>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Each lab folder carries its own numbered steps, mock data, local media, prompt pack, expected outputs, evidence checklist and troubleshooting. No lab needs a paid service.</a:t>
            </a:r>
          </a:p>
        </p:txBody>
      </p:sp>
      <p:sp>
        <p:nvSpPr>
          <p:cNvPr id="164" name="TextBox 16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165" name="TextBox 16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6" name="TextBox 16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TARGET LEARNER PROFILE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Entry Requirements and Who This Is For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400" b="1">
                <a:solidFill>
                  <a:srgbClr val="161B26"/>
                </a:solidFill>
                <a:latin typeface="Arial"/>
              </a:rPr>
              <a:t>Knowledge and skills</a:t>
            </a:r>
          </a:p>
          <a:p>
            <a:pPr algn="l">
              <a:spcAft>
                <a:spcPts val="200"/>
              </a:spcAft>
            </a:pPr>
            <a:r>
              <a:rPr sz="1100" b="0">
                <a:solidFill>
                  <a:srgbClr val="5B6372"/>
                </a:solidFill>
                <a:latin typeface="Arial"/>
              </a:rPr>
              <a:t>Computer literacy at ICAS Level 2; minimum 3 GCE 'O' Levels including English, or WPL Level 5.</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400" b="1">
                <a:solidFill>
                  <a:srgbClr val="161B26"/>
                </a:solidFill>
                <a:latin typeface="Arial"/>
              </a:rPr>
              <a:t>Experience</a:t>
            </a:r>
          </a:p>
          <a:p>
            <a:pPr algn="l">
              <a:spcAft>
                <a:spcPts val="200"/>
              </a:spcAft>
            </a:pPr>
            <a:r>
              <a:rPr sz="1100" b="0">
                <a:solidFill>
                  <a:srgbClr val="5B6372"/>
                </a:solidFill>
                <a:latin typeface="Arial"/>
              </a:rPr>
              <a:t>Minimum 1 year of working experience; minimum 18 years of age.</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400" b="1">
                <a:solidFill>
                  <a:srgbClr val="161B26"/>
                </a:solidFill>
                <a:latin typeface="Arial"/>
              </a:rPr>
              <a:t>Technical</a:t>
            </a:r>
          </a:p>
          <a:p>
            <a:pPr algn="l">
              <a:spcAft>
                <a:spcPts val="200"/>
              </a:spcAft>
            </a:pPr>
            <a:r>
              <a:rPr sz="1100" b="0">
                <a:solidFill>
                  <a:srgbClr val="5B6372"/>
                </a:solidFill>
                <a:latin typeface="Arial"/>
              </a:rPr>
              <a:t>Windows or Mac laptop, a modern browser, and Python 3 with opencv-python and NumPy installed.</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400" b="1">
                <a:solidFill>
                  <a:srgbClr val="161B26"/>
                </a:solidFill>
                <a:latin typeface="Arial"/>
              </a:rPr>
              <a:t>Coding</a:t>
            </a:r>
          </a:p>
          <a:p>
            <a:pPr algn="l">
              <a:spcAft>
                <a:spcPts val="200"/>
              </a:spcAft>
            </a:pPr>
            <a:r>
              <a:rPr sz="1100" b="0">
                <a:solidFill>
                  <a:srgbClr val="5B6372"/>
                </a:solidFill>
                <a:latin typeface="Arial"/>
              </a:rPr>
              <a:t>Basic Python is helpful but not assumed — every lab script is supplied, run and explained line by line.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400" b="1">
                <a:solidFill>
                  <a:srgbClr val="161B26"/>
                </a:solidFill>
                <a:latin typeface="Arial"/>
              </a:rPr>
              <a:t>Typical roles</a:t>
            </a:r>
          </a:p>
          <a:p>
            <a:pPr algn="l">
              <a:spcAft>
                <a:spcPts val="200"/>
              </a:spcAft>
            </a:pPr>
            <a:r>
              <a:rPr sz="1100" b="0">
                <a:solidFill>
                  <a:srgbClr val="5B6372"/>
                </a:solidFill>
                <a:latin typeface="Arial"/>
              </a:rPr>
              <a:t>Content creator, digital marketer, social media manager, graphic designer, video editor, multimedia producer, instructional designer, marketing communications executive.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400" b="1">
                <a:solidFill>
                  <a:srgbClr val="161B26"/>
                </a:solidFill>
                <a:latin typeface="Arial"/>
              </a:rPr>
              <a:t>What you leave with</a:t>
            </a:r>
          </a:p>
          <a:p>
            <a:pPr algn="l">
              <a:spcAft>
                <a:spcPts val="200"/>
              </a:spcAft>
            </a:pPr>
            <a:r>
              <a:rPr sz="1100" b="0">
                <a:solidFill>
                  <a:srgbClr val="5B6372"/>
                </a:solidFill>
                <a:latin typeface="Arial"/>
              </a:rPr>
              <a:t>12 runnable labs, a versioned prompt library, and measurement gates you can put in front of any delivered asset.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BEFORE THE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Place phones and all other materials under the table or on the floor.</a:t>
            </a:r>
          </a:p>
          <a:p>
            <a:pPr>
              <a:spcAft>
                <a:spcPts val="1000"/>
              </a:spcAft>
            </a:pPr>
            <a:r>
              <a:rPr sz="1600" b="0">
                <a:solidFill>
                  <a:srgbClr val="161B26"/>
                </a:solidFill>
                <a:latin typeface="Arial"/>
              </a:rPr>
              <a:t>•  No photographs and no recording of assessment scripts.</a:t>
            </a:r>
          </a:p>
          <a:p>
            <a:pPr>
              <a:spcAft>
                <a:spcPts val="1000"/>
              </a:spcAft>
            </a:pPr>
            <a:r>
              <a:rPr sz="1600" b="0">
                <a:solidFill>
                  <a:srgbClr val="161B26"/>
                </a:solidFill>
                <a:latin typeface="Arial"/>
              </a:rPr>
              <a:t>•  No discussion during the assessment.</a:t>
            </a:r>
          </a:p>
          <a:p>
            <a:pPr>
              <a:spcAft>
                <a:spcPts val="1000"/>
              </a:spcAft>
            </a:pPr>
            <a:r>
              <a:rPr sz="1600" b="0">
                <a:solidFill>
                  <a:srgbClr val="161B26"/>
                </a:solidFill>
                <a:latin typeface="Arial"/>
              </a:rPr>
              <a:t>•  Use a black or blue pen for any hard-copy response.</a:t>
            </a:r>
          </a:p>
          <a:p>
            <a:pPr>
              <a:spcAft>
                <a:spcPts val="1000"/>
              </a:spcAft>
            </a:pPr>
            <a:r>
              <a:rPr sz="1600" b="0">
                <a:solidFill>
                  <a:srgbClr val="161B26"/>
                </a:solidFill>
                <a:latin typeface="Arial"/>
              </a:rPr>
              <a:t>•  No liquid paper and no correction tape.</a:t>
            </a:r>
          </a:p>
          <a:p>
            <a:pPr>
              <a:spcAft>
                <a:spcPts val="1000"/>
              </a:spcAft>
            </a:pPr>
            <a:r>
              <a:rPr sz="1600" b="0">
                <a:solidFill>
                  <a:srgbClr val="161B26"/>
                </a:solidFill>
                <a:latin typeface="Arial"/>
              </a:rPr>
              <a:t>•  Assessment scripts are collected when time is up.</a:t>
            </a:r>
          </a:p>
          <a:p>
            <a:pPr>
              <a:spcAft>
                <a:spcPts val="1000"/>
              </a:spcAft>
            </a:pPr>
            <a:r>
              <a:rPr sz="1600" b="0">
                <a:solidFill>
                  <a:srgbClr val="161B26"/>
                </a:solidFill>
                <a:latin typeface="Arial"/>
              </a:rPr>
              <a:t>•  Take the Assessment digital attendance before the paper starts.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REGISTERED ASSESSMENT PLAN · TGS-2020505925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12689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1944014" cy="1051560"/>
          </a:xfrm>
          <a:prstGeom prst="rect">
            <a:avLst/>
          </a:prstGeom>
          <a:noFill/>
        </p:spPr>
        <p:txBody>
          <a:bodyPr wrap="square" anchor="ctr">
            <a:spAutoFit/>
          </a:bodyPr>
          <a:lstStyle/>
          <a:p>
            <a:pPr algn="l">
              <a:spcAft>
                <a:spcPts val="400"/>
              </a:spcAft>
            </a:pPr>
            <a:r>
              <a:rPr sz="1100" b="1">
                <a:solidFill>
                  <a:srgbClr val="FFFFFF"/>
                </a:solidFill>
                <a:latin typeface="Arial"/>
              </a:rPr>
              <a:t>Instrument</a:t>
            </a:r>
          </a:p>
        </p:txBody>
      </p:sp>
      <p:sp>
        <p:nvSpPr>
          <p:cNvPr id="9" name="Rectangle 8"/>
          <p:cNvSpPr/>
          <p:nvPr/>
        </p:nvSpPr>
        <p:spPr>
          <a:xfrm>
            <a:off x="2904134" y="1783080"/>
            <a:ext cx="4891857"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3862" y="1783080"/>
            <a:ext cx="4708977" cy="1051560"/>
          </a:xfrm>
          <a:prstGeom prst="rect">
            <a:avLst/>
          </a:prstGeom>
          <a:noFill/>
        </p:spPr>
        <p:txBody>
          <a:bodyPr wrap="square" anchor="ctr">
            <a:spAutoFit/>
          </a:bodyPr>
          <a:lstStyle/>
          <a:p>
            <a:pPr algn="l">
              <a:spcAft>
                <a:spcPts val="400"/>
              </a:spcAft>
            </a:pPr>
            <a:r>
              <a:rPr sz="1100" b="1">
                <a:solidFill>
                  <a:srgbClr val="FFFFFF"/>
                </a:solidFill>
                <a:latin typeface="Arial"/>
              </a:rPr>
              <a:t>Covers</a:t>
            </a:r>
          </a:p>
        </p:txBody>
      </p:sp>
      <p:sp>
        <p:nvSpPr>
          <p:cNvPr id="11" name="Rectangle 10"/>
          <p:cNvSpPr/>
          <p:nvPr/>
        </p:nvSpPr>
        <p:spPr>
          <a:xfrm>
            <a:off x="7795991" y="1783080"/>
            <a:ext cx="1276136"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5719" y="1783080"/>
            <a:ext cx="1093256" cy="1051560"/>
          </a:xfrm>
          <a:prstGeom prst="rect">
            <a:avLst/>
          </a:prstGeom>
          <a:noFill/>
        </p:spPr>
        <p:txBody>
          <a:bodyPr wrap="square" anchor="ctr">
            <a:spAutoFit/>
          </a:bodyPr>
          <a:lstStyle/>
          <a:p>
            <a:pPr algn="l">
              <a:spcAft>
                <a:spcPts val="400"/>
              </a:spcAft>
            </a:pPr>
            <a:r>
              <a:rPr sz="1100" b="1">
                <a:solidFill>
                  <a:srgbClr val="FFFFFF"/>
                </a:solidFill>
                <a:latin typeface="Arial"/>
              </a:rPr>
              <a:t>Duration</a:t>
            </a:r>
          </a:p>
        </p:txBody>
      </p:sp>
      <p:sp>
        <p:nvSpPr>
          <p:cNvPr id="13" name="Rectangle 12"/>
          <p:cNvSpPr/>
          <p:nvPr/>
        </p:nvSpPr>
        <p:spPr>
          <a:xfrm>
            <a:off x="9072127" y="1783080"/>
            <a:ext cx="2339583"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1855" y="1783080"/>
            <a:ext cx="2156703" cy="1051560"/>
          </a:xfrm>
          <a:prstGeom prst="rect">
            <a:avLst/>
          </a:prstGeom>
          <a:noFill/>
        </p:spPr>
        <p:txBody>
          <a:bodyPr wrap="square" anchor="ctr">
            <a:spAutoFit/>
          </a:bodyPr>
          <a:lstStyle/>
          <a:p>
            <a:pPr algn="l">
              <a:spcAft>
                <a:spcPts val="400"/>
              </a:spcAft>
            </a:pPr>
            <a:r>
              <a:rPr sz="1100" b="1">
                <a:solidFill>
                  <a:srgbClr val="FFFFFF"/>
                </a:solidFill>
                <a:latin typeface="Arial"/>
              </a:rPr>
              <a:t>Format</a:t>
            </a:r>
          </a:p>
        </p:txBody>
      </p:sp>
      <p:sp>
        <p:nvSpPr>
          <p:cNvPr id="15" name="Rectangle 14"/>
          <p:cNvSpPr/>
          <p:nvPr/>
        </p:nvSpPr>
        <p:spPr>
          <a:xfrm>
            <a:off x="777240" y="2834640"/>
            <a:ext cx="2126894"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834640"/>
            <a:ext cx="1944014" cy="1051560"/>
          </a:xfrm>
          <a:prstGeom prst="rect">
            <a:avLst/>
          </a:prstGeom>
          <a:noFill/>
        </p:spPr>
        <p:txBody>
          <a:bodyPr wrap="square" anchor="ctr">
            <a:spAutoFit/>
          </a:bodyPr>
          <a:lstStyle/>
          <a:p>
            <a:pPr algn="l">
              <a:spcAft>
                <a:spcPts val="400"/>
              </a:spcAft>
            </a:pPr>
            <a:r>
              <a:rPr sz="1000" b="1">
                <a:solidFill>
                  <a:srgbClr val="161B26"/>
                </a:solidFill>
                <a:latin typeface="Arial"/>
              </a:rPr>
              <a:t>Written Assessment WA(Q&amp;A)</a:t>
            </a:r>
          </a:p>
        </p:txBody>
      </p:sp>
      <p:sp>
        <p:nvSpPr>
          <p:cNvPr id="17" name="Rectangle 16"/>
          <p:cNvSpPr/>
          <p:nvPr/>
        </p:nvSpPr>
        <p:spPr>
          <a:xfrm>
            <a:off x="2904134" y="2834640"/>
            <a:ext cx="4891857"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13862" y="2834640"/>
            <a:ext cx="4708977" cy="1051560"/>
          </a:xfrm>
          <a:prstGeom prst="rect">
            <a:avLst/>
          </a:prstGeom>
          <a:noFill/>
        </p:spPr>
        <p:txBody>
          <a:bodyPr wrap="square" anchor="ctr">
            <a:spAutoFit/>
          </a:bodyPr>
          <a:lstStyle/>
          <a:p>
            <a:pPr algn="l">
              <a:spcAft>
                <a:spcPts val="400"/>
              </a:spcAft>
            </a:pPr>
            <a:r>
              <a:rPr sz="1000" b="0">
                <a:solidFill>
                  <a:srgbClr val="161B26"/>
                </a:solidFill>
                <a:latin typeface="Arial"/>
              </a:rPr>
              <a:t>K1 to K13 — 13 open-ended short-answer questions, one per knowledge statement</a:t>
            </a:r>
          </a:p>
        </p:txBody>
      </p:sp>
      <p:sp>
        <p:nvSpPr>
          <p:cNvPr id="19" name="Rectangle 18"/>
          <p:cNvSpPr/>
          <p:nvPr/>
        </p:nvSpPr>
        <p:spPr>
          <a:xfrm>
            <a:off x="7795991" y="2834640"/>
            <a:ext cx="1276136"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5719" y="2834640"/>
            <a:ext cx="1093256" cy="1051560"/>
          </a:xfrm>
          <a:prstGeom prst="rect">
            <a:avLst/>
          </a:prstGeom>
          <a:noFill/>
        </p:spPr>
        <p:txBody>
          <a:bodyPr wrap="square" anchor="ctr">
            <a:spAutoFit/>
          </a:bodyPr>
          <a:lstStyle/>
          <a:p>
            <a:pPr algn="l">
              <a:spcAft>
                <a:spcPts val="400"/>
              </a:spcAft>
            </a:pPr>
            <a:r>
              <a:rPr sz="1000" b="0">
                <a:solidFill>
                  <a:srgbClr val="161B26"/>
                </a:solidFill>
                <a:latin typeface="Arial"/>
              </a:rPr>
              <a:t>60 min</a:t>
            </a:r>
          </a:p>
        </p:txBody>
      </p:sp>
      <p:sp>
        <p:nvSpPr>
          <p:cNvPr id="21" name="Rectangle 20"/>
          <p:cNvSpPr/>
          <p:nvPr/>
        </p:nvSpPr>
        <p:spPr>
          <a:xfrm>
            <a:off x="9072127" y="2834640"/>
            <a:ext cx="2339583"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1855" y="2834640"/>
            <a:ext cx="2156703" cy="1051560"/>
          </a:xfrm>
          <a:prstGeom prst="rect">
            <a:avLst/>
          </a:prstGeom>
          <a:noFill/>
        </p:spPr>
        <p:txBody>
          <a:bodyPr wrap="square" anchor="ctr">
            <a:spAutoFit/>
          </a:bodyPr>
          <a:lstStyle/>
          <a:p>
            <a:pPr algn="l">
              <a:spcAft>
                <a:spcPts val="400"/>
              </a:spcAft>
            </a:pPr>
            <a:r>
              <a:rPr sz="1000" b="0">
                <a:solidFill>
                  <a:srgbClr val="161B26"/>
                </a:solidFill>
                <a:latin typeface="Arial"/>
              </a:rPr>
              <a:t>Individual, summative, open book</a:t>
            </a:r>
          </a:p>
        </p:txBody>
      </p:sp>
      <p:sp>
        <p:nvSpPr>
          <p:cNvPr id="23" name="Rectangle 22"/>
          <p:cNvSpPr/>
          <p:nvPr/>
        </p:nvSpPr>
        <p:spPr>
          <a:xfrm>
            <a:off x="777240" y="3886200"/>
            <a:ext cx="2126894"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3886200"/>
            <a:ext cx="1944014" cy="1051560"/>
          </a:xfrm>
          <a:prstGeom prst="rect">
            <a:avLst/>
          </a:prstGeom>
          <a:noFill/>
        </p:spPr>
        <p:txBody>
          <a:bodyPr wrap="square" anchor="ctr">
            <a:spAutoFit/>
          </a:bodyPr>
          <a:lstStyle/>
          <a:p>
            <a:pPr algn="l">
              <a:spcAft>
                <a:spcPts val="400"/>
              </a:spcAft>
            </a:pPr>
            <a:r>
              <a:rPr sz="1000" b="1">
                <a:solidFill>
                  <a:srgbClr val="161B26"/>
                </a:solidFill>
                <a:latin typeface="Arial"/>
              </a:rPr>
              <a:t>Practical Performance (PP)</a:t>
            </a:r>
          </a:p>
        </p:txBody>
      </p:sp>
      <p:sp>
        <p:nvSpPr>
          <p:cNvPr id="25" name="Rectangle 24"/>
          <p:cNvSpPr/>
          <p:nvPr/>
        </p:nvSpPr>
        <p:spPr>
          <a:xfrm>
            <a:off x="2904134" y="3886200"/>
            <a:ext cx="4891857"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13862" y="3886200"/>
            <a:ext cx="4708977" cy="1051560"/>
          </a:xfrm>
          <a:prstGeom prst="rect">
            <a:avLst/>
          </a:prstGeom>
          <a:noFill/>
        </p:spPr>
        <p:txBody>
          <a:bodyPr wrap="square" anchor="ctr">
            <a:spAutoFit/>
          </a:bodyPr>
          <a:lstStyle/>
          <a:p>
            <a:pPr algn="l">
              <a:spcAft>
                <a:spcPts val="400"/>
              </a:spcAft>
            </a:pPr>
            <a:r>
              <a:rPr sz="1000" b="0">
                <a:solidFill>
                  <a:srgbClr val="161B26"/>
                </a:solidFill>
                <a:latin typeface="Arial"/>
              </a:rPr>
              <a:t>A1 to A8 — 5 scenario-based tasks (Task 1: A1 · Task 2: A2, A3 · Task 3: A4 · Task 4: A5, A6 · Task 5: A7, A8)</a:t>
            </a:r>
          </a:p>
        </p:txBody>
      </p:sp>
      <p:sp>
        <p:nvSpPr>
          <p:cNvPr id="27" name="Rectangle 26"/>
          <p:cNvSpPr/>
          <p:nvPr/>
        </p:nvSpPr>
        <p:spPr>
          <a:xfrm>
            <a:off x="7795991" y="3886200"/>
            <a:ext cx="1276136"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5719" y="3886200"/>
            <a:ext cx="1093256" cy="1051560"/>
          </a:xfrm>
          <a:prstGeom prst="rect">
            <a:avLst/>
          </a:prstGeom>
          <a:noFill/>
        </p:spPr>
        <p:txBody>
          <a:bodyPr wrap="square" anchor="ctr">
            <a:spAutoFit/>
          </a:bodyPr>
          <a:lstStyle/>
          <a:p>
            <a:pPr algn="l">
              <a:spcAft>
                <a:spcPts val="400"/>
              </a:spcAft>
            </a:pPr>
            <a:r>
              <a:rPr sz="1000" b="0">
                <a:solidFill>
                  <a:srgbClr val="161B26"/>
                </a:solidFill>
                <a:latin typeface="Arial"/>
              </a:rPr>
              <a:t>90 min</a:t>
            </a:r>
          </a:p>
        </p:txBody>
      </p:sp>
      <p:sp>
        <p:nvSpPr>
          <p:cNvPr id="29" name="Rectangle 28"/>
          <p:cNvSpPr/>
          <p:nvPr/>
        </p:nvSpPr>
        <p:spPr>
          <a:xfrm>
            <a:off x="9072127" y="3886200"/>
            <a:ext cx="2339583"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81855" y="3886200"/>
            <a:ext cx="2156703" cy="1051560"/>
          </a:xfrm>
          <a:prstGeom prst="rect">
            <a:avLst/>
          </a:prstGeom>
          <a:noFill/>
        </p:spPr>
        <p:txBody>
          <a:bodyPr wrap="square" anchor="ctr">
            <a:spAutoFit/>
          </a:bodyPr>
          <a:lstStyle/>
          <a:p>
            <a:pPr algn="l">
              <a:spcAft>
                <a:spcPts val="400"/>
              </a:spcAft>
            </a:pPr>
            <a:r>
              <a:rPr sz="1000" b="0">
                <a:solidFill>
                  <a:srgbClr val="161B26"/>
                </a:solidFill>
                <a:latin typeface="Arial"/>
              </a:rPr>
              <a:t>Individual, summative, open book</a:t>
            </a:r>
          </a:p>
        </p:txBody>
      </p:sp>
      <p:sp>
        <p:nvSpPr>
          <p:cNvPr id="31" name="Rectangle 30"/>
          <p:cNvSpPr/>
          <p:nvPr/>
        </p:nvSpPr>
        <p:spPr>
          <a:xfrm>
            <a:off x="777240" y="4937760"/>
            <a:ext cx="2126894"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937760"/>
            <a:ext cx="1944014" cy="1051560"/>
          </a:xfrm>
          <a:prstGeom prst="rect">
            <a:avLst/>
          </a:prstGeom>
          <a:noFill/>
        </p:spPr>
        <p:txBody>
          <a:bodyPr wrap="square" anchor="ctr">
            <a:spAutoFit/>
          </a:bodyPr>
          <a:lstStyle/>
          <a:p>
            <a:pPr algn="l">
              <a:spcAft>
                <a:spcPts val="400"/>
              </a:spcAft>
            </a:pPr>
            <a:r>
              <a:rPr sz="1000" b="1">
                <a:solidFill>
                  <a:srgbClr val="161B26"/>
                </a:solidFill>
                <a:latin typeface="Arial"/>
              </a:rPr>
              <a:t>Total</a:t>
            </a:r>
          </a:p>
        </p:txBody>
      </p:sp>
      <p:sp>
        <p:nvSpPr>
          <p:cNvPr id="33" name="Rectangle 32"/>
          <p:cNvSpPr/>
          <p:nvPr/>
        </p:nvSpPr>
        <p:spPr>
          <a:xfrm>
            <a:off x="2904134" y="4937760"/>
            <a:ext cx="4891857"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13862" y="4937760"/>
            <a:ext cx="4708977" cy="1051560"/>
          </a:xfrm>
          <a:prstGeom prst="rect">
            <a:avLst/>
          </a:prstGeom>
          <a:noFill/>
        </p:spPr>
        <p:txBody>
          <a:bodyPr wrap="square" anchor="ctr">
            <a:spAutoFit/>
          </a:bodyPr>
          <a:lstStyle/>
          <a:p>
            <a:pPr algn="l">
              <a:spcAft>
                <a:spcPts val="400"/>
              </a:spcAft>
            </a:pPr>
            <a:r>
              <a:rPr sz="1000" b="0">
                <a:solidFill>
                  <a:srgbClr val="161B26"/>
                </a:solidFill>
                <a:latin typeface="Arial"/>
              </a:rPr>
              <a:t>Full TSC coverage; assessor-to-candidate ratio 1:3 to 1:10</a:t>
            </a:r>
          </a:p>
        </p:txBody>
      </p:sp>
      <p:sp>
        <p:nvSpPr>
          <p:cNvPr id="35" name="Rectangle 34"/>
          <p:cNvSpPr/>
          <p:nvPr/>
        </p:nvSpPr>
        <p:spPr>
          <a:xfrm>
            <a:off x="7795991" y="4937760"/>
            <a:ext cx="1276136"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05719" y="4937760"/>
            <a:ext cx="1093256" cy="1051560"/>
          </a:xfrm>
          <a:prstGeom prst="rect">
            <a:avLst/>
          </a:prstGeom>
          <a:noFill/>
        </p:spPr>
        <p:txBody>
          <a:bodyPr wrap="square" anchor="ctr">
            <a:spAutoFit/>
          </a:bodyPr>
          <a:lstStyle/>
          <a:p>
            <a:pPr algn="l">
              <a:spcAft>
                <a:spcPts val="400"/>
              </a:spcAft>
            </a:pPr>
            <a:r>
              <a:rPr sz="1000" b="0">
                <a:solidFill>
                  <a:srgbClr val="161B26"/>
                </a:solidFill>
                <a:latin typeface="Arial"/>
              </a:rPr>
              <a:t>2.5 hours</a:t>
            </a:r>
          </a:p>
        </p:txBody>
      </p:sp>
      <p:sp>
        <p:nvSpPr>
          <p:cNvPr id="37" name="Rectangle 36"/>
          <p:cNvSpPr/>
          <p:nvPr/>
        </p:nvSpPr>
        <p:spPr>
          <a:xfrm>
            <a:off x="9072127" y="4937760"/>
            <a:ext cx="2339583"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81855" y="4937760"/>
            <a:ext cx="2156703" cy="1051560"/>
          </a:xfrm>
          <a:prstGeom prst="rect">
            <a:avLst/>
          </a:prstGeom>
          <a:noFill/>
        </p:spPr>
        <p:txBody>
          <a:bodyPr wrap="square" anchor="ctr">
            <a:spAutoFit/>
          </a:bodyPr>
          <a:lstStyle/>
          <a:p>
            <a:pPr algn="l">
              <a:spcAft>
                <a:spcPts val="400"/>
              </a:spcAft>
            </a:pPr>
            <a:r>
              <a:rPr sz="1000" b="0">
                <a:solidFill>
                  <a:srgbClr val="161B26"/>
                </a:solidFill>
                <a:latin typeface="Arial"/>
              </a:rPr>
              <a:t>Day 2, from 16:10</a:t>
            </a:r>
          </a:p>
        </p:txBody>
      </p:sp>
      <p:sp>
        <p:nvSpPr>
          <p:cNvPr id="39" name="TextBox 38"/>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Open book means the slides, the Learner Guide and approved course materials only. A minimum 75% attendance record and a 'Competent' outcome are both required for funding. An appeal process is available.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fast">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0568" y="260604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0568"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1" name="TextBox 10"/>
          <p:cNvSpPr txBox="1"/>
          <p:nvPr/>
        </p:nvSpPr>
        <p:spPr>
          <a:xfrm>
            <a:off x="905256"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TRAQOM survey — scan the QR code on the LMS</a:t>
            </a:r>
          </a:p>
        </p:txBody>
      </p:sp>
      <p:cxnSp>
        <p:nvCxnSpPr>
          <p:cNvPr id="12" name="Connector 11"/>
          <p:cNvCxnSpPr/>
          <p:nvPr/>
        </p:nvCxnSpPr>
        <p:spPr>
          <a:xfrm>
            <a:off x="2691993" y="3680460"/>
            <a:ext cx="237744"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66313"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9641" y="260604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9641"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7" name="TextBox 16"/>
          <p:cNvSpPr txBox="1"/>
          <p:nvPr/>
        </p:nvSpPr>
        <p:spPr>
          <a:xfrm>
            <a:off x="3094329"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Assessment digital attendance — scan the SSG QR</a:t>
            </a:r>
          </a:p>
        </p:txBody>
      </p:sp>
      <p:cxnSp>
        <p:nvCxnSpPr>
          <p:cNvPr id="18" name="Connector 17"/>
          <p:cNvCxnSpPr/>
          <p:nvPr/>
        </p:nvCxnSpPr>
        <p:spPr>
          <a:xfrm>
            <a:off x="4881066" y="3680460"/>
            <a:ext cx="237744"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55386"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4" y="260604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4"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3" name="TextBox 22"/>
          <p:cNvSpPr txBox="1"/>
          <p:nvPr/>
        </p:nvSpPr>
        <p:spPr>
          <a:xfrm>
            <a:off x="5283402"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Sit WA(Q&amp;A) 60 min, then PP 90 min — open book</a:t>
            </a:r>
          </a:p>
        </p:txBody>
      </p:sp>
      <p:cxnSp>
        <p:nvCxnSpPr>
          <p:cNvPr id="24" name="Connector 23"/>
          <p:cNvCxnSpPr/>
          <p:nvPr/>
        </p:nvCxnSpPr>
        <p:spPr>
          <a:xfrm>
            <a:off x="7070139" y="3680460"/>
            <a:ext cx="237744"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44459"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17787" y="260604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7787"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9" name="TextBox 28"/>
          <p:cNvSpPr txBox="1"/>
          <p:nvPr/>
        </p:nvSpPr>
        <p:spPr>
          <a:xfrm>
            <a:off x="7472475"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Submit your answers on the LMS</a:t>
            </a:r>
          </a:p>
        </p:txBody>
      </p:sp>
      <p:cxnSp>
        <p:nvCxnSpPr>
          <p:cNvPr id="30" name="Connector 29"/>
          <p:cNvCxnSpPr/>
          <p:nvPr/>
        </p:nvCxnSpPr>
        <p:spPr>
          <a:xfrm>
            <a:off x="9259212" y="3680460"/>
            <a:ext cx="237744"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33532"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6860" y="260604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6860"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5" name="TextBox 34"/>
          <p:cNvSpPr txBox="1"/>
          <p:nvPr/>
        </p:nvSpPr>
        <p:spPr>
          <a:xfrm>
            <a:off x="9661548"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Sign the Assessment Summary Record</a:t>
            </a:r>
          </a:p>
        </p:txBody>
      </p:sp>
      <p:sp>
        <p:nvSpPr>
          <p:cNvPr id="36" name="TextBox 35"/>
          <p:cNvSpPr txBox="1"/>
          <p:nvPr/>
        </p:nvSpPr>
        <p:spPr>
          <a:xfrm>
            <a:off x="777240" y="5394960"/>
            <a:ext cx="10698480" cy="731520"/>
          </a:xfrm>
          <a:prstGeom prst="rect">
            <a:avLst/>
          </a:prstGeom>
          <a:noFill/>
        </p:spPr>
        <p:txBody>
          <a:bodyPr wrap="square" anchor="t">
            <a:spAutoFit/>
          </a:bodyPr>
          <a:lstStyle/>
          <a:p>
            <a:pPr algn="ctr">
              <a:spcAft>
                <a:spcPts val="400"/>
              </a:spcAft>
            </a:pPr>
            <a:r>
              <a:rPr sz="1300" b="0">
                <a:solidFill>
                  <a:srgbClr val="5B6372"/>
                </a:solidFill>
                <a:latin typeface="Arial"/>
              </a:rPr>
              <a:t>Both instruments are open book and both are individual. The assessor records C or NYC against every knowledge and ability statement.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7C3AED"/>
                </a:solidFill>
                <a:latin typeface="Arial"/>
              </a:rPr>
              <a:t>EVIDENCE DISCIPLINE · APPLIES TO EVERY CHART AND TABLE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How Every Figure in This Deck Is Labelled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929384"/>
          </a:xfrm>
          <a:prstGeom prst="rect">
            <a:avLst/>
          </a:prstGeom>
          <a:noFill/>
        </p:spPr>
        <p:txBody>
          <a:bodyPr wrap="square" anchor="ctr">
            <a:spAutoFit/>
          </a:bodyPr>
          <a:lstStyle/>
          <a:p>
            <a:pPr algn="l">
              <a:spcAft>
                <a:spcPts val="200"/>
              </a:spcAft>
            </a:pPr>
            <a:r>
              <a:rPr sz="1400" b="1">
                <a:solidFill>
                  <a:srgbClr val="161B26"/>
                </a:solidFill>
                <a:latin typeface="Arial"/>
              </a:rPr>
              <a:t>MEASURED</a:t>
            </a:r>
          </a:p>
          <a:p>
            <a:pPr algn="l">
              <a:spcAft>
                <a:spcPts val="200"/>
              </a:spcAft>
            </a:pPr>
            <a:r>
              <a:rPr sz="1100" b="0">
                <a:solidFill>
                  <a:srgbClr val="5B6372"/>
                </a:solidFill>
                <a:latin typeface="Arial"/>
              </a:rPr>
              <a:t>Timed or counted on stated hardware or data, with the sample size and the percentile given. Most numbers in this deck come from the labs you will run.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929384"/>
          </a:xfrm>
          <a:prstGeom prst="rect">
            <a:avLst/>
          </a:prstGeom>
          <a:noFill/>
        </p:spPr>
        <p:txBody>
          <a:bodyPr wrap="square" anchor="ctr">
            <a:spAutoFit/>
          </a:bodyPr>
          <a:lstStyle/>
          <a:p>
            <a:pPr algn="l">
              <a:spcAft>
                <a:spcPts val="200"/>
              </a:spcAft>
            </a:pPr>
            <a:r>
              <a:rPr sz="1400" b="1">
                <a:solidFill>
                  <a:srgbClr val="161B26"/>
                </a:solidFill>
                <a:latin typeface="Arial"/>
              </a:rPr>
              <a:t>MODELLED</a:t>
            </a:r>
          </a:p>
          <a:p>
            <a:pPr algn="l">
              <a:spcAft>
                <a:spcPts val="200"/>
              </a:spcAft>
            </a:pPr>
            <a:r>
              <a:rPr sz="1100" b="0">
                <a:solidFill>
                  <a:srgbClr val="5B6372"/>
                </a:solidFill>
                <a:latin typeface="Arial"/>
              </a:rPr>
              <a:t>Derived from a documented relationship, with the relationship shown — for example diffusion latency proportional to S steps, or to S x F for F video frames.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69664"/>
            <a:ext cx="4027932" cy="1929384"/>
          </a:xfrm>
          <a:prstGeom prst="rect">
            <a:avLst/>
          </a:prstGeom>
          <a:noFill/>
        </p:spPr>
        <p:txBody>
          <a:bodyPr wrap="square" anchor="ctr">
            <a:spAutoFit/>
          </a:bodyPr>
          <a:lstStyle/>
          <a:p>
            <a:pPr algn="l">
              <a:spcAft>
                <a:spcPts val="200"/>
              </a:spcAft>
            </a:pPr>
            <a:r>
              <a:rPr sz="1400" b="1">
                <a:solidFill>
                  <a:srgbClr val="161B26"/>
                </a:solidFill>
                <a:latin typeface="Arial"/>
              </a:rPr>
              <a:t>PUBLISHED</a:t>
            </a:r>
          </a:p>
          <a:p>
            <a:pPr algn="l">
              <a:spcAft>
                <a:spcPts val="200"/>
              </a:spcAft>
            </a:pPr>
            <a:r>
              <a:rPr sz="1100" b="0">
                <a:solidFill>
                  <a:srgbClr val="5B6372"/>
                </a:solidFill>
                <a:latin typeface="Arial"/>
              </a:rPr>
              <a:t>Reported in a cited source, with the source and its page range named on the slide and in the source register.</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69664"/>
            <a:ext cx="4027932" cy="1929384"/>
          </a:xfrm>
          <a:prstGeom prst="rect">
            <a:avLst/>
          </a:prstGeom>
          <a:noFill/>
        </p:spPr>
        <p:txBody>
          <a:bodyPr wrap="square" anchor="ctr">
            <a:spAutoFit/>
          </a:bodyPr>
          <a:lstStyle/>
          <a:p>
            <a:pPr algn="l">
              <a:spcAft>
                <a:spcPts val="200"/>
              </a:spcAft>
            </a:pPr>
            <a:r>
              <a:rPr sz="1400" b="1">
                <a:solidFill>
                  <a:srgbClr val="161B26"/>
                </a:solidFill>
                <a:latin typeface="Arial"/>
              </a:rPr>
              <a:t>ILLUSTRATIVE</a:t>
            </a:r>
          </a:p>
          <a:p>
            <a:pPr algn="l">
              <a:spcAft>
                <a:spcPts val="200"/>
              </a:spcAft>
            </a:pPr>
            <a:r>
              <a:rPr sz="1100" b="0">
                <a:solidFill>
                  <a:srgbClr val="5B6372"/>
                </a:solidFill>
                <a:latin typeface="Arial"/>
              </a:rPr>
              <a:t>Assumed values used to show the shape of a relationship. Never a quotation, never a forecast, and never to be lifted into a client document.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LABEL THE ARTEFACT, NOT JUST THE INTENT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Provenance Rules for Every Asset You Touch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929384"/>
          </a:xfrm>
          <a:prstGeom prst="rect">
            <a:avLst/>
          </a:prstGeom>
          <a:noFill/>
        </p:spPr>
        <p:txBody>
          <a:bodyPr wrap="square" anchor="ctr">
            <a:spAutoFit/>
          </a:bodyPr>
          <a:lstStyle/>
          <a:p>
            <a:pPr algn="l">
              <a:spcAft>
                <a:spcPts val="200"/>
              </a:spcAft>
            </a:pPr>
            <a:r>
              <a:rPr sz="1400" b="1">
                <a:solidFill>
                  <a:srgbClr val="161B26"/>
                </a:solidFill>
                <a:latin typeface="Arial"/>
              </a:rPr>
              <a:t>SIMULATED</a:t>
            </a:r>
          </a:p>
          <a:p>
            <a:pPr algn="l">
              <a:spcAft>
                <a:spcPts val="200"/>
              </a:spcAft>
            </a:pPr>
            <a:r>
              <a:rPr sz="1100" b="0">
                <a:solidFill>
                  <a:srgbClr val="5B6372"/>
                </a:solidFill>
                <a:latin typeface="Arial"/>
              </a:rPr>
              <a:t>A deterministic OpenCV rendering made for this course. Never described as a photograph, never as model output. Every such file carries a burned-in banner.</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929384"/>
          </a:xfrm>
          <a:prstGeom prst="rect">
            <a:avLst/>
          </a:prstGeom>
          <a:noFill/>
        </p:spPr>
        <p:txBody>
          <a:bodyPr wrap="square" anchor="ctr">
            <a:spAutoFit/>
          </a:bodyPr>
          <a:lstStyle/>
          <a:p>
            <a:pPr algn="l">
              <a:spcAft>
                <a:spcPts val="200"/>
              </a:spcAft>
            </a:pPr>
            <a:r>
              <a:rPr sz="1400" b="1">
                <a:solidFill>
                  <a:srgbClr val="161B26"/>
                </a:solidFill>
                <a:latin typeface="Arial"/>
              </a:rPr>
              <a:t>AI-GENERATED</a:t>
            </a:r>
          </a:p>
          <a:p>
            <a:pPr algn="l">
              <a:spcAft>
                <a:spcPts val="200"/>
              </a:spcAft>
            </a:pPr>
            <a:r>
              <a:rPr sz="1100" b="0">
                <a:solidFill>
                  <a:srgbClr val="5B6372"/>
                </a:solidFill>
                <a:latin typeface="Arial"/>
              </a:rPr>
              <a:t>Copied unchanged with a PROVENANCE.md recording the tool, the date and the exact prompt. Current Gemini image outputs also carry a SynthID watermark.</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69664"/>
            <a:ext cx="4027932" cy="1929384"/>
          </a:xfrm>
          <a:prstGeom prst="rect">
            <a:avLst/>
          </a:prstGeom>
          <a:noFill/>
        </p:spPr>
        <p:txBody>
          <a:bodyPr wrap="square" anchor="ctr">
            <a:spAutoFit/>
          </a:bodyPr>
          <a:lstStyle/>
          <a:p>
            <a:pPr algn="l">
              <a:spcAft>
                <a:spcPts val="200"/>
              </a:spcAft>
            </a:pPr>
            <a:r>
              <a:rPr sz="1400" b="1">
                <a:solidFill>
                  <a:srgbClr val="161B26"/>
                </a:solidFill>
                <a:latin typeface="Arial"/>
              </a:rPr>
              <a:t>REAL PRERECORDED</a:t>
            </a:r>
          </a:p>
          <a:p>
            <a:pPr algn="l">
              <a:spcAft>
                <a:spcPts val="200"/>
              </a:spcAft>
            </a:pPr>
            <a:r>
              <a:rPr sz="1100" b="0">
                <a:solidFill>
                  <a:srgbClr val="5B6372"/>
                </a:solidFill>
                <a:latin typeface="Arial"/>
              </a:rPr>
              <a:t>A real captured sequence, recorded with its source URL, retrieval date and SHA-256 so the copy can be verified.</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69664"/>
            <a:ext cx="4027932" cy="1929384"/>
          </a:xfrm>
          <a:prstGeom prst="rect">
            <a:avLst/>
          </a:prstGeom>
          <a:noFill/>
        </p:spPr>
        <p:txBody>
          <a:bodyPr wrap="square" anchor="ctr">
            <a:spAutoFit/>
          </a:bodyPr>
          <a:lstStyle/>
          <a:p>
            <a:pPr algn="l">
              <a:spcAft>
                <a:spcPts val="200"/>
              </a:spcAft>
            </a:pPr>
            <a:r>
              <a:rPr sz="1400" b="1">
                <a:solidFill>
                  <a:srgbClr val="161B26"/>
                </a:solidFill>
                <a:latin typeface="Arial"/>
              </a:rPr>
              <a:t>ANIMATIC</a:t>
            </a:r>
          </a:p>
          <a:p>
            <a:pPr algn="l">
              <a:spcAft>
                <a:spcPts val="200"/>
              </a:spcAft>
            </a:pPr>
            <a:r>
              <a:rPr sz="1100" b="0">
                <a:solidFill>
                  <a:srgbClr val="5B6372"/>
                </a:solidFill>
                <a:latin typeface="Arial"/>
              </a:rPr>
              <a:t>A deterministic render of storyboard frames, labelled on every frame. It exists to fix timing before generation spend — it is never submitted as a generated film.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700" b="1">
                <a:solidFill>
                  <a:srgbClr val="1F6FEB"/>
                </a:solidFill>
                <a:latin typeface="Arial"/>
              </a:rPr>
              <a:t>TOPIC 01</a:t>
            </a:r>
          </a:p>
        </p:txBody>
      </p:sp>
      <p:sp>
        <p:nvSpPr>
          <p:cNvPr id="6" name="TextBox 5"/>
          <p:cNvSpPr txBox="1"/>
          <p:nvPr/>
        </p:nvSpPr>
        <p:spPr>
          <a:xfrm>
            <a:off x="1143000" y="2743200"/>
            <a:ext cx="9144000" cy="1463040"/>
          </a:xfrm>
          <a:prstGeom prst="rect">
            <a:avLst/>
          </a:prstGeom>
          <a:noFill/>
        </p:spPr>
        <p:txBody>
          <a:bodyPr wrap="square" anchor="t">
            <a:spAutoFit/>
          </a:bodyPr>
          <a:lstStyle/>
          <a:p>
            <a:pPr algn="l">
              <a:spcAft>
                <a:spcPts val="400"/>
              </a:spcAft>
            </a:pPr>
            <a:r>
              <a:rPr sz="3000" b="1">
                <a:solidFill>
                  <a:srgbClr val="161B26"/>
                </a:solidFill>
                <a:latin typeface="Arial"/>
              </a:rPr>
              <a:t>Generative AI Fundamentals for Image and Video Creation</a:t>
            </a:r>
          </a:p>
        </p:txBody>
      </p:sp>
      <p:sp>
        <p:nvSpPr>
          <p:cNvPr id="7" name="TextBox 6"/>
          <p:cNvSpPr txBox="1"/>
          <p:nvPr/>
        </p:nvSpPr>
        <p:spPr>
          <a:xfrm>
            <a:off x="1161288" y="4297680"/>
            <a:ext cx="9692640" cy="1280160"/>
          </a:xfrm>
          <a:prstGeom prst="rect">
            <a:avLst/>
          </a:prstGeom>
          <a:noFill/>
        </p:spPr>
        <p:txBody>
          <a:bodyPr wrap="square" anchor="t">
            <a:spAutoFit/>
          </a:bodyPr>
          <a:lstStyle/>
          <a:p>
            <a:pPr algn="l">
              <a:spcAft>
                <a:spcPts val="400"/>
              </a:spcAft>
            </a:pPr>
            <a:r>
              <a:rPr sz="1400" b="0">
                <a:solidFill>
                  <a:srgbClr val="5B6372"/>
                </a:solidFill>
                <a:latin typeface="Arial"/>
              </a:rPr>
              <a:t>Vision-system concepts and business applications · the analysis-to-synthesis pipeline · artificial neurons, activation functions and CNNs · VAE, GAN and diffusion architectures · what each model can and cannot guarantee</a:t>
            </a:r>
          </a:p>
        </p:txBody>
      </p:sp>
      <p:sp>
        <p:nvSpPr>
          <p:cNvPr id="8" name="TextBox 7"/>
          <p:cNvSpPr txBox="1"/>
          <p:nvPr/>
        </p:nvSpPr>
        <p:spPr>
          <a:xfrm>
            <a:off x="9326880" y="640080"/>
            <a:ext cx="2377440" cy="1463040"/>
          </a:xfrm>
          <a:prstGeom prst="rect">
            <a:avLst/>
          </a:prstGeom>
          <a:noFill/>
        </p:spPr>
        <p:txBody>
          <a:bodyPr wrap="square" anchor="t">
            <a:spAutoFit/>
          </a:bodyPr>
          <a:lstStyle/>
          <a:p>
            <a:pPr algn="r">
              <a:spcAft>
                <a:spcPts val="400"/>
              </a:spcAft>
            </a:pPr>
            <a:r>
              <a:rPr sz="68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LU1 · ELO1 · K1, K2, A1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Key Concepts — Topic 01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A vision system is a five-stage pipeline</a:t>
            </a:r>
          </a:p>
          <a:p>
            <a:pPr algn="l">
              <a:spcAft>
                <a:spcPts val="200"/>
              </a:spcAft>
            </a:pPr>
            <a:r>
              <a:rPr sz="1050" b="0">
                <a:solidFill>
                  <a:srgbClr val="5B6372"/>
                </a:solidFill>
                <a:latin typeface="Arial"/>
              </a:rPr>
              <a:t>Sense (sensor + optics) -&gt; represent (pixel array, colour space) -&gt; analyse (features, detection, tracking) -&gt; decide (thresholds, policy) -&gt; act or synthesise. Generative AI adds the synthesise stage; it does not remove the first four.</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Classification and generation solve different conditional problems</a:t>
            </a:r>
          </a:p>
          <a:p>
            <a:pPr algn="l">
              <a:spcAft>
                <a:spcPts val="200"/>
              </a:spcAft>
            </a:pPr>
            <a:r>
              <a:rPr sz="1050" b="0">
                <a:solidFill>
                  <a:srgbClr val="5B6372"/>
                </a:solidFill>
                <a:latin typeface="Arial"/>
              </a:rPr>
              <a:t>A discriminative classifier learns p(label | image) or a decision boundary. A conditional generator models p(image | condition). These have different objectives: running a classifier backward does not generally generate an image.</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Three architectures, three failure signatures</a:t>
            </a:r>
          </a:p>
          <a:p>
            <a:pPr algn="l">
              <a:spcAft>
                <a:spcPts val="200"/>
              </a:spcAft>
            </a:pPr>
            <a:r>
              <a:rPr sz="1050" b="0">
                <a:solidFill>
                  <a:srgbClr val="5B6372"/>
                </a:solidFill>
                <a:latin typeface="Arial"/>
              </a:rPr>
              <a:t>VAE: a regularised latent space; some variants lose fine detail. GAN: potentially sharp output, with risks of mode collapse and unstable training. Diffusion: potentially high fidelity, with cost from iterative sampling.</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A neuron is a weighted sum plus a non-linearity</a:t>
            </a:r>
          </a:p>
          <a:p>
            <a:pPr algn="l">
              <a:spcAft>
                <a:spcPts val="200"/>
              </a:spcAft>
            </a:pPr>
            <a:r>
              <a:rPr sz="1050" b="0">
                <a:solidFill>
                  <a:srgbClr val="5B6372"/>
                </a:solidFill>
                <a:latin typeface="Arial"/>
              </a:rPr>
              <a:t>y = f(sum(w_i x_i) + b). Without the non-linearity f, any depth of stacked layers collapses to a single linear map. ReLU, sigmoid, tanh, softmax and GELU are the ones you will see in vision models.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A CNN learns the filters that OpenCV hand-codes</a:t>
            </a:r>
          </a:p>
          <a:p>
            <a:pPr algn="l">
              <a:spcAft>
                <a:spcPts val="200"/>
              </a:spcAft>
            </a:pPr>
            <a:r>
              <a:rPr sz="1050" b="0">
                <a:solidFill>
                  <a:srgbClr val="5B6372"/>
                </a:solidFill>
                <a:latin typeface="Arial"/>
              </a:rPr>
              <a:t>A 3x3 Sobel kernel is a hand-designed edge detector; a CNN's first-layer kernels can learn edge and colour-blob responses from training data. Related local filtering, learned instead of specified.</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Business value comes from throughput, not novelty</a:t>
            </a:r>
          </a:p>
          <a:p>
            <a:pPr algn="l">
              <a:spcAft>
                <a:spcPts val="200"/>
              </a:spcAft>
            </a:pPr>
            <a:r>
              <a:rPr sz="1050" b="0">
                <a:solidFill>
                  <a:srgbClr val="5B6372"/>
                </a:solidFill>
                <a:latin typeface="Arial"/>
              </a:rPr>
              <a:t>Costed use cases: variant generation for catalogue and social, background replacement for product shots, format repurposing, storyboard previsualisation, synthetic data for detector training, and automated QC of the output.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 · VISION SYSTEM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 Vision System Is a Five-Stage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907438" cy="2606040"/>
          </a:xfrm>
          <a:prstGeom prst="round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907438" cy="3840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1 SENSE</a:t>
            </a:r>
          </a:p>
        </p:txBody>
      </p:sp>
      <p:sp>
        <p:nvSpPr>
          <p:cNvPr id="10" name="TextBox 9"/>
          <p:cNvSpPr txBox="1"/>
          <p:nvPr/>
        </p:nvSpPr>
        <p:spPr>
          <a:xfrm>
            <a:off x="923544"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Sensor and optics. Resolution, frame rate, exposure, mounting. Everything downstream inherits the limits set here.</a:t>
            </a:r>
          </a:p>
        </p:txBody>
      </p:sp>
      <p:cxnSp>
        <p:nvCxnSpPr>
          <p:cNvPr id="11" name="Connector 10"/>
          <p:cNvCxnSpPr/>
          <p:nvPr/>
        </p:nvCxnSpPr>
        <p:spPr>
          <a:xfrm>
            <a:off x="2684678" y="3451860"/>
            <a:ext cx="274320"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58998" y="2148840"/>
            <a:ext cx="1907438" cy="2606040"/>
          </a:xfrm>
          <a:prstGeom prst="roundRect">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148840"/>
            <a:ext cx="1907438"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58998"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2 REPRESENT</a:t>
            </a:r>
          </a:p>
        </p:txBody>
      </p:sp>
      <p:sp>
        <p:nvSpPr>
          <p:cNvPr id="15" name="TextBox 14"/>
          <p:cNvSpPr txBox="1"/>
          <p:nvPr/>
        </p:nvSpPr>
        <p:spPr>
          <a:xfrm>
            <a:off x="3105302"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Pixel array, dtype, channel order, colour space, storage. H x W x C uint8 in BGR is what OpenCV hands you.</a:t>
            </a:r>
          </a:p>
        </p:txBody>
      </p:sp>
      <p:cxnSp>
        <p:nvCxnSpPr>
          <p:cNvPr id="16" name="Connector 15"/>
          <p:cNvCxnSpPr/>
          <p:nvPr/>
        </p:nvCxnSpPr>
        <p:spPr>
          <a:xfrm>
            <a:off x="4866436" y="3451860"/>
            <a:ext cx="274320"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40756" y="2148840"/>
            <a:ext cx="1907438" cy="2606040"/>
          </a:xfrm>
          <a:prstGeom prst="roundRect">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40756" y="2148840"/>
            <a:ext cx="1907438"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40756"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3 ANALYSE</a:t>
            </a:r>
          </a:p>
        </p:txBody>
      </p:sp>
      <p:sp>
        <p:nvSpPr>
          <p:cNvPr id="20" name="TextBox 19"/>
          <p:cNvSpPr txBox="1"/>
          <p:nvPr/>
        </p:nvSpPr>
        <p:spPr>
          <a:xfrm>
            <a:off x="5287060"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Features, segmentation, detection, tracking. Turns pixels into measurements a decision can be made on.</a:t>
            </a:r>
          </a:p>
        </p:txBody>
      </p:sp>
      <p:cxnSp>
        <p:nvCxnSpPr>
          <p:cNvPr id="21" name="Connector 20"/>
          <p:cNvCxnSpPr/>
          <p:nvPr/>
        </p:nvCxnSpPr>
        <p:spPr>
          <a:xfrm>
            <a:off x="7048194" y="3451860"/>
            <a:ext cx="274320"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322514" y="2148840"/>
            <a:ext cx="1907438" cy="2606040"/>
          </a:xfrm>
          <a:prstGeom prst="roundRect">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22514" y="2148840"/>
            <a:ext cx="1907438"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22514"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4 DECIDE</a:t>
            </a:r>
          </a:p>
        </p:txBody>
      </p:sp>
      <p:sp>
        <p:nvSpPr>
          <p:cNvPr id="25" name="TextBox 24"/>
          <p:cNvSpPr txBox="1"/>
          <p:nvPr/>
        </p:nvSpPr>
        <p:spPr>
          <a:xfrm>
            <a:off x="7468818"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A numeric threshold and what happens either side of it: publish, queue for review, or reject and regenerate.</a:t>
            </a:r>
          </a:p>
        </p:txBody>
      </p:sp>
      <p:cxnSp>
        <p:nvCxnSpPr>
          <p:cNvPr id="26" name="Connector 25"/>
          <p:cNvCxnSpPr/>
          <p:nvPr/>
        </p:nvCxnSpPr>
        <p:spPr>
          <a:xfrm>
            <a:off x="9229952" y="3451860"/>
            <a:ext cx="274320"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504272" y="2148840"/>
            <a:ext cx="1907438" cy="2606040"/>
          </a:xfrm>
          <a:prstGeom prst="round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04272" y="2148840"/>
            <a:ext cx="1907438" cy="3840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4272"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5 SYNTHESISE</a:t>
            </a:r>
          </a:p>
        </p:txBody>
      </p:sp>
      <p:sp>
        <p:nvSpPr>
          <p:cNvPr id="30" name="TextBox 29"/>
          <p:cNvSpPr txBox="1"/>
          <p:nvPr/>
        </p:nvSpPr>
        <p:spPr>
          <a:xfrm>
            <a:off x="9650576"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Create or edit a new asset. This is the stage generative AI adds — it does not remove the first four.</a:t>
            </a:r>
          </a:p>
        </p:txBody>
      </p:sp>
      <p:sp>
        <p:nvSpPr>
          <p:cNvPr id="31" name="Rectangle 30"/>
          <p:cNvSpPr/>
          <p:nvPr/>
        </p:nvSpPr>
        <p:spPr>
          <a:xfrm>
            <a:off x="777240" y="5120640"/>
            <a:ext cx="10634472"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5120640"/>
            <a:ext cx="10241280" cy="914400"/>
          </a:xfrm>
          <a:prstGeom prst="rect">
            <a:avLst/>
          </a:prstGeom>
          <a:noFill/>
        </p:spPr>
        <p:txBody>
          <a:bodyPr wrap="square" anchor="ctr">
            <a:spAutoFit/>
          </a:bodyPr>
          <a:lstStyle/>
          <a:p>
            <a:pPr algn="l">
              <a:spcAft>
                <a:spcPts val="400"/>
              </a:spcAft>
            </a:pPr>
            <a:r>
              <a:rPr sz="1150" b="1">
                <a:solidFill>
                  <a:srgbClr val="127A3E"/>
                </a:solidFill>
                <a:latin typeface="Arial"/>
              </a:rPr>
              <a:t>SO WHAT   </a:t>
            </a:r>
            <a:r>
              <a:rPr sz="1300" b="0">
                <a:solidFill>
                  <a:srgbClr val="161B26"/>
                </a:solidFill>
                <a:latin typeface="Arial"/>
              </a:rPr>
              <a:t>Generative AI extends the pipeline; it does not replace it. Every asset a model produces still has to be represented, analysed against a measurement and decided on before it ships.</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 · WHY THIS COURSE TEACHES BOTH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Analysis and Synthesis Are the Same Maths, Reversed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F6FEB"/>
                </a:solidFill>
                <a:latin typeface="Arial"/>
              </a:rPr>
              <a:t>Pixels → meaning</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Meaning → pixels</a:t>
            </a:r>
          </a:p>
        </p:txBody>
      </p:sp>
      <p:sp>
        <p:nvSpPr>
          <p:cNvPr id="13" name="TextBox 12"/>
          <p:cNvSpPr txBox="1"/>
          <p:nvPr/>
        </p:nvSpPr>
        <p:spPr>
          <a:xfrm>
            <a:off x="1005840" y="2423160"/>
            <a:ext cx="4754880" cy="3017520"/>
          </a:xfrm>
          <a:prstGeom prst="rect">
            <a:avLst/>
          </a:prstGeom>
          <a:noFill/>
        </p:spPr>
        <p:txBody>
          <a:bodyPr wrap="square">
            <a:spAutoFit/>
          </a:bodyPr>
          <a:lstStyle/>
          <a:p>
            <a:pPr>
              <a:spcAft>
                <a:spcPts val="800"/>
              </a:spcAft>
            </a:pPr>
            <a:r>
              <a:rPr sz="1300" b="1">
                <a:solidFill>
                  <a:srgbClr val="161B26"/>
                </a:solidFill>
                <a:latin typeface="Arial"/>
              </a:rPr>
              <a:t>•  Analytical computer vision</a:t>
            </a:r>
          </a:p>
          <a:p>
            <a:pPr>
              <a:spcAft>
                <a:spcPts val="800"/>
              </a:spcAft>
            </a:pPr>
            <a:r>
              <a:rPr sz="1100" b="0">
                <a:solidFill>
                  <a:srgbClr val="5B6372"/>
                </a:solidFill>
                <a:latin typeface="Arial"/>
              </a:rPr>
              <a:t>–  Input: pixels. Output: a label, a box, a mask or a number.</a:t>
            </a:r>
          </a:p>
          <a:p>
            <a:pPr>
              <a:spcAft>
                <a:spcPts val="800"/>
              </a:spcAft>
            </a:pPr>
            <a:r>
              <a:rPr sz="1100" b="0">
                <a:solidFill>
                  <a:srgbClr val="5B6372"/>
                </a:solidFill>
                <a:latin typeface="Arial"/>
              </a:rPr>
              <a:t>–  Classifier: p(label | image)</a:t>
            </a:r>
          </a:p>
          <a:p>
            <a:pPr>
              <a:spcAft>
                <a:spcPts val="800"/>
              </a:spcAft>
            </a:pPr>
            <a:r>
              <a:rPr sz="1100" b="0">
                <a:solidFill>
                  <a:srgbClr val="5B6372"/>
                </a:solidFill>
                <a:latin typeface="Arial"/>
              </a:rPr>
              <a:t>–  Trained by minimising error against labelled truth.</a:t>
            </a:r>
          </a:p>
          <a:p>
            <a:pPr>
              <a:spcAft>
                <a:spcPts val="800"/>
              </a:spcAft>
            </a:pPr>
            <a:r>
              <a:rPr sz="1100" b="0">
                <a:solidFill>
                  <a:srgbClr val="5B6372"/>
                </a:solidFill>
                <a:latin typeface="Arial"/>
              </a:rPr>
              <a:t>–  Evaluated with accuracy, precision, recall, IoU, mAP.</a:t>
            </a:r>
          </a:p>
          <a:p>
            <a:pPr>
              <a:spcAft>
                <a:spcPts val="800"/>
              </a:spcAft>
            </a:pPr>
            <a:r>
              <a:rPr sz="1100" b="0">
                <a:solidFill>
                  <a:srgbClr val="5B6372"/>
                </a:solidFill>
                <a:latin typeface="Arial"/>
              </a:rPr>
              <a:t>–  Fails visibly: a wrong label is checkable.</a:t>
            </a:r>
          </a:p>
        </p:txBody>
      </p:sp>
      <p:sp>
        <p:nvSpPr>
          <p:cNvPr id="14" name="TextBox 13"/>
          <p:cNvSpPr txBox="1"/>
          <p:nvPr/>
        </p:nvSpPr>
        <p:spPr>
          <a:xfrm>
            <a:off x="6583680" y="2423160"/>
            <a:ext cx="4617720" cy="3017520"/>
          </a:xfrm>
          <a:prstGeom prst="rect">
            <a:avLst/>
          </a:prstGeom>
          <a:noFill/>
        </p:spPr>
        <p:txBody>
          <a:bodyPr wrap="square">
            <a:spAutoFit/>
          </a:bodyPr>
          <a:lstStyle/>
          <a:p>
            <a:pPr>
              <a:spcAft>
                <a:spcPts val="800"/>
              </a:spcAft>
            </a:pPr>
            <a:r>
              <a:rPr sz="1300" b="1">
                <a:solidFill>
                  <a:srgbClr val="161B26"/>
                </a:solidFill>
                <a:latin typeface="Arial"/>
              </a:rPr>
              <a:t>•  Generative computer vision</a:t>
            </a:r>
          </a:p>
          <a:p>
            <a:pPr>
              <a:spcAft>
                <a:spcPts val="800"/>
              </a:spcAft>
            </a:pPr>
            <a:r>
              <a:rPr sz="1100" b="0">
                <a:solidFill>
                  <a:srgbClr val="5B6372"/>
                </a:solidFill>
                <a:latin typeface="Arial"/>
              </a:rPr>
              <a:t>–  Input: a prompt, an image, a mask. Output: pixels.</a:t>
            </a:r>
          </a:p>
          <a:p>
            <a:pPr>
              <a:spcAft>
                <a:spcPts val="800"/>
              </a:spcAft>
            </a:pPr>
            <a:r>
              <a:rPr sz="1100" b="0">
                <a:solidFill>
                  <a:srgbClr val="5B6372"/>
                </a:solidFill>
                <a:latin typeface="Arial"/>
              </a:rPr>
              <a:t>–  Sampler: draws from p(image | condition)</a:t>
            </a:r>
          </a:p>
          <a:p>
            <a:pPr>
              <a:spcAft>
                <a:spcPts val="800"/>
              </a:spcAft>
            </a:pPr>
            <a:r>
              <a:rPr sz="1100" b="0">
                <a:solidFill>
                  <a:srgbClr val="5B6372"/>
                </a:solidFill>
                <a:latin typeface="Arial"/>
              </a:rPr>
              <a:t>–  Trained by learning to reverse a corruption process.</a:t>
            </a:r>
          </a:p>
          <a:p>
            <a:pPr>
              <a:spcAft>
                <a:spcPts val="800"/>
              </a:spcAft>
            </a:pPr>
            <a:r>
              <a:rPr sz="1100" b="0">
                <a:solidFill>
                  <a:srgbClr val="5B6372"/>
                </a:solidFill>
                <a:latin typeface="Arial"/>
              </a:rPr>
              <a:t>–  Evaluated with FID, KID, LPIPS, CLIP faithfulness, FVD.</a:t>
            </a:r>
          </a:p>
          <a:p>
            <a:pPr>
              <a:spcAft>
                <a:spcPts val="800"/>
              </a:spcAft>
            </a:pPr>
            <a:r>
              <a:rPr sz="1100" b="0">
                <a:solidFill>
                  <a:srgbClr val="5B6372"/>
                </a:solidFill>
                <a:latin typeface="Arial"/>
              </a:rPr>
              <a:t>–  Fails plausibly: a wrong image still looks like an image.</a:t>
            </a:r>
          </a:p>
        </p:txBody>
      </p:sp>
      <p:sp>
        <p:nvSpPr>
          <p:cNvPr id="15" name="TextBox 14"/>
          <p:cNvSpPr txBox="1"/>
          <p:nvPr/>
        </p:nvSpPr>
        <p:spPr>
          <a:xfrm>
            <a:off x="777240" y="5669280"/>
            <a:ext cx="10698480" cy="640080"/>
          </a:xfrm>
          <a:prstGeom prst="rect">
            <a:avLst/>
          </a:prstGeom>
          <a:noFill/>
        </p:spPr>
        <p:txBody>
          <a:bodyPr wrap="square" anchor="ctr">
            <a:spAutoFit/>
          </a:bodyPr>
          <a:lstStyle/>
          <a:p>
            <a:pPr algn="ctr">
              <a:spcAft>
                <a:spcPts val="400"/>
              </a:spcAft>
            </a:pPr>
            <a:r>
              <a:rPr sz="1250" b="0">
                <a:solidFill>
                  <a:srgbClr val="5B6372"/>
                </a:solidFill>
                <a:latin typeface="Arial"/>
              </a:rPr>
              <a:t>That last row is the reason the analytical half of this course exists: a generated asset that is wrong is not obviously wrong, so it has to be measured.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K2 · BUSINESS APPLICATIONS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Business Applications of Vision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525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582082" cy="525780"/>
          </a:xfrm>
          <a:prstGeom prst="rect">
            <a:avLst/>
          </a:prstGeom>
          <a:noFill/>
        </p:spPr>
        <p:txBody>
          <a:bodyPr wrap="square" anchor="ctr">
            <a:spAutoFit/>
          </a:bodyPr>
          <a:lstStyle/>
          <a:p>
            <a:pPr algn="l">
              <a:spcAft>
                <a:spcPts val="400"/>
              </a:spcAft>
            </a:pPr>
            <a:r>
              <a:rPr sz="1100" b="1">
                <a:solidFill>
                  <a:srgbClr val="FFFFFF"/>
                </a:solidFill>
                <a:latin typeface="Arial"/>
              </a:rPr>
              <a:t>Application</a:t>
            </a:r>
          </a:p>
        </p:txBody>
      </p:sp>
      <p:sp>
        <p:nvSpPr>
          <p:cNvPr id="9" name="Rectangle 8"/>
          <p:cNvSpPr/>
          <p:nvPr/>
        </p:nvSpPr>
        <p:spPr>
          <a:xfrm>
            <a:off x="3542202" y="1783080"/>
            <a:ext cx="5104546" cy="525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1930" y="1783080"/>
            <a:ext cx="4921666" cy="525780"/>
          </a:xfrm>
          <a:prstGeom prst="rect">
            <a:avLst/>
          </a:prstGeom>
          <a:noFill/>
        </p:spPr>
        <p:txBody>
          <a:bodyPr wrap="square" anchor="ctr">
            <a:spAutoFit/>
          </a:bodyPr>
          <a:lstStyle/>
          <a:p>
            <a:pPr algn="l">
              <a:spcAft>
                <a:spcPts val="400"/>
              </a:spcAft>
            </a:pPr>
            <a:r>
              <a:rPr sz="1100" b="1">
                <a:solidFill>
                  <a:srgbClr val="FFFFFF"/>
                </a:solidFill>
                <a:latin typeface="Arial"/>
              </a:rPr>
              <a:t>What the system does</a:t>
            </a:r>
          </a:p>
        </p:txBody>
      </p:sp>
      <p:sp>
        <p:nvSpPr>
          <p:cNvPr id="11" name="Rectangle 10"/>
          <p:cNvSpPr/>
          <p:nvPr/>
        </p:nvSpPr>
        <p:spPr>
          <a:xfrm>
            <a:off x="8646748" y="1783080"/>
            <a:ext cx="2764962" cy="525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56476" y="1783080"/>
            <a:ext cx="2582082" cy="525780"/>
          </a:xfrm>
          <a:prstGeom prst="rect">
            <a:avLst/>
          </a:prstGeom>
          <a:noFill/>
        </p:spPr>
        <p:txBody>
          <a:bodyPr wrap="square" anchor="ctr">
            <a:spAutoFit/>
          </a:bodyPr>
          <a:lstStyle/>
          <a:p>
            <a:pPr algn="l">
              <a:spcAft>
                <a:spcPts val="400"/>
              </a:spcAft>
            </a:pPr>
            <a:r>
              <a:rPr sz="1100" b="1">
                <a:solidFill>
                  <a:srgbClr val="FFFFFF"/>
                </a:solidFill>
                <a:latin typeface="Arial"/>
              </a:rPr>
              <a:t>What it replaces</a:t>
            </a:r>
          </a:p>
        </p:txBody>
      </p:sp>
      <p:sp>
        <p:nvSpPr>
          <p:cNvPr id="13" name="Rectangle 12"/>
          <p:cNvSpPr/>
          <p:nvPr/>
        </p:nvSpPr>
        <p:spPr>
          <a:xfrm>
            <a:off x="777240" y="2308860"/>
            <a:ext cx="2764962"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308860"/>
            <a:ext cx="2582082" cy="525780"/>
          </a:xfrm>
          <a:prstGeom prst="rect">
            <a:avLst/>
          </a:prstGeom>
          <a:noFill/>
        </p:spPr>
        <p:txBody>
          <a:bodyPr wrap="square" anchor="ctr">
            <a:spAutoFit/>
          </a:bodyPr>
          <a:lstStyle/>
          <a:p>
            <a:pPr algn="l">
              <a:spcAft>
                <a:spcPts val="400"/>
              </a:spcAft>
            </a:pPr>
            <a:r>
              <a:rPr sz="1000" b="1">
                <a:solidFill>
                  <a:srgbClr val="161B26"/>
                </a:solidFill>
                <a:latin typeface="Arial"/>
              </a:rPr>
              <a:t>Catalogue variant generation</a:t>
            </a:r>
          </a:p>
        </p:txBody>
      </p:sp>
      <p:sp>
        <p:nvSpPr>
          <p:cNvPr id="15" name="Rectangle 14"/>
          <p:cNvSpPr/>
          <p:nvPr/>
        </p:nvSpPr>
        <p:spPr>
          <a:xfrm>
            <a:off x="3542202" y="2308860"/>
            <a:ext cx="5104546"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1930" y="2308860"/>
            <a:ext cx="4921666" cy="525780"/>
          </a:xfrm>
          <a:prstGeom prst="rect">
            <a:avLst/>
          </a:prstGeom>
          <a:noFill/>
        </p:spPr>
        <p:txBody>
          <a:bodyPr wrap="square" anchor="ctr">
            <a:spAutoFit/>
          </a:bodyPr>
          <a:lstStyle/>
          <a:p>
            <a:pPr algn="l">
              <a:spcAft>
                <a:spcPts val="400"/>
              </a:spcAft>
            </a:pPr>
            <a:r>
              <a:rPr sz="1000" b="0">
                <a:solidFill>
                  <a:srgbClr val="161B26"/>
                </a:solidFill>
                <a:latin typeface="Arial"/>
              </a:rPr>
              <a:t>Produce N approved variants of one master shot against a fixed brief</a:t>
            </a:r>
          </a:p>
        </p:txBody>
      </p:sp>
      <p:sp>
        <p:nvSpPr>
          <p:cNvPr id="17" name="Rectangle 16"/>
          <p:cNvSpPr/>
          <p:nvPr/>
        </p:nvSpPr>
        <p:spPr>
          <a:xfrm>
            <a:off x="8646748" y="2308860"/>
            <a:ext cx="2764962"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56476" y="2308860"/>
            <a:ext cx="2582082" cy="525780"/>
          </a:xfrm>
          <a:prstGeom prst="rect">
            <a:avLst/>
          </a:prstGeom>
          <a:noFill/>
        </p:spPr>
        <p:txBody>
          <a:bodyPr wrap="square" anchor="ctr">
            <a:spAutoFit/>
          </a:bodyPr>
          <a:lstStyle/>
          <a:p>
            <a:pPr algn="l">
              <a:spcAft>
                <a:spcPts val="400"/>
              </a:spcAft>
            </a:pPr>
            <a:r>
              <a:rPr sz="1000" b="0">
                <a:solidFill>
                  <a:srgbClr val="161B26"/>
                </a:solidFill>
                <a:latin typeface="Arial"/>
              </a:rPr>
              <a:t>Repeat studio shoots</a:t>
            </a:r>
          </a:p>
        </p:txBody>
      </p:sp>
      <p:sp>
        <p:nvSpPr>
          <p:cNvPr id="19" name="Rectangle 18"/>
          <p:cNvSpPr/>
          <p:nvPr/>
        </p:nvSpPr>
        <p:spPr>
          <a:xfrm>
            <a:off x="777240" y="2834640"/>
            <a:ext cx="2764962"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834640"/>
            <a:ext cx="2582082" cy="525780"/>
          </a:xfrm>
          <a:prstGeom prst="rect">
            <a:avLst/>
          </a:prstGeom>
          <a:noFill/>
        </p:spPr>
        <p:txBody>
          <a:bodyPr wrap="square" anchor="ctr">
            <a:spAutoFit/>
          </a:bodyPr>
          <a:lstStyle/>
          <a:p>
            <a:pPr algn="l">
              <a:spcAft>
                <a:spcPts val="400"/>
              </a:spcAft>
            </a:pPr>
            <a:r>
              <a:rPr sz="1000" b="1">
                <a:solidFill>
                  <a:srgbClr val="161B26"/>
                </a:solidFill>
                <a:latin typeface="Arial"/>
              </a:rPr>
              <a:t>Background replacement</a:t>
            </a:r>
          </a:p>
        </p:txBody>
      </p:sp>
      <p:sp>
        <p:nvSpPr>
          <p:cNvPr id="21" name="Rectangle 20"/>
          <p:cNvSpPr/>
          <p:nvPr/>
        </p:nvSpPr>
        <p:spPr>
          <a:xfrm>
            <a:off x="3542202" y="2834640"/>
            <a:ext cx="5104546"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1930" y="2834640"/>
            <a:ext cx="4921666" cy="525780"/>
          </a:xfrm>
          <a:prstGeom prst="rect">
            <a:avLst/>
          </a:prstGeom>
          <a:noFill/>
        </p:spPr>
        <p:txBody>
          <a:bodyPr wrap="square" anchor="ctr">
            <a:spAutoFit/>
          </a:bodyPr>
          <a:lstStyle/>
          <a:p>
            <a:pPr algn="l">
              <a:spcAft>
                <a:spcPts val="400"/>
              </a:spcAft>
            </a:pPr>
            <a:r>
              <a:rPr sz="1000" b="0">
                <a:solidFill>
                  <a:srgbClr val="161B26"/>
                </a:solidFill>
                <a:latin typeface="Arial"/>
              </a:rPr>
              <a:t>Mask the subject and re-render the setting</a:t>
            </a:r>
          </a:p>
        </p:txBody>
      </p:sp>
      <p:sp>
        <p:nvSpPr>
          <p:cNvPr id="23" name="Rectangle 22"/>
          <p:cNvSpPr/>
          <p:nvPr/>
        </p:nvSpPr>
        <p:spPr>
          <a:xfrm>
            <a:off x="8646748" y="2834640"/>
            <a:ext cx="2764962"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56476" y="2834640"/>
            <a:ext cx="2582082" cy="525780"/>
          </a:xfrm>
          <a:prstGeom prst="rect">
            <a:avLst/>
          </a:prstGeom>
          <a:noFill/>
        </p:spPr>
        <p:txBody>
          <a:bodyPr wrap="square" anchor="ctr">
            <a:spAutoFit/>
          </a:bodyPr>
          <a:lstStyle/>
          <a:p>
            <a:pPr algn="l">
              <a:spcAft>
                <a:spcPts val="400"/>
              </a:spcAft>
            </a:pPr>
            <a:r>
              <a:rPr sz="1000" b="0">
                <a:solidFill>
                  <a:srgbClr val="161B26"/>
                </a:solidFill>
                <a:latin typeface="Arial"/>
              </a:rPr>
              <a:t>Location hire and travel</a:t>
            </a:r>
          </a:p>
        </p:txBody>
      </p:sp>
      <p:sp>
        <p:nvSpPr>
          <p:cNvPr id="25" name="Rectangle 24"/>
          <p:cNvSpPr/>
          <p:nvPr/>
        </p:nvSpPr>
        <p:spPr>
          <a:xfrm>
            <a:off x="777240" y="3360420"/>
            <a:ext cx="2764962"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360420"/>
            <a:ext cx="2582082" cy="525780"/>
          </a:xfrm>
          <a:prstGeom prst="rect">
            <a:avLst/>
          </a:prstGeom>
          <a:noFill/>
        </p:spPr>
        <p:txBody>
          <a:bodyPr wrap="square" anchor="ctr">
            <a:spAutoFit/>
          </a:bodyPr>
          <a:lstStyle/>
          <a:p>
            <a:pPr algn="l">
              <a:spcAft>
                <a:spcPts val="400"/>
              </a:spcAft>
            </a:pPr>
            <a:r>
              <a:rPr sz="1000" b="1">
                <a:solidFill>
                  <a:srgbClr val="161B26"/>
                </a:solidFill>
                <a:latin typeface="Arial"/>
              </a:rPr>
              <a:t>Format repurposing</a:t>
            </a:r>
          </a:p>
        </p:txBody>
      </p:sp>
      <p:sp>
        <p:nvSpPr>
          <p:cNvPr id="27" name="Rectangle 26"/>
          <p:cNvSpPr/>
          <p:nvPr/>
        </p:nvSpPr>
        <p:spPr>
          <a:xfrm>
            <a:off x="3542202" y="3360420"/>
            <a:ext cx="5104546"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1930" y="3360420"/>
            <a:ext cx="4921666" cy="525780"/>
          </a:xfrm>
          <a:prstGeom prst="rect">
            <a:avLst/>
          </a:prstGeom>
          <a:noFill/>
        </p:spPr>
        <p:txBody>
          <a:bodyPr wrap="square" anchor="ctr">
            <a:spAutoFit/>
          </a:bodyPr>
          <a:lstStyle/>
          <a:p>
            <a:pPr algn="l">
              <a:spcAft>
                <a:spcPts val="400"/>
              </a:spcAft>
            </a:pPr>
            <a:r>
              <a:rPr sz="1000" b="0">
                <a:solidFill>
                  <a:srgbClr val="161B26"/>
                </a:solidFill>
                <a:latin typeface="Arial"/>
              </a:rPr>
              <a:t>Outpaint or crop one master into a delivery ladder</a:t>
            </a:r>
          </a:p>
        </p:txBody>
      </p:sp>
      <p:sp>
        <p:nvSpPr>
          <p:cNvPr id="29" name="Rectangle 28"/>
          <p:cNvSpPr/>
          <p:nvPr/>
        </p:nvSpPr>
        <p:spPr>
          <a:xfrm>
            <a:off x="8646748" y="3360420"/>
            <a:ext cx="2764962"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56476" y="3360420"/>
            <a:ext cx="2582082" cy="525780"/>
          </a:xfrm>
          <a:prstGeom prst="rect">
            <a:avLst/>
          </a:prstGeom>
          <a:noFill/>
        </p:spPr>
        <p:txBody>
          <a:bodyPr wrap="square" anchor="ctr">
            <a:spAutoFit/>
          </a:bodyPr>
          <a:lstStyle/>
          <a:p>
            <a:pPr algn="l">
              <a:spcAft>
                <a:spcPts val="400"/>
              </a:spcAft>
            </a:pPr>
            <a:r>
              <a:rPr sz="1000" b="0">
                <a:solidFill>
                  <a:srgbClr val="161B26"/>
                </a:solidFill>
                <a:latin typeface="Arial"/>
              </a:rPr>
              <a:t>Manual re-layout per platform</a:t>
            </a:r>
          </a:p>
        </p:txBody>
      </p:sp>
      <p:sp>
        <p:nvSpPr>
          <p:cNvPr id="31" name="Rectangle 30"/>
          <p:cNvSpPr/>
          <p:nvPr/>
        </p:nvSpPr>
        <p:spPr>
          <a:xfrm>
            <a:off x="777240" y="3886200"/>
            <a:ext cx="2764962"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886200"/>
            <a:ext cx="2582082" cy="525780"/>
          </a:xfrm>
          <a:prstGeom prst="rect">
            <a:avLst/>
          </a:prstGeom>
          <a:noFill/>
        </p:spPr>
        <p:txBody>
          <a:bodyPr wrap="square" anchor="ctr">
            <a:spAutoFit/>
          </a:bodyPr>
          <a:lstStyle/>
          <a:p>
            <a:pPr algn="l">
              <a:spcAft>
                <a:spcPts val="400"/>
              </a:spcAft>
            </a:pPr>
            <a:r>
              <a:rPr sz="1000" b="1">
                <a:solidFill>
                  <a:srgbClr val="161B26"/>
                </a:solidFill>
                <a:latin typeface="Arial"/>
              </a:rPr>
              <a:t>Storyboard previsualisation</a:t>
            </a:r>
          </a:p>
        </p:txBody>
      </p:sp>
      <p:sp>
        <p:nvSpPr>
          <p:cNvPr id="33" name="Rectangle 32"/>
          <p:cNvSpPr/>
          <p:nvPr/>
        </p:nvSpPr>
        <p:spPr>
          <a:xfrm>
            <a:off x="3542202" y="3886200"/>
            <a:ext cx="5104546"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1930" y="3886200"/>
            <a:ext cx="4921666" cy="525780"/>
          </a:xfrm>
          <a:prstGeom prst="rect">
            <a:avLst/>
          </a:prstGeom>
          <a:noFill/>
        </p:spPr>
        <p:txBody>
          <a:bodyPr wrap="square" anchor="ctr">
            <a:spAutoFit/>
          </a:bodyPr>
          <a:lstStyle/>
          <a:p>
            <a:pPr algn="l">
              <a:spcAft>
                <a:spcPts val="400"/>
              </a:spcAft>
            </a:pPr>
            <a:r>
              <a:rPr sz="1000" b="0">
                <a:solidFill>
                  <a:srgbClr val="161B26"/>
                </a:solidFill>
                <a:latin typeface="Arial"/>
              </a:rPr>
              <a:t>Turn a shot list into reviewable frames before any shoot</a:t>
            </a:r>
          </a:p>
        </p:txBody>
      </p:sp>
      <p:sp>
        <p:nvSpPr>
          <p:cNvPr id="35" name="Rectangle 34"/>
          <p:cNvSpPr/>
          <p:nvPr/>
        </p:nvSpPr>
        <p:spPr>
          <a:xfrm>
            <a:off x="8646748" y="3886200"/>
            <a:ext cx="2764962"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756476" y="3886200"/>
            <a:ext cx="2582082" cy="525780"/>
          </a:xfrm>
          <a:prstGeom prst="rect">
            <a:avLst/>
          </a:prstGeom>
          <a:noFill/>
        </p:spPr>
        <p:txBody>
          <a:bodyPr wrap="square" anchor="ctr">
            <a:spAutoFit/>
          </a:bodyPr>
          <a:lstStyle/>
          <a:p>
            <a:pPr algn="l">
              <a:spcAft>
                <a:spcPts val="400"/>
              </a:spcAft>
            </a:pPr>
            <a:r>
              <a:rPr sz="1000" b="0">
                <a:solidFill>
                  <a:srgbClr val="161B26"/>
                </a:solidFill>
                <a:latin typeface="Arial"/>
              </a:rPr>
              <a:t>Whole-crew concept days</a:t>
            </a:r>
          </a:p>
        </p:txBody>
      </p:sp>
      <p:sp>
        <p:nvSpPr>
          <p:cNvPr id="37" name="Rectangle 36"/>
          <p:cNvSpPr/>
          <p:nvPr/>
        </p:nvSpPr>
        <p:spPr>
          <a:xfrm>
            <a:off x="777240" y="4411980"/>
            <a:ext cx="2764962"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4411980"/>
            <a:ext cx="2582082" cy="525780"/>
          </a:xfrm>
          <a:prstGeom prst="rect">
            <a:avLst/>
          </a:prstGeom>
          <a:noFill/>
        </p:spPr>
        <p:txBody>
          <a:bodyPr wrap="square" anchor="ctr">
            <a:spAutoFit/>
          </a:bodyPr>
          <a:lstStyle/>
          <a:p>
            <a:pPr algn="l">
              <a:spcAft>
                <a:spcPts val="400"/>
              </a:spcAft>
            </a:pPr>
            <a:r>
              <a:rPr sz="1000" b="1">
                <a:solidFill>
                  <a:srgbClr val="161B26"/>
                </a:solidFill>
                <a:latin typeface="Arial"/>
              </a:rPr>
              <a:t>Automated QC</a:t>
            </a:r>
          </a:p>
        </p:txBody>
      </p:sp>
      <p:sp>
        <p:nvSpPr>
          <p:cNvPr id="39" name="Rectangle 38"/>
          <p:cNvSpPr/>
          <p:nvPr/>
        </p:nvSpPr>
        <p:spPr>
          <a:xfrm>
            <a:off x="3542202" y="4411980"/>
            <a:ext cx="5104546"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1930" y="4411980"/>
            <a:ext cx="4921666" cy="525780"/>
          </a:xfrm>
          <a:prstGeom prst="rect">
            <a:avLst/>
          </a:prstGeom>
          <a:noFill/>
        </p:spPr>
        <p:txBody>
          <a:bodyPr wrap="square" anchor="ctr">
            <a:spAutoFit/>
          </a:bodyPr>
          <a:lstStyle/>
          <a:p>
            <a:pPr algn="l">
              <a:spcAft>
                <a:spcPts val="400"/>
              </a:spcAft>
            </a:pPr>
            <a:r>
              <a:rPr sz="1000" b="0">
                <a:solidFill>
                  <a:srgbClr val="161B26"/>
                </a:solidFill>
                <a:latin typeface="Arial"/>
              </a:rPr>
              <a:t>Score every delivered asset against a brand reference</a:t>
            </a:r>
          </a:p>
        </p:txBody>
      </p:sp>
      <p:sp>
        <p:nvSpPr>
          <p:cNvPr id="41" name="Rectangle 40"/>
          <p:cNvSpPr/>
          <p:nvPr/>
        </p:nvSpPr>
        <p:spPr>
          <a:xfrm>
            <a:off x="8646748" y="4411980"/>
            <a:ext cx="2764962"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756476" y="4411980"/>
            <a:ext cx="2582082" cy="525780"/>
          </a:xfrm>
          <a:prstGeom prst="rect">
            <a:avLst/>
          </a:prstGeom>
          <a:noFill/>
        </p:spPr>
        <p:txBody>
          <a:bodyPr wrap="square" anchor="ctr">
            <a:spAutoFit/>
          </a:bodyPr>
          <a:lstStyle/>
          <a:p>
            <a:pPr algn="l">
              <a:spcAft>
                <a:spcPts val="400"/>
              </a:spcAft>
            </a:pPr>
            <a:r>
              <a:rPr sz="1000" b="0">
                <a:solidFill>
                  <a:srgbClr val="161B26"/>
                </a:solidFill>
                <a:latin typeface="Arial"/>
              </a:rPr>
              <a:t>Eyeball review of every file</a:t>
            </a:r>
          </a:p>
        </p:txBody>
      </p:sp>
      <p:sp>
        <p:nvSpPr>
          <p:cNvPr id="43" name="Rectangle 42"/>
          <p:cNvSpPr/>
          <p:nvPr/>
        </p:nvSpPr>
        <p:spPr>
          <a:xfrm>
            <a:off x="777240" y="4937760"/>
            <a:ext cx="2764962"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4937760"/>
            <a:ext cx="2582082" cy="525780"/>
          </a:xfrm>
          <a:prstGeom prst="rect">
            <a:avLst/>
          </a:prstGeom>
          <a:noFill/>
        </p:spPr>
        <p:txBody>
          <a:bodyPr wrap="square" anchor="ctr">
            <a:spAutoFit/>
          </a:bodyPr>
          <a:lstStyle/>
          <a:p>
            <a:pPr algn="l">
              <a:spcAft>
                <a:spcPts val="400"/>
              </a:spcAft>
            </a:pPr>
            <a:r>
              <a:rPr sz="1000" b="1">
                <a:solidFill>
                  <a:srgbClr val="161B26"/>
                </a:solidFill>
                <a:latin typeface="Arial"/>
              </a:rPr>
              <a:t>Shelf and stock monitoring</a:t>
            </a:r>
          </a:p>
        </p:txBody>
      </p:sp>
      <p:sp>
        <p:nvSpPr>
          <p:cNvPr id="45" name="Rectangle 44"/>
          <p:cNvSpPr/>
          <p:nvPr/>
        </p:nvSpPr>
        <p:spPr>
          <a:xfrm>
            <a:off x="3542202" y="4937760"/>
            <a:ext cx="5104546"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51930" y="4937760"/>
            <a:ext cx="4921666" cy="525780"/>
          </a:xfrm>
          <a:prstGeom prst="rect">
            <a:avLst/>
          </a:prstGeom>
          <a:noFill/>
        </p:spPr>
        <p:txBody>
          <a:bodyPr wrap="square" anchor="ctr">
            <a:spAutoFit/>
          </a:bodyPr>
          <a:lstStyle/>
          <a:p>
            <a:pPr algn="l">
              <a:spcAft>
                <a:spcPts val="400"/>
              </a:spcAft>
            </a:pPr>
            <a:r>
              <a:rPr sz="1000" b="0">
                <a:solidFill>
                  <a:srgbClr val="161B26"/>
                </a:solidFill>
                <a:latin typeface="Arial"/>
              </a:rPr>
              <a:t>Detect gaps and count facings from fixed cameras</a:t>
            </a:r>
          </a:p>
        </p:txBody>
      </p:sp>
      <p:sp>
        <p:nvSpPr>
          <p:cNvPr id="47" name="Rectangle 46"/>
          <p:cNvSpPr/>
          <p:nvPr/>
        </p:nvSpPr>
        <p:spPr>
          <a:xfrm>
            <a:off x="8646748" y="4937760"/>
            <a:ext cx="2764962"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756476" y="4937760"/>
            <a:ext cx="2582082" cy="525780"/>
          </a:xfrm>
          <a:prstGeom prst="rect">
            <a:avLst/>
          </a:prstGeom>
          <a:noFill/>
        </p:spPr>
        <p:txBody>
          <a:bodyPr wrap="square" anchor="ctr">
            <a:spAutoFit/>
          </a:bodyPr>
          <a:lstStyle/>
          <a:p>
            <a:pPr algn="l">
              <a:spcAft>
                <a:spcPts val="400"/>
              </a:spcAft>
            </a:pPr>
            <a:r>
              <a:rPr sz="1000" b="0">
                <a:solidFill>
                  <a:srgbClr val="161B26"/>
                </a:solidFill>
                <a:latin typeface="Arial"/>
              </a:rPr>
              <a:t>Manual store walks</a:t>
            </a:r>
          </a:p>
        </p:txBody>
      </p:sp>
      <p:sp>
        <p:nvSpPr>
          <p:cNvPr id="49" name="Rectangle 48"/>
          <p:cNvSpPr/>
          <p:nvPr/>
        </p:nvSpPr>
        <p:spPr>
          <a:xfrm>
            <a:off x="777240" y="5463540"/>
            <a:ext cx="2764962"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86968" y="5463540"/>
            <a:ext cx="2582082" cy="525780"/>
          </a:xfrm>
          <a:prstGeom prst="rect">
            <a:avLst/>
          </a:prstGeom>
          <a:noFill/>
        </p:spPr>
        <p:txBody>
          <a:bodyPr wrap="square" anchor="ctr">
            <a:spAutoFit/>
          </a:bodyPr>
          <a:lstStyle/>
          <a:p>
            <a:pPr algn="l">
              <a:spcAft>
                <a:spcPts val="400"/>
              </a:spcAft>
            </a:pPr>
            <a:r>
              <a:rPr sz="1000" b="1">
                <a:solidFill>
                  <a:srgbClr val="161B26"/>
                </a:solidFill>
                <a:latin typeface="Arial"/>
              </a:rPr>
              <a:t>Synthetic training data</a:t>
            </a:r>
          </a:p>
        </p:txBody>
      </p:sp>
      <p:sp>
        <p:nvSpPr>
          <p:cNvPr id="51" name="Rectangle 50"/>
          <p:cNvSpPr/>
          <p:nvPr/>
        </p:nvSpPr>
        <p:spPr>
          <a:xfrm>
            <a:off x="3542202" y="5463540"/>
            <a:ext cx="5104546"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51930" y="5463540"/>
            <a:ext cx="4921666" cy="525780"/>
          </a:xfrm>
          <a:prstGeom prst="rect">
            <a:avLst/>
          </a:prstGeom>
          <a:noFill/>
        </p:spPr>
        <p:txBody>
          <a:bodyPr wrap="square" anchor="ctr">
            <a:spAutoFit/>
          </a:bodyPr>
          <a:lstStyle/>
          <a:p>
            <a:pPr algn="l">
              <a:spcAft>
                <a:spcPts val="400"/>
              </a:spcAft>
            </a:pPr>
            <a:r>
              <a:rPr sz="1000" b="0">
                <a:solidFill>
                  <a:srgbClr val="161B26"/>
                </a:solidFill>
                <a:latin typeface="Arial"/>
              </a:rPr>
              <a:t>Generate labelled examples for a rare defect class</a:t>
            </a:r>
          </a:p>
        </p:txBody>
      </p:sp>
      <p:sp>
        <p:nvSpPr>
          <p:cNvPr id="53" name="Rectangle 52"/>
          <p:cNvSpPr/>
          <p:nvPr/>
        </p:nvSpPr>
        <p:spPr>
          <a:xfrm>
            <a:off x="8646748" y="5463540"/>
            <a:ext cx="2764962"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756476" y="5463540"/>
            <a:ext cx="2582082" cy="525780"/>
          </a:xfrm>
          <a:prstGeom prst="rect">
            <a:avLst/>
          </a:prstGeom>
          <a:noFill/>
        </p:spPr>
        <p:txBody>
          <a:bodyPr wrap="square" anchor="ctr">
            <a:spAutoFit/>
          </a:bodyPr>
          <a:lstStyle/>
          <a:p>
            <a:pPr algn="l">
              <a:spcAft>
                <a:spcPts val="400"/>
              </a:spcAft>
            </a:pPr>
            <a:r>
              <a:rPr sz="1000" b="0">
                <a:solidFill>
                  <a:srgbClr val="161B26"/>
                </a:solidFill>
                <a:latin typeface="Arial"/>
              </a:rPr>
              <a:t>Waiting for the defect to occur</a:t>
            </a:r>
          </a:p>
        </p:txBody>
      </p:sp>
      <p:sp>
        <p:nvSpPr>
          <p:cNvPr id="55" name="TextBox 54"/>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Every row is a task that is visual, repeated, specifiable and currently expensive. Those four properties are the need test you apply in Lab 01.</a:t>
            </a:r>
          </a:p>
        </p:txBody>
      </p:sp>
      <p:sp>
        <p:nvSpPr>
          <p:cNvPr id="56" name="TextBox 5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57" name="TextBox 5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8" name="TextBox 5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K2 · VOLUME x REPEATABILITY, NOT NOVELTY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Where the Value Actually Comes From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Volume alone is not enough</a:t>
            </a:r>
          </a:p>
          <a:p>
            <a:pPr algn="l">
              <a:spcAft>
                <a:spcPts val="200"/>
              </a:spcAft>
            </a:pPr>
            <a:r>
              <a:rPr sz="1100" b="0">
                <a:solidFill>
                  <a:srgbClr val="161B26"/>
                </a:solidFill>
                <a:latin typeface="Arial"/>
              </a:rPr>
              <a:t>Personalised greetings are the highest volume case and still fail — they carry personal data.</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Repeatability is the killer</a:t>
            </a:r>
          </a:p>
          <a:p>
            <a:pPr algn="l">
              <a:spcAft>
                <a:spcPts val="200"/>
              </a:spcAft>
            </a:pPr>
            <a:r>
              <a:rPr sz="1100" b="0">
                <a:solidFill>
                  <a:srgbClr val="161B26"/>
                </a:solidFill>
                <a:latin typeface="Arial"/>
              </a:rPr>
              <a:t>Event key art scores 1/5: every instance is bespoke, so there is nothing to specify.</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The winners score on both</a:t>
            </a:r>
          </a:p>
          <a:p>
            <a:pPr algn="l">
              <a:spcAft>
                <a:spcPts val="200"/>
              </a:spcAft>
            </a:pPr>
            <a:r>
              <a:rPr sz="1100" b="0">
                <a:solidFill>
                  <a:srgbClr val="161B26"/>
                </a:solidFill>
                <a:latin typeface="Arial"/>
              </a:rPr>
              <a:t>Catalogue work is high volume AND fully specifiable — that is what pays back.</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Constraints are gates</a:t>
            </a:r>
          </a:p>
          <a:p>
            <a:pPr algn="l">
              <a:spcAft>
                <a:spcPts val="200"/>
              </a:spcAft>
            </a:pPr>
            <a:r>
              <a:rPr sz="1100" b="0">
                <a:solidFill>
                  <a:srgbClr val="161B26"/>
                </a:solidFill>
                <a:latin typeface="Arial"/>
              </a:rPr>
              <a:t>Privacy and latency eliminate cases before any cost argument is made.</a:t>
            </a:r>
          </a:p>
        </p:txBody>
      </p:sp>
      <p:sp>
        <p:nvSpPr>
          <p:cNvPr id="20" name="Rectangle 19"/>
          <p:cNvSpPr/>
          <p:nvPr/>
        </p:nvSpPr>
        <p:spPr>
          <a:xfrm>
            <a:off x="777240" y="5925312"/>
            <a:ext cx="1417320"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ILLUSTRATIVE</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Figures are the synthetic NorthQuay case data used in Lab 01 (labs/lab-01-.../data/candidate-use-cases.csv). They are classroom values, not market data.</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A1 · IDENTIFY THE NEEDS OF VISION SYSTEMS TECHNOLOGY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Six Need Criteria You Will Score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VOLUME</a:t>
            </a:r>
          </a:p>
          <a:p>
            <a:pPr algn="l">
              <a:spcAft>
                <a:spcPts val="200"/>
              </a:spcAft>
            </a:pPr>
            <a:r>
              <a:rPr sz="1000" b="0">
                <a:solidFill>
                  <a:srgbClr val="5B6372"/>
                </a:solidFill>
                <a:latin typeface="Arial"/>
              </a:rPr>
              <a:t>5 if the task repeats 500+ times a month, 3 for 50–499, 1 below 50. A vision system earns its build cost through throughput.</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REPEATABILITY</a:t>
            </a:r>
          </a:p>
          <a:p>
            <a:pPr algn="l">
              <a:spcAft>
                <a:spcPts val="200"/>
              </a:spcAft>
            </a:pPr>
            <a:r>
              <a:rPr sz="1000" b="0">
                <a:solidFill>
                  <a:srgbClr val="5B6372"/>
                </a:solidFill>
                <a:latin typeface="Arial"/>
              </a:rPr>
              <a:t>5 if framing, subject class and output format are identical every time. Low repeatability is the most common reason a vision project fails to pay back.</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LATENCY CLASS</a:t>
            </a:r>
          </a:p>
          <a:p>
            <a:pPr algn="l">
              <a:spcAft>
                <a:spcPts val="200"/>
              </a:spcAft>
            </a:pPr>
            <a:r>
              <a:rPr sz="1000" b="0">
                <a:solidFill>
                  <a:srgbClr val="5B6372"/>
                </a:solidFill>
                <a:latin typeface="Arial"/>
              </a:rPr>
              <a:t>Scored inverted against difficulty: batch = 5, interactive = 3, hard real-time = 1. A high score means the requirement does not constrain your architecture.</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ACCURACY TOLERANCE</a:t>
            </a:r>
          </a:p>
          <a:p>
            <a:pPr algn="l">
              <a:spcAft>
                <a:spcPts val="200"/>
              </a:spcAft>
            </a:pPr>
            <a:r>
              <a:rPr sz="1000" b="0">
                <a:solidFill>
                  <a:srgbClr val="5B6372"/>
                </a:solidFill>
                <a:latin typeface="Arial"/>
              </a:rPr>
              <a:t>5 where a human reviews every output, 1 where a wrong output reaches a customer or a safety decision unreviewed.</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PRIVACY RISK</a:t>
            </a:r>
          </a:p>
          <a:p>
            <a:pPr algn="l">
              <a:spcAft>
                <a:spcPts val="200"/>
              </a:spcAft>
            </a:pPr>
            <a:r>
              <a:rPr sz="1000" b="0">
                <a:solidFill>
                  <a:srgbClr val="5B6372"/>
                </a:solidFill>
                <a:latin typeface="Arial"/>
              </a:rPr>
              <a:t>Inverted: 5 where no identifiable person is involved, 1 where customer faces or personal data are unavoidable. This one is a gate, not a weight.</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COST GAP</a:t>
            </a:r>
          </a:p>
          <a:p>
            <a:pPr algn="l">
              <a:spcAft>
                <a:spcPts val="200"/>
              </a:spcAft>
            </a:pPr>
            <a:r>
              <a:rPr sz="1000" b="0">
                <a:solidFill>
                  <a:srgbClr val="5B6372"/>
                </a:solidFill>
                <a:latin typeface="Arial"/>
              </a:rPr>
              <a:t>(manual − automated) / manual. 5 above 0.6, 3 for 0.3–0.6, 1 below. A classroom scoring boundary, not a measured payback point.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500" b="1">
                <a:solidFill>
                  <a:srgbClr val="DC2626"/>
                </a:solidFill>
                <a:latin typeface="Arial"/>
              </a:rPr>
              <a:t>A1 · HOW TO READ A SCORING MATRIX</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400" b="1">
                <a:solidFill>
                  <a:srgbClr val="161B26"/>
                </a:solidFill>
                <a:latin typeface="Arial"/>
              </a:rPr>
              <a:t>A privacy classification is a gate, not a weighting.</a:t>
            </a:r>
          </a:p>
        </p:txBody>
      </p:sp>
      <p:sp>
        <p:nvSpPr>
          <p:cNvPr id="6" name="TextBox 5"/>
          <p:cNvSpPr txBox="1"/>
          <p:nvPr/>
        </p:nvSpPr>
        <p:spPr>
          <a:xfrm>
            <a:off x="1024128" y="4480560"/>
            <a:ext cx="10058400" cy="1280160"/>
          </a:xfrm>
          <a:prstGeom prst="rect">
            <a:avLst/>
          </a:prstGeom>
          <a:noFill/>
        </p:spPr>
        <p:txBody>
          <a:bodyPr wrap="square" anchor="t">
            <a:spAutoFit/>
          </a:bodyPr>
          <a:lstStyle/>
          <a:p>
            <a:pPr algn="l">
              <a:spcAft>
                <a:spcPts val="400"/>
              </a:spcAft>
            </a:pPr>
            <a:r>
              <a:rPr sz="1700" b="0">
                <a:solidFill>
                  <a:srgbClr val="5B6372"/>
                </a:solidFill>
                <a:latin typeface="Arial"/>
              </a:rPr>
              <a:t>Eliminate on constraint first, then optimise on cost among what survives. A case that scores 30 out of 32.5 and moves customer faces off the store network is still rejected.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 · THE SAME CONVOLUTION, THREE TIMES OVER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Three Generations of Computer Vision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2926080" cy="548640"/>
          </a:xfrm>
          <a:prstGeom prst="rect">
            <a:avLst/>
          </a:prstGeom>
          <a:noFill/>
        </p:spPr>
        <p:txBody>
          <a:bodyPr wrap="square" anchor="t">
            <a:spAutoFit/>
          </a:bodyPr>
          <a:lstStyle/>
          <a:p>
            <a:pPr algn="l">
              <a:spcAft>
                <a:spcPts val="400"/>
              </a:spcAft>
            </a:pPr>
            <a:r>
              <a:rPr sz="1700" b="1">
                <a:solidFill>
                  <a:srgbClr val="1F6FEB"/>
                </a:solidFill>
                <a:latin typeface="Arial"/>
              </a:rPr>
              <a:t>Hand-designed</a:t>
            </a:r>
          </a:p>
        </p:txBody>
      </p:sp>
      <p:sp>
        <p:nvSpPr>
          <p:cNvPr id="10" name="TextBox 9"/>
          <p:cNvSpPr txBox="1"/>
          <p:nvPr/>
        </p:nvSpPr>
        <p:spPr>
          <a:xfrm>
            <a:off x="1005840" y="2651760"/>
            <a:ext cx="2926080" cy="3200400"/>
          </a:xfrm>
          <a:prstGeom prst="rect">
            <a:avLst/>
          </a:prstGeom>
          <a:noFill/>
        </p:spPr>
        <p:txBody>
          <a:bodyPr wrap="square">
            <a:spAutoFit/>
          </a:bodyPr>
          <a:lstStyle/>
          <a:p>
            <a:pPr>
              <a:spcAft>
                <a:spcPts val="800"/>
              </a:spcAft>
            </a:pPr>
            <a:r>
              <a:rPr sz="1300" b="0">
                <a:solidFill>
                  <a:srgbClr val="161B26"/>
                </a:solidFill>
                <a:latin typeface="Arial"/>
              </a:rPr>
              <a:t>•  You write the kernel: Sobel, Canny, Harris.</a:t>
            </a:r>
          </a:p>
          <a:p>
            <a:pPr>
              <a:spcAft>
                <a:spcPts val="800"/>
              </a:spcAft>
            </a:pPr>
            <a:r>
              <a:rPr sz="1300" b="0">
                <a:solidFill>
                  <a:srgbClr val="161B26"/>
                </a:solidFill>
                <a:latin typeface="Arial"/>
              </a:rPr>
              <a:t>•  Deterministic and inspectable.</a:t>
            </a:r>
          </a:p>
          <a:p>
            <a:pPr>
              <a:spcAft>
                <a:spcPts val="800"/>
              </a:spcAft>
            </a:pPr>
            <a:r>
              <a:rPr sz="1300" b="0">
                <a:solidFill>
                  <a:srgbClr val="161B26"/>
                </a:solidFill>
                <a:latin typeface="Arial"/>
              </a:rPr>
              <a:t>•  Fast, no training data, no GPU.</a:t>
            </a:r>
          </a:p>
          <a:p>
            <a:pPr>
              <a:spcAft>
                <a:spcPts val="800"/>
              </a:spcAft>
            </a:pPr>
            <a:r>
              <a:rPr sz="1300" b="0">
                <a:solidFill>
                  <a:srgbClr val="161B26"/>
                </a:solidFill>
                <a:latin typeface="Arial"/>
              </a:rPr>
              <a:t>•  Breaks when the scene changes.</a:t>
            </a:r>
          </a:p>
          <a:p>
            <a:pPr>
              <a:spcAft>
                <a:spcPts val="800"/>
              </a:spcAft>
            </a:pPr>
            <a:r>
              <a:rPr sz="1300" b="0">
                <a:solidFill>
                  <a:srgbClr val="161B26"/>
                </a:solidFill>
                <a:latin typeface="Arial"/>
              </a:rPr>
              <a:t>•  Still the right tool for a fixed rig.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1993392"/>
            <a:ext cx="2926080" cy="548640"/>
          </a:xfrm>
          <a:prstGeom prst="rect">
            <a:avLst/>
          </a:prstGeom>
          <a:noFill/>
        </p:spPr>
        <p:txBody>
          <a:bodyPr wrap="square" anchor="t">
            <a:spAutoFit/>
          </a:bodyPr>
          <a:lstStyle/>
          <a:p>
            <a:pPr algn="l">
              <a:spcAft>
                <a:spcPts val="400"/>
              </a:spcAft>
            </a:pPr>
            <a:r>
              <a:rPr sz="1700" b="1">
                <a:solidFill>
                  <a:srgbClr val="10B981"/>
                </a:solidFill>
                <a:latin typeface="Arial"/>
              </a:rPr>
              <a:t>Learned (discriminative)</a:t>
            </a:r>
          </a:p>
        </p:txBody>
      </p:sp>
      <p:sp>
        <p:nvSpPr>
          <p:cNvPr id="14" name="TextBox 13"/>
          <p:cNvSpPr txBox="1"/>
          <p:nvPr/>
        </p:nvSpPr>
        <p:spPr>
          <a:xfrm>
            <a:off x="4800600" y="2651760"/>
            <a:ext cx="2926080" cy="3200400"/>
          </a:xfrm>
          <a:prstGeom prst="rect">
            <a:avLst/>
          </a:prstGeom>
          <a:noFill/>
        </p:spPr>
        <p:txBody>
          <a:bodyPr wrap="square">
            <a:spAutoFit/>
          </a:bodyPr>
          <a:lstStyle/>
          <a:p>
            <a:pPr>
              <a:spcAft>
                <a:spcPts val="800"/>
              </a:spcAft>
            </a:pPr>
            <a:r>
              <a:rPr sz="1300" b="0">
                <a:solidFill>
                  <a:srgbClr val="161B26"/>
                </a:solidFill>
                <a:latin typeface="Arial"/>
              </a:rPr>
              <a:t>•  The network learns the kernels from labels.</a:t>
            </a:r>
          </a:p>
          <a:p>
            <a:pPr>
              <a:spcAft>
                <a:spcPts val="800"/>
              </a:spcAft>
            </a:pPr>
            <a:r>
              <a:rPr sz="1300" b="0">
                <a:solidFill>
                  <a:srgbClr val="161B26"/>
                </a:solidFill>
                <a:latin typeface="Arial"/>
              </a:rPr>
              <a:t>•  CNNs, Viola-Jones cascades, HOG + SVM.</a:t>
            </a:r>
          </a:p>
          <a:p>
            <a:pPr>
              <a:spcAft>
                <a:spcPts val="800"/>
              </a:spcAft>
            </a:pPr>
            <a:r>
              <a:rPr sz="1300" b="0">
                <a:solidFill>
                  <a:srgbClr val="161B26"/>
                </a:solidFill>
                <a:latin typeface="Arial"/>
              </a:rPr>
              <a:t>•  Generalises across scenes.</a:t>
            </a:r>
          </a:p>
          <a:p>
            <a:pPr>
              <a:spcAft>
                <a:spcPts val="800"/>
              </a:spcAft>
            </a:pPr>
            <a:r>
              <a:rPr sz="1300" b="0">
                <a:solidFill>
                  <a:srgbClr val="161B26"/>
                </a:solidFill>
                <a:latin typeface="Arial"/>
              </a:rPr>
              <a:t>•  Needs labelled data and evaluation.</a:t>
            </a:r>
          </a:p>
          <a:p>
            <a:pPr>
              <a:spcAft>
                <a:spcPts val="800"/>
              </a:spcAft>
            </a:pPr>
            <a:r>
              <a:rPr sz="1300" b="0">
                <a:solidFill>
                  <a:srgbClr val="161B26"/>
                </a:solidFill>
                <a:latin typeface="Arial"/>
              </a:rPr>
              <a:t>•  Evaluated with IoU, precision, recall.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1993392"/>
            <a:ext cx="2926080" cy="548640"/>
          </a:xfrm>
          <a:prstGeom prst="rect">
            <a:avLst/>
          </a:prstGeom>
          <a:noFill/>
        </p:spPr>
        <p:txBody>
          <a:bodyPr wrap="square" anchor="t">
            <a:spAutoFit/>
          </a:bodyPr>
          <a:lstStyle/>
          <a:p>
            <a:pPr algn="l">
              <a:spcAft>
                <a:spcPts val="400"/>
              </a:spcAft>
            </a:pPr>
            <a:r>
              <a:rPr sz="1700" b="1">
                <a:solidFill>
                  <a:srgbClr val="7C3AED"/>
                </a:solidFill>
                <a:latin typeface="Arial"/>
              </a:rPr>
              <a:t>Learned (generative)</a:t>
            </a:r>
          </a:p>
        </p:txBody>
      </p:sp>
      <p:sp>
        <p:nvSpPr>
          <p:cNvPr id="18" name="TextBox 17"/>
          <p:cNvSpPr txBox="1"/>
          <p:nvPr/>
        </p:nvSpPr>
        <p:spPr>
          <a:xfrm>
            <a:off x="8595360" y="2651760"/>
            <a:ext cx="2926080" cy="3200400"/>
          </a:xfrm>
          <a:prstGeom prst="rect">
            <a:avLst/>
          </a:prstGeom>
          <a:noFill/>
        </p:spPr>
        <p:txBody>
          <a:bodyPr wrap="square">
            <a:spAutoFit/>
          </a:bodyPr>
          <a:lstStyle/>
          <a:p>
            <a:pPr>
              <a:spcAft>
                <a:spcPts val="800"/>
              </a:spcAft>
            </a:pPr>
            <a:r>
              <a:rPr sz="1300" b="0">
                <a:solidFill>
                  <a:srgbClr val="161B26"/>
                </a:solidFill>
                <a:latin typeface="Arial"/>
              </a:rPr>
              <a:t>•  The model learns the data distribution.</a:t>
            </a:r>
          </a:p>
          <a:p>
            <a:pPr>
              <a:spcAft>
                <a:spcPts val="800"/>
              </a:spcAft>
            </a:pPr>
            <a:r>
              <a:rPr sz="1300" b="0">
                <a:solidFill>
                  <a:srgbClr val="161B26"/>
                </a:solidFill>
                <a:latin typeface="Arial"/>
              </a:rPr>
              <a:t>•  VAE, GAN, diffusion, diffusion transformer.</a:t>
            </a:r>
          </a:p>
          <a:p>
            <a:pPr>
              <a:spcAft>
                <a:spcPts val="800"/>
              </a:spcAft>
            </a:pPr>
            <a:r>
              <a:rPr sz="1300" b="0">
                <a:solidFill>
                  <a:srgbClr val="161B26"/>
                </a:solidFill>
                <a:latin typeface="Arial"/>
              </a:rPr>
              <a:t>•  Creates new pixels from a condition.</a:t>
            </a:r>
          </a:p>
          <a:p>
            <a:pPr>
              <a:spcAft>
                <a:spcPts val="800"/>
              </a:spcAft>
            </a:pPr>
            <a:r>
              <a:rPr sz="1300" b="0">
                <a:solidFill>
                  <a:srgbClr val="161B26"/>
                </a:solidFill>
                <a:latin typeface="Arial"/>
              </a:rPr>
              <a:t>•  Needs distributional and perceptual metrics.</a:t>
            </a:r>
          </a:p>
          <a:p>
            <a:pPr>
              <a:spcAft>
                <a:spcPts val="800"/>
              </a:spcAft>
            </a:pPr>
            <a:r>
              <a:rPr sz="1300" b="0">
                <a:solidFill>
                  <a:srgbClr val="161B26"/>
                </a:solidFill>
                <a:latin typeface="Arial"/>
              </a:rPr>
              <a:t>•  Fails plausibly, so it needs a gate.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K8 FOUNDATION · INTRODUCED HERE, ASSESSED IN TOPIC 04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An Artificial Neuron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12263"/>
            <a:ext cx="2996184" cy="457200"/>
          </a:xfrm>
          <a:prstGeom prst="rect">
            <a:avLst/>
          </a:prstGeom>
          <a:noFill/>
        </p:spPr>
        <p:txBody>
          <a:bodyPr wrap="square" anchor="t">
            <a:spAutoFit/>
          </a:bodyPr>
          <a:lstStyle/>
          <a:p>
            <a:pPr algn="l">
              <a:spcAft>
                <a:spcPts val="400"/>
              </a:spcAft>
            </a:pPr>
            <a:r>
              <a:rPr sz="1500" b="1">
                <a:solidFill>
                  <a:srgbClr val="1F6FEB"/>
                </a:solidFill>
                <a:latin typeface="Arial"/>
              </a:rPr>
              <a:t>The unit</a:t>
            </a:r>
          </a:p>
        </p:txBody>
      </p:sp>
      <p:sp>
        <p:nvSpPr>
          <p:cNvPr id="10" name="Rectangle 9"/>
          <p:cNvSpPr/>
          <p:nvPr/>
        </p:nvSpPr>
        <p:spPr>
          <a:xfrm>
            <a:off x="960120" y="2715767"/>
            <a:ext cx="2996184" cy="6766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15767"/>
            <a:ext cx="2813304" cy="676656"/>
          </a:xfrm>
          <a:prstGeom prst="rect">
            <a:avLst/>
          </a:prstGeom>
          <a:noFill/>
        </p:spPr>
        <p:txBody>
          <a:bodyPr wrap="none" lIns="0" rIns="0" tIns="0" bIns="0" anchor="ctr">
            <a:noAutofit/>
          </a:bodyPr>
          <a:lstStyle/>
          <a:p>
            <a:pPr>
              <a:spcAft>
                <a:spcPts val="100"/>
              </a:spcAft>
            </a:pPr>
            <a:r>
              <a:rPr sz="1400">
                <a:solidFill>
                  <a:srgbClr val="9CDCFE"/>
                </a:solidFill>
                <a:latin typeface="Consolas"/>
              </a:rPr>
              <a:t>y = f( Σ wᵢxᵢ + b )</a:t>
            </a:r>
          </a:p>
        </p:txBody>
      </p:sp>
      <p:sp>
        <p:nvSpPr>
          <p:cNvPr id="12" name="TextBox 11"/>
          <p:cNvSpPr txBox="1"/>
          <p:nvPr/>
        </p:nvSpPr>
        <p:spPr>
          <a:xfrm>
            <a:off x="960120" y="3502151"/>
            <a:ext cx="2996184" cy="1856232"/>
          </a:xfrm>
          <a:prstGeom prst="rect">
            <a:avLst/>
          </a:prstGeom>
          <a:noFill/>
        </p:spPr>
        <p:txBody>
          <a:bodyPr wrap="square" anchor="t">
            <a:spAutoFit/>
          </a:bodyPr>
          <a:lstStyle/>
          <a:p>
            <a:pPr algn="l">
              <a:spcAft>
                <a:spcPts val="400"/>
              </a:spcAft>
            </a:pPr>
            <a:r>
              <a:rPr sz="1200" b="0">
                <a:solidFill>
                  <a:srgbClr val="5B6372"/>
                </a:solidFill>
                <a:latin typeface="Arial"/>
              </a:rPr>
              <a:t>Weighted sum of the inputs, plus a bias, passed through a non-linearity f. The weights and the bias are what training changes.</a:t>
            </a:r>
          </a:p>
        </p:txBody>
      </p:sp>
      <p:sp>
        <p:nvSpPr>
          <p:cNvPr id="13" name="Rectangle 12"/>
          <p:cNvSpPr/>
          <p:nvPr/>
        </p:nvSpPr>
        <p:spPr>
          <a:xfrm>
            <a:off x="4413504"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6384" y="2112263"/>
            <a:ext cx="2996184" cy="457200"/>
          </a:xfrm>
          <a:prstGeom prst="rect">
            <a:avLst/>
          </a:prstGeom>
          <a:noFill/>
        </p:spPr>
        <p:txBody>
          <a:bodyPr wrap="square" anchor="t">
            <a:spAutoFit/>
          </a:bodyPr>
          <a:lstStyle/>
          <a:p>
            <a:pPr algn="l">
              <a:spcAft>
                <a:spcPts val="400"/>
              </a:spcAft>
            </a:pPr>
            <a:r>
              <a:rPr sz="1500" b="1">
                <a:solidFill>
                  <a:srgbClr val="10B981"/>
                </a:solidFill>
                <a:latin typeface="Arial"/>
              </a:rPr>
              <a:t>Why f matters</a:t>
            </a:r>
          </a:p>
        </p:txBody>
      </p:sp>
      <p:sp>
        <p:nvSpPr>
          <p:cNvPr id="16" name="Rectangle 15"/>
          <p:cNvSpPr/>
          <p:nvPr/>
        </p:nvSpPr>
        <p:spPr>
          <a:xfrm>
            <a:off x="4596384" y="2715767"/>
            <a:ext cx="2996184" cy="6766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7824" y="2715767"/>
            <a:ext cx="2813304" cy="676656"/>
          </a:xfrm>
          <a:prstGeom prst="rect">
            <a:avLst/>
          </a:prstGeom>
          <a:noFill/>
        </p:spPr>
        <p:txBody>
          <a:bodyPr wrap="none" lIns="0" rIns="0" tIns="0" bIns="0" anchor="ctr">
            <a:noAutofit/>
          </a:bodyPr>
          <a:lstStyle/>
          <a:p>
            <a:pPr>
              <a:spcAft>
                <a:spcPts val="100"/>
              </a:spcAft>
            </a:pPr>
            <a:r>
              <a:rPr sz="1400">
                <a:solidFill>
                  <a:srgbClr val="9CDCFE"/>
                </a:solidFill>
                <a:latin typeface="Consolas"/>
              </a:rPr>
              <a:t>W₂(W₁x) = (W₂W₁)x</a:t>
            </a:r>
          </a:p>
        </p:txBody>
      </p:sp>
      <p:sp>
        <p:nvSpPr>
          <p:cNvPr id="18" name="TextBox 17"/>
          <p:cNvSpPr txBox="1"/>
          <p:nvPr/>
        </p:nvSpPr>
        <p:spPr>
          <a:xfrm>
            <a:off x="4596384" y="3502151"/>
            <a:ext cx="2996184" cy="1856232"/>
          </a:xfrm>
          <a:prstGeom prst="rect">
            <a:avLst/>
          </a:prstGeom>
          <a:noFill/>
        </p:spPr>
        <p:txBody>
          <a:bodyPr wrap="square" anchor="t">
            <a:spAutoFit/>
          </a:bodyPr>
          <a:lstStyle/>
          <a:p>
            <a:pPr algn="l">
              <a:spcAft>
                <a:spcPts val="400"/>
              </a:spcAft>
            </a:pPr>
            <a:r>
              <a:rPr sz="1200" b="0">
                <a:solidFill>
                  <a:srgbClr val="5B6372"/>
                </a:solidFill>
                <a:latin typeface="Arial"/>
              </a:rPr>
              <a:t>Without f, any depth of stacked linear layers collapses to a single linear map. The non-linearity is what makes depth mean anything.</a:t>
            </a:r>
          </a:p>
        </p:txBody>
      </p:sp>
      <p:sp>
        <p:nvSpPr>
          <p:cNvPr id="19" name="Rectangle 18"/>
          <p:cNvSpPr/>
          <p:nvPr/>
        </p:nvSpPr>
        <p:spPr>
          <a:xfrm>
            <a:off x="8049768"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2648" y="2112263"/>
            <a:ext cx="2996184" cy="457200"/>
          </a:xfrm>
          <a:prstGeom prst="rect">
            <a:avLst/>
          </a:prstGeom>
          <a:noFill/>
        </p:spPr>
        <p:txBody>
          <a:bodyPr wrap="square" anchor="t">
            <a:spAutoFit/>
          </a:bodyPr>
          <a:lstStyle/>
          <a:p>
            <a:pPr algn="l">
              <a:spcAft>
                <a:spcPts val="400"/>
              </a:spcAft>
            </a:pPr>
            <a:r>
              <a:rPr sz="1500" b="1">
                <a:solidFill>
                  <a:srgbClr val="7C3AED"/>
                </a:solidFill>
                <a:latin typeface="Arial"/>
              </a:rPr>
              <a:t>A layer</a:t>
            </a:r>
          </a:p>
        </p:txBody>
      </p:sp>
      <p:sp>
        <p:nvSpPr>
          <p:cNvPr id="22" name="Rectangle 21"/>
          <p:cNvSpPr/>
          <p:nvPr/>
        </p:nvSpPr>
        <p:spPr>
          <a:xfrm>
            <a:off x="8232648" y="2715767"/>
            <a:ext cx="2996184" cy="6766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4088" y="2715767"/>
            <a:ext cx="2813304" cy="676656"/>
          </a:xfrm>
          <a:prstGeom prst="rect">
            <a:avLst/>
          </a:prstGeom>
          <a:noFill/>
        </p:spPr>
        <p:txBody>
          <a:bodyPr wrap="none" lIns="0" rIns="0" tIns="0" bIns="0" anchor="ctr">
            <a:noAutofit/>
          </a:bodyPr>
          <a:lstStyle/>
          <a:p>
            <a:pPr>
              <a:spcAft>
                <a:spcPts val="100"/>
              </a:spcAft>
            </a:pPr>
            <a:r>
              <a:rPr sz="1400">
                <a:solidFill>
                  <a:srgbClr val="9CDCFE"/>
                </a:solidFill>
                <a:latin typeface="Consolas"/>
              </a:rPr>
              <a:t>y = f( Wx + b )</a:t>
            </a:r>
          </a:p>
        </p:txBody>
      </p:sp>
      <p:sp>
        <p:nvSpPr>
          <p:cNvPr id="24" name="TextBox 23"/>
          <p:cNvSpPr txBox="1"/>
          <p:nvPr/>
        </p:nvSpPr>
        <p:spPr>
          <a:xfrm>
            <a:off x="8232648" y="3502151"/>
            <a:ext cx="2996184" cy="1856232"/>
          </a:xfrm>
          <a:prstGeom prst="rect">
            <a:avLst/>
          </a:prstGeom>
          <a:noFill/>
        </p:spPr>
        <p:txBody>
          <a:bodyPr wrap="square" anchor="t">
            <a:spAutoFit/>
          </a:bodyPr>
          <a:lstStyle/>
          <a:p>
            <a:pPr algn="l">
              <a:spcAft>
                <a:spcPts val="400"/>
              </a:spcAft>
            </a:pPr>
            <a:r>
              <a:rPr sz="1200" b="0">
                <a:solidFill>
                  <a:srgbClr val="5B6372"/>
                </a:solidFill>
                <a:latin typeface="Arial"/>
              </a:rPr>
              <a:t>W is a matrix, so one layer is many neurons at once. A 4096 x 4096 layer holds 16,777,216 weights — a number you will meet again in Topic 05.</a:t>
            </a:r>
          </a:p>
        </p:txBody>
      </p:sp>
      <p:sp>
        <p:nvSpPr>
          <p:cNvPr id="25" name="TextBox 2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You do not train a network in this course. You do need to explain what the parts are, because Topic 05's memory and adapter arithmetic is built on them.</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K8 · NAME THREE, AND SAY WHERE EACH IS USED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Activation Functions You Will Meet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595170"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1412290" cy="600891"/>
          </a:xfrm>
          <a:prstGeom prst="rect">
            <a:avLst/>
          </a:prstGeom>
          <a:noFill/>
        </p:spPr>
        <p:txBody>
          <a:bodyPr wrap="square" anchor="ctr">
            <a:spAutoFit/>
          </a:bodyPr>
          <a:lstStyle/>
          <a:p>
            <a:pPr algn="l">
              <a:spcAft>
                <a:spcPts val="400"/>
              </a:spcAft>
            </a:pPr>
            <a:r>
              <a:rPr sz="1100" b="1">
                <a:solidFill>
                  <a:srgbClr val="FFFFFF"/>
                </a:solidFill>
                <a:latin typeface="Arial"/>
              </a:rPr>
              <a:t>Function</a:t>
            </a:r>
          </a:p>
        </p:txBody>
      </p:sp>
      <p:sp>
        <p:nvSpPr>
          <p:cNvPr id="9" name="Rectangle 8"/>
          <p:cNvSpPr/>
          <p:nvPr/>
        </p:nvSpPr>
        <p:spPr>
          <a:xfrm>
            <a:off x="2372410" y="1783080"/>
            <a:ext cx="2764962"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82138" y="1783080"/>
            <a:ext cx="2582082" cy="600891"/>
          </a:xfrm>
          <a:prstGeom prst="rect">
            <a:avLst/>
          </a:prstGeom>
          <a:noFill/>
        </p:spPr>
        <p:txBody>
          <a:bodyPr wrap="square" anchor="ctr">
            <a:spAutoFit/>
          </a:bodyPr>
          <a:lstStyle/>
          <a:p>
            <a:pPr algn="l">
              <a:spcAft>
                <a:spcPts val="400"/>
              </a:spcAft>
            </a:pPr>
            <a:r>
              <a:rPr sz="1100" b="1">
                <a:solidFill>
                  <a:srgbClr val="FFFFFF"/>
                </a:solidFill>
                <a:latin typeface="Arial"/>
              </a:rPr>
              <a:t>Definition</a:t>
            </a:r>
          </a:p>
        </p:txBody>
      </p:sp>
      <p:sp>
        <p:nvSpPr>
          <p:cNvPr id="11" name="Rectangle 10"/>
          <p:cNvSpPr/>
          <p:nvPr/>
        </p:nvSpPr>
        <p:spPr>
          <a:xfrm>
            <a:off x="5137372" y="1783080"/>
            <a:ext cx="1807860"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47100" y="1783080"/>
            <a:ext cx="1624980" cy="600891"/>
          </a:xfrm>
          <a:prstGeom prst="rect">
            <a:avLst/>
          </a:prstGeom>
          <a:noFill/>
        </p:spPr>
        <p:txBody>
          <a:bodyPr wrap="square" anchor="ctr">
            <a:spAutoFit/>
          </a:bodyPr>
          <a:lstStyle/>
          <a:p>
            <a:pPr algn="l">
              <a:spcAft>
                <a:spcPts val="400"/>
              </a:spcAft>
            </a:pPr>
            <a:r>
              <a:rPr sz="1100" b="1">
                <a:solidFill>
                  <a:srgbClr val="FFFFFF"/>
                </a:solidFill>
                <a:latin typeface="Arial"/>
              </a:rPr>
              <a:t>Range</a:t>
            </a:r>
          </a:p>
        </p:txBody>
      </p:sp>
      <p:sp>
        <p:nvSpPr>
          <p:cNvPr id="13" name="Rectangle 12"/>
          <p:cNvSpPr/>
          <p:nvPr/>
        </p:nvSpPr>
        <p:spPr>
          <a:xfrm>
            <a:off x="6945232" y="1783080"/>
            <a:ext cx="4466478"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54960" y="1783080"/>
            <a:ext cx="4283598" cy="600891"/>
          </a:xfrm>
          <a:prstGeom prst="rect">
            <a:avLst/>
          </a:prstGeom>
          <a:noFill/>
        </p:spPr>
        <p:txBody>
          <a:bodyPr wrap="square" anchor="ctr">
            <a:spAutoFit/>
          </a:bodyPr>
          <a:lstStyle/>
          <a:p>
            <a:pPr algn="l">
              <a:spcAft>
                <a:spcPts val="400"/>
              </a:spcAft>
            </a:pPr>
            <a:r>
              <a:rPr sz="1100" b="1">
                <a:solidFill>
                  <a:srgbClr val="FFFFFF"/>
                </a:solidFill>
                <a:latin typeface="Arial"/>
              </a:rPr>
              <a:t>Where it shows up</a:t>
            </a:r>
          </a:p>
        </p:txBody>
      </p:sp>
      <p:sp>
        <p:nvSpPr>
          <p:cNvPr id="15" name="Rectangle 14"/>
          <p:cNvSpPr/>
          <p:nvPr/>
        </p:nvSpPr>
        <p:spPr>
          <a:xfrm>
            <a:off x="777240" y="2383971"/>
            <a:ext cx="1595170"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383971"/>
            <a:ext cx="1412290" cy="600891"/>
          </a:xfrm>
          <a:prstGeom prst="rect">
            <a:avLst/>
          </a:prstGeom>
          <a:noFill/>
        </p:spPr>
        <p:txBody>
          <a:bodyPr wrap="square" anchor="ctr">
            <a:spAutoFit/>
          </a:bodyPr>
          <a:lstStyle/>
          <a:p>
            <a:pPr algn="l">
              <a:spcAft>
                <a:spcPts val="400"/>
              </a:spcAft>
            </a:pPr>
            <a:r>
              <a:rPr sz="1000" b="1">
                <a:solidFill>
                  <a:srgbClr val="161B26"/>
                </a:solidFill>
                <a:latin typeface="Arial"/>
              </a:rPr>
              <a:t>ReLU</a:t>
            </a:r>
          </a:p>
        </p:txBody>
      </p:sp>
      <p:sp>
        <p:nvSpPr>
          <p:cNvPr id="17" name="Rectangle 16"/>
          <p:cNvSpPr/>
          <p:nvPr/>
        </p:nvSpPr>
        <p:spPr>
          <a:xfrm>
            <a:off x="2372410" y="2383971"/>
            <a:ext cx="2764962"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482138" y="2383971"/>
            <a:ext cx="2582082" cy="600891"/>
          </a:xfrm>
          <a:prstGeom prst="rect">
            <a:avLst/>
          </a:prstGeom>
          <a:noFill/>
        </p:spPr>
        <p:txBody>
          <a:bodyPr wrap="square" anchor="ctr">
            <a:spAutoFit/>
          </a:bodyPr>
          <a:lstStyle/>
          <a:p>
            <a:pPr algn="l">
              <a:spcAft>
                <a:spcPts val="400"/>
              </a:spcAft>
            </a:pPr>
            <a:r>
              <a:rPr sz="1000" b="0">
                <a:solidFill>
                  <a:srgbClr val="161B26"/>
                </a:solidFill>
                <a:latin typeface="Arial"/>
              </a:rPr>
              <a:t>max(0, x)</a:t>
            </a:r>
          </a:p>
        </p:txBody>
      </p:sp>
      <p:sp>
        <p:nvSpPr>
          <p:cNvPr id="19" name="Rectangle 18"/>
          <p:cNvSpPr/>
          <p:nvPr/>
        </p:nvSpPr>
        <p:spPr>
          <a:xfrm>
            <a:off x="5137372" y="2383971"/>
            <a:ext cx="1807860"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47100" y="2383971"/>
            <a:ext cx="1624980" cy="600891"/>
          </a:xfrm>
          <a:prstGeom prst="rect">
            <a:avLst/>
          </a:prstGeom>
          <a:noFill/>
        </p:spPr>
        <p:txBody>
          <a:bodyPr wrap="square" anchor="ctr">
            <a:spAutoFit/>
          </a:bodyPr>
          <a:lstStyle/>
          <a:p>
            <a:pPr algn="l">
              <a:spcAft>
                <a:spcPts val="400"/>
              </a:spcAft>
            </a:pPr>
            <a:r>
              <a:rPr sz="1000" b="0">
                <a:solidFill>
                  <a:srgbClr val="161B26"/>
                </a:solidFill>
                <a:latin typeface="Arial"/>
              </a:rPr>
              <a:t>[0, ∞)</a:t>
            </a:r>
          </a:p>
        </p:txBody>
      </p:sp>
      <p:sp>
        <p:nvSpPr>
          <p:cNvPr id="21" name="Rectangle 20"/>
          <p:cNvSpPr/>
          <p:nvPr/>
        </p:nvSpPr>
        <p:spPr>
          <a:xfrm>
            <a:off x="6945232" y="2383971"/>
            <a:ext cx="446647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54960" y="2383971"/>
            <a:ext cx="4283598" cy="600891"/>
          </a:xfrm>
          <a:prstGeom prst="rect">
            <a:avLst/>
          </a:prstGeom>
          <a:noFill/>
        </p:spPr>
        <p:txBody>
          <a:bodyPr wrap="square" anchor="ctr">
            <a:spAutoFit/>
          </a:bodyPr>
          <a:lstStyle/>
          <a:p>
            <a:pPr algn="l">
              <a:spcAft>
                <a:spcPts val="400"/>
              </a:spcAft>
            </a:pPr>
            <a:r>
              <a:rPr sz="1000" b="0">
                <a:solidFill>
                  <a:srgbClr val="161B26"/>
                </a:solidFill>
                <a:latin typeface="Arial"/>
              </a:rPr>
              <a:t>Hidden layers of most CNNs — cheap and non-saturating</a:t>
            </a:r>
          </a:p>
        </p:txBody>
      </p:sp>
      <p:sp>
        <p:nvSpPr>
          <p:cNvPr id="23" name="Rectangle 22"/>
          <p:cNvSpPr/>
          <p:nvPr/>
        </p:nvSpPr>
        <p:spPr>
          <a:xfrm>
            <a:off x="777240" y="2984862"/>
            <a:ext cx="1595170"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2984862"/>
            <a:ext cx="1412290" cy="600891"/>
          </a:xfrm>
          <a:prstGeom prst="rect">
            <a:avLst/>
          </a:prstGeom>
          <a:noFill/>
        </p:spPr>
        <p:txBody>
          <a:bodyPr wrap="square" anchor="ctr">
            <a:spAutoFit/>
          </a:bodyPr>
          <a:lstStyle/>
          <a:p>
            <a:pPr algn="l">
              <a:spcAft>
                <a:spcPts val="400"/>
              </a:spcAft>
            </a:pPr>
            <a:r>
              <a:rPr sz="1000" b="1">
                <a:solidFill>
                  <a:srgbClr val="161B26"/>
                </a:solidFill>
                <a:latin typeface="Arial"/>
              </a:rPr>
              <a:t>Leaky ReLU</a:t>
            </a:r>
          </a:p>
        </p:txBody>
      </p:sp>
      <p:sp>
        <p:nvSpPr>
          <p:cNvPr id="25" name="Rectangle 24"/>
          <p:cNvSpPr/>
          <p:nvPr/>
        </p:nvSpPr>
        <p:spPr>
          <a:xfrm>
            <a:off x="2372410" y="2984862"/>
            <a:ext cx="2764962"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82138" y="2984862"/>
            <a:ext cx="2582082" cy="600891"/>
          </a:xfrm>
          <a:prstGeom prst="rect">
            <a:avLst/>
          </a:prstGeom>
          <a:noFill/>
        </p:spPr>
        <p:txBody>
          <a:bodyPr wrap="square" anchor="ctr">
            <a:spAutoFit/>
          </a:bodyPr>
          <a:lstStyle/>
          <a:p>
            <a:pPr algn="l">
              <a:spcAft>
                <a:spcPts val="400"/>
              </a:spcAft>
            </a:pPr>
            <a:r>
              <a:rPr sz="1000" b="0">
                <a:solidFill>
                  <a:srgbClr val="161B26"/>
                </a:solidFill>
                <a:latin typeface="Arial"/>
              </a:rPr>
              <a:t>x if x&gt;0 else αx</a:t>
            </a:r>
          </a:p>
        </p:txBody>
      </p:sp>
      <p:sp>
        <p:nvSpPr>
          <p:cNvPr id="27" name="Rectangle 26"/>
          <p:cNvSpPr/>
          <p:nvPr/>
        </p:nvSpPr>
        <p:spPr>
          <a:xfrm>
            <a:off x="5137372" y="2984862"/>
            <a:ext cx="1807860"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47100" y="2984862"/>
            <a:ext cx="1624980" cy="600891"/>
          </a:xfrm>
          <a:prstGeom prst="rect">
            <a:avLst/>
          </a:prstGeom>
          <a:noFill/>
        </p:spPr>
        <p:txBody>
          <a:bodyPr wrap="square" anchor="ctr">
            <a:spAutoFit/>
          </a:bodyPr>
          <a:lstStyle/>
          <a:p>
            <a:pPr algn="l">
              <a:spcAft>
                <a:spcPts val="400"/>
              </a:spcAft>
            </a:pPr>
            <a:r>
              <a:rPr sz="1000" b="0">
                <a:solidFill>
                  <a:srgbClr val="161B26"/>
                </a:solidFill>
                <a:latin typeface="Arial"/>
              </a:rPr>
              <a:t>(−∞, ∞)</a:t>
            </a:r>
          </a:p>
        </p:txBody>
      </p:sp>
      <p:sp>
        <p:nvSpPr>
          <p:cNvPr id="29" name="Rectangle 28"/>
          <p:cNvSpPr/>
          <p:nvPr/>
        </p:nvSpPr>
        <p:spPr>
          <a:xfrm>
            <a:off x="6945232" y="2984862"/>
            <a:ext cx="446647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54960" y="2984862"/>
            <a:ext cx="4283598" cy="600891"/>
          </a:xfrm>
          <a:prstGeom prst="rect">
            <a:avLst/>
          </a:prstGeom>
          <a:noFill/>
        </p:spPr>
        <p:txBody>
          <a:bodyPr wrap="square" anchor="ctr">
            <a:spAutoFit/>
          </a:bodyPr>
          <a:lstStyle/>
          <a:p>
            <a:pPr algn="l">
              <a:spcAft>
                <a:spcPts val="400"/>
              </a:spcAft>
            </a:pPr>
            <a:r>
              <a:rPr sz="1000" b="0">
                <a:solidFill>
                  <a:srgbClr val="161B26"/>
                </a:solidFill>
                <a:latin typeface="Arial"/>
              </a:rPr>
              <a:t>GAN discriminators, where a dead ReLU kills the gradient</a:t>
            </a:r>
          </a:p>
        </p:txBody>
      </p:sp>
      <p:sp>
        <p:nvSpPr>
          <p:cNvPr id="31" name="Rectangle 30"/>
          <p:cNvSpPr/>
          <p:nvPr/>
        </p:nvSpPr>
        <p:spPr>
          <a:xfrm>
            <a:off x="777240" y="3585753"/>
            <a:ext cx="1595170"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585753"/>
            <a:ext cx="1412290" cy="600891"/>
          </a:xfrm>
          <a:prstGeom prst="rect">
            <a:avLst/>
          </a:prstGeom>
          <a:noFill/>
        </p:spPr>
        <p:txBody>
          <a:bodyPr wrap="square" anchor="ctr">
            <a:spAutoFit/>
          </a:bodyPr>
          <a:lstStyle/>
          <a:p>
            <a:pPr algn="l">
              <a:spcAft>
                <a:spcPts val="400"/>
              </a:spcAft>
            </a:pPr>
            <a:r>
              <a:rPr sz="1000" b="1">
                <a:solidFill>
                  <a:srgbClr val="161B26"/>
                </a:solidFill>
                <a:latin typeface="Arial"/>
              </a:rPr>
              <a:t>Sigmoid</a:t>
            </a:r>
          </a:p>
        </p:txBody>
      </p:sp>
      <p:sp>
        <p:nvSpPr>
          <p:cNvPr id="33" name="Rectangle 32"/>
          <p:cNvSpPr/>
          <p:nvPr/>
        </p:nvSpPr>
        <p:spPr>
          <a:xfrm>
            <a:off x="2372410" y="3585753"/>
            <a:ext cx="2764962"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482138" y="3585753"/>
            <a:ext cx="2582082" cy="600891"/>
          </a:xfrm>
          <a:prstGeom prst="rect">
            <a:avLst/>
          </a:prstGeom>
          <a:noFill/>
        </p:spPr>
        <p:txBody>
          <a:bodyPr wrap="square" anchor="ctr">
            <a:spAutoFit/>
          </a:bodyPr>
          <a:lstStyle/>
          <a:p>
            <a:pPr algn="l">
              <a:spcAft>
                <a:spcPts val="400"/>
              </a:spcAft>
            </a:pPr>
            <a:r>
              <a:rPr sz="1000" b="0">
                <a:solidFill>
                  <a:srgbClr val="161B26"/>
                </a:solidFill>
                <a:latin typeface="Arial"/>
              </a:rPr>
              <a:t>1 / (1 + e⁻ˣ)</a:t>
            </a:r>
          </a:p>
        </p:txBody>
      </p:sp>
      <p:sp>
        <p:nvSpPr>
          <p:cNvPr id="35" name="Rectangle 34"/>
          <p:cNvSpPr/>
          <p:nvPr/>
        </p:nvSpPr>
        <p:spPr>
          <a:xfrm>
            <a:off x="5137372" y="3585753"/>
            <a:ext cx="1807860"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47100" y="3585753"/>
            <a:ext cx="1624980" cy="600891"/>
          </a:xfrm>
          <a:prstGeom prst="rect">
            <a:avLst/>
          </a:prstGeom>
          <a:noFill/>
        </p:spPr>
        <p:txBody>
          <a:bodyPr wrap="square" anchor="ctr">
            <a:spAutoFit/>
          </a:bodyPr>
          <a:lstStyle/>
          <a:p>
            <a:pPr algn="l">
              <a:spcAft>
                <a:spcPts val="400"/>
              </a:spcAft>
            </a:pPr>
            <a:r>
              <a:rPr sz="1000" b="0">
                <a:solidFill>
                  <a:srgbClr val="161B26"/>
                </a:solidFill>
                <a:latin typeface="Arial"/>
              </a:rPr>
              <a:t>(0, 1)</a:t>
            </a:r>
          </a:p>
        </p:txBody>
      </p:sp>
      <p:sp>
        <p:nvSpPr>
          <p:cNvPr id="37" name="Rectangle 36"/>
          <p:cNvSpPr/>
          <p:nvPr/>
        </p:nvSpPr>
        <p:spPr>
          <a:xfrm>
            <a:off x="6945232" y="3585753"/>
            <a:ext cx="446647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54960" y="3585753"/>
            <a:ext cx="4283598" cy="600891"/>
          </a:xfrm>
          <a:prstGeom prst="rect">
            <a:avLst/>
          </a:prstGeom>
          <a:noFill/>
        </p:spPr>
        <p:txBody>
          <a:bodyPr wrap="square" anchor="ctr">
            <a:spAutoFit/>
          </a:bodyPr>
          <a:lstStyle/>
          <a:p>
            <a:pPr algn="l">
              <a:spcAft>
                <a:spcPts val="400"/>
              </a:spcAft>
            </a:pPr>
            <a:r>
              <a:rPr sz="1000" b="0">
                <a:solidFill>
                  <a:srgbClr val="161B26"/>
                </a:solidFill>
                <a:latin typeface="Arial"/>
              </a:rPr>
              <a:t>Binary output — a GAN discriminator's real/fake score</a:t>
            </a:r>
          </a:p>
        </p:txBody>
      </p:sp>
      <p:sp>
        <p:nvSpPr>
          <p:cNvPr id="39" name="Rectangle 38"/>
          <p:cNvSpPr/>
          <p:nvPr/>
        </p:nvSpPr>
        <p:spPr>
          <a:xfrm>
            <a:off x="777240" y="4186644"/>
            <a:ext cx="1595170"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4186644"/>
            <a:ext cx="1412290" cy="600891"/>
          </a:xfrm>
          <a:prstGeom prst="rect">
            <a:avLst/>
          </a:prstGeom>
          <a:noFill/>
        </p:spPr>
        <p:txBody>
          <a:bodyPr wrap="square" anchor="ctr">
            <a:spAutoFit/>
          </a:bodyPr>
          <a:lstStyle/>
          <a:p>
            <a:pPr algn="l">
              <a:spcAft>
                <a:spcPts val="400"/>
              </a:spcAft>
            </a:pPr>
            <a:r>
              <a:rPr sz="1000" b="1">
                <a:solidFill>
                  <a:srgbClr val="161B26"/>
                </a:solidFill>
                <a:latin typeface="Arial"/>
              </a:rPr>
              <a:t>Tanh</a:t>
            </a:r>
          </a:p>
        </p:txBody>
      </p:sp>
      <p:sp>
        <p:nvSpPr>
          <p:cNvPr id="41" name="Rectangle 40"/>
          <p:cNvSpPr/>
          <p:nvPr/>
        </p:nvSpPr>
        <p:spPr>
          <a:xfrm>
            <a:off x="2372410" y="4186644"/>
            <a:ext cx="2764962"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482138" y="4186644"/>
            <a:ext cx="2582082" cy="600891"/>
          </a:xfrm>
          <a:prstGeom prst="rect">
            <a:avLst/>
          </a:prstGeom>
          <a:noFill/>
        </p:spPr>
        <p:txBody>
          <a:bodyPr wrap="square" anchor="ctr">
            <a:spAutoFit/>
          </a:bodyPr>
          <a:lstStyle/>
          <a:p>
            <a:pPr algn="l">
              <a:spcAft>
                <a:spcPts val="400"/>
              </a:spcAft>
            </a:pPr>
            <a:r>
              <a:rPr sz="1000" b="0">
                <a:solidFill>
                  <a:srgbClr val="161B26"/>
                </a:solidFill>
                <a:latin typeface="Arial"/>
              </a:rPr>
              <a:t>(eˣ − e⁻ˣ)/(eˣ + e⁻ˣ)</a:t>
            </a:r>
          </a:p>
        </p:txBody>
      </p:sp>
      <p:sp>
        <p:nvSpPr>
          <p:cNvPr id="43" name="Rectangle 42"/>
          <p:cNvSpPr/>
          <p:nvPr/>
        </p:nvSpPr>
        <p:spPr>
          <a:xfrm>
            <a:off x="5137372" y="4186644"/>
            <a:ext cx="1807860"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247100" y="4186644"/>
            <a:ext cx="1624980" cy="600891"/>
          </a:xfrm>
          <a:prstGeom prst="rect">
            <a:avLst/>
          </a:prstGeom>
          <a:noFill/>
        </p:spPr>
        <p:txBody>
          <a:bodyPr wrap="square" anchor="ctr">
            <a:spAutoFit/>
          </a:bodyPr>
          <a:lstStyle/>
          <a:p>
            <a:pPr algn="l">
              <a:spcAft>
                <a:spcPts val="400"/>
              </a:spcAft>
            </a:pPr>
            <a:r>
              <a:rPr sz="1000" b="0">
                <a:solidFill>
                  <a:srgbClr val="161B26"/>
                </a:solidFill>
                <a:latin typeface="Arial"/>
              </a:rPr>
              <a:t>(−1, 1)</a:t>
            </a:r>
          </a:p>
        </p:txBody>
      </p:sp>
      <p:sp>
        <p:nvSpPr>
          <p:cNvPr id="45" name="Rectangle 44"/>
          <p:cNvSpPr/>
          <p:nvPr/>
        </p:nvSpPr>
        <p:spPr>
          <a:xfrm>
            <a:off x="6945232" y="4186644"/>
            <a:ext cx="446647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054960" y="4186644"/>
            <a:ext cx="4283598" cy="600891"/>
          </a:xfrm>
          <a:prstGeom prst="rect">
            <a:avLst/>
          </a:prstGeom>
          <a:noFill/>
        </p:spPr>
        <p:txBody>
          <a:bodyPr wrap="square" anchor="ctr">
            <a:spAutoFit/>
          </a:bodyPr>
          <a:lstStyle/>
          <a:p>
            <a:pPr algn="l">
              <a:spcAft>
                <a:spcPts val="400"/>
              </a:spcAft>
            </a:pPr>
            <a:r>
              <a:rPr sz="1000" b="0">
                <a:solidFill>
                  <a:srgbClr val="161B26"/>
                </a:solidFill>
                <a:latin typeface="Arial"/>
              </a:rPr>
              <a:t>Generator output layers, matching images scaled to [−1, 1]</a:t>
            </a:r>
          </a:p>
        </p:txBody>
      </p:sp>
      <p:sp>
        <p:nvSpPr>
          <p:cNvPr id="47" name="Rectangle 46"/>
          <p:cNvSpPr/>
          <p:nvPr/>
        </p:nvSpPr>
        <p:spPr>
          <a:xfrm>
            <a:off x="777240" y="4787535"/>
            <a:ext cx="1595170"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6968" y="4787535"/>
            <a:ext cx="1412290" cy="600891"/>
          </a:xfrm>
          <a:prstGeom prst="rect">
            <a:avLst/>
          </a:prstGeom>
          <a:noFill/>
        </p:spPr>
        <p:txBody>
          <a:bodyPr wrap="square" anchor="ctr">
            <a:spAutoFit/>
          </a:bodyPr>
          <a:lstStyle/>
          <a:p>
            <a:pPr algn="l">
              <a:spcAft>
                <a:spcPts val="400"/>
              </a:spcAft>
            </a:pPr>
            <a:r>
              <a:rPr sz="1000" b="1">
                <a:solidFill>
                  <a:srgbClr val="161B26"/>
                </a:solidFill>
                <a:latin typeface="Arial"/>
              </a:rPr>
              <a:t>Softmax</a:t>
            </a:r>
          </a:p>
        </p:txBody>
      </p:sp>
      <p:sp>
        <p:nvSpPr>
          <p:cNvPr id="49" name="Rectangle 48"/>
          <p:cNvSpPr/>
          <p:nvPr/>
        </p:nvSpPr>
        <p:spPr>
          <a:xfrm>
            <a:off x="2372410" y="4787535"/>
            <a:ext cx="2764962"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482138" y="4787535"/>
            <a:ext cx="2582082" cy="600891"/>
          </a:xfrm>
          <a:prstGeom prst="rect">
            <a:avLst/>
          </a:prstGeom>
          <a:noFill/>
        </p:spPr>
        <p:txBody>
          <a:bodyPr wrap="square" anchor="ctr">
            <a:spAutoFit/>
          </a:bodyPr>
          <a:lstStyle/>
          <a:p>
            <a:pPr algn="l">
              <a:spcAft>
                <a:spcPts val="400"/>
              </a:spcAft>
            </a:pPr>
            <a:r>
              <a:rPr sz="1000" b="0">
                <a:solidFill>
                  <a:srgbClr val="161B26"/>
                </a:solidFill>
                <a:latin typeface="Arial"/>
              </a:rPr>
              <a:t>eˣⁱ / Σ eˣʲ</a:t>
            </a:r>
          </a:p>
        </p:txBody>
      </p:sp>
      <p:sp>
        <p:nvSpPr>
          <p:cNvPr id="51" name="Rectangle 50"/>
          <p:cNvSpPr/>
          <p:nvPr/>
        </p:nvSpPr>
        <p:spPr>
          <a:xfrm>
            <a:off x="5137372" y="4787535"/>
            <a:ext cx="1807860"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247100" y="4787535"/>
            <a:ext cx="1624980" cy="600891"/>
          </a:xfrm>
          <a:prstGeom prst="rect">
            <a:avLst/>
          </a:prstGeom>
          <a:noFill/>
        </p:spPr>
        <p:txBody>
          <a:bodyPr wrap="square" anchor="ctr">
            <a:spAutoFit/>
          </a:bodyPr>
          <a:lstStyle/>
          <a:p>
            <a:pPr algn="l">
              <a:spcAft>
                <a:spcPts val="400"/>
              </a:spcAft>
            </a:pPr>
            <a:r>
              <a:rPr sz="1000" b="0">
                <a:solidFill>
                  <a:srgbClr val="161B26"/>
                </a:solidFill>
                <a:latin typeface="Arial"/>
              </a:rPr>
              <a:t>(0, 1), sums to 1</a:t>
            </a:r>
          </a:p>
        </p:txBody>
      </p:sp>
      <p:sp>
        <p:nvSpPr>
          <p:cNvPr id="53" name="Rectangle 52"/>
          <p:cNvSpPr/>
          <p:nvPr/>
        </p:nvSpPr>
        <p:spPr>
          <a:xfrm>
            <a:off x="6945232" y="4787535"/>
            <a:ext cx="446647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054960" y="4787535"/>
            <a:ext cx="4283598" cy="600891"/>
          </a:xfrm>
          <a:prstGeom prst="rect">
            <a:avLst/>
          </a:prstGeom>
          <a:noFill/>
        </p:spPr>
        <p:txBody>
          <a:bodyPr wrap="square" anchor="ctr">
            <a:spAutoFit/>
          </a:bodyPr>
          <a:lstStyle/>
          <a:p>
            <a:pPr algn="l">
              <a:spcAft>
                <a:spcPts val="400"/>
              </a:spcAft>
            </a:pPr>
            <a:r>
              <a:rPr sz="1000" b="0">
                <a:solidFill>
                  <a:srgbClr val="161B26"/>
                </a:solidFill>
                <a:latin typeface="Arial"/>
              </a:rPr>
              <a:t>Multi-class output — the class probabilities of a classifier</a:t>
            </a:r>
          </a:p>
        </p:txBody>
      </p:sp>
      <p:sp>
        <p:nvSpPr>
          <p:cNvPr id="55" name="Rectangle 54"/>
          <p:cNvSpPr/>
          <p:nvPr/>
        </p:nvSpPr>
        <p:spPr>
          <a:xfrm>
            <a:off x="777240" y="5388426"/>
            <a:ext cx="1595170"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 y="5388426"/>
            <a:ext cx="1412290" cy="600891"/>
          </a:xfrm>
          <a:prstGeom prst="rect">
            <a:avLst/>
          </a:prstGeom>
          <a:noFill/>
        </p:spPr>
        <p:txBody>
          <a:bodyPr wrap="square" anchor="ctr">
            <a:spAutoFit/>
          </a:bodyPr>
          <a:lstStyle/>
          <a:p>
            <a:pPr algn="l">
              <a:spcAft>
                <a:spcPts val="400"/>
              </a:spcAft>
            </a:pPr>
            <a:r>
              <a:rPr sz="1000" b="1">
                <a:solidFill>
                  <a:srgbClr val="161B26"/>
                </a:solidFill>
                <a:latin typeface="Arial"/>
              </a:rPr>
              <a:t>GELU</a:t>
            </a:r>
          </a:p>
        </p:txBody>
      </p:sp>
      <p:sp>
        <p:nvSpPr>
          <p:cNvPr id="57" name="Rectangle 56"/>
          <p:cNvSpPr/>
          <p:nvPr/>
        </p:nvSpPr>
        <p:spPr>
          <a:xfrm>
            <a:off x="2372410" y="5388426"/>
            <a:ext cx="2764962"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482138" y="5388426"/>
            <a:ext cx="2582082" cy="600891"/>
          </a:xfrm>
          <a:prstGeom prst="rect">
            <a:avLst/>
          </a:prstGeom>
          <a:noFill/>
        </p:spPr>
        <p:txBody>
          <a:bodyPr wrap="square" anchor="ctr">
            <a:spAutoFit/>
          </a:bodyPr>
          <a:lstStyle/>
          <a:p>
            <a:pPr algn="l">
              <a:spcAft>
                <a:spcPts val="400"/>
              </a:spcAft>
            </a:pPr>
            <a:r>
              <a:rPr sz="1000" b="0">
                <a:solidFill>
                  <a:srgbClr val="161B26"/>
                </a:solidFill>
                <a:latin typeface="Arial"/>
              </a:rPr>
              <a:t>x · Φ(x)</a:t>
            </a:r>
          </a:p>
        </p:txBody>
      </p:sp>
      <p:sp>
        <p:nvSpPr>
          <p:cNvPr id="59" name="Rectangle 58"/>
          <p:cNvSpPr/>
          <p:nvPr/>
        </p:nvSpPr>
        <p:spPr>
          <a:xfrm>
            <a:off x="5137372" y="5388426"/>
            <a:ext cx="1807860"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247100" y="5388426"/>
            <a:ext cx="1624980" cy="600891"/>
          </a:xfrm>
          <a:prstGeom prst="rect">
            <a:avLst/>
          </a:prstGeom>
          <a:noFill/>
        </p:spPr>
        <p:txBody>
          <a:bodyPr wrap="square" anchor="ctr">
            <a:spAutoFit/>
          </a:bodyPr>
          <a:lstStyle/>
          <a:p>
            <a:pPr algn="l">
              <a:spcAft>
                <a:spcPts val="400"/>
              </a:spcAft>
            </a:pPr>
            <a:r>
              <a:rPr sz="1000" b="0">
                <a:solidFill>
                  <a:srgbClr val="161B26"/>
                </a:solidFill>
                <a:latin typeface="Arial"/>
              </a:rPr>
              <a:t>(−∞, ∞)</a:t>
            </a:r>
          </a:p>
        </p:txBody>
      </p:sp>
      <p:sp>
        <p:nvSpPr>
          <p:cNvPr id="61" name="Rectangle 60"/>
          <p:cNvSpPr/>
          <p:nvPr/>
        </p:nvSpPr>
        <p:spPr>
          <a:xfrm>
            <a:off x="6945232" y="5388426"/>
            <a:ext cx="446647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054960" y="5388426"/>
            <a:ext cx="4283598" cy="600891"/>
          </a:xfrm>
          <a:prstGeom prst="rect">
            <a:avLst/>
          </a:prstGeom>
          <a:noFill/>
        </p:spPr>
        <p:txBody>
          <a:bodyPr wrap="square" anchor="ctr">
            <a:spAutoFit/>
          </a:bodyPr>
          <a:lstStyle/>
          <a:p>
            <a:pPr algn="l">
              <a:spcAft>
                <a:spcPts val="400"/>
              </a:spcAft>
            </a:pPr>
            <a:r>
              <a:rPr sz="1000" b="0">
                <a:solidFill>
                  <a:srgbClr val="161B26"/>
                </a:solidFill>
                <a:latin typeface="Arial"/>
              </a:rPr>
              <a:t>Transformer blocks, including diffusion transformers</a:t>
            </a:r>
          </a:p>
        </p:txBody>
      </p:sp>
      <p:sp>
        <p:nvSpPr>
          <p:cNvPr id="63" name="TextBox 62"/>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The Written Assessment asks you to name three activation functions used by an artificial neuron. Naming them is the minimum; saying where each is used is what a competent answer looks like.</a:t>
            </a:r>
          </a:p>
        </p:txBody>
      </p:sp>
      <p:sp>
        <p:nvSpPr>
          <p:cNvPr id="64" name="TextBox 6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65" name="TextBox 6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6" name="TextBox 6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K4 FOUNDATION · THE OPERATION UNDER EVERY FILTER AND EVERY CNN LAYER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Convolution Is the Whole Idea — Worked by Hand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41605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38528"/>
            <a:ext cx="6035040" cy="3849624"/>
          </a:xfrm>
          <a:prstGeom prst="rect">
            <a:avLst/>
          </a:prstGeom>
          <a:noFill/>
        </p:spPr>
        <p:txBody>
          <a:bodyPr wrap="none" lIns="0" rIns="0" tIns="0" bIns="0" anchor="t">
            <a:noAutofit/>
          </a:bodyPr>
          <a:lstStyle/>
          <a:p>
            <a:pPr>
              <a:spcAft>
                <a:spcPts val="100"/>
              </a:spcAft>
            </a:pPr>
            <a:r>
              <a:rPr sz="990">
                <a:solidFill>
                  <a:srgbClr val="9CDCFE"/>
                </a:solidFill>
                <a:latin typeface="Consolas"/>
              </a:rPr>
              <a:t># a 3x3 kernel slides over the image; each output pixel is a weighted sum</a:t>
            </a:r>
          </a:p>
          <a:p>
            <a:pPr>
              <a:spcAft>
                <a:spcPts val="100"/>
              </a:spcAft>
            </a:pPr>
            <a:r>
              <a:rPr sz="990">
                <a:solidFill>
                  <a:srgbClr val="9CDCFE"/>
                </a:solidFill>
                <a:latin typeface="Consolas"/>
              </a:rPr>
              <a:t>#</a:t>
            </a:r>
          </a:p>
          <a:p>
            <a:pPr>
              <a:spcAft>
                <a:spcPts val="100"/>
              </a:spcAft>
            </a:pPr>
            <a:r>
              <a:rPr sz="990">
                <a:solidFill>
                  <a:srgbClr val="9CDCFE"/>
                </a:solidFill>
                <a:latin typeface="Consolas"/>
              </a:rPr>
              <a:t>#   dst(x,y) = SUM over i,j of  K(i,j) * src(x+i, y+j)</a:t>
            </a:r>
          </a:p>
          <a:p>
            <a:pPr>
              <a:spcAft>
                <a:spcPts val="100"/>
              </a:spcAft>
            </a:pPr>
            <a:r>
              <a:rPr sz="990">
                <a:solidFill>
                  <a:srgbClr val="9CDCFE"/>
                </a:solidFill>
                <a:latin typeface="Consolas"/>
              </a:rPr>
              <a:t> </a:t>
            </a:r>
          </a:p>
          <a:p>
            <a:pPr>
              <a:spcAft>
                <a:spcPts val="100"/>
              </a:spcAft>
            </a:pPr>
            <a:r>
              <a:rPr sz="990">
                <a:solidFill>
                  <a:srgbClr val="9CDCFE"/>
                </a:solidFill>
                <a:latin typeface="Consolas"/>
              </a:rPr>
              <a:t>import numpy as np, cv2</a:t>
            </a:r>
          </a:p>
          <a:p>
            <a:pPr>
              <a:spcAft>
                <a:spcPts val="100"/>
              </a:spcAft>
            </a:pPr>
            <a:r>
              <a:rPr sz="990">
                <a:solidFill>
                  <a:srgbClr val="9CDCFE"/>
                </a:solidFill>
                <a:latin typeface="Consolas"/>
              </a:rPr>
              <a:t> </a:t>
            </a:r>
          </a:p>
          <a:p>
            <a:pPr>
              <a:spcAft>
                <a:spcPts val="100"/>
              </a:spcAft>
            </a:pPr>
            <a:r>
              <a:rPr sz="990">
                <a:solidFill>
                  <a:srgbClr val="9CDCFE"/>
                </a:solidFill>
                <a:latin typeface="Consolas"/>
              </a:rPr>
              <a:t>src = np.array([[ 10,  10,  10, 200, 200],</a:t>
            </a:r>
          </a:p>
          <a:p>
            <a:pPr>
              <a:spcAft>
                <a:spcPts val="100"/>
              </a:spcAft>
            </a:pPr>
            <a:r>
              <a:rPr sz="990">
                <a:solidFill>
                  <a:srgbClr val="9CDCFE"/>
                </a:solidFill>
                <a:latin typeface="Consolas"/>
              </a:rPr>
              <a:t>                [ 10,  10,  10, 200, 200],</a:t>
            </a:r>
          </a:p>
          <a:p>
            <a:pPr>
              <a:spcAft>
                <a:spcPts val="100"/>
              </a:spcAft>
            </a:pPr>
            <a:r>
              <a:rPr sz="990">
                <a:solidFill>
                  <a:srgbClr val="9CDCFE"/>
                </a:solidFill>
                <a:latin typeface="Consolas"/>
              </a:rPr>
              <a:t>                [ 10,  10,  10, 200, 200]], np.float32)</a:t>
            </a:r>
          </a:p>
          <a:p>
            <a:pPr>
              <a:spcAft>
                <a:spcPts val="100"/>
              </a:spcAft>
            </a:pPr>
            <a:r>
              <a:rPr sz="990">
                <a:solidFill>
                  <a:srgbClr val="9CDCFE"/>
                </a:solidFill>
                <a:latin typeface="Consolas"/>
              </a:rPr>
              <a:t> </a:t>
            </a:r>
          </a:p>
          <a:p>
            <a:pPr>
              <a:spcAft>
                <a:spcPts val="100"/>
              </a:spcAft>
            </a:pPr>
            <a:r>
              <a:rPr sz="990">
                <a:solidFill>
                  <a:srgbClr val="9CDCFE"/>
                </a:solidFill>
                <a:latin typeface="Consolas"/>
              </a:rPr>
              <a:t>sobel_x = np.array([[-1, 0, 1],</a:t>
            </a:r>
          </a:p>
          <a:p>
            <a:pPr>
              <a:spcAft>
                <a:spcPts val="100"/>
              </a:spcAft>
            </a:pPr>
            <a:r>
              <a:rPr sz="990">
                <a:solidFill>
                  <a:srgbClr val="9CDCFE"/>
                </a:solidFill>
                <a:latin typeface="Consolas"/>
              </a:rPr>
              <a:t>                    [-2, 0, 2],</a:t>
            </a:r>
          </a:p>
          <a:p>
            <a:pPr>
              <a:spcAft>
                <a:spcPts val="100"/>
              </a:spcAft>
            </a:pPr>
            <a:r>
              <a:rPr sz="990">
                <a:solidFill>
                  <a:srgbClr val="9CDCFE"/>
                </a:solidFill>
                <a:latin typeface="Consolas"/>
              </a:rPr>
              <a:t>                    [-1, 0, 1]], np.float32)</a:t>
            </a:r>
          </a:p>
          <a:p>
            <a:pPr>
              <a:spcAft>
                <a:spcPts val="100"/>
              </a:spcAft>
            </a:pPr>
            <a:r>
              <a:rPr sz="990">
                <a:solidFill>
                  <a:srgbClr val="9CDCFE"/>
                </a:solidFill>
                <a:latin typeface="Consolas"/>
              </a:rPr>
              <a:t> </a:t>
            </a:r>
          </a:p>
          <a:p>
            <a:pPr>
              <a:spcAft>
                <a:spcPts val="100"/>
              </a:spcAft>
            </a:pPr>
            <a:r>
              <a:rPr sz="990">
                <a:solidFill>
                  <a:srgbClr val="9CDCFE"/>
                </a:solidFill>
                <a:latin typeface="Consolas"/>
              </a:rPr>
              <a:t># centre pixel of column 2: the left column is 10s, the right column is 200s</a:t>
            </a:r>
          </a:p>
          <a:p>
            <a:pPr>
              <a:spcAft>
                <a:spcPts val="100"/>
              </a:spcAft>
            </a:pPr>
            <a:r>
              <a:rPr sz="990">
                <a:solidFill>
                  <a:srgbClr val="9CDCFE"/>
                </a:solidFill>
                <a:latin typeface="Consolas"/>
              </a:rPr>
              <a:t>#   = (-1*10) + (1*10) + (-2*10) + (2*200) + (-1*10) + (1*200)</a:t>
            </a:r>
          </a:p>
          <a:p>
            <a:pPr>
              <a:spcAft>
                <a:spcPts val="100"/>
              </a:spcAft>
            </a:pPr>
            <a:r>
              <a:rPr sz="990">
                <a:solidFill>
                  <a:srgbClr val="9CDCFE"/>
                </a:solidFill>
                <a:latin typeface="Consolas"/>
              </a:rPr>
              <a:t>#   = -10 + 10 - 20 + 400 - 10 + 200 = 570   -&gt; a strong vertical edge</a:t>
            </a:r>
          </a:p>
          <a:p>
            <a:pPr>
              <a:spcAft>
                <a:spcPts val="100"/>
              </a:spcAft>
            </a:pPr>
            <a:r>
              <a:rPr sz="990">
                <a:solidFill>
                  <a:srgbClr val="9CDCFE"/>
                </a:solidFill>
                <a:latin typeface="Consolas"/>
              </a:rPr>
              <a:t> </a:t>
            </a:r>
          </a:p>
          <a:p>
            <a:pPr>
              <a:spcAft>
                <a:spcPts val="100"/>
              </a:spcAft>
            </a:pPr>
            <a:r>
              <a:rPr sz="990">
                <a:solidFill>
                  <a:srgbClr val="9CDCFE"/>
                </a:solidFill>
                <a:latin typeface="Consolas"/>
              </a:rPr>
              <a:t>out = cv2.filter2D(src, -1, sobel_x)</a:t>
            </a:r>
          </a:p>
          <a:p>
            <a:pPr>
              <a:spcAft>
                <a:spcPts val="100"/>
              </a:spcAft>
            </a:pPr>
            <a:r>
              <a:rPr sz="990">
                <a:solidFill>
                  <a:srgbClr val="9CDCFE"/>
                </a:solidFill>
                <a:latin typeface="Consolas"/>
              </a:rPr>
              <a:t>print(out[1, 2])            # 570.0</a:t>
            </a:r>
          </a:p>
        </p:txBody>
      </p:sp>
      <p:sp>
        <p:nvSpPr>
          <p:cNvPr id="9" name="Rectangle 8"/>
          <p:cNvSpPr/>
          <p:nvPr/>
        </p:nvSpPr>
        <p:spPr>
          <a:xfrm>
            <a:off x="7406640" y="1783080"/>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783080"/>
            <a:ext cx="82296" cy="9166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6096" y="1783080"/>
            <a:ext cx="3602736" cy="916686"/>
          </a:xfrm>
          <a:prstGeom prst="rect">
            <a:avLst/>
          </a:prstGeom>
          <a:noFill/>
        </p:spPr>
        <p:txBody>
          <a:bodyPr wrap="square" anchor="ctr">
            <a:spAutoFit/>
          </a:bodyPr>
          <a:lstStyle/>
          <a:p>
            <a:pPr algn="l">
              <a:spcAft>
                <a:spcPts val="200"/>
              </a:spcAft>
            </a:pPr>
            <a:r>
              <a:rPr sz="1300" b="1">
                <a:solidFill>
                  <a:srgbClr val="1F6FEB"/>
                </a:solidFill>
                <a:latin typeface="Arial"/>
              </a:rPr>
              <a:t>A kernel is a small matrix</a:t>
            </a:r>
          </a:p>
          <a:p>
            <a:pPr algn="l">
              <a:spcAft>
                <a:spcPts val="200"/>
              </a:spcAft>
            </a:pPr>
            <a:r>
              <a:rPr sz="1150" b="0">
                <a:solidFill>
                  <a:srgbClr val="161B26"/>
                </a:solidFill>
                <a:latin typeface="Arial"/>
              </a:rPr>
              <a:t>Change the numbers and you change what the filter detects. Nothing else changes.</a:t>
            </a:r>
          </a:p>
        </p:txBody>
      </p:sp>
      <p:sp>
        <p:nvSpPr>
          <p:cNvPr id="12" name="Rectangle 11"/>
          <p:cNvSpPr/>
          <p:nvPr/>
        </p:nvSpPr>
        <p:spPr>
          <a:xfrm>
            <a:off x="7406640" y="2864358"/>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2864358"/>
            <a:ext cx="82296" cy="91668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2864358"/>
            <a:ext cx="3602736" cy="916686"/>
          </a:xfrm>
          <a:prstGeom prst="rect">
            <a:avLst/>
          </a:prstGeom>
          <a:noFill/>
        </p:spPr>
        <p:txBody>
          <a:bodyPr wrap="square" anchor="ctr">
            <a:spAutoFit/>
          </a:bodyPr>
          <a:lstStyle/>
          <a:p>
            <a:pPr algn="l">
              <a:spcAft>
                <a:spcPts val="200"/>
              </a:spcAft>
            </a:pPr>
            <a:r>
              <a:rPr sz="1300" b="1">
                <a:solidFill>
                  <a:srgbClr val="10B981"/>
                </a:solidFill>
                <a:latin typeface="Arial"/>
              </a:rPr>
              <a:t>Sum to 1 to preserve brightness</a:t>
            </a:r>
          </a:p>
          <a:p>
            <a:pPr algn="l">
              <a:spcAft>
                <a:spcPts val="200"/>
              </a:spcAft>
            </a:pPr>
            <a:r>
              <a:rPr sz="1150" b="0">
                <a:solidFill>
                  <a:srgbClr val="161B26"/>
                </a:solidFill>
                <a:latin typeface="Arial"/>
              </a:rPr>
              <a:t>A 5x5 box blur is 25 cells of 1/25. A kernel that does not sum to 1 changes the image's mean level.</a:t>
            </a:r>
          </a:p>
        </p:txBody>
      </p:sp>
      <p:sp>
        <p:nvSpPr>
          <p:cNvPr id="15" name="Rectangle 14"/>
          <p:cNvSpPr/>
          <p:nvPr/>
        </p:nvSpPr>
        <p:spPr>
          <a:xfrm>
            <a:off x="7406640" y="3945636"/>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3945636"/>
            <a:ext cx="82296" cy="91668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6096" y="3945636"/>
            <a:ext cx="3602736" cy="916686"/>
          </a:xfrm>
          <a:prstGeom prst="rect">
            <a:avLst/>
          </a:prstGeom>
          <a:noFill/>
        </p:spPr>
        <p:txBody>
          <a:bodyPr wrap="square" anchor="ctr">
            <a:spAutoFit/>
          </a:bodyPr>
          <a:lstStyle/>
          <a:p>
            <a:pPr algn="l">
              <a:spcAft>
                <a:spcPts val="200"/>
              </a:spcAft>
            </a:pPr>
            <a:r>
              <a:rPr sz="1300" b="1">
                <a:solidFill>
                  <a:srgbClr val="7C3AED"/>
                </a:solidFill>
                <a:latin typeface="Arial"/>
              </a:rPr>
              <a:t>A CNN learns these numbers</a:t>
            </a:r>
          </a:p>
          <a:p>
            <a:pPr algn="l">
              <a:spcAft>
                <a:spcPts val="200"/>
              </a:spcAft>
            </a:pPr>
            <a:r>
              <a:rPr sz="1150" b="0">
                <a:solidFill>
                  <a:srgbClr val="161B26"/>
                </a:solidFill>
                <a:latin typeface="Arial"/>
              </a:rPr>
              <a:t>The first-layer kernels of a trained CNN converge to edge and colour-blob detectors on their own.</a:t>
            </a:r>
          </a:p>
        </p:txBody>
      </p:sp>
      <p:sp>
        <p:nvSpPr>
          <p:cNvPr id="18" name="Rectangle 17"/>
          <p:cNvSpPr/>
          <p:nvPr/>
        </p:nvSpPr>
        <p:spPr>
          <a:xfrm>
            <a:off x="7406640" y="5026914"/>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5026914"/>
            <a:ext cx="82296" cy="91668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5026914"/>
            <a:ext cx="3602736" cy="916686"/>
          </a:xfrm>
          <a:prstGeom prst="rect">
            <a:avLst/>
          </a:prstGeom>
          <a:noFill/>
        </p:spPr>
        <p:txBody>
          <a:bodyPr wrap="square" anchor="ctr">
            <a:spAutoFit/>
          </a:bodyPr>
          <a:lstStyle/>
          <a:p>
            <a:pPr algn="l">
              <a:spcAft>
                <a:spcPts val="200"/>
              </a:spcAft>
            </a:pPr>
            <a:r>
              <a:rPr sz="1300" b="1">
                <a:solidFill>
                  <a:srgbClr val="F59E0B"/>
                </a:solidFill>
                <a:latin typeface="Arial"/>
              </a:rPr>
              <a:t>Same operation, both worlds</a:t>
            </a:r>
          </a:p>
          <a:p>
            <a:pPr algn="l">
              <a:spcAft>
                <a:spcPts val="200"/>
              </a:spcAft>
            </a:pPr>
            <a:r>
              <a:rPr sz="1150" b="0">
                <a:solidFill>
                  <a:srgbClr val="161B26"/>
                </a:solidFill>
                <a:latin typeface="Arial"/>
              </a:rPr>
              <a:t>cv2.filter2D and a convolutional layer do the same arithmetic; one is specified, one is learned.</a:t>
            </a:r>
          </a:p>
        </p:txBody>
      </p:sp>
      <p:sp>
        <p:nvSpPr>
          <p:cNvPr id="21" name="Rectangle 20"/>
          <p:cNvSpPr/>
          <p:nvPr/>
        </p:nvSpPr>
        <p:spPr>
          <a:xfrm>
            <a:off x="777240" y="6053328"/>
            <a:ext cx="10634472" cy="4023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6053328"/>
            <a:ext cx="10241280" cy="402336"/>
          </a:xfrm>
          <a:prstGeom prst="rect">
            <a:avLst/>
          </a:prstGeom>
          <a:noFill/>
        </p:spPr>
        <p:txBody>
          <a:bodyPr wrap="square" anchor="ctr">
            <a:spAutoFit/>
          </a:bodyPr>
          <a:lstStyle/>
          <a:p>
            <a:pPr algn="l">
              <a:spcAft>
                <a:spcPts val="400"/>
              </a:spcAft>
            </a:pPr>
            <a:r>
              <a:rPr sz="1100" b="1">
                <a:solidFill>
                  <a:srgbClr val="127A3E"/>
                </a:solidFill>
                <a:latin typeface="Arial"/>
              </a:rPr>
              <a:t>VERIFY   </a:t>
            </a:r>
            <a:r>
              <a:rPr sz="1200" b="0">
                <a:solidFill>
                  <a:srgbClr val="161B26"/>
                </a:solidFill>
                <a:latin typeface="Arial"/>
              </a:rPr>
              <a:t>You can compute this cell by hand and get 570. Do it once — it is the only way the rest of the course stops being magic.</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7C3AED"/>
                </a:solidFill>
                <a:latin typeface="Arial"/>
              </a:rPr>
              <a:t>K8 · DEEP LEARNING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Convolutional Neural Network — What Each Layer Does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10512"/>
            <a:ext cx="7315200" cy="662025"/>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2331720" cy="66202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1810512"/>
            <a:ext cx="2103120" cy="662025"/>
          </a:xfrm>
          <a:prstGeom prst="rect">
            <a:avLst/>
          </a:prstGeom>
          <a:noFill/>
        </p:spPr>
        <p:txBody>
          <a:bodyPr wrap="square" anchor="ctr">
            <a:spAutoFit/>
          </a:bodyPr>
          <a:lstStyle/>
          <a:p>
            <a:pPr algn="l">
              <a:spcAft>
                <a:spcPts val="400"/>
              </a:spcAft>
            </a:pPr>
            <a:r>
              <a:rPr sz="1250" b="1">
                <a:solidFill>
                  <a:srgbClr val="FFFFFF"/>
                </a:solidFill>
                <a:latin typeface="Arial"/>
              </a:rPr>
              <a:t>INPUT</a:t>
            </a:r>
          </a:p>
        </p:txBody>
      </p:sp>
      <p:sp>
        <p:nvSpPr>
          <p:cNvPr id="10" name="TextBox 9"/>
          <p:cNvSpPr txBox="1"/>
          <p:nvPr/>
        </p:nvSpPr>
        <p:spPr>
          <a:xfrm>
            <a:off x="3291840" y="1810512"/>
            <a:ext cx="4617720" cy="662025"/>
          </a:xfrm>
          <a:prstGeom prst="rect">
            <a:avLst/>
          </a:prstGeom>
          <a:noFill/>
        </p:spPr>
        <p:txBody>
          <a:bodyPr wrap="square" anchor="ctr">
            <a:spAutoFit/>
          </a:bodyPr>
          <a:lstStyle/>
          <a:p>
            <a:pPr algn="l">
              <a:spcAft>
                <a:spcPts val="400"/>
              </a:spcAft>
            </a:pPr>
            <a:r>
              <a:rPr sz="1200" b="0">
                <a:solidFill>
                  <a:srgbClr val="161B26"/>
                </a:solidFill>
                <a:latin typeface="Arial"/>
              </a:rPr>
              <a:t>H x W x 3 pixel array, usually normalised to [0,1] or [−1,1].</a:t>
            </a:r>
          </a:p>
        </p:txBody>
      </p:sp>
      <p:cxnSp>
        <p:nvCxnSpPr>
          <p:cNvPr id="11" name="Connector 10"/>
          <p:cNvCxnSpPr/>
          <p:nvPr/>
        </p:nvCxnSpPr>
        <p:spPr>
          <a:xfrm>
            <a:off x="4434840" y="2472537"/>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77240" y="2673705"/>
            <a:ext cx="7315200" cy="662025"/>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3705"/>
            <a:ext cx="2331720" cy="66202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673705"/>
            <a:ext cx="2103120" cy="662025"/>
          </a:xfrm>
          <a:prstGeom prst="rect">
            <a:avLst/>
          </a:prstGeom>
          <a:noFill/>
        </p:spPr>
        <p:txBody>
          <a:bodyPr wrap="square" anchor="ctr">
            <a:spAutoFit/>
          </a:bodyPr>
          <a:lstStyle/>
          <a:p>
            <a:pPr algn="l">
              <a:spcAft>
                <a:spcPts val="400"/>
              </a:spcAft>
            </a:pPr>
            <a:r>
              <a:rPr sz="1250" b="1">
                <a:solidFill>
                  <a:srgbClr val="FFFFFF"/>
                </a:solidFill>
                <a:latin typeface="Arial"/>
              </a:rPr>
              <a:t>CONV + ACTIVATION</a:t>
            </a:r>
          </a:p>
        </p:txBody>
      </p:sp>
      <p:sp>
        <p:nvSpPr>
          <p:cNvPr id="15" name="TextBox 14"/>
          <p:cNvSpPr txBox="1"/>
          <p:nvPr/>
        </p:nvSpPr>
        <p:spPr>
          <a:xfrm>
            <a:off x="3291840" y="2673705"/>
            <a:ext cx="4617720" cy="662025"/>
          </a:xfrm>
          <a:prstGeom prst="rect">
            <a:avLst/>
          </a:prstGeom>
          <a:noFill/>
        </p:spPr>
        <p:txBody>
          <a:bodyPr wrap="square" anchor="ctr">
            <a:spAutoFit/>
          </a:bodyPr>
          <a:lstStyle/>
          <a:p>
            <a:pPr algn="l">
              <a:spcAft>
                <a:spcPts val="400"/>
              </a:spcAft>
            </a:pPr>
            <a:r>
              <a:rPr sz="1200" b="0">
                <a:solidFill>
                  <a:srgbClr val="161B26"/>
                </a:solidFill>
                <a:latin typeface="Arial"/>
              </a:rPr>
              <a:t>Learned kernels convolve the input; a non-linearity follows each. Early layers find edges and colour blobs; later layers find parts and objects.</a:t>
            </a:r>
          </a:p>
        </p:txBody>
      </p:sp>
      <p:cxnSp>
        <p:nvCxnSpPr>
          <p:cNvPr id="16" name="Connector 15"/>
          <p:cNvCxnSpPr/>
          <p:nvPr/>
        </p:nvCxnSpPr>
        <p:spPr>
          <a:xfrm>
            <a:off x="4434840" y="3335730"/>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77240" y="3536898"/>
            <a:ext cx="7315200" cy="662025"/>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536898"/>
            <a:ext cx="2331720" cy="66202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3544" y="3536898"/>
            <a:ext cx="2103120" cy="662025"/>
          </a:xfrm>
          <a:prstGeom prst="rect">
            <a:avLst/>
          </a:prstGeom>
          <a:noFill/>
        </p:spPr>
        <p:txBody>
          <a:bodyPr wrap="square" anchor="ctr">
            <a:spAutoFit/>
          </a:bodyPr>
          <a:lstStyle/>
          <a:p>
            <a:pPr algn="l">
              <a:spcAft>
                <a:spcPts val="400"/>
              </a:spcAft>
            </a:pPr>
            <a:r>
              <a:rPr sz="1250" b="1">
                <a:solidFill>
                  <a:srgbClr val="FFFFFF"/>
                </a:solidFill>
                <a:latin typeface="Arial"/>
              </a:rPr>
              <a:t>POOLING</a:t>
            </a:r>
          </a:p>
        </p:txBody>
      </p:sp>
      <p:sp>
        <p:nvSpPr>
          <p:cNvPr id="20" name="TextBox 19"/>
          <p:cNvSpPr txBox="1"/>
          <p:nvPr/>
        </p:nvSpPr>
        <p:spPr>
          <a:xfrm>
            <a:off x="3291840" y="3536898"/>
            <a:ext cx="4617720" cy="662025"/>
          </a:xfrm>
          <a:prstGeom prst="rect">
            <a:avLst/>
          </a:prstGeom>
          <a:noFill/>
        </p:spPr>
        <p:txBody>
          <a:bodyPr wrap="square" anchor="ctr">
            <a:spAutoFit/>
          </a:bodyPr>
          <a:lstStyle/>
          <a:p>
            <a:pPr algn="l">
              <a:spcAft>
                <a:spcPts val="400"/>
              </a:spcAft>
            </a:pPr>
            <a:r>
              <a:rPr sz="1200" b="0">
                <a:solidFill>
                  <a:srgbClr val="161B26"/>
                </a:solidFill>
                <a:latin typeface="Arial"/>
              </a:rPr>
              <a:t>Downsamples spatially (max or average), which shrinks the feature map and buys a little translation tolerance.</a:t>
            </a:r>
          </a:p>
        </p:txBody>
      </p:sp>
      <p:cxnSp>
        <p:nvCxnSpPr>
          <p:cNvPr id="21" name="Connector 20"/>
          <p:cNvCxnSpPr/>
          <p:nvPr/>
        </p:nvCxnSpPr>
        <p:spPr>
          <a:xfrm>
            <a:off x="4434840" y="4198923"/>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 y="4400091"/>
            <a:ext cx="7315200" cy="662025"/>
          </a:xfrm>
          <a:prstGeom prst="roundRect">
            <a:avLst/>
          </a:prstGeom>
          <a:solidFill>
            <a:srgbClr val="F5F8FC"/>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400091"/>
            <a:ext cx="2331720" cy="66202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 y="4400091"/>
            <a:ext cx="2103120" cy="662025"/>
          </a:xfrm>
          <a:prstGeom prst="rect">
            <a:avLst/>
          </a:prstGeom>
          <a:noFill/>
        </p:spPr>
        <p:txBody>
          <a:bodyPr wrap="square" anchor="ctr">
            <a:spAutoFit/>
          </a:bodyPr>
          <a:lstStyle/>
          <a:p>
            <a:pPr algn="l">
              <a:spcAft>
                <a:spcPts val="400"/>
              </a:spcAft>
            </a:pPr>
            <a:r>
              <a:rPr sz="1250" b="1">
                <a:solidFill>
                  <a:srgbClr val="FFFFFF"/>
                </a:solidFill>
                <a:latin typeface="Arial"/>
              </a:rPr>
              <a:t>FLATTEN / GLOBAL POOL</a:t>
            </a:r>
          </a:p>
        </p:txBody>
      </p:sp>
      <p:sp>
        <p:nvSpPr>
          <p:cNvPr id="25" name="TextBox 24"/>
          <p:cNvSpPr txBox="1"/>
          <p:nvPr/>
        </p:nvSpPr>
        <p:spPr>
          <a:xfrm>
            <a:off x="3291840" y="4400091"/>
            <a:ext cx="4617720" cy="662025"/>
          </a:xfrm>
          <a:prstGeom prst="rect">
            <a:avLst/>
          </a:prstGeom>
          <a:noFill/>
        </p:spPr>
        <p:txBody>
          <a:bodyPr wrap="square" anchor="ctr">
            <a:spAutoFit/>
          </a:bodyPr>
          <a:lstStyle/>
          <a:p>
            <a:pPr algn="l">
              <a:spcAft>
                <a:spcPts val="400"/>
              </a:spcAft>
            </a:pPr>
            <a:r>
              <a:rPr sz="1200" b="0">
                <a:solidFill>
                  <a:srgbClr val="161B26"/>
                </a:solidFill>
                <a:latin typeface="Arial"/>
              </a:rPr>
              <a:t>Collapses the spatial map into a feature vector — the image's learned representation.</a:t>
            </a:r>
          </a:p>
        </p:txBody>
      </p:sp>
      <p:cxnSp>
        <p:nvCxnSpPr>
          <p:cNvPr id="26" name="Connector 25"/>
          <p:cNvCxnSpPr/>
          <p:nvPr/>
        </p:nvCxnSpPr>
        <p:spPr>
          <a:xfrm>
            <a:off x="4434840" y="5062116"/>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77240" y="5263284"/>
            <a:ext cx="7315200" cy="662025"/>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263284"/>
            <a:ext cx="2331720" cy="66202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3544" y="5263284"/>
            <a:ext cx="2103120" cy="662025"/>
          </a:xfrm>
          <a:prstGeom prst="rect">
            <a:avLst/>
          </a:prstGeom>
          <a:noFill/>
        </p:spPr>
        <p:txBody>
          <a:bodyPr wrap="square" anchor="ctr">
            <a:spAutoFit/>
          </a:bodyPr>
          <a:lstStyle/>
          <a:p>
            <a:pPr algn="l">
              <a:spcAft>
                <a:spcPts val="400"/>
              </a:spcAft>
            </a:pPr>
            <a:r>
              <a:rPr sz="1250" b="1">
                <a:solidFill>
                  <a:srgbClr val="FFFFFF"/>
                </a:solidFill>
                <a:latin typeface="Arial"/>
              </a:rPr>
              <a:t>FULLY CONNECTED + SOFTMAX</a:t>
            </a:r>
          </a:p>
        </p:txBody>
      </p:sp>
      <p:sp>
        <p:nvSpPr>
          <p:cNvPr id="30" name="TextBox 29"/>
          <p:cNvSpPr txBox="1"/>
          <p:nvPr/>
        </p:nvSpPr>
        <p:spPr>
          <a:xfrm>
            <a:off x="3291840" y="5263284"/>
            <a:ext cx="4617720" cy="662025"/>
          </a:xfrm>
          <a:prstGeom prst="rect">
            <a:avLst/>
          </a:prstGeom>
          <a:noFill/>
        </p:spPr>
        <p:txBody>
          <a:bodyPr wrap="square" anchor="ctr">
            <a:spAutoFit/>
          </a:bodyPr>
          <a:lstStyle/>
          <a:p>
            <a:pPr algn="l">
              <a:spcAft>
                <a:spcPts val="400"/>
              </a:spcAft>
            </a:pPr>
            <a:r>
              <a:rPr sz="1200" b="0">
                <a:solidFill>
                  <a:srgbClr val="161B26"/>
                </a:solidFill>
                <a:latin typeface="Arial"/>
              </a:rPr>
              <a:t>Maps the vector to class scores, then to probabilities that sum to one.</a:t>
            </a:r>
          </a:p>
        </p:txBody>
      </p:sp>
      <p:sp>
        <p:nvSpPr>
          <p:cNvPr id="31" name="Rectangle 30"/>
          <p:cNvSpPr/>
          <p:nvPr/>
        </p:nvSpPr>
        <p:spPr>
          <a:xfrm>
            <a:off x="8366760" y="1810512"/>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66760" y="1810512"/>
            <a:ext cx="82296" cy="9052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67928" y="1810512"/>
            <a:ext cx="2679192" cy="905256"/>
          </a:xfrm>
          <a:prstGeom prst="rect">
            <a:avLst/>
          </a:prstGeom>
          <a:noFill/>
        </p:spPr>
        <p:txBody>
          <a:bodyPr wrap="square" anchor="ctr">
            <a:spAutoFit/>
          </a:bodyPr>
          <a:lstStyle/>
          <a:p>
            <a:pPr algn="l">
              <a:spcAft>
                <a:spcPts val="200"/>
              </a:spcAft>
            </a:pPr>
            <a:r>
              <a:rPr sz="1200" b="1">
                <a:solidFill>
                  <a:srgbClr val="1F6FEB"/>
                </a:solidFill>
                <a:latin typeface="Arial"/>
              </a:rPr>
              <a:t>Depth buys abstraction</a:t>
            </a:r>
          </a:p>
          <a:p>
            <a:pPr algn="l">
              <a:spcAft>
                <a:spcPts val="200"/>
              </a:spcAft>
            </a:pPr>
            <a:r>
              <a:rPr sz="1100" b="0">
                <a:solidFill>
                  <a:srgbClr val="161B26"/>
                </a:solidFill>
                <a:latin typeface="Arial"/>
              </a:rPr>
              <a:t>Stacked convolutions grow the receptive field, so later layers see more of the image.</a:t>
            </a:r>
          </a:p>
        </p:txBody>
      </p:sp>
      <p:sp>
        <p:nvSpPr>
          <p:cNvPr id="34" name="Rectangle 33"/>
          <p:cNvSpPr/>
          <p:nvPr/>
        </p:nvSpPr>
        <p:spPr>
          <a:xfrm>
            <a:off x="8366760" y="2880360"/>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66760" y="2880360"/>
            <a:ext cx="82296" cy="9052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67928" y="2880360"/>
            <a:ext cx="2679192" cy="905256"/>
          </a:xfrm>
          <a:prstGeom prst="rect">
            <a:avLst/>
          </a:prstGeom>
          <a:noFill/>
        </p:spPr>
        <p:txBody>
          <a:bodyPr wrap="square" anchor="ctr">
            <a:spAutoFit/>
          </a:bodyPr>
          <a:lstStyle/>
          <a:p>
            <a:pPr algn="l">
              <a:spcAft>
                <a:spcPts val="200"/>
              </a:spcAft>
            </a:pPr>
            <a:r>
              <a:rPr sz="1200" b="1">
                <a:solidFill>
                  <a:srgbClr val="10B981"/>
                </a:solidFill>
                <a:latin typeface="Arial"/>
              </a:rPr>
              <a:t>Weight sharing buys efficiency</a:t>
            </a:r>
          </a:p>
          <a:p>
            <a:pPr algn="l">
              <a:spcAft>
                <a:spcPts val="200"/>
              </a:spcAft>
            </a:pPr>
            <a:r>
              <a:rPr sz="1100" b="0">
                <a:solidFill>
                  <a:srgbClr val="161B26"/>
                </a:solidFill>
                <a:latin typeface="Arial"/>
              </a:rPr>
              <a:t>One kernel is reused across the whole image instead of a weight per pixel.</a:t>
            </a:r>
          </a:p>
        </p:txBody>
      </p:sp>
      <p:sp>
        <p:nvSpPr>
          <p:cNvPr id="37" name="Rectangle 36"/>
          <p:cNvSpPr/>
          <p:nvPr/>
        </p:nvSpPr>
        <p:spPr>
          <a:xfrm>
            <a:off x="8366760" y="3950208"/>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66760" y="3950208"/>
            <a:ext cx="82296" cy="9052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67928" y="3950208"/>
            <a:ext cx="2679192" cy="905256"/>
          </a:xfrm>
          <a:prstGeom prst="rect">
            <a:avLst/>
          </a:prstGeom>
          <a:noFill/>
        </p:spPr>
        <p:txBody>
          <a:bodyPr wrap="square" anchor="ctr">
            <a:spAutoFit/>
          </a:bodyPr>
          <a:lstStyle/>
          <a:p>
            <a:pPr algn="l">
              <a:spcAft>
                <a:spcPts val="200"/>
              </a:spcAft>
            </a:pPr>
            <a:r>
              <a:rPr sz="1200" b="1">
                <a:solidFill>
                  <a:srgbClr val="7C3AED"/>
                </a:solidFill>
                <a:latin typeface="Arial"/>
              </a:rPr>
              <a:t>The feature vector is reusable</a:t>
            </a:r>
          </a:p>
          <a:p>
            <a:pPr algn="l">
              <a:spcAft>
                <a:spcPts val="200"/>
              </a:spcAft>
            </a:pPr>
            <a:r>
              <a:rPr sz="1100" b="0">
                <a:solidFill>
                  <a:srgbClr val="161B26"/>
                </a:solidFill>
                <a:latin typeface="Arial"/>
              </a:rPr>
              <a:t>It is what a classifier head consumes, and what an FID or CLIP score is computed in.</a:t>
            </a:r>
          </a:p>
        </p:txBody>
      </p:sp>
      <p:sp>
        <p:nvSpPr>
          <p:cNvPr id="40" name="Rectangle 39"/>
          <p:cNvSpPr/>
          <p:nvPr/>
        </p:nvSpPr>
        <p:spPr>
          <a:xfrm>
            <a:off x="8366760" y="5020056"/>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366760" y="5020056"/>
            <a:ext cx="82296" cy="9052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67928" y="5020056"/>
            <a:ext cx="2679192" cy="905256"/>
          </a:xfrm>
          <a:prstGeom prst="rect">
            <a:avLst/>
          </a:prstGeom>
          <a:noFill/>
        </p:spPr>
        <p:txBody>
          <a:bodyPr wrap="square" anchor="ctr">
            <a:spAutoFit/>
          </a:bodyPr>
          <a:lstStyle/>
          <a:p>
            <a:pPr algn="l">
              <a:spcAft>
                <a:spcPts val="200"/>
              </a:spcAft>
            </a:pPr>
            <a:r>
              <a:rPr sz="1200" b="1">
                <a:solidFill>
                  <a:srgbClr val="F59E0B"/>
                </a:solidFill>
                <a:latin typeface="Arial"/>
              </a:rPr>
              <a:t>This is the encoder half</a:t>
            </a:r>
          </a:p>
          <a:p>
            <a:pPr algn="l">
              <a:spcAft>
                <a:spcPts val="200"/>
              </a:spcAft>
            </a:pPr>
            <a:r>
              <a:rPr sz="1100" b="0">
                <a:solidFill>
                  <a:srgbClr val="161B26"/>
                </a:solidFill>
                <a:latin typeface="Arial"/>
              </a:rPr>
              <a:t>A generator runs the same idea in reverse: vector in, pixels out.</a:t>
            </a:r>
          </a:p>
        </p:txBody>
      </p:sp>
      <p:sp>
        <p:nvSpPr>
          <p:cNvPr id="43" name="TextBox 42"/>
          <p:cNvSpPr txBox="1"/>
          <p:nvPr/>
        </p:nvSpPr>
        <p:spPr>
          <a:xfrm>
            <a:off x="777240" y="5989320"/>
            <a:ext cx="10634472" cy="457200"/>
          </a:xfrm>
          <a:prstGeom prst="rect">
            <a:avLst/>
          </a:prstGeom>
          <a:noFill/>
        </p:spPr>
        <p:txBody>
          <a:bodyPr wrap="square" anchor="ctr">
            <a:spAutoFit/>
          </a:bodyPr>
          <a:lstStyle/>
          <a:p>
            <a:pPr algn="ctr">
              <a:spcAft>
                <a:spcPts val="400"/>
              </a:spcAft>
            </a:pPr>
            <a:r>
              <a:rPr sz="1250" b="0">
                <a:solidFill>
                  <a:srgbClr val="5B6372"/>
                </a:solidFill>
                <a:latin typeface="Arial"/>
              </a:rPr>
              <a:t>The encoder/decoder split you see here is exactly the structure a VAE, a GAN generator and a diffusion U-Net all reuse.</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7C3AED"/>
                </a:solidFill>
                <a:latin typeface="Arial"/>
              </a:rPr>
              <a:t>K1 · ARCHITECTURE 1 OF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Variational Autoencoder — Encoder, Latent Space, Decoder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10512"/>
            <a:ext cx="7315200" cy="877824"/>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2331720" cy="8778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1810512"/>
            <a:ext cx="2103120" cy="877824"/>
          </a:xfrm>
          <a:prstGeom prst="rect">
            <a:avLst/>
          </a:prstGeom>
          <a:noFill/>
        </p:spPr>
        <p:txBody>
          <a:bodyPr wrap="square" anchor="ctr">
            <a:spAutoFit/>
          </a:bodyPr>
          <a:lstStyle/>
          <a:p>
            <a:pPr algn="l">
              <a:spcAft>
                <a:spcPts val="400"/>
              </a:spcAft>
            </a:pPr>
            <a:r>
              <a:rPr sz="1250" b="1">
                <a:solidFill>
                  <a:srgbClr val="FFFFFF"/>
                </a:solidFill>
                <a:latin typeface="Arial"/>
              </a:rPr>
              <a:t>ENCODER</a:t>
            </a:r>
          </a:p>
        </p:txBody>
      </p:sp>
      <p:sp>
        <p:nvSpPr>
          <p:cNvPr id="10" name="TextBox 9"/>
          <p:cNvSpPr txBox="1"/>
          <p:nvPr/>
        </p:nvSpPr>
        <p:spPr>
          <a:xfrm>
            <a:off x="3291840" y="1810512"/>
            <a:ext cx="4617720" cy="877824"/>
          </a:xfrm>
          <a:prstGeom prst="rect">
            <a:avLst/>
          </a:prstGeom>
          <a:noFill/>
        </p:spPr>
        <p:txBody>
          <a:bodyPr wrap="square" anchor="ctr">
            <a:spAutoFit/>
          </a:bodyPr>
          <a:lstStyle/>
          <a:p>
            <a:pPr algn="l">
              <a:spcAft>
                <a:spcPts val="400"/>
              </a:spcAft>
            </a:pPr>
            <a:r>
              <a:rPr sz="1200" b="0">
                <a:solidFill>
                  <a:srgbClr val="161B26"/>
                </a:solidFill>
                <a:latin typeface="Arial"/>
              </a:rPr>
              <a:t>Compresses the image to the parameters of a distribution: a mean μ and a log-variance log σ², not a single point.</a:t>
            </a:r>
          </a:p>
        </p:txBody>
      </p:sp>
      <p:cxnSp>
        <p:nvCxnSpPr>
          <p:cNvPr id="11" name="Connector 10"/>
          <p:cNvCxnSpPr/>
          <p:nvPr/>
        </p:nvCxnSpPr>
        <p:spPr>
          <a:xfrm>
            <a:off x="4434840" y="2688336"/>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77240" y="2889504"/>
            <a:ext cx="7315200" cy="877824"/>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89504"/>
            <a:ext cx="2331720" cy="8778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889504"/>
            <a:ext cx="2103120" cy="877824"/>
          </a:xfrm>
          <a:prstGeom prst="rect">
            <a:avLst/>
          </a:prstGeom>
          <a:noFill/>
        </p:spPr>
        <p:txBody>
          <a:bodyPr wrap="square" anchor="ctr">
            <a:spAutoFit/>
          </a:bodyPr>
          <a:lstStyle/>
          <a:p>
            <a:pPr algn="l">
              <a:spcAft>
                <a:spcPts val="400"/>
              </a:spcAft>
            </a:pPr>
            <a:r>
              <a:rPr sz="1250" b="1">
                <a:solidFill>
                  <a:srgbClr val="FFFFFF"/>
                </a:solidFill>
                <a:latin typeface="Arial"/>
              </a:rPr>
              <a:t>LATENT SPACE</a:t>
            </a:r>
          </a:p>
        </p:txBody>
      </p:sp>
      <p:sp>
        <p:nvSpPr>
          <p:cNvPr id="15" name="TextBox 14"/>
          <p:cNvSpPr txBox="1"/>
          <p:nvPr/>
        </p:nvSpPr>
        <p:spPr>
          <a:xfrm>
            <a:off x="3291840" y="2889504"/>
            <a:ext cx="4617720" cy="877824"/>
          </a:xfrm>
          <a:prstGeom prst="rect">
            <a:avLst/>
          </a:prstGeom>
          <a:noFill/>
        </p:spPr>
        <p:txBody>
          <a:bodyPr wrap="square" anchor="ctr">
            <a:spAutoFit/>
          </a:bodyPr>
          <a:lstStyle/>
          <a:p>
            <a:pPr algn="l">
              <a:spcAft>
                <a:spcPts val="400"/>
              </a:spcAft>
            </a:pPr>
            <a:r>
              <a:rPr sz="1200" b="0">
                <a:solidFill>
                  <a:srgbClr val="161B26"/>
                </a:solidFill>
                <a:latin typeface="Arial"/>
              </a:rPr>
              <a:t>A low-dimensional, smooth, continuous space. Nearby points decode to similar images, which is what makes interpolation work.</a:t>
            </a:r>
          </a:p>
        </p:txBody>
      </p:sp>
      <p:cxnSp>
        <p:nvCxnSpPr>
          <p:cNvPr id="16" name="Connector 15"/>
          <p:cNvCxnSpPr/>
          <p:nvPr/>
        </p:nvCxnSpPr>
        <p:spPr>
          <a:xfrm>
            <a:off x="4434840" y="3767328"/>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77240" y="3968496"/>
            <a:ext cx="7315200" cy="877824"/>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968496"/>
            <a:ext cx="2331720" cy="8778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3544" y="3968496"/>
            <a:ext cx="2103120" cy="877824"/>
          </a:xfrm>
          <a:prstGeom prst="rect">
            <a:avLst/>
          </a:prstGeom>
          <a:noFill/>
        </p:spPr>
        <p:txBody>
          <a:bodyPr wrap="square" anchor="ctr">
            <a:spAutoFit/>
          </a:bodyPr>
          <a:lstStyle/>
          <a:p>
            <a:pPr algn="l">
              <a:spcAft>
                <a:spcPts val="400"/>
              </a:spcAft>
            </a:pPr>
            <a:r>
              <a:rPr sz="1250" b="1">
                <a:solidFill>
                  <a:srgbClr val="FFFFFF"/>
                </a:solidFill>
                <a:latin typeface="Arial"/>
              </a:rPr>
              <a:t>SAMPLE</a:t>
            </a:r>
          </a:p>
        </p:txBody>
      </p:sp>
      <p:sp>
        <p:nvSpPr>
          <p:cNvPr id="20" name="TextBox 19"/>
          <p:cNvSpPr txBox="1"/>
          <p:nvPr/>
        </p:nvSpPr>
        <p:spPr>
          <a:xfrm>
            <a:off x="3291840" y="3968496"/>
            <a:ext cx="4617720" cy="877824"/>
          </a:xfrm>
          <a:prstGeom prst="rect">
            <a:avLst/>
          </a:prstGeom>
          <a:noFill/>
        </p:spPr>
        <p:txBody>
          <a:bodyPr wrap="square" anchor="ctr">
            <a:spAutoFit/>
          </a:bodyPr>
          <a:lstStyle/>
          <a:p>
            <a:pPr algn="l">
              <a:spcAft>
                <a:spcPts val="400"/>
              </a:spcAft>
            </a:pPr>
            <a:r>
              <a:rPr sz="1200" b="0">
                <a:solidFill>
                  <a:srgbClr val="161B26"/>
                </a:solidFill>
                <a:latin typeface="Arial"/>
              </a:rPr>
              <a:t>Draw z from that distribution. This is what makes the model generative rather than a plain autoencoder.</a:t>
            </a:r>
          </a:p>
        </p:txBody>
      </p:sp>
      <p:cxnSp>
        <p:nvCxnSpPr>
          <p:cNvPr id="21" name="Connector 20"/>
          <p:cNvCxnSpPr/>
          <p:nvPr/>
        </p:nvCxnSpPr>
        <p:spPr>
          <a:xfrm>
            <a:off x="4434840" y="4846320"/>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 y="5047488"/>
            <a:ext cx="7315200" cy="877824"/>
          </a:xfrm>
          <a:prstGeom prst="roundRect">
            <a:avLst/>
          </a:prstGeom>
          <a:solidFill>
            <a:srgbClr val="F5F8FC"/>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047488"/>
            <a:ext cx="2331720" cy="8778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 y="5047488"/>
            <a:ext cx="2103120" cy="877824"/>
          </a:xfrm>
          <a:prstGeom prst="rect">
            <a:avLst/>
          </a:prstGeom>
          <a:noFill/>
        </p:spPr>
        <p:txBody>
          <a:bodyPr wrap="square" anchor="ctr">
            <a:spAutoFit/>
          </a:bodyPr>
          <a:lstStyle/>
          <a:p>
            <a:pPr algn="l">
              <a:spcAft>
                <a:spcPts val="400"/>
              </a:spcAft>
            </a:pPr>
            <a:r>
              <a:rPr sz="1250" b="1">
                <a:solidFill>
                  <a:srgbClr val="FFFFFF"/>
                </a:solidFill>
                <a:latin typeface="Arial"/>
              </a:rPr>
              <a:t>DECODER</a:t>
            </a:r>
          </a:p>
        </p:txBody>
      </p:sp>
      <p:sp>
        <p:nvSpPr>
          <p:cNvPr id="25" name="TextBox 24"/>
          <p:cNvSpPr txBox="1"/>
          <p:nvPr/>
        </p:nvSpPr>
        <p:spPr>
          <a:xfrm>
            <a:off x="3291840" y="5047488"/>
            <a:ext cx="4617720" cy="877824"/>
          </a:xfrm>
          <a:prstGeom prst="rect">
            <a:avLst/>
          </a:prstGeom>
          <a:noFill/>
        </p:spPr>
        <p:txBody>
          <a:bodyPr wrap="square" anchor="ctr">
            <a:spAutoFit/>
          </a:bodyPr>
          <a:lstStyle/>
          <a:p>
            <a:pPr algn="l">
              <a:spcAft>
                <a:spcPts val="400"/>
              </a:spcAft>
            </a:pPr>
            <a:r>
              <a:rPr sz="1200" b="0">
                <a:solidFill>
                  <a:srgbClr val="161B26"/>
                </a:solidFill>
                <a:latin typeface="Arial"/>
              </a:rPr>
              <a:t>Maps z back to a full image, trying to reconstruct the original.</a:t>
            </a:r>
          </a:p>
        </p:txBody>
      </p:sp>
      <p:sp>
        <p:nvSpPr>
          <p:cNvPr id="26" name="Rectangle 25"/>
          <p:cNvSpPr/>
          <p:nvPr/>
        </p:nvSpPr>
        <p:spPr>
          <a:xfrm>
            <a:off x="8366760" y="1810512"/>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366760" y="1810512"/>
            <a:ext cx="82296" cy="9052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67928" y="1810512"/>
            <a:ext cx="2679192" cy="905256"/>
          </a:xfrm>
          <a:prstGeom prst="rect">
            <a:avLst/>
          </a:prstGeom>
          <a:noFill/>
        </p:spPr>
        <p:txBody>
          <a:bodyPr wrap="square" anchor="ctr">
            <a:spAutoFit/>
          </a:bodyPr>
          <a:lstStyle/>
          <a:p>
            <a:pPr algn="l">
              <a:spcAft>
                <a:spcPts val="200"/>
              </a:spcAft>
            </a:pPr>
            <a:r>
              <a:rPr sz="1200" b="1">
                <a:solidFill>
                  <a:srgbClr val="1F6FEB"/>
                </a:solidFill>
                <a:latin typeface="Arial"/>
              </a:rPr>
              <a:t>Strength</a:t>
            </a:r>
          </a:p>
          <a:p>
            <a:pPr algn="l">
              <a:spcAft>
                <a:spcPts val="200"/>
              </a:spcAft>
            </a:pPr>
            <a:r>
              <a:rPr sz="1100" b="0">
                <a:solidFill>
                  <a:srgbClr val="161B26"/>
                </a:solidFill>
                <a:latin typeface="Arial"/>
              </a:rPr>
              <a:t>A smooth latent space — good for interpolation and for compression.</a:t>
            </a:r>
          </a:p>
        </p:txBody>
      </p:sp>
      <p:sp>
        <p:nvSpPr>
          <p:cNvPr id="29" name="Rectangle 28"/>
          <p:cNvSpPr/>
          <p:nvPr/>
        </p:nvSpPr>
        <p:spPr>
          <a:xfrm>
            <a:off x="8366760" y="2880360"/>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66760" y="2880360"/>
            <a:ext cx="82296" cy="9052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67928" y="2880360"/>
            <a:ext cx="2679192" cy="905256"/>
          </a:xfrm>
          <a:prstGeom prst="rect">
            <a:avLst/>
          </a:prstGeom>
          <a:noFill/>
        </p:spPr>
        <p:txBody>
          <a:bodyPr wrap="square" anchor="ctr">
            <a:spAutoFit/>
          </a:bodyPr>
          <a:lstStyle/>
          <a:p>
            <a:pPr algn="l">
              <a:spcAft>
                <a:spcPts val="200"/>
              </a:spcAft>
            </a:pPr>
            <a:r>
              <a:rPr sz="1200" b="1">
                <a:solidFill>
                  <a:srgbClr val="10B981"/>
                </a:solidFill>
                <a:latin typeface="Arial"/>
              </a:rPr>
              <a:t>Weakness</a:t>
            </a:r>
          </a:p>
          <a:p>
            <a:pPr algn="l">
              <a:spcAft>
                <a:spcPts val="200"/>
              </a:spcAft>
            </a:pPr>
            <a:r>
              <a:rPr sz="1100" b="0">
                <a:solidFill>
                  <a:srgbClr val="161B26"/>
                </a:solidFill>
                <a:latin typeface="Arial"/>
              </a:rPr>
              <a:t>Blurry output. The reconstruction loss rewards averaging over possible pixel values.</a:t>
            </a:r>
          </a:p>
        </p:txBody>
      </p:sp>
      <p:sp>
        <p:nvSpPr>
          <p:cNvPr id="32" name="Rectangle 31"/>
          <p:cNvSpPr/>
          <p:nvPr/>
        </p:nvSpPr>
        <p:spPr>
          <a:xfrm>
            <a:off x="8366760" y="3950208"/>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366760" y="3950208"/>
            <a:ext cx="82296" cy="9052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67928" y="3950208"/>
            <a:ext cx="2679192" cy="905256"/>
          </a:xfrm>
          <a:prstGeom prst="rect">
            <a:avLst/>
          </a:prstGeom>
          <a:noFill/>
        </p:spPr>
        <p:txBody>
          <a:bodyPr wrap="square" anchor="ctr">
            <a:spAutoFit/>
          </a:bodyPr>
          <a:lstStyle/>
          <a:p>
            <a:pPr algn="l">
              <a:spcAft>
                <a:spcPts val="200"/>
              </a:spcAft>
            </a:pPr>
            <a:r>
              <a:rPr sz="1200" b="1">
                <a:solidFill>
                  <a:srgbClr val="7C3AED"/>
                </a:solidFill>
                <a:latin typeface="Arial"/>
              </a:rPr>
              <a:t>Still used</a:t>
            </a:r>
          </a:p>
          <a:p>
            <a:pPr algn="l">
              <a:spcAft>
                <a:spcPts val="200"/>
              </a:spcAft>
            </a:pPr>
            <a:r>
              <a:rPr sz="1100" b="0">
                <a:solidFill>
                  <a:srgbClr val="161B26"/>
                </a:solidFill>
                <a:latin typeface="Arial"/>
              </a:rPr>
              <a:t>As the autoencoder inside latent diffusion, where the blur does not matter.</a:t>
            </a:r>
          </a:p>
        </p:txBody>
      </p:sp>
      <p:sp>
        <p:nvSpPr>
          <p:cNvPr id="35" name="Rectangle 34"/>
          <p:cNvSpPr/>
          <p:nvPr/>
        </p:nvSpPr>
        <p:spPr>
          <a:xfrm>
            <a:off x="8366760" y="5020056"/>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366760" y="5020056"/>
            <a:ext cx="82296" cy="9052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67928" y="5020056"/>
            <a:ext cx="2679192" cy="905256"/>
          </a:xfrm>
          <a:prstGeom prst="rect">
            <a:avLst/>
          </a:prstGeom>
          <a:noFill/>
        </p:spPr>
        <p:txBody>
          <a:bodyPr wrap="square" anchor="ctr">
            <a:spAutoFit/>
          </a:bodyPr>
          <a:lstStyle/>
          <a:p>
            <a:pPr algn="l">
              <a:spcAft>
                <a:spcPts val="200"/>
              </a:spcAft>
            </a:pPr>
            <a:r>
              <a:rPr sz="1200" b="1">
                <a:solidFill>
                  <a:srgbClr val="F59E0B"/>
                </a:solidFill>
                <a:latin typeface="Arial"/>
              </a:rPr>
              <a:t>Cited</a:t>
            </a:r>
          </a:p>
          <a:p>
            <a:pPr algn="l">
              <a:spcAft>
                <a:spcPts val="200"/>
              </a:spcAft>
            </a:pPr>
            <a:r>
              <a:rPr sz="1100" b="0">
                <a:solidFill>
                  <a:srgbClr val="161B26"/>
                </a:solidFill>
                <a:latin typeface="Arial"/>
              </a:rPr>
              <a:t>S6 · Multimodal Generative AI, Ch.5 pp.56–58</a:t>
            </a:r>
          </a:p>
        </p:txBody>
      </p:sp>
      <p:sp>
        <p:nvSpPr>
          <p:cNvPr id="38" name="TextBox 37"/>
          <p:cNvSpPr txBox="1"/>
          <p:nvPr/>
        </p:nvSpPr>
        <p:spPr>
          <a:xfrm>
            <a:off x="777240" y="5989320"/>
            <a:ext cx="10634472" cy="457200"/>
          </a:xfrm>
          <a:prstGeom prst="rect">
            <a:avLst/>
          </a:prstGeom>
          <a:noFill/>
        </p:spPr>
        <p:txBody>
          <a:bodyPr wrap="square" anchor="ctr">
            <a:spAutoFit/>
          </a:bodyPr>
          <a:lstStyle/>
          <a:p>
            <a:pPr algn="ctr">
              <a:spcAft>
                <a:spcPts val="400"/>
              </a:spcAft>
            </a:pPr>
            <a:r>
              <a:rPr sz="1250" b="0">
                <a:solidFill>
                  <a:srgbClr val="5B6372"/>
                </a:solidFill>
                <a:latin typeface="Arial"/>
              </a:rPr>
              <a:t>The blur is not a bug to be tuned away: it is what a loss that rewards average correctness produces.</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fast">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K1, K8 · THE ONE PIECE OF VAE MATHS WORTH KNOWING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Reparameterisation Trick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12263"/>
            <a:ext cx="2996184" cy="457200"/>
          </a:xfrm>
          <a:prstGeom prst="rect">
            <a:avLst/>
          </a:prstGeom>
          <a:noFill/>
        </p:spPr>
        <p:txBody>
          <a:bodyPr wrap="square" anchor="t">
            <a:spAutoFit/>
          </a:bodyPr>
          <a:lstStyle/>
          <a:p>
            <a:pPr algn="l">
              <a:spcAft>
                <a:spcPts val="400"/>
              </a:spcAft>
            </a:pPr>
            <a:r>
              <a:rPr sz="1500" b="1">
                <a:solidFill>
                  <a:srgbClr val="1F6FEB"/>
                </a:solidFill>
                <a:latin typeface="Arial"/>
              </a:rPr>
              <a:t>The problem</a:t>
            </a:r>
          </a:p>
        </p:txBody>
      </p:sp>
      <p:sp>
        <p:nvSpPr>
          <p:cNvPr id="10" name="Rectangle 9"/>
          <p:cNvSpPr/>
          <p:nvPr/>
        </p:nvSpPr>
        <p:spPr>
          <a:xfrm>
            <a:off x="960120" y="2715767"/>
            <a:ext cx="2996184" cy="6766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15767"/>
            <a:ext cx="2813304" cy="676656"/>
          </a:xfrm>
          <a:prstGeom prst="rect">
            <a:avLst/>
          </a:prstGeom>
          <a:noFill/>
        </p:spPr>
        <p:txBody>
          <a:bodyPr wrap="none" lIns="0" rIns="0" tIns="0" bIns="0" anchor="ctr">
            <a:noAutofit/>
          </a:bodyPr>
          <a:lstStyle/>
          <a:p>
            <a:pPr>
              <a:spcAft>
                <a:spcPts val="100"/>
              </a:spcAft>
            </a:pPr>
            <a:r>
              <a:rPr sz="1400">
                <a:solidFill>
                  <a:srgbClr val="9CDCFE"/>
                </a:solidFill>
                <a:latin typeface="Consolas"/>
              </a:rPr>
              <a:t>z ~ N(μ, σ²)</a:t>
            </a:r>
          </a:p>
        </p:txBody>
      </p:sp>
      <p:sp>
        <p:nvSpPr>
          <p:cNvPr id="12" name="TextBox 11"/>
          <p:cNvSpPr txBox="1"/>
          <p:nvPr/>
        </p:nvSpPr>
        <p:spPr>
          <a:xfrm>
            <a:off x="960120" y="3502151"/>
            <a:ext cx="2996184" cy="1856232"/>
          </a:xfrm>
          <a:prstGeom prst="rect">
            <a:avLst/>
          </a:prstGeom>
          <a:noFill/>
        </p:spPr>
        <p:txBody>
          <a:bodyPr wrap="square" anchor="t">
            <a:spAutoFit/>
          </a:bodyPr>
          <a:lstStyle/>
          <a:p>
            <a:pPr algn="l">
              <a:spcAft>
                <a:spcPts val="400"/>
              </a:spcAft>
            </a:pPr>
            <a:r>
              <a:rPr sz="1200" b="0">
                <a:solidFill>
                  <a:srgbClr val="5B6372"/>
                </a:solidFill>
                <a:latin typeface="Arial"/>
              </a:rPr>
              <a:t>Sampling is a random step. Gradients cannot flow back through it, so the encoder never learns whether a bad output was its fault or the sampler's.</a:t>
            </a:r>
          </a:p>
        </p:txBody>
      </p:sp>
      <p:sp>
        <p:nvSpPr>
          <p:cNvPr id="13" name="Rectangle 12"/>
          <p:cNvSpPr/>
          <p:nvPr/>
        </p:nvSpPr>
        <p:spPr>
          <a:xfrm>
            <a:off x="4413504"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6384" y="2112263"/>
            <a:ext cx="2996184" cy="457200"/>
          </a:xfrm>
          <a:prstGeom prst="rect">
            <a:avLst/>
          </a:prstGeom>
          <a:noFill/>
        </p:spPr>
        <p:txBody>
          <a:bodyPr wrap="square" anchor="t">
            <a:spAutoFit/>
          </a:bodyPr>
          <a:lstStyle/>
          <a:p>
            <a:pPr algn="l">
              <a:spcAft>
                <a:spcPts val="400"/>
              </a:spcAft>
            </a:pPr>
            <a:r>
              <a:rPr sz="1500" b="1">
                <a:solidFill>
                  <a:srgbClr val="10B981"/>
                </a:solidFill>
                <a:latin typeface="Arial"/>
              </a:rPr>
              <a:t>The fix</a:t>
            </a:r>
          </a:p>
        </p:txBody>
      </p:sp>
      <p:sp>
        <p:nvSpPr>
          <p:cNvPr id="16" name="Rectangle 15"/>
          <p:cNvSpPr/>
          <p:nvPr/>
        </p:nvSpPr>
        <p:spPr>
          <a:xfrm>
            <a:off x="4596384"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7824" y="2715767"/>
            <a:ext cx="2813304" cy="1042416"/>
          </a:xfrm>
          <a:prstGeom prst="rect">
            <a:avLst/>
          </a:prstGeom>
          <a:noFill/>
        </p:spPr>
        <p:txBody>
          <a:bodyPr wrap="none" lIns="0" rIns="0" tIns="0" bIns="0" anchor="ctr">
            <a:noAutofit/>
          </a:bodyPr>
          <a:lstStyle/>
          <a:p>
            <a:pPr>
              <a:spcAft>
                <a:spcPts val="100"/>
              </a:spcAft>
            </a:pPr>
            <a:r>
              <a:rPr sz="1400">
                <a:solidFill>
                  <a:srgbClr val="9CDCFE"/>
                </a:solidFill>
                <a:latin typeface="Consolas"/>
              </a:rPr>
              <a:t>z = μ + σ ⊙ ε</a:t>
            </a:r>
          </a:p>
          <a:p>
            <a:pPr>
              <a:spcAft>
                <a:spcPts val="100"/>
              </a:spcAft>
            </a:pPr>
            <a:r>
              <a:rPr sz="1400">
                <a:solidFill>
                  <a:srgbClr val="9CDCFE"/>
                </a:solidFill>
                <a:latin typeface="Consolas"/>
              </a:rPr>
              <a:t>ε ~ N(0, 1)</a:t>
            </a:r>
          </a:p>
        </p:txBody>
      </p:sp>
      <p:sp>
        <p:nvSpPr>
          <p:cNvPr id="18" name="TextBox 17"/>
          <p:cNvSpPr txBox="1"/>
          <p:nvPr/>
        </p:nvSpPr>
        <p:spPr>
          <a:xfrm>
            <a:off x="4596384"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Move the randomness outside the path. ε is drawn from a fixed standard normal; μ and σ are ordinary differentiable outputs.</a:t>
            </a:r>
          </a:p>
        </p:txBody>
      </p:sp>
      <p:sp>
        <p:nvSpPr>
          <p:cNvPr id="19" name="Rectangle 18"/>
          <p:cNvSpPr/>
          <p:nvPr/>
        </p:nvSpPr>
        <p:spPr>
          <a:xfrm>
            <a:off x="8049768"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2648" y="2112263"/>
            <a:ext cx="2996184" cy="457200"/>
          </a:xfrm>
          <a:prstGeom prst="rect">
            <a:avLst/>
          </a:prstGeom>
          <a:noFill/>
        </p:spPr>
        <p:txBody>
          <a:bodyPr wrap="square" anchor="t">
            <a:spAutoFit/>
          </a:bodyPr>
          <a:lstStyle/>
          <a:p>
            <a:pPr algn="l">
              <a:spcAft>
                <a:spcPts val="400"/>
              </a:spcAft>
            </a:pPr>
            <a:r>
              <a:rPr sz="1500" b="1">
                <a:solidFill>
                  <a:srgbClr val="7C3AED"/>
                </a:solidFill>
                <a:latin typeface="Arial"/>
              </a:rPr>
              <a:t>Why it works</a:t>
            </a:r>
          </a:p>
        </p:txBody>
      </p:sp>
      <p:sp>
        <p:nvSpPr>
          <p:cNvPr id="22" name="Rectangle 21"/>
          <p:cNvSpPr/>
          <p:nvPr/>
        </p:nvSpPr>
        <p:spPr>
          <a:xfrm>
            <a:off x="8232648"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4088" y="2715767"/>
            <a:ext cx="2813304" cy="1042416"/>
          </a:xfrm>
          <a:prstGeom prst="rect">
            <a:avLst/>
          </a:prstGeom>
          <a:noFill/>
        </p:spPr>
        <p:txBody>
          <a:bodyPr wrap="none" lIns="0" rIns="0" tIns="0" bIns="0" anchor="ctr">
            <a:noAutofit/>
          </a:bodyPr>
          <a:lstStyle/>
          <a:p>
            <a:pPr>
              <a:spcAft>
                <a:spcPts val="100"/>
              </a:spcAft>
            </a:pPr>
            <a:r>
              <a:rPr sz="1400">
                <a:solidFill>
                  <a:srgbClr val="9CDCFE"/>
                </a:solidFill>
                <a:latin typeface="Consolas"/>
              </a:rPr>
              <a:t>∂z/∂μ = 1</a:t>
            </a:r>
          </a:p>
          <a:p>
            <a:pPr>
              <a:spcAft>
                <a:spcPts val="100"/>
              </a:spcAft>
            </a:pPr>
            <a:r>
              <a:rPr sz="1400">
                <a:solidFill>
                  <a:srgbClr val="9CDCFE"/>
                </a:solidFill>
                <a:latin typeface="Consolas"/>
              </a:rPr>
              <a:t>∂z/∂σ = ε</a:t>
            </a:r>
          </a:p>
        </p:txBody>
      </p:sp>
      <p:sp>
        <p:nvSpPr>
          <p:cNvPr id="24" name="TextBox 23"/>
          <p:cNvSpPr txBox="1"/>
          <p:nvPr/>
        </p:nvSpPr>
        <p:spPr>
          <a:xfrm>
            <a:off x="8232648"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The path from encoder to output is now unbroken, so backpropagation reaches the encoder and both halves learn together.</a:t>
            </a:r>
          </a:p>
        </p:txBody>
      </p:sp>
      <p:sp>
        <p:nvSpPr>
          <p:cNvPr id="25" name="TextBox 2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Source: S6 · Multimodal Generative AI in the Enterprise, Ch.5 pp.57–58.</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7C3AED"/>
                </a:solidFill>
                <a:latin typeface="Arial"/>
              </a:rPr>
              <a:t>K1 · ARCHITECTURE 2 OF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Generative Adversarial Network — Two Networks in a Zero-Sum Game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10512"/>
            <a:ext cx="7315200" cy="877824"/>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2331720" cy="8778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1810512"/>
            <a:ext cx="2103120" cy="877824"/>
          </a:xfrm>
          <a:prstGeom prst="rect">
            <a:avLst/>
          </a:prstGeom>
          <a:noFill/>
        </p:spPr>
        <p:txBody>
          <a:bodyPr wrap="square" anchor="ctr">
            <a:spAutoFit/>
          </a:bodyPr>
          <a:lstStyle/>
          <a:p>
            <a:pPr algn="l">
              <a:spcAft>
                <a:spcPts val="400"/>
              </a:spcAft>
            </a:pPr>
            <a:r>
              <a:rPr sz="1250" b="1">
                <a:solidFill>
                  <a:srgbClr val="FFFFFF"/>
                </a:solidFill>
                <a:latin typeface="Arial"/>
              </a:rPr>
              <a:t>GENERATOR G</a:t>
            </a:r>
          </a:p>
        </p:txBody>
      </p:sp>
      <p:sp>
        <p:nvSpPr>
          <p:cNvPr id="10" name="TextBox 9"/>
          <p:cNvSpPr txBox="1"/>
          <p:nvPr/>
        </p:nvSpPr>
        <p:spPr>
          <a:xfrm>
            <a:off x="3291840" y="1810512"/>
            <a:ext cx="4617720" cy="877824"/>
          </a:xfrm>
          <a:prstGeom prst="rect">
            <a:avLst/>
          </a:prstGeom>
          <a:noFill/>
        </p:spPr>
        <p:txBody>
          <a:bodyPr wrap="square" anchor="ctr">
            <a:spAutoFit/>
          </a:bodyPr>
          <a:lstStyle/>
          <a:p>
            <a:pPr algn="l">
              <a:spcAft>
                <a:spcPts val="400"/>
              </a:spcAft>
            </a:pPr>
            <a:r>
              <a:rPr sz="1200" b="0">
                <a:solidFill>
                  <a:srgbClr val="161B26"/>
                </a:solidFill>
                <a:latin typeface="Arial"/>
              </a:rPr>
              <a:t>Takes a random noise vector and transforms it into an image that could plausibly have come from the training set.</a:t>
            </a:r>
          </a:p>
        </p:txBody>
      </p:sp>
      <p:cxnSp>
        <p:nvCxnSpPr>
          <p:cNvPr id="11" name="Connector 10"/>
          <p:cNvCxnSpPr/>
          <p:nvPr/>
        </p:nvCxnSpPr>
        <p:spPr>
          <a:xfrm>
            <a:off x="4434840" y="2688336"/>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77240" y="2889504"/>
            <a:ext cx="7315200" cy="877824"/>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89504"/>
            <a:ext cx="2331720" cy="8778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889504"/>
            <a:ext cx="2103120" cy="877824"/>
          </a:xfrm>
          <a:prstGeom prst="rect">
            <a:avLst/>
          </a:prstGeom>
          <a:noFill/>
        </p:spPr>
        <p:txBody>
          <a:bodyPr wrap="square" anchor="ctr">
            <a:spAutoFit/>
          </a:bodyPr>
          <a:lstStyle/>
          <a:p>
            <a:pPr algn="l">
              <a:spcAft>
                <a:spcPts val="400"/>
              </a:spcAft>
            </a:pPr>
            <a:r>
              <a:rPr sz="1250" b="1">
                <a:solidFill>
                  <a:srgbClr val="FFFFFF"/>
                </a:solidFill>
                <a:latin typeface="Arial"/>
              </a:rPr>
              <a:t>DISCRIMINATOR D</a:t>
            </a:r>
          </a:p>
        </p:txBody>
      </p:sp>
      <p:sp>
        <p:nvSpPr>
          <p:cNvPr id="15" name="TextBox 14"/>
          <p:cNvSpPr txBox="1"/>
          <p:nvPr/>
        </p:nvSpPr>
        <p:spPr>
          <a:xfrm>
            <a:off x="3291840" y="2889504"/>
            <a:ext cx="4617720" cy="877824"/>
          </a:xfrm>
          <a:prstGeom prst="rect">
            <a:avLst/>
          </a:prstGeom>
          <a:noFill/>
        </p:spPr>
        <p:txBody>
          <a:bodyPr wrap="square" anchor="ctr">
            <a:spAutoFit/>
          </a:bodyPr>
          <a:lstStyle/>
          <a:p>
            <a:pPr algn="l">
              <a:spcAft>
                <a:spcPts val="400"/>
              </a:spcAft>
            </a:pPr>
            <a:r>
              <a:rPr sz="1200" b="0">
                <a:solidFill>
                  <a:srgbClr val="161B26"/>
                </a:solidFill>
                <a:latin typeface="Arial"/>
              </a:rPr>
              <a:t>A binary classifier. Outputs a probability: 1 means 'real', 0 means 'fake'.</a:t>
            </a:r>
          </a:p>
        </p:txBody>
      </p:sp>
      <p:cxnSp>
        <p:nvCxnSpPr>
          <p:cNvPr id="16" name="Connector 15"/>
          <p:cNvCxnSpPr/>
          <p:nvPr/>
        </p:nvCxnSpPr>
        <p:spPr>
          <a:xfrm>
            <a:off x="4434840" y="3767328"/>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77240" y="3968496"/>
            <a:ext cx="7315200" cy="877824"/>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968496"/>
            <a:ext cx="2331720" cy="8778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3544" y="3968496"/>
            <a:ext cx="2103120" cy="877824"/>
          </a:xfrm>
          <a:prstGeom prst="rect">
            <a:avLst/>
          </a:prstGeom>
          <a:noFill/>
        </p:spPr>
        <p:txBody>
          <a:bodyPr wrap="square" anchor="ctr">
            <a:spAutoFit/>
          </a:bodyPr>
          <a:lstStyle/>
          <a:p>
            <a:pPr algn="l">
              <a:spcAft>
                <a:spcPts val="400"/>
              </a:spcAft>
            </a:pPr>
            <a:r>
              <a:rPr sz="1250" b="1">
                <a:solidFill>
                  <a:srgbClr val="FFFFFF"/>
                </a:solidFill>
                <a:latin typeface="Arial"/>
              </a:rPr>
              <a:t>ADVERSARIAL LOOP</a:t>
            </a:r>
          </a:p>
        </p:txBody>
      </p:sp>
      <p:sp>
        <p:nvSpPr>
          <p:cNvPr id="20" name="TextBox 19"/>
          <p:cNvSpPr txBox="1"/>
          <p:nvPr/>
        </p:nvSpPr>
        <p:spPr>
          <a:xfrm>
            <a:off x="3291840" y="3968496"/>
            <a:ext cx="4617720" cy="877824"/>
          </a:xfrm>
          <a:prstGeom prst="rect">
            <a:avLst/>
          </a:prstGeom>
          <a:noFill/>
        </p:spPr>
        <p:txBody>
          <a:bodyPr wrap="square" anchor="ctr">
            <a:spAutoFit/>
          </a:bodyPr>
          <a:lstStyle/>
          <a:p>
            <a:pPr algn="l">
              <a:spcAft>
                <a:spcPts val="400"/>
              </a:spcAft>
            </a:pPr>
            <a:r>
              <a:rPr sz="1200" b="0">
                <a:solidFill>
                  <a:srgbClr val="161B26"/>
                </a:solidFill>
                <a:latin typeface="Arial"/>
              </a:rPr>
              <a:t>D is trained to catch fakes; G is trained to fool D. They alternate, and both improve.</a:t>
            </a:r>
          </a:p>
        </p:txBody>
      </p:sp>
      <p:cxnSp>
        <p:nvCxnSpPr>
          <p:cNvPr id="21" name="Connector 20"/>
          <p:cNvCxnSpPr/>
          <p:nvPr/>
        </p:nvCxnSpPr>
        <p:spPr>
          <a:xfrm>
            <a:off x="4434840" y="4846320"/>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 y="5047488"/>
            <a:ext cx="7315200" cy="877824"/>
          </a:xfrm>
          <a:prstGeom prst="roundRect">
            <a:avLst/>
          </a:prstGeom>
          <a:solidFill>
            <a:srgbClr val="F5F8FC"/>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047488"/>
            <a:ext cx="2331720" cy="8778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 y="5047488"/>
            <a:ext cx="2103120" cy="877824"/>
          </a:xfrm>
          <a:prstGeom prst="rect">
            <a:avLst/>
          </a:prstGeom>
          <a:noFill/>
        </p:spPr>
        <p:txBody>
          <a:bodyPr wrap="square" anchor="ctr">
            <a:spAutoFit/>
          </a:bodyPr>
          <a:lstStyle/>
          <a:p>
            <a:pPr algn="l">
              <a:spcAft>
                <a:spcPts val="400"/>
              </a:spcAft>
            </a:pPr>
            <a:r>
              <a:rPr sz="1250" b="1">
                <a:solidFill>
                  <a:srgbClr val="FFFFFF"/>
                </a:solidFill>
                <a:latin typeface="Arial"/>
              </a:rPr>
              <a:t>EQUILIBRIUM</a:t>
            </a:r>
          </a:p>
        </p:txBody>
      </p:sp>
      <p:sp>
        <p:nvSpPr>
          <p:cNvPr id="25" name="TextBox 24"/>
          <p:cNvSpPr txBox="1"/>
          <p:nvPr/>
        </p:nvSpPr>
        <p:spPr>
          <a:xfrm>
            <a:off x="3291840" y="5047488"/>
            <a:ext cx="4617720" cy="877824"/>
          </a:xfrm>
          <a:prstGeom prst="rect">
            <a:avLst/>
          </a:prstGeom>
          <a:noFill/>
        </p:spPr>
        <p:txBody>
          <a:bodyPr wrap="square" anchor="ctr">
            <a:spAutoFit/>
          </a:bodyPr>
          <a:lstStyle/>
          <a:p>
            <a:pPr algn="l">
              <a:spcAft>
                <a:spcPts val="400"/>
              </a:spcAft>
            </a:pPr>
            <a:r>
              <a:rPr sz="1200" b="0">
                <a:solidFill>
                  <a:srgbClr val="161B26"/>
                </a:solidFill>
                <a:latin typeface="Arial"/>
              </a:rPr>
              <a:t>In theory, G's output is so realistic that D is no better than chance. In practice, reaching it is hard.</a:t>
            </a:r>
          </a:p>
        </p:txBody>
      </p:sp>
      <p:sp>
        <p:nvSpPr>
          <p:cNvPr id="26" name="Rectangle 25"/>
          <p:cNvSpPr/>
          <p:nvPr/>
        </p:nvSpPr>
        <p:spPr>
          <a:xfrm>
            <a:off x="8366760" y="1810512"/>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366760" y="1810512"/>
            <a:ext cx="82296" cy="9052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67928" y="1810512"/>
            <a:ext cx="2679192" cy="905256"/>
          </a:xfrm>
          <a:prstGeom prst="rect">
            <a:avLst/>
          </a:prstGeom>
          <a:noFill/>
        </p:spPr>
        <p:txBody>
          <a:bodyPr wrap="square" anchor="ctr">
            <a:spAutoFit/>
          </a:bodyPr>
          <a:lstStyle/>
          <a:p>
            <a:pPr algn="l">
              <a:spcAft>
                <a:spcPts val="200"/>
              </a:spcAft>
            </a:pPr>
            <a:r>
              <a:rPr sz="1200" b="1">
                <a:solidFill>
                  <a:srgbClr val="1F6FEB"/>
                </a:solidFill>
                <a:latin typeface="Arial"/>
              </a:rPr>
              <a:t>Strength</a:t>
            </a:r>
          </a:p>
          <a:p>
            <a:pPr algn="l">
              <a:spcAft>
                <a:spcPts val="200"/>
              </a:spcAft>
            </a:pPr>
            <a:r>
              <a:rPr sz="1100" b="0">
                <a:solidFill>
                  <a:srgbClr val="161B26"/>
                </a:solidFill>
                <a:latin typeface="Arial"/>
              </a:rPr>
              <a:t>Sharp, high-fidelity images — far better than a VAE at the same size.</a:t>
            </a:r>
          </a:p>
        </p:txBody>
      </p:sp>
      <p:sp>
        <p:nvSpPr>
          <p:cNvPr id="29" name="Rectangle 28"/>
          <p:cNvSpPr/>
          <p:nvPr/>
        </p:nvSpPr>
        <p:spPr>
          <a:xfrm>
            <a:off x="8366760" y="2880360"/>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66760" y="2880360"/>
            <a:ext cx="82296" cy="9052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67928" y="2880360"/>
            <a:ext cx="2679192" cy="905256"/>
          </a:xfrm>
          <a:prstGeom prst="rect">
            <a:avLst/>
          </a:prstGeom>
          <a:noFill/>
        </p:spPr>
        <p:txBody>
          <a:bodyPr wrap="square" anchor="ctr">
            <a:spAutoFit/>
          </a:bodyPr>
          <a:lstStyle/>
          <a:p>
            <a:pPr algn="l">
              <a:spcAft>
                <a:spcPts val="200"/>
              </a:spcAft>
            </a:pPr>
            <a:r>
              <a:rPr sz="1200" b="1">
                <a:solidFill>
                  <a:srgbClr val="10B981"/>
                </a:solidFill>
                <a:latin typeface="Arial"/>
              </a:rPr>
              <a:t>Weakness</a:t>
            </a:r>
          </a:p>
          <a:p>
            <a:pPr algn="l">
              <a:spcAft>
                <a:spcPts val="200"/>
              </a:spcAft>
            </a:pPr>
            <a:r>
              <a:rPr sz="1100" b="0">
                <a:solidFill>
                  <a:srgbClr val="161B26"/>
                </a:solidFill>
                <a:latin typeface="Arial"/>
              </a:rPr>
              <a:t>Training is notoriously unstable and hard to balance.</a:t>
            </a:r>
          </a:p>
        </p:txBody>
      </p:sp>
      <p:sp>
        <p:nvSpPr>
          <p:cNvPr id="32" name="Rectangle 31"/>
          <p:cNvSpPr/>
          <p:nvPr/>
        </p:nvSpPr>
        <p:spPr>
          <a:xfrm>
            <a:off x="8366760" y="3950208"/>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366760" y="3950208"/>
            <a:ext cx="82296" cy="9052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67928" y="3950208"/>
            <a:ext cx="2679192" cy="905256"/>
          </a:xfrm>
          <a:prstGeom prst="rect">
            <a:avLst/>
          </a:prstGeom>
          <a:noFill/>
        </p:spPr>
        <p:txBody>
          <a:bodyPr wrap="square" anchor="ctr">
            <a:spAutoFit/>
          </a:bodyPr>
          <a:lstStyle/>
          <a:p>
            <a:pPr algn="l">
              <a:spcAft>
                <a:spcPts val="200"/>
              </a:spcAft>
            </a:pPr>
            <a:r>
              <a:rPr sz="1200" b="1">
                <a:solidFill>
                  <a:srgbClr val="7C3AED"/>
                </a:solidFill>
                <a:latin typeface="Arial"/>
              </a:rPr>
              <a:t>Signature failure</a:t>
            </a:r>
          </a:p>
          <a:p>
            <a:pPr algn="l">
              <a:spcAft>
                <a:spcPts val="200"/>
              </a:spcAft>
            </a:pPr>
            <a:r>
              <a:rPr sz="1100" b="0">
                <a:solidFill>
                  <a:srgbClr val="161B26"/>
                </a:solidFill>
                <a:latin typeface="Arial"/>
              </a:rPr>
              <a:t>Mode collapse: G finds a few outputs that fool D and stops producing variety.</a:t>
            </a:r>
          </a:p>
        </p:txBody>
      </p:sp>
      <p:sp>
        <p:nvSpPr>
          <p:cNvPr id="35" name="Rectangle 34"/>
          <p:cNvSpPr/>
          <p:nvPr/>
        </p:nvSpPr>
        <p:spPr>
          <a:xfrm>
            <a:off x="8366760" y="5020056"/>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366760" y="5020056"/>
            <a:ext cx="82296" cy="9052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67928" y="5020056"/>
            <a:ext cx="2679192" cy="905256"/>
          </a:xfrm>
          <a:prstGeom prst="rect">
            <a:avLst/>
          </a:prstGeom>
          <a:noFill/>
        </p:spPr>
        <p:txBody>
          <a:bodyPr wrap="square" anchor="ctr">
            <a:spAutoFit/>
          </a:bodyPr>
          <a:lstStyle/>
          <a:p>
            <a:pPr algn="l">
              <a:spcAft>
                <a:spcPts val="200"/>
              </a:spcAft>
            </a:pPr>
            <a:r>
              <a:rPr sz="1200" b="1">
                <a:solidFill>
                  <a:srgbClr val="F59E0B"/>
                </a:solidFill>
                <a:latin typeface="Arial"/>
              </a:rPr>
              <a:t>Cited</a:t>
            </a:r>
          </a:p>
          <a:p>
            <a:pPr algn="l">
              <a:spcAft>
                <a:spcPts val="200"/>
              </a:spcAft>
            </a:pPr>
            <a:r>
              <a:rPr sz="1100" b="0">
                <a:solidFill>
                  <a:srgbClr val="161B26"/>
                </a:solidFill>
                <a:latin typeface="Arial"/>
              </a:rPr>
              <a:t>S6 · Multimodal Generative AI, Ch.5 pp.59–60</a:t>
            </a:r>
          </a:p>
        </p:txBody>
      </p:sp>
      <p:sp>
        <p:nvSpPr>
          <p:cNvPr id="38" name="TextBox 37"/>
          <p:cNvSpPr txBox="1"/>
          <p:nvPr/>
        </p:nvSpPr>
        <p:spPr>
          <a:xfrm>
            <a:off x="777240" y="5989320"/>
            <a:ext cx="10634472" cy="457200"/>
          </a:xfrm>
          <a:prstGeom prst="rect">
            <a:avLst/>
          </a:prstGeom>
          <a:noFill/>
        </p:spPr>
        <p:txBody>
          <a:bodyPr wrap="square" anchor="ctr">
            <a:spAutoFit/>
          </a:bodyPr>
          <a:lstStyle/>
          <a:p>
            <a:pPr algn="ctr">
              <a:spcAft>
                <a:spcPts val="400"/>
              </a:spcAft>
            </a:pPr>
            <a:r>
              <a:rPr sz="1250" b="0">
                <a:solidFill>
                  <a:srgbClr val="5B6372"/>
                </a:solidFill>
                <a:latin typeface="Arial"/>
              </a:rPr>
              <a:t>Introduced by Goodfellow et al. in 2014. Still the right choice where single-pass sampling speed matters more than diversity.</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 · THE FAILURE THAT DEFINES GAN PRACTICE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Mode Collapse — What It Looks Like and Why It Happens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DC2626"/>
                </a:solidFill>
                <a:latin typeface="Arial"/>
              </a:rPr>
              <a:t>Symptom</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F59E0B"/>
                </a:solidFill>
                <a:latin typeface="Arial"/>
              </a:rPr>
              <a:t>Mechanism</a:t>
            </a:r>
          </a:p>
        </p:txBody>
      </p:sp>
      <p:sp>
        <p:nvSpPr>
          <p:cNvPr id="13" name="TextBox 12"/>
          <p:cNvSpPr txBox="1"/>
          <p:nvPr/>
        </p:nvSpPr>
        <p:spPr>
          <a:xfrm>
            <a:off x="1005840" y="2423160"/>
            <a:ext cx="4754880" cy="3017520"/>
          </a:xfrm>
          <a:prstGeom prst="rect">
            <a:avLst/>
          </a:prstGeom>
          <a:noFill/>
        </p:spPr>
        <p:txBody>
          <a:bodyPr wrap="square">
            <a:spAutoFit/>
          </a:bodyPr>
          <a:lstStyle/>
          <a:p>
            <a:pPr>
              <a:spcAft>
                <a:spcPts val="800"/>
              </a:spcAft>
            </a:pPr>
            <a:r>
              <a:rPr sz="1300" b="1">
                <a:solidFill>
                  <a:srgbClr val="161B26"/>
                </a:solidFill>
                <a:latin typeface="Arial"/>
              </a:rPr>
              <a:t>•  What you see</a:t>
            </a:r>
          </a:p>
          <a:p>
            <a:pPr>
              <a:spcAft>
                <a:spcPts val="800"/>
              </a:spcAft>
            </a:pPr>
            <a:r>
              <a:rPr sz="1100" b="0">
                <a:solidFill>
                  <a:srgbClr val="5B6372"/>
                </a:solidFill>
                <a:latin typeface="Arial"/>
              </a:rPr>
              <a:t>–  Every sample looks like a handful of near-identical images.</a:t>
            </a:r>
          </a:p>
          <a:p>
            <a:pPr>
              <a:spcAft>
                <a:spcPts val="800"/>
              </a:spcAft>
            </a:pPr>
            <a:r>
              <a:rPr sz="1100" b="0">
                <a:solidFill>
                  <a:srgbClr val="5B6372"/>
                </a:solidFill>
                <a:latin typeface="Arial"/>
              </a:rPr>
              <a:t>–  Variety collapses even though quality stays high.</a:t>
            </a:r>
          </a:p>
          <a:p>
            <a:pPr>
              <a:spcAft>
                <a:spcPts val="800"/>
              </a:spcAft>
            </a:pPr>
            <a:r>
              <a:rPr sz="1100" b="0">
                <a:solidFill>
                  <a:srgbClr val="5B6372"/>
                </a:solidFill>
                <a:latin typeface="Arial"/>
              </a:rPr>
              <a:t>–  Example: the generator discovers that dark-haired faces are reliably scored 'real', and stops producing any other hair colour.</a:t>
            </a:r>
          </a:p>
          <a:p>
            <a:pPr>
              <a:spcAft>
                <a:spcPts val="800"/>
              </a:spcAft>
            </a:pPr>
            <a:r>
              <a:rPr sz="1100" b="0">
                <a:solidFill>
                  <a:srgbClr val="5B6372"/>
                </a:solidFill>
                <a:latin typeface="Arial"/>
              </a:rPr>
              <a:t>–  Sample-quality metrics such as FID can still look acceptable.</a:t>
            </a:r>
          </a:p>
        </p:txBody>
      </p:sp>
      <p:sp>
        <p:nvSpPr>
          <p:cNvPr id="14" name="TextBox 13"/>
          <p:cNvSpPr txBox="1"/>
          <p:nvPr/>
        </p:nvSpPr>
        <p:spPr>
          <a:xfrm>
            <a:off x="6583680" y="2423160"/>
            <a:ext cx="4617720" cy="3017520"/>
          </a:xfrm>
          <a:prstGeom prst="rect">
            <a:avLst/>
          </a:prstGeom>
          <a:noFill/>
        </p:spPr>
        <p:txBody>
          <a:bodyPr wrap="square">
            <a:spAutoFit/>
          </a:bodyPr>
          <a:lstStyle/>
          <a:p>
            <a:pPr>
              <a:spcAft>
                <a:spcPts val="800"/>
              </a:spcAft>
            </a:pPr>
            <a:r>
              <a:rPr sz="1300" b="1">
                <a:solidFill>
                  <a:srgbClr val="161B26"/>
                </a:solidFill>
                <a:latin typeface="Arial"/>
              </a:rPr>
              <a:t>•  Why it happens</a:t>
            </a:r>
          </a:p>
          <a:p>
            <a:pPr>
              <a:spcAft>
                <a:spcPts val="800"/>
              </a:spcAft>
            </a:pPr>
            <a:r>
              <a:rPr sz="1100" b="0">
                <a:solidFill>
                  <a:srgbClr val="5B6372"/>
                </a:solidFill>
                <a:latin typeface="Arial"/>
              </a:rPr>
              <a:t>–  G is rewarded for fooling D, not for covering the data distribution.</a:t>
            </a:r>
          </a:p>
          <a:p>
            <a:pPr>
              <a:spcAft>
                <a:spcPts val="800"/>
              </a:spcAft>
            </a:pPr>
            <a:r>
              <a:rPr sz="1100" b="0">
                <a:solidFill>
                  <a:srgbClr val="5B6372"/>
                </a:solidFill>
                <a:latin typeface="Arial"/>
              </a:rPr>
              <a:t>–  A narrow set of outputs that reliably fools D is a local optimum.</a:t>
            </a:r>
          </a:p>
          <a:p>
            <a:pPr>
              <a:spcAft>
                <a:spcPts val="800"/>
              </a:spcAft>
            </a:pPr>
            <a:r>
              <a:rPr sz="1100" b="0">
                <a:solidFill>
                  <a:srgbClr val="5B6372"/>
                </a:solidFill>
                <a:latin typeface="Arial"/>
              </a:rPr>
              <a:t>–  The adversarial signal is indirect: G only learns whether D was fooled by the whole sample.</a:t>
            </a:r>
          </a:p>
          <a:p>
            <a:pPr>
              <a:spcAft>
                <a:spcPts val="800"/>
              </a:spcAft>
            </a:pPr>
            <a:r>
              <a:rPr sz="1100" b="0">
                <a:solidFill>
                  <a:srgbClr val="5B6372"/>
                </a:solidFill>
                <a:latin typeface="Arial"/>
              </a:rPr>
              <a:t>–  This is exactly why precision-and-recall metrics for generators exist — they detect mode dropping when FID does not.</a:t>
            </a:r>
          </a:p>
        </p:txBody>
      </p:sp>
      <p:sp>
        <p:nvSpPr>
          <p:cNvPr id="15" name="TextBox 14"/>
          <p:cNvSpPr txBox="1"/>
          <p:nvPr/>
        </p:nvSpPr>
        <p:spPr>
          <a:xfrm>
            <a:off x="777240" y="5669280"/>
            <a:ext cx="10698480" cy="640080"/>
          </a:xfrm>
          <a:prstGeom prst="rect">
            <a:avLst/>
          </a:prstGeom>
          <a:noFill/>
        </p:spPr>
        <p:txBody>
          <a:bodyPr wrap="square" anchor="ctr">
            <a:spAutoFit/>
          </a:bodyPr>
          <a:lstStyle/>
          <a:p>
            <a:pPr algn="ctr">
              <a:spcAft>
                <a:spcPts val="400"/>
              </a:spcAft>
            </a:pPr>
            <a:r>
              <a:rPr sz="1250" b="0">
                <a:solidFill>
                  <a:srgbClr val="5B6372"/>
                </a:solidFill>
                <a:latin typeface="Arial"/>
              </a:rPr>
              <a:t>Sources: S6 Ch.5 p.60 (mode collapse); S17 Ch.7 pp.96–97 (precision and recall for generators detect mode dropping even when FID is similar).</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7C3AED"/>
                </a:solidFill>
                <a:latin typeface="Arial"/>
              </a:rPr>
              <a:t>K1 · ARCHITECTURE 3 OF 3 · THE CURRENT STATE OF THE ART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Diffusion — Forward Corruption, Reverse Generation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907438" cy="2606040"/>
          </a:xfrm>
          <a:prstGeom prst="round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907438" cy="3840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FORWARD (FIXED)</a:t>
            </a:r>
          </a:p>
        </p:txBody>
      </p:sp>
      <p:sp>
        <p:nvSpPr>
          <p:cNvPr id="10" name="TextBox 9"/>
          <p:cNvSpPr txBox="1"/>
          <p:nvPr/>
        </p:nvSpPr>
        <p:spPr>
          <a:xfrm>
            <a:off x="923544"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Add a small amount of Gaussian noise, repeatedly, as a Markov chain. No learning happens here at all — it is a known, fixed procedure.</a:t>
            </a:r>
          </a:p>
        </p:txBody>
      </p:sp>
      <p:cxnSp>
        <p:nvCxnSpPr>
          <p:cNvPr id="11" name="Connector 10"/>
          <p:cNvCxnSpPr/>
          <p:nvPr/>
        </p:nvCxnSpPr>
        <p:spPr>
          <a:xfrm>
            <a:off x="2684678" y="3451860"/>
            <a:ext cx="274320" cy="0"/>
          </a:xfrm>
          <a:prstGeom prst="line">
            <a:avLst/>
          </a:prstGeom>
          <a:ln w="2222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58998" y="2148840"/>
            <a:ext cx="1907438" cy="2606040"/>
          </a:xfrm>
          <a:prstGeom prst="roundRect">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148840"/>
            <a:ext cx="1907438"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58998"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AFTER T STEPS</a:t>
            </a:r>
          </a:p>
        </p:txBody>
      </p:sp>
      <p:sp>
        <p:nvSpPr>
          <p:cNvPr id="15" name="TextBox 14"/>
          <p:cNvSpPr txBox="1"/>
          <p:nvPr/>
        </p:nvSpPr>
        <p:spPr>
          <a:xfrm>
            <a:off x="3105302"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The image has become indistinguishable from pure noise. Every intermediate state was recorded.</a:t>
            </a:r>
          </a:p>
        </p:txBody>
      </p:sp>
      <p:cxnSp>
        <p:nvCxnSpPr>
          <p:cNvPr id="16" name="Connector 15"/>
          <p:cNvCxnSpPr/>
          <p:nvPr/>
        </p:nvCxnSpPr>
        <p:spPr>
          <a:xfrm>
            <a:off x="4866436" y="3451860"/>
            <a:ext cx="274320" cy="0"/>
          </a:xfrm>
          <a:prstGeom prst="line">
            <a:avLst/>
          </a:prstGeom>
          <a:ln w="2222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40756" y="2148840"/>
            <a:ext cx="1907438" cy="2606040"/>
          </a:xfrm>
          <a:prstGeom prst="roundRect">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40756" y="2148840"/>
            <a:ext cx="1907438"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40756"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TRAIN</a:t>
            </a:r>
          </a:p>
        </p:txBody>
      </p:sp>
      <p:sp>
        <p:nvSpPr>
          <p:cNvPr id="20" name="TextBox 19"/>
          <p:cNvSpPr txBox="1"/>
          <p:nvPr/>
        </p:nvSpPr>
        <p:spPr>
          <a:xfrm>
            <a:off x="5287060"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Show the network a noisy state and its timestep; train it to predict the noise that was added. One clear, stable objective.</a:t>
            </a:r>
          </a:p>
        </p:txBody>
      </p:sp>
      <p:cxnSp>
        <p:nvCxnSpPr>
          <p:cNvPr id="21" name="Connector 20"/>
          <p:cNvCxnSpPr/>
          <p:nvPr/>
        </p:nvCxnSpPr>
        <p:spPr>
          <a:xfrm>
            <a:off x="7048194" y="3451860"/>
            <a:ext cx="274320" cy="0"/>
          </a:xfrm>
          <a:prstGeom prst="line">
            <a:avLst/>
          </a:prstGeom>
          <a:ln w="2222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322514" y="2148840"/>
            <a:ext cx="1907438" cy="2606040"/>
          </a:xfrm>
          <a:prstGeom prst="roundRect">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22514" y="2148840"/>
            <a:ext cx="1907438"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22514"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REVERSE (LEARNED)</a:t>
            </a:r>
          </a:p>
        </p:txBody>
      </p:sp>
      <p:sp>
        <p:nvSpPr>
          <p:cNvPr id="25" name="TextBox 24"/>
          <p:cNvSpPr txBox="1"/>
          <p:nvPr/>
        </p:nvSpPr>
        <p:spPr>
          <a:xfrm>
            <a:off x="7468818"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Start from pure noise. Predict the noise, subtract a step's worth, repeat. Each step makes the image slightly cleaner.</a:t>
            </a:r>
          </a:p>
        </p:txBody>
      </p:sp>
      <p:cxnSp>
        <p:nvCxnSpPr>
          <p:cNvPr id="26" name="Connector 25"/>
          <p:cNvCxnSpPr/>
          <p:nvPr/>
        </p:nvCxnSpPr>
        <p:spPr>
          <a:xfrm>
            <a:off x="9229952" y="3451860"/>
            <a:ext cx="274320" cy="0"/>
          </a:xfrm>
          <a:prstGeom prst="line">
            <a:avLst/>
          </a:prstGeom>
          <a:ln w="2222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504272" y="2148840"/>
            <a:ext cx="1907438" cy="2606040"/>
          </a:xfrm>
          <a:prstGeom prst="round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04272" y="2148840"/>
            <a:ext cx="1907438" cy="3840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4272"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SAMPLE</a:t>
            </a:r>
          </a:p>
        </p:txBody>
      </p:sp>
      <p:sp>
        <p:nvSpPr>
          <p:cNvPr id="30" name="TextBox 29"/>
          <p:cNvSpPr txBox="1"/>
          <p:nvPr/>
        </p:nvSpPr>
        <p:spPr>
          <a:xfrm>
            <a:off x="9650576"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After S steps a coherent image emerges that was never in the training set.</a:t>
            </a:r>
          </a:p>
        </p:txBody>
      </p:sp>
      <p:sp>
        <p:nvSpPr>
          <p:cNvPr id="31" name="Rectangle 30"/>
          <p:cNvSpPr/>
          <p:nvPr/>
        </p:nvSpPr>
        <p:spPr>
          <a:xfrm>
            <a:off x="777240" y="5120640"/>
            <a:ext cx="10634472"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5120640"/>
            <a:ext cx="10241280" cy="914400"/>
          </a:xfrm>
          <a:prstGeom prst="rect">
            <a:avLst/>
          </a:prstGeom>
          <a:noFill/>
        </p:spPr>
        <p:txBody>
          <a:bodyPr wrap="square" anchor="ctr">
            <a:spAutoFit/>
          </a:bodyPr>
          <a:lstStyle/>
          <a:p>
            <a:pPr algn="l">
              <a:spcAft>
                <a:spcPts val="400"/>
              </a:spcAft>
            </a:pPr>
            <a:r>
              <a:rPr sz="1150" b="1">
                <a:solidFill>
                  <a:srgbClr val="127A3E"/>
                </a:solidFill>
                <a:latin typeface="Arial"/>
              </a:rPr>
              <a:t>SO WHAT   </a:t>
            </a:r>
            <a:r>
              <a:rPr sz="1300" b="0">
                <a:solidFill>
                  <a:srgbClr val="161B26"/>
                </a:solidFill>
                <a:latin typeface="Arial"/>
              </a:rPr>
              <a:t>The training objective is direct and stable at every step — predict the noise — which is why diffusion scales where GANs did not. The price is inference speed: you must walk back through every step.</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7C3AED"/>
                </a:solidFill>
                <a:latin typeface="Arial"/>
              </a:rPr>
              <a:t>K1, K8 · WHY DIFFUSION IS SLOW AND WHY IT IS STABLE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Diffusion Objective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12263"/>
            <a:ext cx="2996184" cy="457200"/>
          </a:xfrm>
          <a:prstGeom prst="rect">
            <a:avLst/>
          </a:prstGeom>
          <a:noFill/>
        </p:spPr>
        <p:txBody>
          <a:bodyPr wrap="square" anchor="t">
            <a:spAutoFit/>
          </a:bodyPr>
          <a:lstStyle/>
          <a:p>
            <a:pPr algn="l">
              <a:spcAft>
                <a:spcPts val="400"/>
              </a:spcAft>
            </a:pPr>
            <a:r>
              <a:rPr sz="1500" b="1">
                <a:solidFill>
                  <a:srgbClr val="1F6FEB"/>
                </a:solidFill>
                <a:latin typeface="Arial"/>
              </a:rPr>
              <a:t>Forward step</a:t>
            </a:r>
          </a:p>
        </p:txBody>
      </p:sp>
      <p:sp>
        <p:nvSpPr>
          <p:cNvPr id="10" name="Rectangle 9"/>
          <p:cNvSpPr/>
          <p:nvPr/>
        </p:nvSpPr>
        <p:spPr>
          <a:xfrm>
            <a:off x="960120" y="2715767"/>
            <a:ext cx="2996184" cy="6766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15767"/>
            <a:ext cx="2813304" cy="676656"/>
          </a:xfrm>
          <a:prstGeom prst="rect">
            <a:avLst/>
          </a:prstGeom>
          <a:noFill/>
        </p:spPr>
        <p:txBody>
          <a:bodyPr wrap="none" lIns="0" rIns="0" tIns="0" bIns="0" anchor="ctr">
            <a:noAutofit/>
          </a:bodyPr>
          <a:lstStyle/>
          <a:p>
            <a:pPr>
              <a:spcAft>
                <a:spcPts val="100"/>
              </a:spcAft>
            </a:pPr>
            <a:r>
              <a:rPr sz="1260">
                <a:solidFill>
                  <a:srgbClr val="9CDCFE"/>
                </a:solidFill>
                <a:latin typeface="Consolas"/>
              </a:rPr>
              <a:t>x_t = √(ᾱ_t)·x₀ + √(1−ᾱ_t)·ε</a:t>
            </a:r>
          </a:p>
        </p:txBody>
      </p:sp>
      <p:sp>
        <p:nvSpPr>
          <p:cNvPr id="12" name="TextBox 11"/>
          <p:cNvSpPr txBox="1"/>
          <p:nvPr/>
        </p:nvSpPr>
        <p:spPr>
          <a:xfrm>
            <a:off x="960120" y="3502151"/>
            <a:ext cx="2996184" cy="1856232"/>
          </a:xfrm>
          <a:prstGeom prst="rect">
            <a:avLst/>
          </a:prstGeom>
          <a:noFill/>
        </p:spPr>
        <p:txBody>
          <a:bodyPr wrap="square" anchor="t">
            <a:spAutoFit/>
          </a:bodyPr>
          <a:lstStyle/>
          <a:p>
            <a:pPr algn="l">
              <a:spcAft>
                <a:spcPts val="400"/>
              </a:spcAft>
            </a:pPr>
            <a:r>
              <a:rPr sz="1200" b="0">
                <a:solidFill>
                  <a:srgbClr val="5B6372"/>
                </a:solidFill>
                <a:latin typeface="Arial"/>
              </a:rPr>
              <a:t>Any noisy state can be produced directly from the clean image and a noise draw, so training does not have to simulate the whole chain.</a:t>
            </a:r>
          </a:p>
        </p:txBody>
      </p:sp>
      <p:sp>
        <p:nvSpPr>
          <p:cNvPr id="13" name="Rectangle 12"/>
          <p:cNvSpPr/>
          <p:nvPr/>
        </p:nvSpPr>
        <p:spPr>
          <a:xfrm>
            <a:off x="4413504"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6384" y="2112263"/>
            <a:ext cx="2996184" cy="457200"/>
          </a:xfrm>
          <a:prstGeom prst="rect">
            <a:avLst/>
          </a:prstGeom>
          <a:noFill/>
        </p:spPr>
        <p:txBody>
          <a:bodyPr wrap="square" anchor="t">
            <a:spAutoFit/>
          </a:bodyPr>
          <a:lstStyle/>
          <a:p>
            <a:pPr algn="l">
              <a:spcAft>
                <a:spcPts val="400"/>
              </a:spcAft>
            </a:pPr>
            <a:r>
              <a:rPr sz="1500" b="1">
                <a:solidFill>
                  <a:srgbClr val="10B981"/>
                </a:solidFill>
                <a:latin typeface="Arial"/>
              </a:rPr>
              <a:t>Training loss</a:t>
            </a:r>
          </a:p>
        </p:txBody>
      </p:sp>
      <p:sp>
        <p:nvSpPr>
          <p:cNvPr id="16" name="Rectangle 15"/>
          <p:cNvSpPr/>
          <p:nvPr/>
        </p:nvSpPr>
        <p:spPr>
          <a:xfrm>
            <a:off x="4596384" y="2715767"/>
            <a:ext cx="2996184" cy="6766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7824" y="2715767"/>
            <a:ext cx="2813304" cy="676656"/>
          </a:xfrm>
          <a:prstGeom prst="rect">
            <a:avLst/>
          </a:prstGeom>
          <a:noFill/>
        </p:spPr>
        <p:txBody>
          <a:bodyPr wrap="none" lIns="0" rIns="0" tIns="0" bIns="0" anchor="ctr">
            <a:noAutofit/>
          </a:bodyPr>
          <a:lstStyle/>
          <a:p>
            <a:pPr>
              <a:spcAft>
                <a:spcPts val="100"/>
              </a:spcAft>
            </a:pPr>
            <a:r>
              <a:rPr sz="980">
                <a:solidFill>
                  <a:srgbClr val="9CDCFE"/>
                </a:solidFill>
                <a:latin typeface="Consolas"/>
              </a:rPr>
              <a:t>L = E[ λ_t · ‖ε − ε_θ(x_t, t, c)‖² ]</a:t>
            </a:r>
          </a:p>
        </p:txBody>
      </p:sp>
      <p:sp>
        <p:nvSpPr>
          <p:cNvPr id="18" name="TextBox 17"/>
          <p:cNvSpPr txBox="1"/>
          <p:nvPr/>
        </p:nvSpPr>
        <p:spPr>
          <a:xfrm>
            <a:off x="4596384" y="3502151"/>
            <a:ext cx="2996184" cy="1856232"/>
          </a:xfrm>
          <a:prstGeom prst="rect">
            <a:avLst/>
          </a:prstGeom>
          <a:noFill/>
        </p:spPr>
        <p:txBody>
          <a:bodyPr wrap="square" anchor="t">
            <a:spAutoFit/>
          </a:bodyPr>
          <a:lstStyle/>
          <a:p>
            <a:pPr algn="l">
              <a:spcAft>
                <a:spcPts val="400"/>
              </a:spcAft>
            </a:pPr>
            <a:r>
              <a:rPr sz="1200" b="0">
                <a:solidFill>
                  <a:srgbClr val="5B6372"/>
                </a:solidFill>
                <a:latin typeface="Arial"/>
              </a:rPr>
              <a:t>Predict the noise ε that was added, given the noisy image, the timestep t and the condition c. A plain regression — that is the whole objective.</a:t>
            </a:r>
          </a:p>
        </p:txBody>
      </p:sp>
      <p:sp>
        <p:nvSpPr>
          <p:cNvPr id="19" name="Rectangle 18"/>
          <p:cNvSpPr/>
          <p:nvPr/>
        </p:nvSpPr>
        <p:spPr>
          <a:xfrm>
            <a:off x="8049768"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2648" y="2112263"/>
            <a:ext cx="2996184" cy="457200"/>
          </a:xfrm>
          <a:prstGeom prst="rect">
            <a:avLst/>
          </a:prstGeom>
          <a:noFill/>
        </p:spPr>
        <p:txBody>
          <a:bodyPr wrap="square" anchor="t">
            <a:spAutoFit/>
          </a:bodyPr>
          <a:lstStyle/>
          <a:p>
            <a:pPr algn="l">
              <a:spcAft>
                <a:spcPts val="400"/>
              </a:spcAft>
            </a:pPr>
            <a:r>
              <a:rPr sz="1500" b="1">
                <a:solidFill>
                  <a:srgbClr val="7C3AED"/>
                </a:solidFill>
                <a:latin typeface="Arial"/>
              </a:rPr>
              <a:t>Sampling cost</a:t>
            </a:r>
          </a:p>
        </p:txBody>
      </p:sp>
      <p:sp>
        <p:nvSpPr>
          <p:cNvPr id="22" name="Rectangle 21"/>
          <p:cNvSpPr/>
          <p:nvPr/>
        </p:nvSpPr>
        <p:spPr>
          <a:xfrm>
            <a:off x="8232648"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4088" y="2715767"/>
            <a:ext cx="2813304" cy="1042416"/>
          </a:xfrm>
          <a:prstGeom prst="rect">
            <a:avLst/>
          </a:prstGeom>
          <a:noFill/>
        </p:spPr>
        <p:txBody>
          <a:bodyPr wrap="none" lIns="0" rIns="0" tIns="0" bIns="0" anchor="ctr">
            <a:noAutofit/>
          </a:bodyPr>
          <a:lstStyle/>
          <a:p>
            <a:pPr>
              <a:spcAft>
                <a:spcPts val="100"/>
              </a:spcAft>
            </a:pPr>
            <a:r>
              <a:rPr sz="1400">
                <a:solidFill>
                  <a:srgbClr val="9CDCFE"/>
                </a:solidFill>
                <a:latin typeface="Consolas"/>
              </a:rPr>
              <a:t>lat ∝ S          (image)</a:t>
            </a:r>
          </a:p>
          <a:p>
            <a:pPr>
              <a:spcAft>
                <a:spcPts val="100"/>
              </a:spcAft>
            </a:pPr>
            <a:r>
              <a:rPr sz="1400">
                <a:solidFill>
                  <a:srgbClr val="9CDCFE"/>
                </a:solidFill>
                <a:latin typeface="Consolas"/>
              </a:rPr>
              <a:t>lat ∝ S · F      (video)</a:t>
            </a:r>
          </a:p>
        </p:txBody>
      </p:sp>
      <p:sp>
        <p:nvSpPr>
          <p:cNvPr id="24" name="TextBox 23"/>
          <p:cNvSpPr txBox="1"/>
          <p:nvPr/>
        </p:nvSpPr>
        <p:spPr>
          <a:xfrm>
            <a:off x="8232648"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S denoising steps for an image; S x F for F video frames. This single relationship drives the whole cloud-versus-edge argument in Topic 05.</a:t>
            </a:r>
          </a:p>
        </p:txBody>
      </p:sp>
      <p:sp>
        <p:nvSpPr>
          <p:cNvPr id="25" name="TextBox 2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Sources: S17 Ch.7 pp.96, 101 (objective); S18 Ch.7 pp.98–99 (latency proportional to S, and to S x F for video).</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 · PUBLISHED COMPARISON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Comparing the Three Architectures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020549" cy="7010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1837669" cy="701040"/>
          </a:xfrm>
          <a:prstGeom prst="rect">
            <a:avLst/>
          </a:prstGeom>
          <a:noFill/>
        </p:spPr>
        <p:txBody>
          <a:bodyPr wrap="square" anchor="ctr">
            <a:spAutoFit/>
          </a:bodyPr>
          <a:lstStyle/>
          <a:p>
            <a:pPr algn="l">
              <a:spcAft>
                <a:spcPts val="400"/>
              </a:spcAft>
            </a:pPr>
            <a:r>
              <a:rPr sz="1100" b="1">
                <a:solidFill>
                  <a:srgbClr val="FFFFFF"/>
                </a:solidFill>
                <a:latin typeface="Arial"/>
              </a:rPr>
              <a:t>Property</a:t>
            </a:r>
          </a:p>
        </p:txBody>
      </p:sp>
      <p:sp>
        <p:nvSpPr>
          <p:cNvPr id="9" name="Rectangle 8"/>
          <p:cNvSpPr/>
          <p:nvPr/>
        </p:nvSpPr>
        <p:spPr>
          <a:xfrm>
            <a:off x="2797789" y="1783080"/>
            <a:ext cx="2871307" cy="7010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07517" y="1783080"/>
            <a:ext cx="2688427" cy="701040"/>
          </a:xfrm>
          <a:prstGeom prst="rect">
            <a:avLst/>
          </a:prstGeom>
          <a:noFill/>
        </p:spPr>
        <p:txBody>
          <a:bodyPr wrap="square" anchor="ctr">
            <a:spAutoFit/>
          </a:bodyPr>
          <a:lstStyle/>
          <a:p>
            <a:pPr algn="l">
              <a:spcAft>
                <a:spcPts val="400"/>
              </a:spcAft>
            </a:pPr>
            <a:r>
              <a:rPr sz="1100" b="1">
                <a:solidFill>
                  <a:srgbClr val="FFFFFF"/>
                </a:solidFill>
                <a:latin typeface="Arial"/>
              </a:rPr>
              <a:t>VAE</a:t>
            </a:r>
          </a:p>
        </p:txBody>
      </p:sp>
      <p:sp>
        <p:nvSpPr>
          <p:cNvPr id="11" name="Rectangle 10"/>
          <p:cNvSpPr/>
          <p:nvPr/>
        </p:nvSpPr>
        <p:spPr>
          <a:xfrm>
            <a:off x="5669096" y="1783080"/>
            <a:ext cx="2871307" cy="7010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78824" y="1783080"/>
            <a:ext cx="2688427" cy="701040"/>
          </a:xfrm>
          <a:prstGeom prst="rect">
            <a:avLst/>
          </a:prstGeom>
          <a:noFill/>
        </p:spPr>
        <p:txBody>
          <a:bodyPr wrap="square" anchor="ctr">
            <a:spAutoFit/>
          </a:bodyPr>
          <a:lstStyle/>
          <a:p>
            <a:pPr algn="l">
              <a:spcAft>
                <a:spcPts val="400"/>
              </a:spcAft>
            </a:pPr>
            <a:r>
              <a:rPr sz="1100" b="1">
                <a:solidFill>
                  <a:srgbClr val="FFFFFF"/>
                </a:solidFill>
                <a:latin typeface="Arial"/>
              </a:rPr>
              <a:t>GAN</a:t>
            </a:r>
          </a:p>
        </p:txBody>
      </p:sp>
      <p:sp>
        <p:nvSpPr>
          <p:cNvPr id="13" name="Rectangle 12"/>
          <p:cNvSpPr/>
          <p:nvPr/>
        </p:nvSpPr>
        <p:spPr>
          <a:xfrm>
            <a:off x="8540403" y="1783080"/>
            <a:ext cx="2871307" cy="7010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50131" y="1783080"/>
            <a:ext cx="2688427" cy="701040"/>
          </a:xfrm>
          <a:prstGeom prst="rect">
            <a:avLst/>
          </a:prstGeom>
          <a:noFill/>
        </p:spPr>
        <p:txBody>
          <a:bodyPr wrap="square" anchor="ctr">
            <a:spAutoFit/>
          </a:bodyPr>
          <a:lstStyle/>
          <a:p>
            <a:pPr algn="l">
              <a:spcAft>
                <a:spcPts val="400"/>
              </a:spcAft>
            </a:pPr>
            <a:r>
              <a:rPr sz="1100" b="1">
                <a:solidFill>
                  <a:srgbClr val="FFFFFF"/>
                </a:solidFill>
                <a:latin typeface="Arial"/>
              </a:rPr>
              <a:t>Diffusion</a:t>
            </a:r>
          </a:p>
        </p:txBody>
      </p:sp>
      <p:sp>
        <p:nvSpPr>
          <p:cNvPr id="15" name="Rectangle 14"/>
          <p:cNvSpPr/>
          <p:nvPr/>
        </p:nvSpPr>
        <p:spPr>
          <a:xfrm>
            <a:off x="777240" y="2484120"/>
            <a:ext cx="2020549"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484120"/>
            <a:ext cx="1837669" cy="701040"/>
          </a:xfrm>
          <a:prstGeom prst="rect">
            <a:avLst/>
          </a:prstGeom>
          <a:noFill/>
        </p:spPr>
        <p:txBody>
          <a:bodyPr wrap="square" anchor="ctr">
            <a:spAutoFit/>
          </a:bodyPr>
          <a:lstStyle/>
          <a:p>
            <a:pPr algn="l">
              <a:spcAft>
                <a:spcPts val="400"/>
              </a:spcAft>
            </a:pPr>
            <a:r>
              <a:rPr sz="1000" b="1">
                <a:solidFill>
                  <a:srgbClr val="161B26"/>
                </a:solidFill>
                <a:latin typeface="Arial"/>
              </a:rPr>
              <a:t>Image quality</a:t>
            </a:r>
          </a:p>
        </p:txBody>
      </p:sp>
      <p:sp>
        <p:nvSpPr>
          <p:cNvPr id="17" name="Rectangle 16"/>
          <p:cNvSpPr/>
          <p:nvPr/>
        </p:nvSpPr>
        <p:spPr>
          <a:xfrm>
            <a:off x="2797789" y="2484120"/>
            <a:ext cx="2871307"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07517" y="2484120"/>
            <a:ext cx="2688427" cy="701040"/>
          </a:xfrm>
          <a:prstGeom prst="rect">
            <a:avLst/>
          </a:prstGeom>
          <a:noFill/>
        </p:spPr>
        <p:txBody>
          <a:bodyPr wrap="square" anchor="ctr">
            <a:spAutoFit/>
          </a:bodyPr>
          <a:lstStyle/>
          <a:p>
            <a:pPr algn="l">
              <a:spcAft>
                <a:spcPts val="400"/>
              </a:spcAft>
            </a:pPr>
            <a:r>
              <a:rPr sz="1000" b="0">
                <a:solidFill>
                  <a:srgbClr val="161B26"/>
                </a:solidFill>
                <a:latin typeface="Arial"/>
              </a:rPr>
              <a:t>Lower fidelity, blurry</a:t>
            </a:r>
          </a:p>
        </p:txBody>
      </p:sp>
      <p:sp>
        <p:nvSpPr>
          <p:cNvPr id="19" name="Rectangle 18"/>
          <p:cNvSpPr/>
          <p:nvPr/>
        </p:nvSpPr>
        <p:spPr>
          <a:xfrm>
            <a:off x="5669096" y="2484120"/>
            <a:ext cx="2871307"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78824" y="2484120"/>
            <a:ext cx="2688427" cy="701040"/>
          </a:xfrm>
          <a:prstGeom prst="rect">
            <a:avLst/>
          </a:prstGeom>
          <a:noFill/>
        </p:spPr>
        <p:txBody>
          <a:bodyPr wrap="square" anchor="ctr">
            <a:spAutoFit/>
          </a:bodyPr>
          <a:lstStyle/>
          <a:p>
            <a:pPr algn="l">
              <a:spcAft>
                <a:spcPts val="400"/>
              </a:spcAft>
            </a:pPr>
            <a:r>
              <a:rPr sz="1000" b="0">
                <a:solidFill>
                  <a:srgbClr val="161B26"/>
                </a:solidFill>
                <a:latin typeface="Arial"/>
              </a:rPr>
              <a:t>High fidelity, sharp</a:t>
            </a:r>
          </a:p>
        </p:txBody>
      </p:sp>
      <p:sp>
        <p:nvSpPr>
          <p:cNvPr id="21" name="Rectangle 20"/>
          <p:cNvSpPr/>
          <p:nvPr/>
        </p:nvSpPr>
        <p:spPr>
          <a:xfrm>
            <a:off x="8540403" y="2484120"/>
            <a:ext cx="2871307"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50131" y="2484120"/>
            <a:ext cx="2688427" cy="701040"/>
          </a:xfrm>
          <a:prstGeom prst="rect">
            <a:avLst/>
          </a:prstGeom>
          <a:noFill/>
        </p:spPr>
        <p:txBody>
          <a:bodyPr wrap="square" anchor="ctr">
            <a:spAutoFit/>
          </a:bodyPr>
          <a:lstStyle/>
          <a:p>
            <a:pPr algn="l">
              <a:spcAft>
                <a:spcPts val="400"/>
              </a:spcAft>
            </a:pPr>
            <a:r>
              <a:rPr sz="1000" b="0">
                <a:solidFill>
                  <a:srgbClr val="161B26"/>
                </a:solidFill>
                <a:latin typeface="Arial"/>
              </a:rPr>
              <a:t>State of the art</a:t>
            </a:r>
          </a:p>
        </p:txBody>
      </p:sp>
      <p:sp>
        <p:nvSpPr>
          <p:cNvPr id="23" name="Rectangle 22"/>
          <p:cNvSpPr/>
          <p:nvPr/>
        </p:nvSpPr>
        <p:spPr>
          <a:xfrm>
            <a:off x="777240" y="3185160"/>
            <a:ext cx="2020549"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3185160"/>
            <a:ext cx="1837669" cy="701040"/>
          </a:xfrm>
          <a:prstGeom prst="rect">
            <a:avLst/>
          </a:prstGeom>
          <a:noFill/>
        </p:spPr>
        <p:txBody>
          <a:bodyPr wrap="square" anchor="ctr">
            <a:spAutoFit/>
          </a:bodyPr>
          <a:lstStyle/>
          <a:p>
            <a:pPr algn="l">
              <a:spcAft>
                <a:spcPts val="400"/>
              </a:spcAft>
            </a:pPr>
            <a:r>
              <a:rPr sz="1000" b="1">
                <a:solidFill>
                  <a:srgbClr val="161B26"/>
                </a:solidFill>
                <a:latin typeface="Arial"/>
              </a:rPr>
              <a:t>Sample diversity</a:t>
            </a:r>
          </a:p>
        </p:txBody>
      </p:sp>
      <p:sp>
        <p:nvSpPr>
          <p:cNvPr id="25" name="Rectangle 24"/>
          <p:cNvSpPr/>
          <p:nvPr/>
        </p:nvSpPr>
        <p:spPr>
          <a:xfrm>
            <a:off x="2797789" y="3185160"/>
            <a:ext cx="2871307"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07517" y="3185160"/>
            <a:ext cx="2688427" cy="701040"/>
          </a:xfrm>
          <a:prstGeom prst="rect">
            <a:avLst/>
          </a:prstGeom>
          <a:noFill/>
        </p:spPr>
        <p:txBody>
          <a:bodyPr wrap="square" anchor="ctr">
            <a:spAutoFit/>
          </a:bodyPr>
          <a:lstStyle/>
          <a:p>
            <a:pPr algn="l">
              <a:spcAft>
                <a:spcPts val="400"/>
              </a:spcAft>
            </a:pPr>
            <a:r>
              <a:rPr sz="1000" b="0">
                <a:solidFill>
                  <a:srgbClr val="161B26"/>
                </a:solidFill>
                <a:latin typeface="Arial"/>
              </a:rPr>
              <a:t>High — covers the distribution</a:t>
            </a:r>
          </a:p>
        </p:txBody>
      </p:sp>
      <p:sp>
        <p:nvSpPr>
          <p:cNvPr id="27" name="Rectangle 26"/>
          <p:cNvSpPr/>
          <p:nvPr/>
        </p:nvSpPr>
        <p:spPr>
          <a:xfrm>
            <a:off x="5669096" y="3185160"/>
            <a:ext cx="2871307"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78824" y="3185160"/>
            <a:ext cx="2688427" cy="701040"/>
          </a:xfrm>
          <a:prstGeom prst="rect">
            <a:avLst/>
          </a:prstGeom>
          <a:noFill/>
        </p:spPr>
        <p:txBody>
          <a:bodyPr wrap="square" anchor="ctr">
            <a:spAutoFit/>
          </a:bodyPr>
          <a:lstStyle/>
          <a:p>
            <a:pPr algn="l">
              <a:spcAft>
                <a:spcPts val="400"/>
              </a:spcAft>
            </a:pPr>
            <a:r>
              <a:rPr sz="1000" b="0">
                <a:solidFill>
                  <a:srgbClr val="161B26"/>
                </a:solidFill>
                <a:latin typeface="Arial"/>
              </a:rPr>
              <a:t>Low — prone to mode collapse</a:t>
            </a:r>
          </a:p>
        </p:txBody>
      </p:sp>
      <p:sp>
        <p:nvSpPr>
          <p:cNvPr id="29" name="Rectangle 28"/>
          <p:cNvSpPr/>
          <p:nvPr/>
        </p:nvSpPr>
        <p:spPr>
          <a:xfrm>
            <a:off x="8540403" y="3185160"/>
            <a:ext cx="2871307"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50131" y="3185160"/>
            <a:ext cx="2688427" cy="701040"/>
          </a:xfrm>
          <a:prstGeom prst="rect">
            <a:avLst/>
          </a:prstGeom>
          <a:noFill/>
        </p:spPr>
        <p:txBody>
          <a:bodyPr wrap="square" anchor="ctr">
            <a:spAutoFit/>
          </a:bodyPr>
          <a:lstStyle/>
          <a:p>
            <a:pPr algn="l">
              <a:spcAft>
                <a:spcPts val="400"/>
              </a:spcAft>
            </a:pPr>
            <a:r>
              <a:rPr sz="1000" b="0">
                <a:solidFill>
                  <a:srgbClr val="161B26"/>
                </a:solidFill>
                <a:latin typeface="Arial"/>
              </a:rPr>
              <a:t>High — avoids mode collapse</a:t>
            </a:r>
          </a:p>
        </p:txBody>
      </p:sp>
      <p:sp>
        <p:nvSpPr>
          <p:cNvPr id="31" name="Rectangle 30"/>
          <p:cNvSpPr/>
          <p:nvPr/>
        </p:nvSpPr>
        <p:spPr>
          <a:xfrm>
            <a:off x="777240" y="3886200"/>
            <a:ext cx="2020549"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886200"/>
            <a:ext cx="1837669" cy="701040"/>
          </a:xfrm>
          <a:prstGeom prst="rect">
            <a:avLst/>
          </a:prstGeom>
          <a:noFill/>
        </p:spPr>
        <p:txBody>
          <a:bodyPr wrap="square" anchor="ctr">
            <a:spAutoFit/>
          </a:bodyPr>
          <a:lstStyle/>
          <a:p>
            <a:pPr algn="l">
              <a:spcAft>
                <a:spcPts val="400"/>
              </a:spcAft>
            </a:pPr>
            <a:r>
              <a:rPr sz="1000" b="1">
                <a:solidFill>
                  <a:srgbClr val="161B26"/>
                </a:solidFill>
                <a:latin typeface="Arial"/>
              </a:rPr>
              <a:t>Training stability</a:t>
            </a:r>
          </a:p>
        </p:txBody>
      </p:sp>
      <p:sp>
        <p:nvSpPr>
          <p:cNvPr id="33" name="Rectangle 32"/>
          <p:cNvSpPr/>
          <p:nvPr/>
        </p:nvSpPr>
        <p:spPr>
          <a:xfrm>
            <a:off x="2797789" y="3886200"/>
            <a:ext cx="2871307"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07517" y="3886200"/>
            <a:ext cx="2688427" cy="701040"/>
          </a:xfrm>
          <a:prstGeom prst="rect">
            <a:avLst/>
          </a:prstGeom>
          <a:noFill/>
        </p:spPr>
        <p:txBody>
          <a:bodyPr wrap="square" anchor="ctr">
            <a:spAutoFit/>
          </a:bodyPr>
          <a:lstStyle/>
          <a:p>
            <a:pPr algn="l">
              <a:spcAft>
                <a:spcPts val="400"/>
              </a:spcAft>
            </a:pPr>
            <a:r>
              <a:rPr sz="1000" b="0">
                <a:solidFill>
                  <a:srgbClr val="161B26"/>
                </a:solidFill>
                <a:latin typeface="Arial"/>
              </a:rPr>
              <a:t>Stable, tractable loss</a:t>
            </a:r>
          </a:p>
        </p:txBody>
      </p:sp>
      <p:sp>
        <p:nvSpPr>
          <p:cNvPr id="35" name="Rectangle 34"/>
          <p:cNvSpPr/>
          <p:nvPr/>
        </p:nvSpPr>
        <p:spPr>
          <a:xfrm>
            <a:off x="5669096" y="3886200"/>
            <a:ext cx="2871307"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778824" y="3886200"/>
            <a:ext cx="2688427" cy="701040"/>
          </a:xfrm>
          <a:prstGeom prst="rect">
            <a:avLst/>
          </a:prstGeom>
          <a:noFill/>
        </p:spPr>
        <p:txBody>
          <a:bodyPr wrap="square" anchor="ctr">
            <a:spAutoFit/>
          </a:bodyPr>
          <a:lstStyle/>
          <a:p>
            <a:pPr algn="l">
              <a:spcAft>
                <a:spcPts val="400"/>
              </a:spcAft>
            </a:pPr>
            <a:r>
              <a:rPr sz="1000" b="0">
                <a:solidFill>
                  <a:srgbClr val="161B26"/>
                </a:solidFill>
                <a:latin typeface="Arial"/>
              </a:rPr>
              <a:t>Notoriously unstable</a:t>
            </a:r>
          </a:p>
        </p:txBody>
      </p:sp>
      <p:sp>
        <p:nvSpPr>
          <p:cNvPr id="37" name="Rectangle 36"/>
          <p:cNvSpPr/>
          <p:nvPr/>
        </p:nvSpPr>
        <p:spPr>
          <a:xfrm>
            <a:off x="8540403" y="3886200"/>
            <a:ext cx="2871307"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0131" y="3886200"/>
            <a:ext cx="2688427" cy="701040"/>
          </a:xfrm>
          <a:prstGeom prst="rect">
            <a:avLst/>
          </a:prstGeom>
          <a:noFill/>
        </p:spPr>
        <p:txBody>
          <a:bodyPr wrap="square" anchor="ctr">
            <a:spAutoFit/>
          </a:bodyPr>
          <a:lstStyle/>
          <a:p>
            <a:pPr algn="l">
              <a:spcAft>
                <a:spcPts val="400"/>
              </a:spcAft>
            </a:pPr>
            <a:r>
              <a:rPr sz="1000" b="0">
                <a:solidFill>
                  <a:srgbClr val="161B26"/>
                </a:solidFill>
                <a:latin typeface="Arial"/>
              </a:rPr>
              <a:t>Very stable, simple loss</a:t>
            </a:r>
          </a:p>
        </p:txBody>
      </p:sp>
      <p:sp>
        <p:nvSpPr>
          <p:cNvPr id="39" name="Rectangle 38"/>
          <p:cNvSpPr/>
          <p:nvPr/>
        </p:nvSpPr>
        <p:spPr>
          <a:xfrm>
            <a:off x="777240" y="4587240"/>
            <a:ext cx="2020549"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4587240"/>
            <a:ext cx="1837669" cy="701040"/>
          </a:xfrm>
          <a:prstGeom prst="rect">
            <a:avLst/>
          </a:prstGeom>
          <a:noFill/>
        </p:spPr>
        <p:txBody>
          <a:bodyPr wrap="square" anchor="ctr">
            <a:spAutoFit/>
          </a:bodyPr>
          <a:lstStyle/>
          <a:p>
            <a:pPr algn="l">
              <a:spcAft>
                <a:spcPts val="400"/>
              </a:spcAft>
            </a:pPr>
            <a:r>
              <a:rPr sz="1000" b="1">
                <a:solidFill>
                  <a:srgbClr val="161B26"/>
                </a:solidFill>
                <a:latin typeface="Arial"/>
              </a:rPr>
              <a:t>Inference speed</a:t>
            </a:r>
          </a:p>
        </p:txBody>
      </p:sp>
      <p:sp>
        <p:nvSpPr>
          <p:cNvPr id="41" name="Rectangle 40"/>
          <p:cNvSpPr/>
          <p:nvPr/>
        </p:nvSpPr>
        <p:spPr>
          <a:xfrm>
            <a:off x="2797789" y="4587240"/>
            <a:ext cx="2871307"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907517" y="4587240"/>
            <a:ext cx="2688427" cy="701040"/>
          </a:xfrm>
          <a:prstGeom prst="rect">
            <a:avLst/>
          </a:prstGeom>
          <a:noFill/>
        </p:spPr>
        <p:txBody>
          <a:bodyPr wrap="square" anchor="ctr">
            <a:spAutoFit/>
          </a:bodyPr>
          <a:lstStyle/>
          <a:p>
            <a:pPr algn="l">
              <a:spcAft>
                <a:spcPts val="400"/>
              </a:spcAft>
            </a:pPr>
            <a:r>
              <a:rPr sz="1000" b="0">
                <a:solidFill>
                  <a:srgbClr val="161B26"/>
                </a:solidFill>
                <a:latin typeface="Arial"/>
              </a:rPr>
              <a:t>Fast — one forward pass</a:t>
            </a:r>
          </a:p>
        </p:txBody>
      </p:sp>
      <p:sp>
        <p:nvSpPr>
          <p:cNvPr id="43" name="Rectangle 42"/>
          <p:cNvSpPr/>
          <p:nvPr/>
        </p:nvSpPr>
        <p:spPr>
          <a:xfrm>
            <a:off x="5669096" y="4587240"/>
            <a:ext cx="2871307"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778824" y="4587240"/>
            <a:ext cx="2688427" cy="701040"/>
          </a:xfrm>
          <a:prstGeom prst="rect">
            <a:avLst/>
          </a:prstGeom>
          <a:noFill/>
        </p:spPr>
        <p:txBody>
          <a:bodyPr wrap="square" anchor="ctr">
            <a:spAutoFit/>
          </a:bodyPr>
          <a:lstStyle/>
          <a:p>
            <a:pPr algn="l">
              <a:spcAft>
                <a:spcPts val="400"/>
              </a:spcAft>
            </a:pPr>
            <a:r>
              <a:rPr sz="1000" b="0">
                <a:solidFill>
                  <a:srgbClr val="161B26"/>
                </a:solidFill>
                <a:latin typeface="Arial"/>
              </a:rPr>
              <a:t>Fast — one forward pass</a:t>
            </a:r>
          </a:p>
        </p:txBody>
      </p:sp>
      <p:sp>
        <p:nvSpPr>
          <p:cNvPr id="45" name="Rectangle 44"/>
          <p:cNvSpPr/>
          <p:nvPr/>
        </p:nvSpPr>
        <p:spPr>
          <a:xfrm>
            <a:off x="8540403" y="4587240"/>
            <a:ext cx="2871307"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0131" y="4587240"/>
            <a:ext cx="2688427" cy="701040"/>
          </a:xfrm>
          <a:prstGeom prst="rect">
            <a:avLst/>
          </a:prstGeom>
          <a:noFill/>
        </p:spPr>
        <p:txBody>
          <a:bodyPr wrap="square" anchor="ctr">
            <a:spAutoFit/>
          </a:bodyPr>
          <a:lstStyle/>
          <a:p>
            <a:pPr algn="l">
              <a:spcAft>
                <a:spcPts val="400"/>
              </a:spcAft>
            </a:pPr>
            <a:r>
              <a:rPr sz="1000" b="0">
                <a:solidFill>
                  <a:srgbClr val="161B26"/>
                </a:solidFill>
                <a:latin typeface="Arial"/>
              </a:rPr>
              <a:t>Slow — many iterative steps</a:t>
            </a:r>
          </a:p>
        </p:txBody>
      </p:sp>
      <p:sp>
        <p:nvSpPr>
          <p:cNvPr id="47" name="Rectangle 46"/>
          <p:cNvSpPr/>
          <p:nvPr/>
        </p:nvSpPr>
        <p:spPr>
          <a:xfrm>
            <a:off x="777240" y="5288280"/>
            <a:ext cx="2020549"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6968" y="5288280"/>
            <a:ext cx="1837669" cy="701040"/>
          </a:xfrm>
          <a:prstGeom prst="rect">
            <a:avLst/>
          </a:prstGeom>
          <a:noFill/>
        </p:spPr>
        <p:txBody>
          <a:bodyPr wrap="square" anchor="ctr">
            <a:spAutoFit/>
          </a:bodyPr>
          <a:lstStyle/>
          <a:p>
            <a:pPr algn="l">
              <a:spcAft>
                <a:spcPts val="400"/>
              </a:spcAft>
            </a:pPr>
            <a:r>
              <a:rPr sz="1000" b="1">
                <a:solidFill>
                  <a:srgbClr val="161B26"/>
                </a:solidFill>
                <a:latin typeface="Arial"/>
              </a:rPr>
              <a:t>Primary use</a:t>
            </a:r>
          </a:p>
        </p:txBody>
      </p:sp>
      <p:sp>
        <p:nvSpPr>
          <p:cNvPr id="49" name="Rectangle 48"/>
          <p:cNvSpPr/>
          <p:nvPr/>
        </p:nvSpPr>
        <p:spPr>
          <a:xfrm>
            <a:off x="2797789" y="5288280"/>
            <a:ext cx="2871307"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907517" y="5288280"/>
            <a:ext cx="2688427" cy="701040"/>
          </a:xfrm>
          <a:prstGeom prst="rect">
            <a:avLst/>
          </a:prstGeom>
          <a:noFill/>
        </p:spPr>
        <p:txBody>
          <a:bodyPr wrap="square" anchor="ctr">
            <a:spAutoFit/>
          </a:bodyPr>
          <a:lstStyle/>
          <a:p>
            <a:pPr algn="l">
              <a:spcAft>
                <a:spcPts val="400"/>
              </a:spcAft>
            </a:pPr>
            <a:r>
              <a:rPr sz="1000" b="0">
                <a:solidFill>
                  <a:srgbClr val="161B26"/>
                </a:solidFill>
                <a:latin typeface="Arial"/>
              </a:rPr>
              <a:t>Latent representation, compression</a:t>
            </a:r>
          </a:p>
        </p:txBody>
      </p:sp>
      <p:sp>
        <p:nvSpPr>
          <p:cNvPr id="51" name="Rectangle 50"/>
          <p:cNvSpPr/>
          <p:nvPr/>
        </p:nvSpPr>
        <p:spPr>
          <a:xfrm>
            <a:off x="5669096" y="5288280"/>
            <a:ext cx="2871307"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778824" y="5288280"/>
            <a:ext cx="2688427" cy="701040"/>
          </a:xfrm>
          <a:prstGeom prst="rect">
            <a:avLst/>
          </a:prstGeom>
          <a:noFill/>
        </p:spPr>
        <p:txBody>
          <a:bodyPr wrap="square" anchor="ctr">
            <a:spAutoFit/>
          </a:bodyPr>
          <a:lstStyle/>
          <a:p>
            <a:pPr algn="l">
              <a:spcAft>
                <a:spcPts val="400"/>
              </a:spcAft>
            </a:pPr>
            <a:r>
              <a:rPr sz="1000" b="0">
                <a:solidFill>
                  <a:srgbClr val="161B26"/>
                </a:solidFill>
                <a:latin typeface="Arial"/>
              </a:rPr>
              <a:t>High-resolution synthesis, style transfer</a:t>
            </a:r>
          </a:p>
        </p:txBody>
      </p:sp>
      <p:sp>
        <p:nvSpPr>
          <p:cNvPr id="53" name="Rectangle 52"/>
          <p:cNvSpPr/>
          <p:nvPr/>
        </p:nvSpPr>
        <p:spPr>
          <a:xfrm>
            <a:off x="8540403" y="5288280"/>
            <a:ext cx="2871307"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50131" y="5288280"/>
            <a:ext cx="2688427" cy="701040"/>
          </a:xfrm>
          <a:prstGeom prst="rect">
            <a:avLst/>
          </a:prstGeom>
          <a:noFill/>
        </p:spPr>
        <p:txBody>
          <a:bodyPr wrap="square" anchor="ctr">
            <a:spAutoFit/>
          </a:bodyPr>
          <a:lstStyle/>
          <a:p>
            <a:pPr algn="l">
              <a:spcAft>
                <a:spcPts val="400"/>
              </a:spcAft>
            </a:pPr>
            <a:r>
              <a:rPr sz="1000" b="0">
                <a:solidFill>
                  <a:srgbClr val="161B26"/>
                </a:solidFill>
                <a:latin typeface="Arial"/>
              </a:rPr>
              <a:t>High-quality text-to-image and video</a:t>
            </a:r>
          </a:p>
        </p:txBody>
      </p:sp>
      <p:sp>
        <p:nvSpPr>
          <p:cNvPr id="55" name="TextBox 54"/>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Source: S6 · Multimodal Generative AI in the Enterprise, Ch.5 p.62, Table 5.1. Reproduced as a comparison of properties, not as a recommendation.</a:t>
            </a:r>
          </a:p>
        </p:txBody>
      </p:sp>
      <p:sp>
        <p:nvSpPr>
          <p:cNvPr id="56" name="TextBox 5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57" name="TextBox 5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8" name="TextBox 5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 · SAME FOUR PROPERTIES, ORDINAL SCORES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Trade-off, Drawn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No architecture wins everywhere</a:t>
            </a:r>
          </a:p>
          <a:p>
            <a:pPr algn="l">
              <a:spcAft>
                <a:spcPts val="200"/>
              </a:spcAft>
            </a:pPr>
            <a:r>
              <a:rPr sz="1100" b="0">
                <a:solidFill>
                  <a:srgbClr val="161B26"/>
                </a:solidFill>
                <a:latin typeface="Arial"/>
              </a:rPr>
              <a:t>Diffusion trades inference speed for everything else.</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That trade is attackable</a:t>
            </a:r>
          </a:p>
          <a:p>
            <a:pPr algn="l">
              <a:spcAft>
                <a:spcPts val="200"/>
              </a:spcAft>
            </a:pPr>
            <a:r>
              <a:rPr sz="1100" b="0">
                <a:solidFill>
                  <a:srgbClr val="161B26"/>
                </a:solidFill>
                <a:latin typeface="Arial"/>
              </a:rPr>
              <a:t>Step distillation and latent-space modelling exist precisely to buy the speed back — Topic 05.</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GANs are not obsolete</a:t>
            </a:r>
          </a:p>
          <a:p>
            <a:pPr algn="l">
              <a:spcAft>
                <a:spcPts val="200"/>
              </a:spcAft>
            </a:pPr>
            <a:r>
              <a:rPr sz="1100" b="0">
                <a:solidFill>
                  <a:srgbClr val="161B26"/>
                </a:solidFill>
                <a:latin typeface="Arial"/>
              </a:rPr>
              <a:t>Single-pass sampling still matters where latency dominates.</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VAEs did not disappear</a:t>
            </a:r>
          </a:p>
          <a:p>
            <a:pPr algn="l">
              <a:spcAft>
                <a:spcPts val="200"/>
              </a:spcAft>
            </a:pPr>
            <a:r>
              <a:rPr sz="1100" b="0">
                <a:solidFill>
                  <a:srgbClr val="161B26"/>
                </a:solidFill>
                <a:latin typeface="Arial"/>
              </a:rPr>
              <a:t>They became the autoencoder inside latent diffusion.</a:t>
            </a:r>
          </a:p>
        </p:txBody>
      </p:sp>
      <p:sp>
        <p:nvSpPr>
          <p:cNvPr id="20" name="Rectangle 19"/>
          <p:cNvSpPr/>
          <p:nvPr/>
        </p:nvSpPr>
        <p:spPr>
          <a:xfrm>
            <a:off x="777240" y="5925312"/>
            <a:ext cx="1417320"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ILLUSTRATIVE</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Ordinal scores from 1 to 5 assigned by the course author to the qualitative comparison published in S6 Ch.5 p.62, Table 5.1. They show the SHAPE of the trade-off; they are not measurements and must not be quoted as such.</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DC2626"/>
                </a:solidFill>
                <a:latin typeface="Arial"/>
              </a:rPr>
              <a:t>K1 · THE HONEST CAPABILITY STATEMENT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What Each Model Can and Cannot Guarantee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Can: plausibility</a:t>
            </a:r>
          </a:p>
          <a:p>
            <a:pPr algn="l">
              <a:spcAft>
                <a:spcPts val="200"/>
              </a:spcAft>
            </a:pPr>
            <a:r>
              <a:rPr sz="1050" b="0">
                <a:solidFill>
                  <a:srgbClr val="5B6372"/>
                </a:solidFill>
                <a:latin typeface="Arial"/>
              </a:rPr>
              <a:t>A diffusion model reliably produces something that looks like the training distribution.</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Cannot: factual correctness</a:t>
            </a:r>
          </a:p>
          <a:p>
            <a:pPr algn="l">
              <a:spcAft>
                <a:spcPts val="200"/>
              </a:spcAft>
            </a:pPr>
            <a:r>
              <a:rPr sz="1050" b="0">
                <a:solidFill>
                  <a:srgbClr val="5B6372"/>
                </a:solidFill>
                <a:latin typeface="Arial"/>
              </a:rPr>
              <a:t>Nothing in the objective rewards being right. A rendered label, a count or a mechanism can be confidently wrong.</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Can: conditioning</a:t>
            </a:r>
          </a:p>
          <a:p>
            <a:pPr algn="l">
              <a:spcAft>
                <a:spcPts val="200"/>
              </a:spcAft>
            </a:pPr>
            <a:r>
              <a:rPr sz="1050" b="0">
                <a:solidFill>
                  <a:srgbClr val="5B6372"/>
                </a:solidFill>
                <a:latin typeface="Arial"/>
              </a:rPr>
              <a:t>Text, an image, a mask, a depth map or a reference set can all steer the sample.</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Cannot: exact reproduction</a:t>
            </a:r>
          </a:p>
          <a:p>
            <a:pPr algn="l">
              <a:spcAft>
                <a:spcPts val="200"/>
              </a:spcAft>
            </a:pPr>
            <a:r>
              <a:rPr sz="1050" b="0">
                <a:solidFill>
                  <a:srgbClr val="5B6372"/>
                </a:solidFill>
                <a:latin typeface="Arial"/>
              </a:rPr>
              <a:t>Same prompt, different sample. Repeatability comes from pinning the configuration, not from hoping.</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Can: local edits</a:t>
            </a:r>
          </a:p>
          <a:p>
            <a:pPr algn="l">
              <a:spcAft>
                <a:spcPts val="200"/>
              </a:spcAft>
            </a:pPr>
            <a:r>
              <a:rPr sz="1050" b="0">
                <a:solidFill>
                  <a:srgbClr val="5B6372"/>
                </a:solidFill>
                <a:latin typeface="Arial"/>
              </a:rPr>
              <a:t>With a mask, the preserved region is guaranteed by construction rather than by the model's good behaviour.</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Cannot: knowing it is wrong</a:t>
            </a:r>
          </a:p>
          <a:p>
            <a:pPr algn="l">
              <a:spcAft>
                <a:spcPts val="200"/>
              </a:spcAft>
            </a:pPr>
            <a:r>
              <a:rPr sz="1050" b="0">
                <a:solidFill>
                  <a:srgbClr val="5B6372"/>
                </a:solidFill>
                <a:latin typeface="Arial"/>
              </a:rPr>
              <a:t>There is no confidence output you can threshold. That is what the measurement gates in Topics 02–04 are for.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500" b="1">
                <a:solidFill>
                  <a:srgbClr val="F59E0B"/>
                </a:solidFill>
                <a:latin typeface="Arial"/>
              </a:rPr>
              <a:t>K1 · A PRACTICAL RULE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400" b="1">
                <a:solidFill>
                  <a:srgbClr val="161B26"/>
                </a:solidFill>
                <a:latin typeface="Arial"/>
              </a:rPr>
              <a:t>Generated text inside an image is the canary.</a:t>
            </a:r>
          </a:p>
        </p:txBody>
      </p:sp>
      <p:sp>
        <p:nvSpPr>
          <p:cNvPr id="6" name="TextBox 5"/>
          <p:cNvSpPr txBox="1"/>
          <p:nvPr/>
        </p:nvSpPr>
        <p:spPr>
          <a:xfrm>
            <a:off x="1024128" y="4480560"/>
            <a:ext cx="10058400" cy="1280160"/>
          </a:xfrm>
          <a:prstGeom prst="rect">
            <a:avLst/>
          </a:prstGeom>
          <a:noFill/>
        </p:spPr>
        <p:txBody>
          <a:bodyPr wrap="square" anchor="t">
            <a:spAutoFit/>
          </a:bodyPr>
          <a:lstStyle/>
          <a:p>
            <a:pPr algn="l">
              <a:spcAft>
                <a:spcPts val="400"/>
              </a:spcAft>
            </a:pPr>
            <a:r>
              <a:rPr sz="1700" b="0">
                <a:solidFill>
                  <a:srgbClr val="5B6372"/>
                </a:solidFill>
                <a:latin typeface="Arial"/>
              </a:rPr>
              <a:t>If a model renders a caption, a logo or a price wrongly — and it usually does — that is a visible instance of the same failure that is invisible everywhere else in the frame. Put text on in post, and measure the rest.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A1 · NQ-01 CATALOGUE BACKGROUND REPLACEMENT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Worked Example — Scoring One Candidate Use Case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807860" cy="525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1624980" cy="525780"/>
          </a:xfrm>
          <a:prstGeom prst="rect">
            <a:avLst/>
          </a:prstGeom>
          <a:noFill/>
        </p:spPr>
        <p:txBody>
          <a:bodyPr wrap="square" anchor="ctr">
            <a:spAutoFit/>
          </a:bodyPr>
          <a:lstStyle/>
          <a:p>
            <a:pPr algn="l">
              <a:spcAft>
                <a:spcPts val="400"/>
              </a:spcAft>
            </a:pPr>
            <a:r>
              <a:rPr sz="1100" b="1">
                <a:solidFill>
                  <a:srgbClr val="FFFFFF"/>
                </a:solidFill>
                <a:latin typeface="Arial"/>
              </a:rPr>
              <a:t>Criterion</a:t>
            </a:r>
          </a:p>
        </p:txBody>
      </p:sp>
      <p:sp>
        <p:nvSpPr>
          <p:cNvPr id="9" name="Rectangle 8"/>
          <p:cNvSpPr/>
          <p:nvPr/>
        </p:nvSpPr>
        <p:spPr>
          <a:xfrm>
            <a:off x="2585100" y="1783080"/>
            <a:ext cx="4466478" cy="525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94828" y="1783080"/>
            <a:ext cx="4283598" cy="525780"/>
          </a:xfrm>
          <a:prstGeom prst="rect">
            <a:avLst/>
          </a:prstGeom>
          <a:noFill/>
        </p:spPr>
        <p:txBody>
          <a:bodyPr wrap="square" anchor="ctr">
            <a:spAutoFit/>
          </a:bodyPr>
          <a:lstStyle/>
          <a:p>
            <a:pPr algn="l">
              <a:spcAft>
                <a:spcPts val="400"/>
              </a:spcAft>
            </a:pPr>
            <a:r>
              <a:rPr sz="1100" b="1">
                <a:solidFill>
                  <a:srgbClr val="FFFFFF"/>
                </a:solidFill>
                <a:latin typeface="Arial"/>
              </a:rPr>
              <a:t>Evidence from the case file</a:t>
            </a:r>
          </a:p>
        </p:txBody>
      </p:sp>
      <p:sp>
        <p:nvSpPr>
          <p:cNvPr id="11" name="Rectangle 10"/>
          <p:cNvSpPr/>
          <p:nvPr/>
        </p:nvSpPr>
        <p:spPr>
          <a:xfrm>
            <a:off x="7051578" y="1783080"/>
            <a:ext cx="957102" cy="525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61306" y="1783080"/>
            <a:ext cx="774222" cy="525780"/>
          </a:xfrm>
          <a:prstGeom prst="rect">
            <a:avLst/>
          </a:prstGeom>
          <a:noFill/>
        </p:spPr>
        <p:txBody>
          <a:bodyPr wrap="square" anchor="ctr">
            <a:spAutoFit/>
          </a:bodyPr>
          <a:lstStyle/>
          <a:p>
            <a:pPr algn="l">
              <a:spcAft>
                <a:spcPts val="400"/>
              </a:spcAft>
            </a:pPr>
            <a:r>
              <a:rPr sz="1100" b="1">
                <a:solidFill>
                  <a:srgbClr val="FFFFFF"/>
                </a:solidFill>
                <a:latin typeface="Arial"/>
              </a:rPr>
              <a:t>Score</a:t>
            </a:r>
          </a:p>
        </p:txBody>
      </p:sp>
      <p:sp>
        <p:nvSpPr>
          <p:cNvPr id="13" name="Rectangle 12"/>
          <p:cNvSpPr/>
          <p:nvPr/>
        </p:nvSpPr>
        <p:spPr>
          <a:xfrm>
            <a:off x="8008680" y="1783080"/>
            <a:ext cx="1276136" cy="525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18408" y="1783080"/>
            <a:ext cx="1093256" cy="525780"/>
          </a:xfrm>
          <a:prstGeom prst="rect">
            <a:avLst/>
          </a:prstGeom>
          <a:noFill/>
        </p:spPr>
        <p:txBody>
          <a:bodyPr wrap="square" anchor="ctr">
            <a:spAutoFit/>
          </a:bodyPr>
          <a:lstStyle/>
          <a:p>
            <a:pPr algn="l">
              <a:spcAft>
                <a:spcPts val="400"/>
              </a:spcAft>
            </a:pPr>
            <a:r>
              <a:rPr sz="1100" b="1">
                <a:solidFill>
                  <a:srgbClr val="FFFFFF"/>
                </a:solidFill>
                <a:latin typeface="Arial"/>
              </a:rPr>
              <a:t>Weight</a:t>
            </a:r>
          </a:p>
        </p:txBody>
      </p:sp>
      <p:sp>
        <p:nvSpPr>
          <p:cNvPr id="15" name="Rectangle 14"/>
          <p:cNvSpPr/>
          <p:nvPr/>
        </p:nvSpPr>
        <p:spPr>
          <a:xfrm>
            <a:off x="9284816" y="1783080"/>
            <a:ext cx="2126894" cy="525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94544" y="1783080"/>
            <a:ext cx="1944014" cy="525780"/>
          </a:xfrm>
          <a:prstGeom prst="rect">
            <a:avLst/>
          </a:prstGeom>
          <a:noFill/>
        </p:spPr>
        <p:txBody>
          <a:bodyPr wrap="square" anchor="ctr">
            <a:spAutoFit/>
          </a:bodyPr>
          <a:lstStyle/>
          <a:p>
            <a:pPr algn="l">
              <a:spcAft>
                <a:spcPts val="400"/>
              </a:spcAft>
            </a:pPr>
            <a:r>
              <a:rPr sz="1100" b="1">
                <a:solidFill>
                  <a:srgbClr val="FFFFFF"/>
                </a:solidFill>
                <a:latin typeface="Arial"/>
              </a:rPr>
              <a:t>Contribution</a:t>
            </a:r>
          </a:p>
        </p:txBody>
      </p:sp>
      <p:sp>
        <p:nvSpPr>
          <p:cNvPr id="17" name="Rectangle 16"/>
          <p:cNvSpPr/>
          <p:nvPr/>
        </p:nvSpPr>
        <p:spPr>
          <a:xfrm>
            <a:off x="777240" y="2308860"/>
            <a:ext cx="1807860"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2308860"/>
            <a:ext cx="1624980" cy="525780"/>
          </a:xfrm>
          <a:prstGeom prst="rect">
            <a:avLst/>
          </a:prstGeom>
          <a:noFill/>
        </p:spPr>
        <p:txBody>
          <a:bodyPr wrap="square" anchor="ctr">
            <a:spAutoFit/>
          </a:bodyPr>
          <a:lstStyle/>
          <a:p>
            <a:pPr algn="l">
              <a:spcAft>
                <a:spcPts val="400"/>
              </a:spcAft>
            </a:pPr>
            <a:r>
              <a:rPr sz="1000" b="1">
                <a:solidFill>
                  <a:srgbClr val="161B26"/>
                </a:solidFill>
                <a:latin typeface="Arial"/>
              </a:rPr>
              <a:t>Volume</a:t>
            </a:r>
          </a:p>
        </p:txBody>
      </p:sp>
      <p:sp>
        <p:nvSpPr>
          <p:cNvPr id="19" name="Rectangle 18"/>
          <p:cNvSpPr/>
          <p:nvPr/>
        </p:nvSpPr>
        <p:spPr>
          <a:xfrm>
            <a:off x="2585100" y="2308860"/>
            <a:ext cx="4466478"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94828" y="2308860"/>
            <a:ext cx="4283598" cy="525780"/>
          </a:xfrm>
          <a:prstGeom prst="rect">
            <a:avLst/>
          </a:prstGeom>
          <a:noFill/>
        </p:spPr>
        <p:txBody>
          <a:bodyPr wrap="square" anchor="ctr">
            <a:spAutoFit/>
          </a:bodyPr>
          <a:lstStyle/>
          <a:p>
            <a:pPr algn="l">
              <a:spcAft>
                <a:spcPts val="400"/>
              </a:spcAft>
            </a:pPr>
            <a:r>
              <a:rPr sz="1000" b="0">
                <a:solidFill>
                  <a:srgbClr val="161B26"/>
                </a:solidFill>
                <a:latin typeface="Arial"/>
              </a:rPr>
              <a:t>1,450 instances / month (≥ 500)</a:t>
            </a:r>
          </a:p>
        </p:txBody>
      </p:sp>
      <p:sp>
        <p:nvSpPr>
          <p:cNvPr id="21" name="Rectangle 20"/>
          <p:cNvSpPr/>
          <p:nvPr/>
        </p:nvSpPr>
        <p:spPr>
          <a:xfrm>
            <a:off x="7051578" y="2308860"/>
            <a:ext cx="957102"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61306" y="2308860"/>
            <a:ext cx="774222" cy="525780"/>
          </a:xfrm>
          <a:prstGeom prst="rect">
            <a:avLst/>
          </a:prstGeom>
          <a:noFill/>
        </p:spPr>
        <p:txBody>
          <a:bodyPr wrap="square" anchor="ctr">
            <a:spAutoFit/>
          </a:bodyPr>
          <a:lstStyle/>
          <a:p>
            <a:pPr algn="l">
              <a:spcAft>
                <a:spcPts val="400"/>
              </a:spcAft>
            </a:pPr>
            <a:r>
              <a:rPr sz="1000" b="0">
                <a:solidFill>
                  <a:srgbClr val="161B26"/>
                </a:solidFill>
                <a:latin typeface="Arial"/>
              </a:rPr>
              <a:t>5</a:t>
            </a:r>
          </a:p>
        </p:txBody>
      </p:sp>
      <p:sp>
        <p:nvSpPr>
          <p:cNvPr id="23" name="Rectangle 22"/>
          <p:cNvSpPr/>
          <p:nvPr/>
        </p:nvSpPr>
        <p:spPr>
          <a:xfrm>
            <a:off x="8008680" y="2308860"/>
            <a:ext cx="1276136"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18408" y="2308860"/>
            <a:ext cx="1093256" cy="525780"/>
          </a:xfrm>
          <a:prstGeom prst="rect">
            <a:avLst/>
          </a:prstGeom>
          <a:noFill/>
        </p:spPr>
        <p:txBody>
          <a:bodyPr wrap="square" anchor="ctr">
            <a:spAutoFit/>
          </a:bodyPr>
          <a:lstStyle/>
          <a:p>
            <a:pPr algn="l">
              <a:spcAft>
                <a:spcPts val="400"/>
              </a:spcAft>
            </a:pPr>
            <a:r>
              <a:rPr sz="1000" b="0">
                <a:solidFill>
                  <a:srgbClr val="161B26"/>
                </a:solidFill>
                <a:latin typeface="Arial"/>
              </a:rPr>
              <a:t>1.00</a:t>
            </a:r>
          </a:p>
        </p:txBody>
      </p:sp>
      <p:sp>
        <p:nvSpPr>
          <p:cNvPr id="25" name="Rectangle 24"/>
          <p:cNvSpPr/>
          <p:nvPr/>
        </p:nvSpPr>
        <p:spPr>
          <a:xfrm>
            <a:off x="9284816" y="2308860"/>
            <a:ext cx="2126894"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94544" y="2308860"/>
            <a:ext cx="1944014" cy="525780"/>
          </a:xfrm>
          <a:prstGeom prst="rect">
            <a:avLst/>
          </a:prstGeom>
          <a:noFill/>
        </p:spPr>
        <p:txBody>
          <a:bodyPr wrap="square" anchor="ctr">
            <a:spAutoFit/>
          </a:bodyPr>
          <a:lstStyle/>
          <a:p>
            <a:pPr algn="l">
              <a:spcAft>
                <a:spcPts val="400"/>
              </a:spcAft>
            </a:pPr>
            <a:r>
              <a:rPr sz="1000" b="0">
                <a:solidFill>
                  <a:srgbClr val="161B26"/>
                </a:solidFill>
                <a:latin typeface="Arial"/>
              </a:rPr>
              <a:t>5.00</a:t>
            </a:r>
          </a:p>
        </p:txBody>
      </p:sp>
      <p:sp>
        <p:nvSpPr>
          <p:cNvPr id="27" name="Rectangle 26"/>
          <p:cNvSpPr/>
          <p:nvPr/>
        </p:nvSpPr>
        <p:spPr>
          <a:xfrm>
            <a:off x="777240" y="2834640"/>
            <a:ext cx="1807860"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6968" y="2834640"/>
            <a:ext cx="1624980" cy="525780"/>
          </a:xfrm>
          <a:prstGeom prst="rect">
            <a:avLst/>
          </a:prstGeom>
          <a:noFill/>
        </p:spPr>
        <p:txBody>
          <a:bodyPr wrap="square" anchor="ctr">
            <a:spAutoFit/>
          </a:bodyPr>
          <a:lstStyle/>
          <a:p>
            <a:pPr algn="l">
              <a:spcAft>
                <a:spcPts val="400"/>
              </a:spcAft>
            </a:pPr>
            <a:r>
              <a:rPr sz="1000" b="1">
                <a:solidFill>
                  <a:srgbClr val="161B26"/>
                </a:solidFill>
                <a:latin typeface="Arial"/>
              </a:rPr>
              <a:t>Repeatability</a:t>
            </a:r>
          </a:p>
        </p:txBody>
      </p:sp>
      <p:sp>
        <p:nvSpPr>
          <p:cNvPr id="29" name="Rectangle 28"/>
          <p:cNvSpPr/>
          <p:nvPr/>
        </p:nvSpPr>
        <p:spPr>
          <a:xfrm>
            <a:off x="2585100" y="2834640"/>
            <a:ext cx="4466478"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694828" y="2834640"/>
            <a:ext cx="4283598" cy="525780"/>
          </a:xfrm>
          <a:prstGeom prst="rect">
            <a:avLst/>
          </a:prstGeom>
          <a:noFill/>
        </p:spPr>
        <p:txBody>
          <a:bodyPr wrap="square" anchor="ctr">
            <a:spAutoFit/>
          </a:bodyPr>
          <a:lstStyle/>
          <a:p>
            <a:pPr algn="l">
              <a:spcAft>
                <a:spcPts val="400"/>
              </a:spcAft>
            </a:pPr>
            <a:r>
              <a:rPr sz="1000" b="0">
                <a:solidFill>
                  <a:srgbClr val="161B26"/>
                </a:solidFill>
                <a:latin typeface="Arial"/>
              </a:rPr>
              <a:t>Studio rig, identical framing every time</a:t>
            </a:r>
          </a:p>
        </p:txBody>
      </p:sp>
      <p:sp>
        <p:nvSpPr>
          <p:cNvPr id="31" name="Rectangle 30"/>
          <p:cNvSpPr/>
          <p:nvPr/>
        </p:nvSpPr>
        <p:spPr>
          <a:xfrm>
            <a:off x="7051578" y="2834640"/>
            <a:ext cx="957102"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61306" y="2834640"/>
            <a:ext cx="774222" cy="525780"/>
          </a:xfrm>
          <a:prstGeom prst="rect">
            <a:avLst/>
          </a:prstGeom>
          <a:noFill/>
        </p:spPr>
        <p:txBody>
          <a:bodyPr wrap="square" anchor="ctr">
            <a:spAutoFit/>
          </a:bodyPr>
          <a:lstStyle/>
          <a:p>
            <a:pPr algn="l">
              <a:spcAft>
                <a:spcPts val="400"/>
              </a:spcAft>
            </a:pPr>
            <a:r>
              <a:rPr sz="1000" b="0">
                <a:solidFill>
                  <a:srgbClr val="161B26"/>
                </a:solidFill>
                <a:latin typeface="Arial"/>
              </a:rPr>
              <a:t>5</a:t>
            </a:r>
          </a:p>
        </p:txBody>
      </p:sp>
      <p:sp>
        <p:nvSpPr>
          <p:cNvPr id="33" name="Rectangle 32"/>
          <p:cNvSpPr/>
          <p:nvPr/>
        </p:nvSpPr>
        <p:spPr>
          <a:xfrm>
            <a:off x="8008680" y="2834640"/>
            <a:ext cx="1276136"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18408" y="2834640"/>
            <a:ext cx="1093256" cy="525780"/>
          </a:xfrm>
          <a:prstGeom prst="rect">
            <a:avLst/>
          </a:prstGeom>
          <a:noFill/>
        </p:spPr>
        <p:txBody>
          <a:bodyPr wrap="square" anchor="ctr">
            <a:spAutoFit/>
          </a:bodyPr>
          <a:lstStyle/>
          <a:p>
            <a:pPr algn="l">
              <a:spcAft>
                <a:spcPts val="400"/>
              </a:spcAft>
            </a:pPr>
            <a:r>
              <a:rPr sz="1000" b="0">
                <a:solidFill>
                  <a:srgbClr val="161B26"/>
                </a:solidFill>
                <a:latin typeface="Arial"/>
              </a:rPr>
              <a:t>1.50</a:t>
            </a:r>
          </a:p>
        </p:txBody>
      </p:sp>
      <p:sp>
        <p:nvSpPr>
          <p:cNvPr id="35" name="Rectangle 34"/>
          <p:cNvSpPr/>
          <p:nvPr/>
        </p:nvSpPr>
        <p:spPr>
          <a:xfrm>
            <a:off x="9284816" y="2834640"/>
            <a:ext cx="2126894"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94544" y="2834640"/>
            <a:ext cx="1944014" cy="525780"/>
          </a:xfrm>
          <a:prstGeom prst="rect">
            <a:avLst/>
          </a:prstGeom>
          <a:noFill/>
        </p:spPr>
        <p:txBody>
          <a:bodyPr wrap="square" anchor="ctr">
            <a:spAutoFit/>
          </a:bodyPr>
          <a:lstStyle/>
          <a:p>
            <a:pPr algn="l">
              <a:spcAft>
                <a:spcPts val="400"/>
              </a:spcAft>
            </a:pPr>
            <a:r>
              <a:rPr sz="1000" b="0">
                <a:solidFill>
                  <a:srgbClr val="161B26"/>
                </a:solidFill>
                <a:latin typeface="Arial"/>
              </a:rPr>
              <a:t>7.50</a:t>
            </a:r>
          </a:p>
        </p:txBody>
      </p:sp>
      <p:sp>
        <p:nvSpPr>
          <p:cNvPr id="37" name="Rectangle 36"/>
          <p:cNvSpPr/>
          <p:nvPr/>
        </p:nvSpPr>
        <p:spPr>
          <a:xfrm>
            <a:off x="777240" y="3360420"/>
            <a:ext cx="1807860"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3360420"/>
            <a:ext cx="1624980" cy="525780"/>
          </a:xfrm>
          <a:prstGeom prst="rect">
            <a:avLst/>
          </a:prstGeom>
          <a:noFill/>
        </p:spPr>
        <p:txBody>
          <a:bodyPr wrap="square" anchor="ctr">
            <a:spAutoFit/>
          </a:bodyPr>
          <a:lstStyle/>
          <a:p>
            <a:pPr algn="l">
              <a:spcAft>
                <a:spcPts val="400"/>
              </a:spcAft>
            </a:pPr>
            <a:r>
              <a:rPr sz="1000" b="1">
                <a:solidFill>
                  <a:srgbClr val="161B26"/>
                </a:solidFill>
                <a:latin typeface="Arial"/>
              </a:rPr>
              <a:t>Latency class</a:t>
            </a:r>
          </a:p>
        </p:txBody>
      </p:sp>
      <p:sp>
        <p:nvSpPr>
          <p:cNvPr id="39" name="Rectangle 38"/>
          <p:cNvSpPr/>
          <p:nvPr/>
        </p:nvSpPr>
        <p:spPr>
          <a:xfrm>
            <a:off x="2585100" y="3360420"/>
            <a:ext cx="4466478"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694828" y="3360420"/>
            <a:ext cx="4283598" cy="525780"/>
          </a:xfrm>
          <a:prstGeom prst="rect">
            <a:avLst/>
          </a:prstGeom>
          <a:noFill/>
        </p:spPr>
        <p:txBody>
          <a:bodyPr wrap="square" anchor="ctr">
            <a:spAutoFit/>
          </a:bodyPr>
          <a:lstStyle/>
          <a:p>
            <a:pPr algn="l">
              <a:spcAft>
                <a:spcPts val="400"/>
              </a:spcAft>
            </a:pPr>
            <a:r>
              <a:rPr sz="1000" b="0">
                <a:solidFill>
                  <a:srgbClr val="161B26"/>
                </a:solidFill>
                <a:latin typeface="Arial"/>
              </a:rPr>
              <a:t>Batch, 48-hour turnaround</a:t>
            </a:r>
          </a:p>
        </p:txBody>
      </p:sp>
      <p:sp>
        <p:nvSpPr>
          <p:cNvPr id="41" name="Rectangle 40"/>
          <p:cNvSpPr/>
          <p:nvPr/>
        </p:nvSpPr>
        <p:spPr>
          <a:xfrm>
            <a:off x="7051578" y="3360420"/>
            <a:ext cx="957102"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161306" y="3360420"/>
            <a:ext cx="774222" cy="525780"/>
          </a:xfrm>
          <a:prstGeom prst="rect">
            <a:avLst/>
          </a:prstGeom>
          <a:noFill/>
        </p:spPr>
        <p:txBody>
          <a:bodyPr wrap="square" anchor="ctr">
            <a:spAutoFit/>
          </a:bodyPr>
          <a:lstStyle/>
          <a:p>
            <a:pPr algn="l">
              <a:spcAft>
                <a:spcPts val="400"/>
              </a:spcAft>
            </a:pPr>
            <a:r>
              <a:rPr sz="1000" b="0">
                <a:solidFill>
                  <a:srgbClr val="161B26"/>
                </a:solidFill>
                <a:latin typeface="Arial"/>
              </a:rPr>
              <a:t>5</a:t>
            </a:r>
          </a:p>
        </p:txBody>
      </p:sp>
      <p:sp>
        <p:nvSpPr>
          <p:cNvPr id="43" name="Rectangle 42"/>
          <p:cNvSpPr/>
          <p:nvPr/>
        </p:nvSpPr>
        <p:spPr>
          <a:xfrm>
            <a:off x="8008680" y="3360420"/>
            <a:ext cx="1276136"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18408" y="3360420"/>
            <a:ext cx="1093256" cy="525780"/>
          </a:xfrm>
          <a:prstGeom prst="rect">
            <a:avLst/>
          </a:prstGeom>
          <a:noFill/>
        </p:spPr>
        <p:txBody>
          <a:bodyPr wrap="square" anchor="ctr">
            <a:spAutoFit/>
          </a:bodyPr>
          <a:lstStyle/>
          <a:p>
            <a:pPr algn="l">
              <a:spcAft>
                <a:spcPts val="400"/>
              </a:spcAft>
            </a:pPr>
            <a:r>
              <a:rPr sz="1000" b="0">
                <a:solidFill>
                  <a:srgbClr val="161B26"/>
                </a:solidFill>
                <a:latin typeface="Arial"/>
              </a:rPr>
              <a:t>0.75</a:t>
            </a:r>
          </a:p>
        </p:txBody>
      </p:sp>
      <p:sp>
        <p:nvSpPr>
          <p:cNvPr id="45" name="Rectangle 44"/>
          <p:cNvSpPr/>
          <p:nvPr/>
        </p:nvSpPr>
        <p:spPr>
          <a:xfrm>
            <a:off x="9284816" y="3360420"/>
            <a:ext cx="2126894"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394544" y="3360420"/>
            <a:ext cx="1944014" cy="525780"/>
          </a:xfrm>
          <a:prstGeom prst="rect">
            <a:avLst/>
          </a:prstGeom>
          <a:noFill/>
        </p:spPr>
        <p:txBody>
          <a:bodyPr wrap="square" anchor="ctr">
            <a:spAutoFit/>
          </a:bodyPr>
          <a:lstStyle/>
          <a:p>
            <a:pPr algn="l">
              <a:spcAft>
                <a:spcPts val="400"/>
              </a:spcAft>
            </a:pPr>
            <a:r>
              <a:rPr sz="1000" b="0">
                <a:solidFill>
                  <a:srgbClr val="161B26"/>
                </a:solidFill>
                <a:latin typeface="Arial"/>
              </a:rPr>
              <a:t>3.75</a:t>
            </a:r>
          </a:p>
        </p:txBody>
      </p:sp>
      <p:sp>
        <p:nvSpPr>
          <p:cNvPr id="47" name="Rectangle 46"/>
          <p:cNvSpPr/>
          <p:nvPr/>
        </p:nvSpPr>
        <p:spPr>
          <a:xfrm>
            <a:off x="777240" y="3886200"/>
            <a:ext cx="1807860"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6968" y="3886200"/>
            <a:ext cx="1624980" cy="525780"/>
          </a:xfrm>
          <a:prstGeom prst="rect">
            <a:avLst/>
          </a:prstGeom>
          <a:noFill/>
        </p:spPr>
        <p:txBody>
          <a:bodyPr wrap="square" anchor="ctr">
            <a:spAutoFit/>
          </a:bodyPr>
          <a:lstStyle/>
          <a:p>
            <a:pPr algn="l">
              <a:spcAft>
                <a:spcPts val="400"/>
              </a:spcAft>
            </a:pPr>
            <a:r>
              <a:rPr sz="1000" b="1">
                <a:solidFill>
                  <a:srgbClr val="161B26"/>
                </a:solidFill>
                <a:latin typeface="Arial"/>
              </a:rPr>
              <a:t>Accuracy tolerance</a:t>
            </a:r>
          </a:p>
        </p:txBody>
      </p:sp>
      <p:sp>
        <p:nvSpPr>
          <p:cNvPr id="49" name="Rectangle 48"/>
          <p:cNvSpPr/>
          <p:nvPr/>
        </p:nvSpPr>
        <p:spPr>
          <a:xfrm>
            <a:off x="2585100" y="3886200"/>
            <a:ext cx="4466478"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694828" y="3886200"/>
            <a:ext cx="4283598" cy="525780"/>
          </a:xfrm>
          <a:prstGeom prst="rect">
            <a:avLst/>
          </a:prstGeom>
          <a:noFill/>
        </p:spPr>
        <p:txBody>
          <a:bodyPr wrap="square" anchor="ctr">
            <a:spAutoFit/>
          </a:bodyPr>
          <a:lstStyle/>
          <a:p>
            <a:pPr algn="l">
              <a:spcAft>
                <a:spcPts val="400"/>
              </a:spcAft>
            </a:pPr>
            <a:r>
              <a:rPr sz="1000" b="0">
                <a:solidFill>
                  <a:srgbClr val="161B26"/>
                </a:solidFill>
                <a:latin typeface="Arial"/>
              </a:rPr>
              <a:t>Every output reviewed before publication</a:t>
            </a:r>
          </a:p>
        </p:txBody>
      </p:sp>
      <p:sp>
        <p:nvSpPr>
          <p:cNvPr id="51" name="Rectangle 50"/>
          <p:cNvSpPr/>
          <p:nvPr/>
        </p:nvSpPr>
        <p:spPr>
          <a:xfrm>
            <a:off x="7051578" y="3886200"/>
            <a:ext cx="957102"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161306" y="3886200"/>
            <a:ext cx="774222" cy="525780"/>
          </a:xfrm>
          <a:prstGeom prst="rect">
            <a:avLst/>
          </a:prstGeom>
          <a:noFill/>
        </p:spPr>
        <p:txBody>
          <a:bodyPr wrap="square" anchor="ctr">
            <a:spAutoFit/>
          </a:bodyPr>
          <a:lstStyle/>
          <a:p>
            <a:pPr algn="l">
              <a:spcAft>
                <a:spcPts val="400"/>
              </a:spcAft>
            </a:pPr>
            <a:r>
              <a:rPr sz="1000" b="0">
                <a:solidFill>
                  <a:srgbClr val="161B26"/>
                </a:solidFill>
                <a:latin typeface="Arial"/>
              </a:rPr>
              <a:t>5</a:t>
            </a:r>
          </a:p>
        </p:txBody>
      </p:sp>
      <p:sp>
        <p:nvSpPr>
          <p:cNvPr id="53" name="Rectangle 52"/>
          <p:cNvSpPr/>
          <p:nvPr/>
        </p:nvSpPr>
        <p:spPr>
          <a:xfrm>
            <a:off x="8008680" y="3886200"/>
            <a:ext cx="1276136"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118408" y="3886200"/>
            <a:ext cx="1093256" cy="525780"/>
          </a:xfrm>
          <a:prstGeom prst="rect">
            <a:avLst/>
          </a:prstGeom>
          <a:noFill/>
        </p:spPr>
        <p:txBody>
          <a:bodyPr wrap="square" anchor="ctr">
            <a:spAutoFit/>
          </a:bodyPr>
          <a:lstStyle/>
          <a:p>
            <a:pPr algn="l">
              <a:spcAft>
                <a:spcPts val="400"/>
              </a:spcAft>
            </a:pPr>
            <a:r>
              <a:rPr sz="1000" b="0">
                <a:solidFill>
                  <a:srgbClr val="161B26"/>
                </a:solidFill>
                <a:latin typeface="Arial"/>
              </a:rPr>
              <a:t>0.75</a:t>
            </a:r>
          </a:p>
        </p:txBody>
      </p:sp>
      <p:sp>
        <p:nvSpPr>
          <p:cNvPr id="55" name="Rectangle 54"/>
          <p:cNvSpPr/>
          <p:nvPr/>
        </p:nvSpPr>
        <p:spPr>
          <a:xfrm>
            <a:off x="9284816" y="3886200"/>
            <a:ext cx="2126894"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394544" y="3886200"/>
            <a:ext cx="1944014" cy="525780"/>
          </a:xfrm>
          <a:prstGeom prst="rect">
            <a:avLst/>
          </a:prstGeom>
          <a:noFill/>
        </p:spPr>
        <p:txBody>
          <a:bodyPr wrap="square" anchor="ctr">
            <a:spAutoFit/>
          </a:bodyPr>
          <a:lstStyle/>
          <a:p>
            <a:pPr algn="l">
              <a:spcAft>
                <a:spcPts val="400"/>
              </a:spcAft>
            </a:pPr>
            <a:r>
              <a:rPr sz="1000" b="0">
                <a:solidFill>
                  <a:srgbClr val="161B26"/>
                </a:solidFill>
                <a:latin typeface="Arial"/>
              </a:rPr>
              <a:t>3.75</a:t>
            </a:r>
          </a:p>
        </p:txBody>
      </p:sp>
      <p:sp>
        <p:nvSpPr>
          <p:cNvPr id="57" name="Rectangle 56"/>
          <p:cNvSpPr/>
          <p:nvPr/>
        </p:nvSpPr>
        <p:spPr>
          <a:xfrm>
            <a:off x="777240" y="4411980"/>
            <a:ext cx="1807860"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86968" y="4411980"/>
            <a:ext cx="1624980" cy="525780"/>
          </a:xfrm>
          <a:prstGeom prst="rect">
            <a:avLst/>
          </a:prstGeom>
          <a:noFill/>
        </p:spPr>
        <p:txBody>
          <a:bodyPr wrap="square" anchor="ctr">
            <a:spAutoFit/>
          </a:bodyPr>
          <a:lstStyle/>
          <a:p>
            <a:pPr algn="l">
              <a:spcAft>
                <a:spcPts val="400"/>
              </a:spcAft>
            </a:pPr>
            <a:r>
              <a:rPr sz="1000" b="1">
                <a:solidFill>
                  <a:srgbClr val="161B26"/>
                </a:solidFill>
                <a:latin typeface="Arial"/>
              </a:rPr>
              <a:t>Privacy risk</a:t>
            </a:r>
          </a:p>
        </p:txBody>
      </p:sp>
      <p:sp>
        <p:nvSpPr>
          <p:cNvPr id="59" name="Rectangle 58"/>
          <p:cNvSpPr/>
          <p:nvPr/>
        </p:nvSpPr>
        <p:spPr>
          <a:xfrm>
            <a:off x="2585100" y="4411980"/>
            <a:ext cx="4466478"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694828" y="4411980"/>
            <a:ext cx="4283598" cy="525780"/>
          </a:xfrm>
          <a:prstGeom prst="rect">
            <a:avLst/>
          </a:prstGeom>
          <a:noFill/>
        </p:spPr>
        <p:txBody>
          <a:bodyPr wrap="square" anchor="ctr">
            <a:spAutoFit/>
          </a:bodyPr>
          <a:lstStyle/>
          <a:p>
            <a:pPr algn="l">
              <a:spcAft>
                <a:spcPts val="400"/>
              </a:spcAft>
            </a:pPr>
            <a:r>
              <a:rPr sz="1000" b="0">
                <a:solidFill>
                  <a:srgbClr val="161B26"/>
                </a:solidFill>
                <a:latin typeface="Arial"/>
              </a:rPr>
              <a:t>No identifiable person in frame</a:t>
            </a:r>
          </a:p>
        </p:txBody>
      </p:sp>
      <p:sp>
        <p:nvSpPr>
          <p:cNvPr id="61" name="Rectangle 60"/>
          <p:cNvSpPr/>
          <p:nvPr/>
        </p:nvSpPr>
        <p:spPr>
          <a:xfrm>
            <a:off x="7051578" y="4411980"/>
            <a:ext cx="957102"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161306" y="4411980"/>
            <a:ext cx="774222" cy="525780"/>
          </a:xfrm>
          <a:prstGeom prst="rect">
            <a:avLst/>
          </a:prstGeom>
          <a:noFill/>
        </p:spPr>
        <p:txBody>
          <a:bodyPr wrap="square" anchor="ctr">
            <a:spAutoFit/>
          </a:bodyPr>
          <a:lstStyle/>
          <a:p>
            <a:pPr algn="l">
              <a:spcAft>
                <a:spcPts val="400"/>
              </a:spcAft>
            </a:pPr>
            <a:r>
              <a:rPr sz="1000" b="0">
                <a:solidFill>
                  <a:srgbClr val="161B26"/>
                </a:solidFill>
                <a:latin typeface="Arial"/>
              </a:rPr>
              <a:t>5</a:t>
            </a:r>
          </a:p>
        </p:txBody>
      </p:sp>
      <p:sp>
        <p:nvSpPr>
          <p:cNvPr id="63" name="Rectangle 62"/>
          <p:cNvSpPr/>
          <p:nvPr/>
        </p:nvSpPr>
        <p:spPr>
          <a:xfrm>
            <a:off x="8008680" y="4411980"/>
            <a:ext cx="1276136"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118408" y="4411980"/>
            <a:ext cx="1093256" cy="525780"/>
          </a:xfrm>
          <a:prstGeom prst="rect">
            <a:avLst/>
          </a:prstGeom>
          <a:noFill/>
        </p:spPr>
        <p:txBody>
          <a:bodyPr wrap="square" anchor="ctr">
            <a:spAutoFit/>
          </a:bodyPr>
          <a:lstStyle/>
          <a:p>
            <a:pPr algn="l">
              <a:spcAft>
                <a:spcPts val="400"/>
              </a:spcAft>
            </a:pPr>
            <a:r>
              <a:rPr sz="1000" b="0">
                <a:solidFill>
                  <a:srgbClr val="161B26"/>
                </a:solidFill>
                <a:latin typeface="Arial"/>
              </a:rPr>
              <a:t>1.25</a:t>
            </a:r>
          </a:p>
        </p:txBody>
      </p:sp>
      <p:sp>
        <p:nvSpPr>
          <p:cNvPr id="65" name="Rectangle 64"/>
          <p:cNvSpPr/>
          <p:nvPr/>
        </p:nvSpPr>
        <p:spPr>
          <a:xfrm>
            <a:off x="9284816" y="4411980"/>
            <a:ext cx="2126894"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394544" y="4411980"/>
            <a:ext cx="1944014" cy="525780"/>
          </a:xfrm>
          <a:prstGeom prst="rect">
            <a:avLst/>
          </a:prstGeom>
          <a:noFill/>
        </p:spPr>
        <p:txBody>
          <a:bodyPr wrap="square" anchor="ctr">
            <a:spAutoFit/>
          </a:bodyPr>
          <a:lstStyle/>
          <a:p>
            <a:pPr algn="l">
              <a:spcAft>
                <a:spcPts val="400"/>
              </a:spcAft>
            </a:pPr>
            <a:r>
              <a:rPr sz="1000" b="0">
                <a:solidFill>
                  <a:srgbClr val="161B26"/>
                </a:solidFill>
                <a:latin typeface="Arial"/>
              </a:rPr>
              <a:t>6.25</a:t>
            </a:r>
          </a:p>
        </p:txBody>
      </p:sp>
      <p:sp>
        <p:nvSpPr>
          <p:cNvPr id="67" name="Rectangle 66"/>
          <p:cNvSpPr/>
          <p:nvPr/>
        </p:nvSpPr>
        <p:spPr>
          <a:xfrm>
            <a:off x="777240" y="4937760"/>
            <a:ext cx="1807860"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86968" y="4937760"/>
            <a:ext cx="1624980" cy="525780"/>
          </a:xfrm>
          <a:prstGeom prst="rect">
            <a:avLst/>
          </a:prstGeom>
          <a:noFill/>
        </p:spPr>
        <p:txBody>
          <a:bodyPr wrap="square" anchor="ctr">
            <a:spAutoFit/>
          </a:bodyPr>
          <a:lstStyle/>
          <a:p>
            <a:pPr algn="l">
              <a:spcAft>
                <a:spcPts val="400"/>
              </a:spcAft>
            </a:pPr>
            <a:r>
              <a:rPr sz="1000" b="1">
                <a:solidFill>
                  <a:srgbClr val="161B26"/>
                </a:solidFill>
                <a:latin typeface="Arial"/>
              </a:rPr>
              <a:t>Cost gap</a:t>
            </a:r>
          </a:p>
        </p:txBody>
      </p:sp>
      <p:sp>
        <p:nvSpPr>
          <p:cNvPr id="69" name="Rectangle 68"/>
          <p:cNvSpPr/>
          <p:nvPr/>
        </p:nvSpPr>
        <p:spPr>
          <a:xfrm>
            <a:off x="2585100" y="4937760"/>
            <a:ext cx="4466478"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694828" y="4937760"/>
            <a:ext cx="4283598" cy="525780"/>
          </a:xfrm>
          <a:prstGeom prst="rect">
            <a:avLst/>
          </a:prstGeom>
          <a:noFill/>
        </p:spPr>
        <p:txBody>
          <a:bodyPr wrap="square" anchor="ctr">
            <a:spAutoFit/>
          </a:bodyPr>
          <a:lstStyle/>
          <a:p>
            <a:pPr algn="l">
              <a:spcAft>
                <a:spcPts val="400"/>
              </a:spcAft>
            </a:pPr>
            <a:r>
              <a:rPr sz="1000" b="0">
                <a:solidFill>
                  <a:srgbClr val="161B26"/>
                </a:solidFill>
                <a:latin typeface="Arial"/>
              </a:rPr>
              <a:t>(9800 − 2600)/9800 = 0.735 (≥ 0.6)</a:t>
            </a:r>
          </a:p>
        </p:txBody>
      </p:sp>
      <p:sp>
        <p:nvSpPr>
          <p:cNvPr id="71" name="Rectangle 70"/>
          <p:cNvSpPr/>
          <p:nvPr/>
        </p:nvSpPr>
        <p:spPr>
          <a:xfrm>
            <a:off x="7051578" y="4937760"/>
            <a:ext cx="957102"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161306" y="4937760"/>
            <a:ext cx="774222" cy="525780"/>
          </a:xfrm>
          <a:prstGeom prst="rect">
            <a:avLst/>
          </a:prstGeom>
          <a:noFill/>
        </p:spPr>
        <p:txBody>
          <a:bodyPr wrap="square" anchor="ctr">
            <a:spAutoFit/>
          </a:bodyPr>
          <a:lstStyle/>
          <a:p>
            <a:pPr algn="l">
              <a:spcAft>
                <a:spcPts val="400"/>
              </a:spcAft>
            </a:pPr>
            <a:r>
              <a:rPr sz="1000" b="0">
                <a:solidFill>
                  <a:srgbClr val="161B26"/>
                </a:solidFill>
                <a:latin typeface="Arial"/>
              </a:rPr>
              <a:t>5</a:t>
            </a:r>
          </a:p>
        </p:txBody>
      </p:sp>
      <p:sp>
        <p:nvSpPr>
          <p:cNvPr id="73" name="Rectangle 72"/>
          <p:cNvSpPr/>
          <p:nvPr/>
        </p:nvSpPr>
        <p:spPr>
          <a:xfrm>
            <a:off x="8008680" y="4937760"/>
            <a:ext cx="1276136"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118408" y="4937760"/>
            <a:ext cx="1093256" cy="525780"/>
          </a:xfrm>
          <a:prstGeom prst="rect">
            <a:avLst/>
          </a:prstGeom>
          <a:noFill/>
        </p:spPr>
        <p:txBody>
          <a:bodyPr wrap="square" anchor="ctr">
            <a:spAutoFit/>
          </a:bodyPr>
          <a:lstStyle/>
          <a:p>
            <a:pPr algn="l">
              <a:spcAft>
                <a:spcPts val="400"/>
              </a:spcAft>
            </a:pPr>
            <a:r>
              <a:rPr sz="1000" b="0">
                <a:solidFill>
                  <a:srgbClr val="161B26"/>
                </a:solidFill>
                <a:latin typeface="Arial"/>
              </a:rPr>
              <a:t>1.25</a:t>
            </a:r>
          </a:p>
        </p:txBody>
      </p:sp>
      <p:sp>
        <p:nvSpPr>
          <p:cNvPr id="75" name="Rectangle 74"/>
          <p:cNvSpPr/>
          <p:nvPr/>
        </p:nvSpPr>
        <p:spPr>
          <a:xfrm>
            <a:off x="9284816" y="4937760"/>
            <a:ext cx="2126894"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394544" y="4937760"/>
            <a:ext cx="1944014" cy="525780"/>
          </a:xfrm>
          <a:prstGeom prst="rect">
            <a:avLst/>
          </a:prstGeom>
          <a:noFill/>
        </p:spPr>
        <p:txBody>
          <a:bodyPr wrap="square" anchor="ctr">
            <a:spAutoFit/>
          </a:bodyPr>
          <a:lstStyle/>
          <a:p>
            <a:pPr algn="l">
              <a:spcAft>
                <a:spcPts val="400"/>
              </a:spcAft>
            </a:pPr>
            <a:r>
              <a:rPr sz="1000" b="0">
                <a:solidFill>
                  <a:srgbClr val="161B26"/>
                </a:solidFill>
                <a:latin typeface="Arial"/>
              </a:rPr>
              <a:t>6.25</a:t>
            </a:r>
          </a:p>
        </p:txBody>
      </p:sp>
      <p:sp>
        <p:nvSpPr>
          <p:cNvPr id="77" name="Rectangle 76"/>
          <p:cNvSpPr/>
          <p:nvPr/>
        </p:nvSpPr>
        <p:spPr>
          <a:xfrm>
            <a:off x="777240" y="5463540"/>
            <a:ext cx="1807860"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86968" y="5463540"/>
            <a:ext cx="1624980" cy="525780"/>
          </a:xfrm>
          <a:prstGeom prst="rect">
            <a:avLst/>
          </a:prstGeom>
          <a:noFill/>
        </p:spPr>
        <p:txBody>
          <a:bodyPr wrap="square" anchor="ctr">
            <a:spAutoFit/>
          </a:bodyPr>
          <a:lstStyle/>
          <a:p>
            <a:pPr algn="l">
              <a:spcAft>
                <a:spcPts val="400"/>
              </a:spcAft>
            </a:pPr>
            <a:r>
              <a:rPr sz="1000" b="1">
                <a:solidFill>
                  <a:srgbClr val="161B26"/>
                </a:solidFill>
                <a:latin typeface="Arial"/>
              </a:rPr>
              <a:t>TOTAL</a:t>
            </a:r>
          </a:p>
        </p:txBody>
      </p:sp>
      <p:sp>
        <p:nvSpPr>
          <p:cNvPr id="79" name="Rectangle 78"/>
          <p:cNvSpPr/>
          <p:nvPr/>
        </p:nvSpPr>
        <p:spPr>
          <a:xfrm>
            <a:off x="2585100" y="5463540"/>
            <a:ext cx="4466478"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694828" y="5463540"/>
            <a:ext cx="4283598" cy="525780"/>
          </a:xfrm>
          <a:prstGeom prst="rect">
            <a:avLst/>
          </a:prstGeom>
          <a:noFill/>
        </p:spPr>
        <p:txBody>
          <a:bodyPr wrap="square" anchor="ctr">
            <a:spAutoFit/>
          </a:bodyPr>
          <a:lstStyle/>
          <a:p>
            <a:pPr algn="l">
              <a:spcAft>
                <a:spcPts val="400"/>
              </a:spcAft>
            </a:pPr>
            <a:r>
              <a:rPr sz="1000" b="0">
                <a:solidFill>
                  <a:srgbClr val="161B26"/>
                </a:solidFill>
                <a:latin typeface="Arial"/>
              </a:rPr>
              <a:t>Maximum possible is 32.5</a:t>
            </a:r>
          </a:p>
        </p:txBody>
      </p:sp>
      <p:sp>
        <p:nvSpPr>
          <p:cNvPr id="81" name="Rectangle 80"/>
          <p:cNvSpPr/>
          <p:nvPr/>
        </p:nvSpPr>
        <p:spPr>
          <a:xfrm>
            <a:off x="7051578" y="5463540"/>
            <a:ext cx="957102"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161306" y="5463540"/>
            <a:ext cx="774222" cy="525780"/>
          </a:xfrm>
          <a:prstGeom prst="rect">
            <a:avLst/>
          </a:prstGeom>
          <a:noFill/>
        </p:spPr>
        <p:txBody>
          <a:bodyPr wrap="square" anchor="ctr">
            <a:spAutoFit/>
          </a:bodyPr>
          <a:lstStyle/>
          <a:p>
            <a:pPr algn="l">
              <a:spcAft>
                <a:spcPts val="400"/>
              </a:spcAft>
            </a:pPr>
            <a:r>
              <a:rPr sz="1000" b="0">
                <a:solidFill>
                  <a:srgbClr val="161B26"/>
                </a:solidFill>
                <a:latin typeface="Arial"/>
              </a:rPr>
              <a:t/>
            </a:r>
          </a:p>
        </p:txBody>
      </p:sp>
      <p:sp>
        <p:nvSpPr>
          <p:cNvPr id="83" name="Rectangle 82"/>
          <p:cNvSpPr/>
          <p:nvPr/>
        </p:nvSpPr>
        <p:spPr>
          <a:xfrm>
            <a:off x="8008680" y="5463540"/>
            <a:ext cx="1276136"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118408" y="5463540"/>
            <a:ext cx="1093256" cy="525780"/>
          </a:xfrm>
          <a:prstGeom prst="rect">
            <a:avLst/>
          </a:prstGeom>
          <a:noFill/>
        </p:spPr>
        <p:txBody>
          <a:bodyPr wrap="square" anchor="ctr">
            <a:spAutoFit/>
          </a:bodyPr>
          <a:lstStyle/>
          <a:p>
            <a:pPr algn="l">
              <a:spcAft>
                <a:spcPts val="400"/>
              </a:spcAft>
            </a:pPr>
            <a:r>
              <a:rPr sz="1000" b="0">
                <a:solidFill>
                  <a:srgbClr val="161B26"/>
                </a:solidFill>
                <a:latin typeface="Arial"/>
              </a:rPr>
              <a:t/>
            </a:r>
          </a:p>
        </p:txBody>
      </p:sp>
      <p:sp>
        <p:nvSpPr>
          <p:cNvPr id="85" name="Rectangle 84"/>
          <p:cNvSpPr/>
          <p:nvPr/>
        </p:nvSpPr>
        <p:spPr>
          <a:xfrm>
            <a:off x="9284816" y="5463540"/>
            <a:ext cx="2126894"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394544" y="5463540"/>
            <a:ext cx="1944014" cy="525780"/>
          </a:xfrm>
          <a:prstGeom prst="rect">
            <a:avLst/>
          </a:prstGeom>
          <a:noFill/>
        </p:spPr>
        <p:txBody>
          <a:bodyPr wrap="square" anchor="ctr">
            <a:spAutoFit/>
          </a:bodyPr>
          <a:lstStyle/>
          <a:p>
            <a:pPr algn="l">
              <a:spcAft>
                <a:spcPts val="400"/>
              </a:spcAft>
            </a:pPr>
            <a:r>
              <a:rPr sz="1000" b="0">
                <a:solidFill>
                  <a:srgbClr val="161B26"/>
                </a:solidFill>
                <a:latin typeface="Arial"/>
              </a:rPr>
              <a:t>32.50</a:t>
            </a:r>
          </a:p>
        </p:txBody>
      </p:sp>
      <p:sp>
        <p:nvSpPr>
          <p:cNvPr id="87" name="TextBox 86"/>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Scoring 32.5 out of 32.5 is not approval. The case still has to pass the cost gate: 2600/1450 = S$1.79 per asset against a S$1.20 ceiling. Score then gates — never the other way round.</a:t>
            </a:r>
          </a:p>
        </p:txBody>
      </p:sp>
      <p:sp>
        <p:nvSpPr>
          <p:cNvPr id="88" name="TextBox 8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89" name="TextBox 8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0" name="TextBox 8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A1 · THE DELIVERABLE FROM LAB 01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Five-Stage Pipeline Specification You Will Write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9860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87634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87634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9482328" cy="552297"/>
          </a:xfrm>
          <a:prstGeom prst="rect">
            <a:avLst/>
          </a:prstGeom>
          <a:noFill/>
        </p:spPr>
        <p:txBody>
          <a:bodyPr wrap="square" anchor="ctr">
            <a:spAutoFit/>
          </a:bodyPr>
          <a:lstStyle/>
          <a:p>
            <a:pPr algn="l">
              <a:spcAft>
                <a:spcPts val="200"/>
              </a:spcAft>
            </a:pPr>
            <a:r>
              <a:rPr sz="1350" b="1">
                <a:solidFill>
                  <a:srgbClr val="161B26"/>
                </a:solidFill>
                <a:latin typeface="Arial"/>
              </a:rPr>
              <a:t>1 SENSE</a:t>
            </a:r>
          </a:p>
          <a:p>
            <a:pPr algn="l">
              <a:spcAft>
                <a:spcPts val="200"/>
              </a:spcAft>
            </a:pPr>
            <a:r>
              <a:rPr sz="1050" b="0">
                <a:solidFill>
                  <a:srgbClr val="5B6372"/>
                </a:solidFill>
                <a:latin typeface="Arial"/>
              </a:rPr>
              <a:t>Source (catalogue asset, store camera, or text prompt), resolution and rate. For a text prompt, mark the pixel fields not applicable and state the intended output dimensions.</a:t>
            </a:r>
          </a:p>
        </p:txBody>
      </p:sp>
      <p:sp>
        <p:nvSpPr>
          <p:cNvPr id="12" name="Rectangle 11"/>
          <p:cNvSpPr/>
          <p:nvPr/>
        </p:nvSpPr>
        <p:spPr>
          <a:xfrm>
            <a:off x="777240" y="2701137"/>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1137"/>
            <a:ext cx="91440" cy="69860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2794405"/>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2794405"/>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2792577"/>
            <a:ext cx="9482328" cy="552297"/>
          </a:xfrm>
          <a:prstGeom prst="rect">
            <a:avLst/>
          </a:prstGeom>
          <a:noFill/>
        </p:spPr>
        <p:txBody>
          <a:bodyPr wrap="square" anchor="ctr">
            <a:spAutoFit/>
          </a:bodyPr>
          <a:lstStyle/>
          <a:p>
            <a:pPr algn="l">
              <a:spcAft>
                <a:spcPts val="200"/>
              </a:spcAft>
            </a:pPr>
            <a:r>
              <a:rPr sz="1350" b="1">
                <a:solidFill>
                  <a:srgbClr val="161B26"/>
                </a:solidFill>
                <a:latin typeface="Arial"/>
              </a:rPr>
              <a:t>2 REPRESENT</a:t>
            </a:r>
          </a:p>
          <a:p>
            <a:pPr algn="l">
              <a:spcAft>
                <a:spcPts val="200"/>
              </a:spcAft>
            </a:pPr>
            <a:r>
              <a:rPr sz="1050" b="0">
                <a:solidFill>
                  <a:srgbClr val="5B6372"/>
                </a:solidFill>
                <a:latin typeface="Arial"/>
              </a:rPr>
              <a:t>Colour space, working resolution, and where the asset is stored.</a:t>
            </a:r>
          </a:p>
        </p:txBody>
      </p:sp>
      <p:sp>
        <p:nvSpPr>
          <p:cNvPr id="17" name="Rectangle 16"/>
          <p:cNvSpPr/>
          <p:nvPr/>
        </p:nvSpPr>
        <p:spPr>
          <a:xfrm>
            <a:off x="777240" y="3619194"/>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19194"/>
            <a:ext cx="91440" cy="69860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710634"/>
            <a:ext cx="9482328" cy="552297"/>
          </a:xfrm>
          <a:prstGeom prst="rect">
            <a:avLst/>
          </a:prstGeom>
          <a:noFill/>
        </p:spPr>
        <p:txBody>
          <a:bodyPr wrap="square" anchor="ctr">
            <a:spAutoFit/>
          </a:bodyPr>
          <a:lstStyle/>
          <a:p>
            <a:pPr algn="l">
              <a:spcAft>
                <a:spcPts val="200"/>
              </a:spcAft>
            </a:pPr>
            <a:r>
              <a:rPr sz="1350" b="1">
                <a:solidFill>
                  <a:srgbClr val="161B26"/>
                </a:solidFill>
                <a:latin typeface="Arial"/>
              </a:rPr>
              <a:t>3 ANALYSE</a:t>
            </a:r>
          </a:p>
          <a:p>
            <a:pPr algn="l">
              <a:spcAft>
                <a:spcPts val="200"/>
              </a:spcAft>
            </a:pPr>
            <a:r>
              <a:rPr sz="1050" b="0">
                <a:solidFill>
                  <a:srgbClr val="5B6372"/>
                </a:solidFill>
                <a:latin typeface="Arial"/>
              </a:rPr>
              <a:t>The specific named measurement that will gate quality — an HSV histogram distance against the brand reference, an edge density, a detector recall, a PSNR or SSIM value.</a:t>
            </a:r>
          </a:p>
        </p:txBody>
      </p:sp>
      <p:sp>
        <p:nvSpPr>
          <p:cNvPr id="22" name="Rectangle 21"/>
          <p:cNvSpPr/>
          <p:nvPr/>
        </p:nvSpPr>
        <p:spPr>
          <a:xfrm>
            <a:off x="777240" y="4537251"/>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37251"/>
            <a:ext cx="91440" cy="69860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4630519"/>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4630519"/>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4628691"/>
            <a:ext cx="9482328" cy="552297"/>
          </a:xfrm>
          <a:prstGeom prst="rect">
            <a:avLst/>
          </a:prstGeom>
          <a:noFill/>
        </p:spPr>
        <p:txBody>
          <a:bodyPr wrap="square" anchor="ctr">
            <a:spAutoFit/>
          </a:bodyPr>
          <a:lstStyle/>
          <a:p>
            <a:pPr algn="l">
              <a:spcAft>
                <a:spcPts val="200"/>
              </a:spcAft>
            </a:pPr>
            <a:r>
              <a:rPr sz="1350" b="1">
                <a:solidFill>
                  <a:srgbClr val="161B26"/>
                </a:solidFill>
                <a:latin typeface="Arial"/>
              </a:rPr>
              <a:t>4 DECIDE</a:t>
            </a:r>
          </a:p>
          <a:p>
            <a:pPr algn="l">
              <a:spcAft>
                <a:spcPts val="200"/>
              </a:spcAft>
            </a:pPr>
            <a:r>
              <a:rPr sz="1050" b="0">
                <a:solidFill>
                  <a:srgbClr val="5B6372"/>
                </a:solidFill>
                <a:latin typeface="Arial"/>
              </a:rPr>
              <a:t>The numeric threshold, and what happens on each side of it: auto-publish, human review queue, or reject and regenerate. A pipeline without a threshold is a demo.</a:t>
            </a:r>
          </a:p>
        </p:txBody>
      </p:sp>
      <p:sp>
        <p:nvSpPr>
          <p:cNvPr id="27" name="Rectangle 26"/>
          <p:cNvSpPr/>
          <p:nvPr/>
        </p:nvSpPr>
        <p:spPr>
          <a:xfrm>
            <a:off x="777240" y="5455308"/>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55308"/>
            <a:ext cx="91440" cy="69860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54857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54857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5546748"/>
            <a:ext cx="9482328" cy="552297"/>
          </a:xfrm>
          <a:prstGeom prst="rect">
            <a:avLst/>
          </a:prstGeom>
          <a:noFill/>
        </p:spPr>
        <p:txBody>
          <a:bodyPr wrap="square" anchor="ctr">
            <a:spAutoFit/>
          </a:bodyPr>
          <a:lstStyle/>
          <a:p>
            <a:pPr algn="l">
              <a:spcAft>
                <a:spcPts val="200"/>
              </a:spcAft>
            </a:pPr>
            <a:r>
              <a:rPr sz="1350" b="1">
                <a:solidFill>
                  <a:srgbClr val="161B26"/>
                </a:solidFill>
                <a:latin typeface="Arial"/>
              </a:rPr>
              <a:t>5 ACT / SYNTHESISE</a:t>
            </a:r>
          </a:p>
          <a:p>
            <a:pPr algn="l">
              <a:spcAft>
                <a:spcPts val="200"/>
              </a:spcAft>
            </a:pPr>
            <a:r>
              <a:rPr sz="1050" b="0">
                <a:solidFill>
                  <a:srgbClr val="5B6372"/>
                </a:solidFill>
                <a:latin typeface="Arial"/>
              </a:rPr>
              <a:t>The output artefact, its formats and aspect ratios, who consumes it, and whether the stage is ANALYTICAL or GENERATIVE.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K8 · WHAT A PRETRAINED IMAGE MODEL ACTUALLY DOES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Image Classification, Worked End to End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907438" cy="2606040"/>
          </a:xfrm>
          <a:prstGeom prst="round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907438" cy="3840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INPUT</a:t>
            </a:r>
          </a:p>
        </p:txBody>
      </p:sp>
      <p:sp>
        <p:nvSpPr>
          <p:cNvPr id="10" name="TextBox 9"/>
          <p:cNvSpPr txBox="1"/>
          <p:nvPr/>
        </p:nvSpPr>
        <p:spPr>
          <a:xfrm>
            <a:off x="923544"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A 224x224x3 array, scaled to [0,1] or [-1,1]. Every model states the normalisation it was trained with; using a different one silently degrades accuracy.</a:t>
            </a:r>
          </a:p>
        </p:txBody>
      </p:sp>
      <p:cxnSp>
        <p:nvCxnSpPr>
          <p:cNvPr id="11" name="Connector 10"/>
          <p:cNvCxnSpPr/>
          <p:nvPr/>
        </p:nvCxnSpPr>
        <p:spPr>
          <a:xfrm>
            <a:off x="2684678" y="3451860"/>
            <a:ext cx="274320"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58998" y="2148840"/>
            <a:ext cx="1907438" cy="2606040"/>
          </a:xfrm>
          <a:prstGeom prst="roundRect">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148840"/>
            <a:ext cx="1907438"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58998"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FEATURE EXTRACTION</a:t>
            </a:r>
          </a:p>
        </p:txBody>
      </p:sp>
      <p:sp>
        <p:nvSpPr>
          <p:cNvPr id="15" name="TextBox 14"/>
          <p:cNvSpPr txBox="1"/>
          <p:nvPr/>
        </p:nvSpPr>
        <p:spPr>
          <a:xfrm>
            <a:off x="3105302"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Stacked convolutions and pooling reduce the array to a feature vector — the image's learned representation.</a:t>
            </a:r>
          </a:p>
        </p:txBody>
      </p:sp>
      <p:cxnSp>
        <p:nvCxnSpPr>
          <p:cNvPr id="16" name="Connector 15"/>
          <p:cNvCxnSpPr/>
          <p:nvPr/>
        </p:nvCxnSpPr>
        <p:spPr>
          <a:xfrm>
            <a:off x="4866436" y="3451860"/>
            <a:ext cx="274320"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40756" y="2148840"/>
            <a:ext cx="1907438" cy="2606040"/>
          </a:xfrm>
          <a:prstGeom prst="roundRect">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40756" y="2148840"/>
            <a:ext cx="1907438"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40756"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CLASSIFIER HEAD</a:t>
            </a:r>
          </a:p>
        </p:txBody>
      </p:sp>
      <p:sp>
        <p:nvSpPr>
          <p:cNvPr id="20" name="TextBox 19"/>
          <p:cNvSpPr txBox="1"/>
          <p:nvPr/>
        </p:nvSpPr>
        <p:spPr>
          <a:xfrm>
            <a:off x="5287060"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A fully connected layer maps that vector to one score per class. Raw scores, not probabilities.</a:t>
            </a:r>
          </a:p>
        </p:txBody>
      </p:sp>
      <p:cxnSp>
        <p:nvCxnSpPr>
          <p:cNvPr id="21" name="Connector 20"/>
          <p:cNvCxnSpPr/>
          <p:nvPr/>
        </p:nvCxnSpPr>
        <p:spPr>
          <a:xfrm>
            <a:off x="7048194" y="3451860"/>
            <a:ext cx="274320"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322514" y="2148840"/>
            <a:ext cx="1907438" cy="2606040"/>
          </a:xfrm>
          <a:prstGeom prst="roundRect">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22514" y="2148840"/>
            <a:ext cx="1907438"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22514"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SOFTMAX</a:t>
            </a:r>
          </a:p>
        </p:txBody>
      </p:sp>
      <p:sp>
        <p:nvSpPr>
          <p:cNvPr id="25" name="TextBox 24"/>
          <p:cNvSpPr txBox="1"/>
          <p:nvPr/>
        </p:nvSpPr>
        <p:spPr>
          <a:xfrm>
            <a:off x="7468818"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eˣⁱ / Σ eˣʲ turns the scores into probabilities that sum to 1. '85% cat' means 85% of the probability mass, not 85% confidence.</a:t>
            </a:r>
          </a:p>
        </p:txBody>
      </p:sp>
      <p:cxnSp>
        <p:nvCxnSpPr>
          <p:cNvPr id="26" name="Connector 25"/>
          <p:cNvCxnSpPr/>
          <p:nvPr/>
        </p:nvCxnSpPr>
        <p:spPr>
          <a:xfrm>
            <a:off x="9229952" y="3451860"/>
            <a:ext cx="274320"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504272" y="2148840"/>
            <a:ext cx="1907438" cy="2606040"/>
          </a:xfrm>
          <a:prstGeom prst="round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04272" y="2148840"/>
            <a:ext cx="1907438" cy="3840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4272"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DECISION</a:t>
            </a:r>
          </a:p>
        </p:txBody>
      </p:sp>
      <p:sp>
        <p:nvSpPr>
          <p:cNvPr id="30" name="TextBox 29"/>
          <p:cNvSpPr txBox="1"/>
          <p:nvPr/>
        </p:nvSpPr>
        <p:spPr>
          <a:xfrm>
            <a:off x="9650576"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argmax gives the label; the runner-up margin tells you how close the call was. A 0.51/0.49 split and a 0.99/0.01 split both report the same label.</a:t>
            </a:r>
          </a:p>
        </p:txBody>
      </p:sp>
      <p:sp>
        <p:nvSpPr>
          <p:cNvPr id="31" name="Rectangle 30"/>
          <p:cNvSpPr/>
          <p:nvPr/>
        </p:nvSpPr>
        <p:spPr>
          <a:xfrm>
            <a:off x="777240" y="5120640"/>
            <a:ext cx="10634472"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5120640"/>
            <a:ext cx="10241280" cy="914400"/>
          </a:xfrm>
          <a:prstGeom prst="rect">
            <a:avLst/>
          </a:prstGeom>
          <a:noFill/>
        </p:spPr>
        <p:txBody>
          <a:bodyPr wrap="square" anchor="ctr">
            <a:spAutoFit/>
          </a:bodyPr>
          <a:lstStyle/>
          <a:p>
            <a:pPr algn="l">
              <a:spcAft>
                <a:spcPts val="400"/>
              </a:spcAft>
            </a:pPr>
            <a:r>
              <a:rPr sz="1150" b="1">
                <a:solidFill>
                  <a:srgbClr val="127A3E"/>
                </a:solidFill>
                <a:latin typeface="Arial"/>
              </a:rPr>
              <a:t>SO WHAT   </a:t>
            </a:r>
            <a:r>
              <a:rPr sz="1300" b="0">
                <a:solidFill>
                  <a:srgbClr val="161B26"/>
                </a:solidFill>
                <a:latin typeface="Arial"/>
              </a:rPr>
              <a:t>Softmax always produces a confident-looking distribution, even for an input from a class the model has never seen. Always look at the margin, not just the top label.</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 K13 · THE ARCHITECTURAL MOVE THAT MADE HIGH RESOLUTION AFFORDABLE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Latent Space — Why Modern Models Do Not Work on Pixels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F6FEB"/>
                </a:solidFill>
                <a:latin typeface="Arial"/>
              </a:rPr>
              <a:t>Working on pixels</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Working on latents</a:t>
            </a:r>
          </a:p>
        </p:txBody>
      </p:sp>
      <p:sp>
        <p:nvSpPr>
          <p:cNvPr id="13" name="TextBox 12"/>
          <p:cNvSpPr txBox="1"/>
          <p:nvPr/>
        </p:nvSpPr>
        <p:spPr>
          <a:xfrm>
            <a:off x="1005840" y="2423160"/>
            <a:ext cx="4754880" cy="3017520"/>
          </a:xfrm>
          <a:prstGeom prst="rect">
            <a:avLst/>
          </a:prstGeom>
          <a:noFill/>
        </p:spPr>
        <p:txBody>
          <a:bodyPr wrap="square">
            <a:spAutoFit/>
          </a:bodyPr>
          <a:lstStyle/>
          <a:p>
            <a:pPr>
              <a:spcAft>
                <a:spcPts val="800"/>
              </a:spcAft>
            </a:pPr>
            <a:r>
              <a:rPr sz="1300" b="1">
                <a:solidFill>
                  <a:srgbClr val="161B26"/>
                </a:solidFill>
                <a:latin typeface="Arial"/>
              </a:rPr>
              <a:t>•  Pixel space is expensive</a:t>
            </a:r>
          </a:p>
          <a:p>
            <a:pPr>
              <a:spcAft>
                <a:spcPts val="800"/>
              </a:spcAft>
            </a:pPr>
            <a:r>
              <a:rPr sz="1100" b="0">
                <a:solidFill>
                  <a:srgbClr val="5B6372"/>
                </a:solidFill>
                <a:latin typeface="Arial"/>
              </a:rPr>
              <a:t>–  A 1024x1024 RGB image is 3,145,728 values.</a:t>
            </a:r>
          </a:p>
          <a:p>
            <a:pPr>
              <a:spcAft>
                <a:spcPts val="800"/>
              </a:spcAft>
            </a:pPr>
            <a:r>
              <a:rPr sz="1100" b="0">
                <a:solidFill>
                  <a:srgbClr val="5B6372"/>
                </a:solidFill>
                <a:latin typeface="Arial"/>
              </a:rPr>
              <a:t>–  Diffusion has to process that array once per denoising step.</a:t>
            </a:r>
          </a:p>
          <a:p>
            <a:pPr>
              <a:spcAft>
                <a:spcPts val="800"/>
              </a:spcAft>
            </a:pPr>
            <a:r>
              <a:rPr sz="1100" b="0">
                <a:solidFill>
                  <a:srgbClr val="5B6372"/>
                </a:solidFill>
                <a:latin typeface="Arial"/>
              </a:rPr>
              <a:t>–  At 25 steps that is 25 full passes over three million values, per sample.</a:t>
            </a:r>
          </a:p>
          <a:p>
            <a:pPr>
              <a:spcAft>
                <a:spcPts val="800"/>
              </a:spcAft>
            </a:pPr>
            <a:r>
              <a:rPr sz="1100" b="0">
                <a:solidFill>
                  <a:srgbClr val="5B6372"/>
                </a:solidFill>
                <a:latin typeface="Arial"/>
              </a:rPr>
              <a:t>–  Memory traffic, not arithmetic, becomes the bottleneck.</a:t>
            </a:r>
          </a:p>
        </p:txBody>
      </p:sp>
      <p:sp>
        <p:nvSpPr>
          <p:cNvPr id="14" name="TextBox 13"/>
          <p:cNvSpPr txBox="1"/>
          <p:nvPr/>
        </p:nvSpPr>
        <p:spPr>
          <a:xfrm>
            <a:off x="6583680" y="2423160"/>
            <a:ext cx="4617720" cy="3017520"/>
          </a:xfrm>
          <a:prstGeom prst="rect">
            <a:avLst/>
          </a:prstGeom>
          <a:noFill/>
        </p:spPr>
        <p:txBody>
          <a:bodyPr wrap="square">
            <a:spAutoFit/>
          </a:bodyPr>
          <a:lstStyle/>
          <a:p>
            <a:pPr>
              <a:spcAft>
                <a:spcPts val="800"/>
              </a:spcAft>
            </a:pPr>
            <a:r>
              <a:rPr sz="1300" b="1">
                <a:solidFill>
                  <a:srgbClr val="161B26"/>
                </a:solidFill>
                <a:latin typeface="Arial"/>
              </a:rPr>
              <a:t>•  Latent space is compressed</a:t>
            </a:r>
          </a:p>
          <a:p>
            <a:pPr>
              <a:spcAft>
                <a:spcPts val="800"/>
              </a:spcAft>
            </a:pPr>
            <a:r>
              <a:rPr sz="1100" b="0">
                <a:solidFill>
                  <a:srgbClr val="5B6372"/>
                </a:solidFill>
                <a:latin typeface="Arial"/>
              </a:rPr>
              <a:t>–  An autoencoder maps the image to a much smaller array first.</a:t>
            </a:r>
          </a:p>
          <a:p>
            <a:pPr>
              <a:spcAft>
                <a:spcPts val="800"/>
              </a:spcAft>
            </a:pPr>
            <a:r>
              <a:rPr sz="1100" b="0">
                <a:solidFill>
                  <a:srgbClr val="5B6372"/>
                </a:solidFill>
                <a:latin typeface="Arial"/>
              </a:rPr>
              <a:t>–  Diffusion runs entirely inside that compressed representation.</a:t>
            </a:r>
          </a:p>
          <a:p>
            <a:pPr>
              <a:spcAft>
                <a:spcPts val="800"/>
              </a:spcAft>
            </a:pPr>
            <a:r>
              <a:rPr sz="1100" b="0">
                <a:solidFill>
                  <a:srgbClr val="5B6372"/>
                </a:solidFill>
                <a:latin typeface="Arial"/>
              </a:rPr>
              <a:t>–  The decoder expands the final latent back to full resolution once.</a:t>
            </a:r>
          </a:p>
          <a:p>
            <a:pPr>
              <a:spcAft>
                <a:spcPts val="800"/>
              </a:spcAft>
            </a:pPr>
            <a:r>
              <a:rPr sz="1100" b="0">
                <a:solidFill>
                  <a:srgbClr val="5B6372"/>
                </a:solidFill>
                <a:latin typeface="Arial"/>
              </a:rPr>
              <a:t>–  This is why the VAE did not disappear — it became the encoder and decoder inside latent diffusion.</a:t>
            </a:r>
          </a:p>
        </p:txBody>
      </p:sp>
      <p:sp>
        <p:nvSpPr>
          <p:cNvPr id="15" name="TextBox 14"/>
          <p:cNvSpPr txBox="1"/>
          <p:nvPr/>
        </p:nvSpPr>
        <p:spPr>
          <a:xfrm>
            <a:off x="777240" y="5669280"/>
            <a:ext cx="10698480" cy="640080"/>
          </a:xfrm>
          <a:prstGeom prst="rect">
            <a:avLst/>
          </a:prstGeom>
          <a:noFill/>
        </p:spPr>
        <p:txBody>
          <a:bodyPr wrap="square" anchor="ctr">
            <a:spAutoFit/>
          </a:bodyPr>
          <a:lstStyle/>
          <a:p>
            <a:pPr algn="ctr">
              <a:spcAft>
                <a:spcPts val="400"/>
              </a:spcAft>
            </a:pPr>
            <a:r>
              <a:rPr sz="1250" b="0">
                <a:solidFill>
                  <a:srgbClr val="5B6372"/>
                </a:solidFill>
                <a:latin typeface="Arial"/>
              </a:rPr>
              <a:t>Source S17 Ch.7 p.95: latent diffusion is listed as the scaling strategy for resolution, with lower bandwidth cost at higher resolutions as the typical gain. It returns in Topic 05 as a deployment lever.</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7C3AED"/>
                </a:solidFill>
                <a:latin typeface="Arial"/>
              </a:rPr>
              <a:t>K1, K8 · THE MECHANISM BEHIND 'THE PROMPT DID NOT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How a Prompt Actually Reaches the Pixels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1 TOKENISE</a:t>
            </a:r>
          </a:p>
          <a:p>
            <a:pPr algn="l">
              <a:spcAft>
                <a:spcPts val="200"/>
              </a:spcAft>
            </a:pPr>
            <a:r>
              <a:rPr sz="1000" b="0">
                <a:solidFill>
                  <a:srgbClr val="5B6372"/>
                </a:solidFill>
                <a:latin typeface="Arial"/>
              </a:rPr>
              <a:t>The prompt is split into tokens and embedded as vectors. A misspelled brand name becomes different tokens and therefore a different condition.</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2 TEXT ENCODER</a:t>
            </a:r>
          </a:p>
          <a:p>
            <a:pPr algn="l">
              <a:spcAft>
                <a:spcPts val="200"/>
              </a:spcAft>
            </a:pPr>
            <a:r>
              <a:rPr sz="1000" b="0">
                <a:solidFill>
                  <a:srgbClr val="5B6372"/>
                </a:solidFill>
                <a:latin typeface="Arial"/>
              </a:rPr>
              <a:t>A language model turns the token sequence into a conditioning representation — the semantic content of what you asked for.</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3 CROSS-ATTENTION</a:t>
            </a:r>
          </a:p>
          <a:p>
            <a:pPr algn="l">
              <a:spcAft>
                <a:spcPts val="200"/>
              </a:spcAft>
            </a:pPr>
            <a:r>
              <a:rPr sz="1000" b="0">
                <a:solidFill>
                  <a:srgbClr val="5B6372"/>
                </a:solidFill>
                <a:latin typeface="Arial"/>
              </a:rPr>
              <a:t>At each denoising step the image model attends to that representation, so the text steers every step, not just the first.</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4 GUIDANCE</a:t>
            </a:r>
          </a:p>
          <a:p>
            <a:pPr algn="l">
              <a:spcAft>
                <a:spcPts val="200"/>
              </a:spcAft>
            </a:pPr>
            <a:r>
              <a:rPr sz="1000" b="0">
                <a:solidFill>
                  <a:srgbClr val="5B6372"/>
                </a:solidFill>
                <a:latin typeface="Arial"/>
              </a:rPr>
              <a:t>Classifier-free guidance amplifies the difference between the conditioned and unconditioned prediction. Higher guidance means more literal, and less diverse.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5 DECODE</a:t>
            </a:r>
          </a:p>
          <a:p>
            <a:pPr algn="l">
              <a:spcAft>
                <a:spcPts val="200"/>
              </a:spcAft>
            </a:pPr>
            <a:r>
              <a:rPr sz="1000" b="0">
                <a:solidFill>
                  <a:srgbClr val="5B6372"/>
                </a:solidFill>
                <a:latin typeface="Arial"/>
              </a:rPr>
              <a:t>The final latent is expanded to pixels by the decoder.</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Why word order matters</a:t>
            </a:r>
          </a:p>
          <a:p>
            <a:pPr algn="l">
              <a:spcAft>
                <a:spcPts val="200"/>
              </a:spcAft>
            </a:pPr>
            <a:r>
              <a:rPr sz="1000" b="0">
                <a:solidFill>
                  <a:srgbClr val="5B6372"/>
                </a:solidFill>
                <a:latin typeface="Arial"/>
              </a:rPr>
              <a:t>Attention weights are not a bag of words. Repetition and contradictory instructions measurably degrade the result — which is what Lab 03 sets out to quantify.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 · SOURCES S6 CH.5 PP.56–61, S14 CH.1 PP.1–5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How the Field Got Here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169791"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986911" cy="600891"/>
          </a:xfrm>
          <a:prstGeom prst="rect">
            <a:avLst/>
          </a:prstGeom>
          <a:noFill/>
        </p:spPr>
        <p:txBody>
          <a:bodyPr wrap="square" anchor="ctr">
            <a:spAutoFit/>
          </a:bodyPr>
          <a:lstStyle/>
          <a:p>
            <a:pPr algn="l">
              <a:spcAft>
                <a:spcPts val="400"/>
              </a:spcAft>
            </a:pPr>
            <a:r>
              <a:rPr sz="1100" b="1">
                <a:solidFill>
                  <a:srgbClr val="FFFFFF"/>
                </a:solidFill>
                <a:latin typeface="Arial"/>
              </a:rPr>
              <a:t>When</a:t>
            </a:r>
          </a:p>
        </p:txBody>
      </p:sp>
      <p:sp>
        <p:nvSpPr>
          <p:cNvPr id="9" name="Rectangle 8"/>
          <p:cNvSpPr/>
          <p:nvPr/>
        </p:nvSpPr>
        <p:spPr>
          <a:xfrm>
            <a:off x="1947031" y="1783080"/>
            <a:ext cx="3828409"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6759" y="1783080"/>
            <a:ext cx="3645529" cy="600891"/>
          </a:xfrm>
          <a:prstGeom prst="rect">
            <a:avLst/>
          </a:prstGeom>
          <a:noFill/>
        </p:spPr>
        <p:txBody>
          <a:bodyPr wrap="square" anchor="ctr">
            <a:spAutoFit/>
          </a:bodyPr>
          <a:lstStyle/>
          <a:p>
            <a:pPr algn="l">
              <a:spcAft>
                <a:spcPts val="400"/>
              </a:spcAft>
            </a:pPr>
            <a:r>
              <a:rPr sz="1100" b="1">
                <a:solidFill>
                  <a:srgbClr val="FFFFFF"/>
                </a:solidFill>
                <a:latin typeface="Arial"/>
              </a:rPr>
              <a:t>What changed</a:t>
            </a:r>
          </a:p>
        </p:txBody>
      </p:sp>
      <p:sp>
        <p:nvSpPr>
          <p:cNvPr id="11" name="Rectangle 10"/>
          <p:cNvSpPr/>
          <p:nvPr/>
        </p:nvSpPr>
        <p:spPr>
          <a:xfrm>
            <a:off x="5775440" y="1783080"/>
            <a:ext cx="5636270"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85168" y="1783080"/>
            <a:ext cx="5453390" cy="600891"/>
          </a:xfrm>
          <a:prstGeom prst="rect">
            <a:avLst/>
          </a:prstGeom>
          <a:noFill/>
        </p:spPr>
        <p:txBody>
          <a:bodyPr wrap="square" anchor="ctr">
            <a:spAutoFit/>
          </a:bodyPr>
          <a:lstStyle/>
          <a:p>
            <a:pPr algn="l">
              <a:spcAft>
                <a:spcPts val="400"/>
              </a:spcAft>
            </a:pPr>
            <a:r>
              <a:rPr sz="1100" b="1">
                <a:solidFill>
                  <a:srgbClr val="FFFFFF"/>
                </a:solidFill>
                <a:latin typeface="Arial"/>
              </a:rPr>
              <a:t>Why it mattered</a:t>
            </a:r>
          </a:p>
        </p:txBody>
      </p:sp>
      <p:sp>
        <p:nvSpPr>
          <p:cNvPr id="13" name="Rectangle 12"/>
          <p:cNvSpPr/>
          <p:nvPr/>
        </p:nvSpPr>
        <p:spPr>
          <a:xfrm>
            <a:off x="777240" y="2383971"/>
            <a:ext cx="1169791"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383971"/>
            <a:ext cx="986911" cy="600891"/>
          </a:xfrm>
          <a:prstGeom prst="rect">
            <a:avLst/>
          </a:prstGeom>
          <a:noFill/>
        </p:spPr>
        <p:txBody>
          <a:bodyPr wrap="square" anchor="ctr">
            <a:spAutoFit/>
          </a:bodyPr>
          <a:lstStyle/>
          <a:p>
            <a:pPr algn="l">
              <a:spcAft>
                <a:spcPts val="400"/>
              </a:spcAft>
            </a:pPr>
            <a:r>
              <a:rPr sz="1000" b="1">
                <a:solidFill>
                  <a:srgbClr val="161B26"/>
                </a:solidFill>
                <a:latin typeface="Arial"/>
              </a:rPr>
              <a:t>1970s</a:t>
            </a:r>
          </a:p>
        </p:txBody>
      </p:sp>
      <p:sp>
        <p:nvSpPr>
          <p:cNvPr id="15" name="Rectangle 14"/>
          <p:cNvSpPr/>
          <p:nvPr/>
        </p:nvSpPr>
        <p:spPr>
          <a:xfrm>
            <a:off x="1947031" y="2383971"/>
            <a:ext cx="3828409"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56759" y="2383971"/>
            <a:ext cx="3645529" cy="600891"/>
          </a:xfrm>
          <a:prstGeom prst="rect">
            <a:avLst/>
          </a:prstGeom>
          <a:noFill/>
        </p:spPr>
        <p:txBody>
          <a:bodyPr wrap="square" anchor="ctr">
            <a:spAutoFit/>
          </a:bodyPr>
          <a:lstStyle/>
          <a:p>
            <a:pPr algn="l">
              <a:spcAft>
                <a:spcPts val="400"/>
              </a:spcAft>
            </a:pPr>
            <a:r>
              <a:rPr sz="1000" b="0">
                <a:solidFill>
                  <a:srgbClr val="161B26"/>
                </a:solidFill>
                <a:latin typeface="Arial"/>
              </a:rPr>
              <a:t>AARON — a symbolic, rule-based art program</a:t>
            </a:r>
          </a:p>
        </p:txBody>
      </p:sp>
      <p:sp>
        <p:nvSpPr>
          <p:cNvPr id="17" name="Rectangle 16"/>
          <p:cNvSpPr/>
          <p:nvPr/>
        </p:nvSpPr>
        <p:spPr>
          <a:xfrm>
            <a:off x="5775440" y="2383971"/>
            <a:ext cx="5636270"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85168" y="2383971"/>
            <a:ext cx="5453390" cy="600891"/>
          </a:xfrm>
          <a:prstGeom prst="rect">
            <a:avLst/>
          </a:prstGeom>
          <a:noFill/>
        </p:spPr>
        <p:txBody>
          <a:bodyPr wrap="square" anchor="ctr">
            <a:spAutoFit/>
          </a:bodyPr>
          <a:lstStyle/>
          <a:p>
            <a:pPr algn="l">
              <a:spcAft>
                <a:spcPts val="400"/>
              </a:spcAft>
            </a:pPr>
            <a:r>
              <a:rPr sz="1000" b="0">
                <a:solidFill>
                  <a:srgbClr val="161B26"/>
                </a:solidFill>
                <a:latin typeface="Arial"/>
              </a:rPr>
              <a:t>Creativity bounded by the rules its author coded by hand</a:t>
            </a:r>
          </a:p>
        </p:txBody>
      </p:sp>
      <p:sp>
        <p:nvSpPr>
          <p:cNvPr id="19" name="Rectangle 18"/>
          <p:cNvSpPr/>
          <p:nvPr/>
        </p:nvSpPr>
        <p:spPr>
          <a:xfrm>
            <a:off x="777240" y="2984862"/>
            <a:ext cx="1169791"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984862"/>
            <a:ext cx="986911" cy="600891"/>
          </a:xfrm>
          <a:prstGeom prst="rect">
            <a:avLst/>
          </a:prstGeom>
          <a:noFill/>
        </p:spPr>
        <p:txBody>
          <a:bodyPr wrap="square" anchor="ctr">
            <a:spAutoFit/>
          </a:bodyPr>
          <a:lstStyle/>
          <a:p>
            <a:pPr algn="l">
              <a:spcAft>
                <a:spcPts val="400"/>
              </a:spcAft>
            </a:pPr>
            <a:r>
              <a:rPr sz="1000" b="1">
                <a:solidFill>
                  <a:srgbClr val="161B26"/>
                </a:solidFill>
                <a:latin typeface="Arial"/>
              </a:rPr>
              <a:t>2012</a:t>
            </a:r>
          </a:p>
        </p:txBody>
      </p:sp>
      <p:sp>
        <p:nvSpPr>
          <p:cNvPr id="21" name="Rectangle 20"/>
          <p:cNvSpPr/>
          <p:nvPr/>
        </p:nvSpPr>
        <p:spPr>
          <a:xfrm>
            <a:off x="1947031" y="2984862"/>
            <a:ext cx="3828409"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56759" y="2984862"/>
            <a:ext cx="3645529" cy="600891"/>
          </a:xfrm>
          <a:prstGeom prst="rect">
            <a:avLst/>
          </a:prstGeom>
          <a:noFill/>
        </p:spPr>
        <p:txBody>
          <a:bodyPr wrap="square" anchor="ctr">
            <a:spAutoFit/>
          </a:bodyPr>
          <a:lstStyle/>
          <a:p>
            <a:pPr algn="l">
              <a:spcAft>
                <a:spcPts val="400"/>
              </a:spcAft>
            </a:pPr>
            <a:r>
              <a:rPr sz="1000" b="0">
                <a:solidFill>
                  <a:srgbClr val="161B26"/>
                </a:solidFill>
                <a:latin typeface="Arial"/>
              </a:rPr>
              <a:t>AlexNet wins the ImageNet challenge</a:t>
            </a:r>
          </a:p>
        </p:txBody>
      </p:sp>
      <p:sp>
        <p:nvSpPr>
          <p:cNvPr id="23" name="Rectangle 22"/>
          <p:cNvSpPr/>
          <p:nvPr/>
        </p:nvSpPr>
        <p:spPr>
          <a:xfrm>
            <a:off x="5775440" y="2984862"/>
            <a:ext cx="5636270"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85168" y="2984862"/>
            <a:ext cx="5453390" cy="600891"/>
          </a:xfrm>
          <a:prstGeom prst="rect">
            <a:avLst/>
          </a:prstGeom>
          <a:noFill/>
        </p:spPr>
        <p:txBody>
          <a:bodyPr wrap="square" anchor="ctr">
            <a:spAutoFit/>
          </a:bodyPr>
          <a:lstStyle/>
          <a:p>
            <a:pPr algn="l">
              <a:spcAft>
                <a:spcPts val="400"/>
              </a:spcAft>
            </a:pPr>
            <a:r>
              <a:rPr sz="1000" b="0">
                <a:solidFill>
                  <a:srgbClr val="161B26"/>
                </a:solidFill>
                <a:latin typeface="Arial"/>
              </a:rPr>
              <a:t>Proved deep networks learn visual patterns directly from data; the field moved from hand-coded rules to learned realism</a:t>
            </a:r>
          </a:p>
        </p:txBody>
      </p:sp>
      <p:sp>
        <p:nvSpPr>
          <p:cNvPr id="25" name="Rectangle 24"/>
          <p:cNvSpPr/>
          <p:nvPr/>
        </p:nvSpPr>
        <p:spPr>
          <a:xfrm>
            <a:off x="777240" y="3585753"/>
            <a:ext cx="1169791"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585753"/>
            <a:ext cx="986911" cy="600891"/>
          </a:xfrm>
          <a:prstGeom prst="rect">
            <a:avLst/>
          </a:prstGeom>
          <a:noFill/>
        </p:spPr>
        <p:txBody>
          <a:bodyPr wrap="square" anchor="ctr">
            <a:spAutoFit/>
          </a:bodyPr>
          <a:lstStyle/>
          <a:p>
            <a:pPr algn="l">
              <a:spcAft>
                <a:spcPts val="400"/>
              </a:spcAft>
            </a:pPr>
            <a:r>
              <a:rPr sz="1000" b="1">
                <a:solidFill>
                  <a:srgbClr val="161B26"/>
                </a:solidFill>
                <a:latin typeface="Arial"/>
              </a:rPr>
              <a:t>2014</a:t>
            </a:r>
          </a:p>
        </p:txBody>
      </p:sp>
      <p:sp>
        <p:nvSpPr>
          <p:cNvPr id="27" name="Rectangle 26"/>
          <p:cNvSpPr/>
          <p:nvPr/>
        </p:nvSpPr>
        <p:spPr>
          <a:xfrm>
            <a:off x="1947031" y="3585753"/>
            <a:ext cx="3828409"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056759" y="3585753"/>
            <a:ext cx="3645529" cy="600891"/>
          </a:xfrm>
          <a:prstGeom prst="rect">
            <a:avLst/>
          </a:prstGeom>
          <a:noFill/>
        </p:spPr>
        <p:txBody>
          <a:bodyPr wrap="square" anchor="ctr">
            <a:spAutoFit/>
          </a:bodyPr>
          <a:lstStyle/>
          <a:p>
            <a:pPr algn="l">
              <a:spcAft>
                <a:spcPts val="400"/>
              </a:spcAft>
            </a:pPr>
            <a:r>
              <a:rPr sz="1000" b="0">
                <a:solidFill>
                  <a:srgbClr val="161B26"/>
                </a:solidFill>
                <a:latin typeface="Arial"/>
              </a:rPr>
              <a:t>Generative adversarial networks introduced</a:t>
            </a:r>
          </a:p>
        </p:txBody>
      </p:sp>
      <p:sp>
        <p:nvSpPr>
          <p:cNvPr id="29" name="Rectangle 28"/>
          <p:cNvSpPr/>
          <p:nvPr/>
        </p:nvSpPr>
        <p:spPr>
          <a:xfrm>
            <a:off x="5775440" y="3585753"/>
            <a:ext cx="5636270"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85168" y="3585753"/>
            <a:ext cx="5453390" cy="600891"/>
          </a:xfrm>
          <a:prstGeom prst="rect">
            <a:avLst/>
          </a:prstGeom>
          <a:noFill/>
        </p:spPr>
        <p:txBody>
          <a:bodyPr wrap="square" anchor="ctr">
            <a:spAutoFit/>
          </a:bodyPr>
          <a:lstStyle/>
          <a:p>
            <a:pPr algn="l">
              <a:spcAft>
                <a:spcPts val="400"/>
              </a:spcAft>
            </a:pPr>
            <a:r>
              <a:rPr sz="1000" b="0">
                <a:solidFill>
                  <a:srgbClr val="161B26"/>
                </a:solidFill>
                <a:latin typeface="Arial"/>
              </a:rPr>
              <a:t>Sharp, high-fidelity synthesis for the first time — at the cost of unstable training</a:t>
            </a:r>
          </a:p>
        </p:txBody>
      </p:sp>
      <p:sp>
        <p:nvSpPr>
          <p:cNvPr id="31" name="Rectangle 30"/>
          <p:cNvSpPr/>
          <p:nvPr/>
        </p:nvSpPr>
        <p:spPr>
          <a:xfrm>
            <a:off x="777240" y="4186644"/>
            <a:ext cx="1169791"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186644"/>
            <a:ext cx="986911" cy="600891"/>
          </a:xfrm>
          <a:prstGeom prst="rect">
            <a:avLst/>
          </a:prstGeom>
          <a:noFill/>
        </p:spPr>
        <p:txBody>
          <a:bodyPr wrap="square" anchor="ctr">
            <a:spAutoFit/>
          </a:bodyPr>
          <a:lstStyle/>
          <a:p>
            <a:pPr algn="l">
              <a:spcAft>
                <a:spcPts val="400"/>
              </a:spcAft>
            </a:pPr>
            <a:r>
              <a:rPr sz="1000" b="1">
                <a:solidFill>
                  <a:srgbClr val="161B26"/>
                </a:solidFill>
                <a:latin typeface="Arial"/>
              </a:rPr>
              <a:t>2015</a:t>
            </a:r>
          </a:p>
        </p:txBody>
      </p:sp>
      <p:sp>
        <p:nvSpPr>
          <p:cNvPr id="33" name="Rectangle 32"/>
          <p:cNvSpPr/>
          <p:nvPr/>
        </p:nvSpPr>
        <p:spPr>
          <a:xfrm>
            <a:off x="1947031" y="4186644"/>
            <a:ext cx="3828409"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56759" y="4186644"/>
            <a:ext cx="3645529" cy="600891"/>
          </a:xfrm>
          <a:prstGeom prst="rect">
            <a:avLst/>
          </a:prstGeom>
          <a:noFill/>
        </p:spPr>
        <p:txBody>
          <a:bodyPr wrap="square" anchor="ctr">
            <a:spAutoFit/>
          </a:bodyPr>
          <a:lstStyle/>
          <a:p>
            <a:pPr algn="l">
              <a:spcAft>
                <a:spcPts val="400"/>
              </a:spcAft>
            </a:pPr>
            <a:r>
              <a:rPr sz="1000" b="0">
                <a:solidFill>
                  <a:srgbClr val="161B26"/>
                </a:solidFill>
                <a:latin typeface="Arial"/>
              </a:rPr>
              <a:t>Diffusion first proposed</a:t>
            </a:r>
          </a:p>
        </p:txBody>
      </p:sp>
      <p:sp>
        <p:nvSpPr>
          <p:cNvPr id="35" name="Rectangle 34"/>
          <p:cNvSpPr/>
          <p:nvPr/>
        </p:nvSpPr>
        <p:spPr>
          <a:xfrm>
            <a:off x="5775440" y="4186644"/>
            <a:ext cx="5636270"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85168" y="4186644"/>
            <a:ext cx="5453390" cy="600891"/>
          </a:xfrm>
          <a:prstGeom prst="rect">
            <a:avLst/>
          </a:prstGeom>
          <a:noFill/>
        </p:spPr>
        <p:txBody>
          <a:bodyPr wrap="square" anchor="ctr">
            <a:spAutoFit/>
          </a:bodyPr>
          <a:lstStyle/>
          <a:p>
            <a:pPr algn="l">
              <a:spcAft>
                <a:spcPts val="400"/>
              </a:spcAft>
            </a:pPr>
            <a:r>
              <a:rPr sz="1000" b="0">
                <a:solidFill>
                  <a:srgbClr val="161B26"/>
                </a:solidFill>
                <a:latin typeface="Arial"/>
              </a:rPr>
              <a:t>Largely overlooked for six years</a:t>
            </a:r>
          </a:p>
        </p:txBody>
      </p:sp>
      <p:sp>
        <p:nvSpPr>
          <p:cNvPr id="37" name="Rectangle 36"/>
          <p:cNvSpPr/>
          <p:nvPr/>
        </p:nvSpPr>
        <p:spPr>
          <a:xfrm>
            <a:off x="777240" y="4787535"/>
            <a:ext cx="1169791"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4787535"/>
            <a:ext cx="986911" cy="600891"/>
          </a:xfrm>
          <a:prstGeom prst="rect">
            <a:avLst/>
          </a:prstGeom>
          <a:noFill/>
        </p:spPr>
        <p:txBody>
          <a:bodyPr wrap="square" anchor="ctr">
            <a:spAutoFit/>
          </a:bodyPr>
          <a:lstStyle/>
          <a:p>
            <a:pPr algn="l">
              <a:spcAft>
                <a:spcPts val="400"/>
              </a:spcAft>
            </a:pPr>
            <a:r>
              <a:rPr sz="1000" b="1">
                <a:solidFill>
                  <a:srgbClr val="161B26"/>
                </a:solidFill>
                <a:latin typeface="Arial"/>
              </a:rPr>
              <a:t>~2021</a:t>
            </a:r>
          </a:p>
        </p:txBody>
      </p:sp>
      <p:sp>
        <p:nvSpPr>
          <p:cNvPr id="39" name="Rectangle 38"/>
          <p:cNvSpPr/>
          <p:nvPr/>
        </p:nvSpPr>
        <p:spPr>
          <a:xfrm>
            <a:off x="1947031" y="4787535"/>
            <a:ext cx="3828409"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056759" y="4787535"/>
            <a:ext cx="3645529" cy="600891"/>
          </a:xfrm>
          <a:prstGeom prst="rect">
            <a:avLst/>
          </a:prstGeom>
          <a:noFill/>
        </p:spPr>
        <p:txBody>
          <a:bodyPr wrap="square" anchor="ctr">
            <a:spAutoFit/>
          </a:bodyPr>
          <a:lstStyle/>
          <a:p>
            <a:pPr algn="l">
              <a:spcAft>
                <a:spcPts val="400"/>
              </a:spcAft>
            </a:pPr>
            <a:r>
              <a:rPr sz="1000" b="0">
                <a:solidFill>
                  <a:srgbClr val="161B26"/>
                </a:solidFill>
                <a:latin typeface="Arial"/>
              </a:rPr>
              <a:t>Diffusion becomes practical at scale</a:t>
            </a:r>
          </a:p>
        </p:txBody>
      </p:sp>
      <p:sp>
        <p:nvSpPr>
          <p:cNvPr id="41" name="Rectangle 40"/>
          <p:cNvSpPr/>
          <p:nvPr/>
        </p:nvSpPr>
        <p:spPr>
          <a:xfrm>
            <a:off x="5775440" y="4787535"/>
            <a:ext cx="5636270"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885168" y="4787535"/>
            <a:ext cx="5453390" cy="600891"/>
          </a:xfrm>
          <a:prstGeom prst="rect">
            <a:avLst/>
          </a:prstGeom>
          <a:noFill/>
        </p:spPr>
        <p:txBody>
          <a:bodyPr wrap="square" anchor="ctr">
            <a:spAutoFit/>
          </a:bodyPr>
          <a:lstStyle/>
          <a:p>
            <a:pPr algn="l">
              <a:spcAft>
                <a:spcPts val="400"/>
              </a:spcAft>
            </a:pPr>
            <a:r>
              <a:rPr sz="1000" b="0">
                <a:solidFill>
                  <a:srgbClr val="161B26"/>
                </a:solidFill>
                <a:latin typeface="Arial"/>
              </a:rPr>
              <a:t>Stable training plus high fidelity; becomes the backbone of modern text-to-image</a:t>
            </a:r>
          </a:p>
        </p:txBody>
      </p:sp>
      <p:sp>
        <p:nvSpPr>
          <p:cNvPr id="43" name="Rectangle 42"/>
          <p:cNvSpPr/>
          <p:nvPr/>
        </p:nvSpPr>
        <p:spPr>
          <a:xfrm>
            <a:off x="777240" y="5388426"/>
            <a:ext cx="1169791"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5388426"/>
            <a:ext cx="986911" cy="600891"/>
          </a:xfrm>
          <a:prstGeom prst="rect">
            <a:avLst/>
          </a:prstGeom>
          <a:noFill/>
        </p:spPr>
        <p:txBody>
          <a:bodyPr wrap="square" anchor="ctr">
            <a:spAutoFit/>
          </a:bodyPr>
          <a:lstStyle/>
          <a:p>
            <a:pPr algn="l">
              <a:spcAft>
                <a:spcPts val="400"/>
              </a:spcAft>
            </a:pPr>
            <a:r>
              <a:rPr sz="1000" b="1">
                <a:solidFill>
                  <a:srgbClr val="161B26"/>
                </a:solidFill>
                <a:latin typeface="Arial"/>
              </a:rPr>
              <a:t>Now</a:t>
            </a:r>
          </a:p>
        </p:txBody>
      </p:sp>
      <p:sp>
        <p:nvSpPr>
          <p:cNvPr id="45" name="Rectangle 44"/>
          <p:cNvSpPr/>
          <p:nvPr/>
        </p:nvSpPr>
        <p:spPr>
          <a:xfrm>
            <a:off x="1947031" y="5388426"/>
            <a:ext cx="3828409"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056759" y="5388426"/>
            <a:ext cx="3645529" cy="600891"/>
          </a:xfrm>
          <a:prstGeom prst="rect">
            <a:avLst/>
          </a:prstGeom>
          <a:noFill/>
        </p:spPr>
        <p:txBody>
          <a:bodyPr wrap="square" anchor="ctr">
            <a:spAutoFit/>
          </a:bodyPr>
          <a:lstStyle/>
          <a:p>
            <a:pPr algn="l">
              <a:spcAft>
                <a:spcPts val="400"/>
              </a:spcAft>
            </a:pPr>
            <a:r>
              <a:rPr sz="1000" b="0">
                <a:solidFill>
                  <a:srgbClr val="161B26"/>
                </a:solidFill>
                <a:latin typeface="Arial"/>
              </a:rPr>
              <a:t>Diffusion transformers and natively multimodal models</a:t>
            </a:r>
          </a:p>
        </p:txBody>
      </p:sp>
      <p:sp>
        <p:nvSpPr>
          <p:cNvPr id="47" name="Rectangle 46"/>
          <p:cNvSpPr/>
          <p:nvPr/>
        </p:nvSpPr>
        <p:spPr>
          <a:xfrm>
            <a:off x="5775440" y="5388426"/>
            <a:ext cx="5636270"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885168" y="5388426"/>
            <a:ext cx="5453390" cy="600891"/>
          </a:xfrm>
          <a:prstGeom prst="rect">
            <a:avLst/>
          </a:prstGeom>
          <a:noFill/>
        </p:spPr>
        <p:txBody>
          <a:bodyPr wrap="square" anchor="ctr">
            <a:spAutoFit/>
          </a:bodyPr>
          <a:lstStyle/>
          <a:p>
            <a:pPr algn="l">
              <a:spcAft>
                <a:spcPts val="400"/>
              </a:spcAft>
            </a:pPr>
            <a:r>
              <a:rPr sz="1000" b="0">
                <a:solidFill>
                  <a:srgbClr val="161B26"/>
                </a:solidFill>
                <a:latin typeface="Arial"/>
              </a:rPr>
              <a:t>Longer coherent video, and text-and-image reasoning inside a single model</a:t>
            </a:r>
          </a:p>
        </p:txBody>
      </p:sp>
      <p:sp>
        <p:nvSpPr>
          <p:cNvPr id="49" name="TextBox 48"/>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The dates matter less than the pattern: each architecture was introduced to fix the specific failure of the one before it.</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fast">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TOPIC 01 · ELO1 · A1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Lab 01 — Vision-System Needs Analysis and Generative Pipeline Specification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INPUTS</a:t>
            </a:r>
          </a:p>
        </p:txBody>
      </p:sp>
      <p:sp>
        <p:nvSpPr>
          <p:cNvPr id="10" name="TextBox 9"/>
          <p:cNvSpPr txBox="1"/>
          <p:nvPr/>
        </p:nvSpPr>
        <p:spPr>
          <a:xfrm>
            <a:off x="978408"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Synthetic reference frame representing a NorthQuay store-shelf camera view (deterministically rendered with OpenCV — labelled SIMULATED, not a photograph and not generative-model output)</a:t>
            </a:r>
          </a:p>
        </p:txBody>
      </p:sp>
      <p:sp>
        <p:nvSpPr>
          <p:cNvPr id="11" name="Rounded Rectangle 10"/>
          <p:cNvSpPr/>
          <p:nvPr/>
        </p:nvSpPr>
        <p:spPr>
          <a:xfrm>
            <a:off x="4379976"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TECHNICAL QUESTION</a:t>
            </a:r>
          </a:p>
        </p:txBody>
      </p:sp>
      <p:sp>
        <p:nvSpPr>
          <p:cNvPr id="14" name="TextBox 13"/>
          <p:cNvSpPr txBox="1"/>
          <p:nvPr/>
        </p:nvSpPr>
        <p:spPr>
          <a:xfrm>
            <a:off x="4581144"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Which use case meets both the weighted criteria and the hard cost/privacy constraints?</a:t>
            </a:r>
          </a:p>
        </p:txBody>
      </p:sp>
      <p:sp>
        <p:nvSpPr>
          <p:cNvPr id="15" name="Rounded Rectangle 14"/>
          <p:cNvSpPr/>
          <p:nvPr/>
        </p:nvSpPr>
        <p:spPr>
          <a:xfrm>
            <a:off x="7982712"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EVIDENCE TO PRODUCE</a:t>
            </a:r>
          </a:p>
        </p:txBody>
      </p:sp>
      <p:sp>
        <p:nvSpPr>
          <p:cNvPr id="18" name="TextBox 17"/>
          <p:cNvSpPr txBox="1"/>
          <p:nvPr/>
        </p:nvSpPr>
        <p:spPr>
          <a:xfrm>
            <a:off x="8183880"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A completed needs-analysis scoring matrix, a written rejection rationale, and a labelled five-stage pipeline specification for the two selected use cases.</a:t>
            </a:r>
          </a:p>
        </p:txBody>
      </p:sp>
      <p:sp>
        <p:nvSpPr>
          <p:cNvPr id="19" name="TextBox 18"/>
          <p:cNvSpPr txBox="1"/>
          <p:nvPr/>
        </p:nvSpPr>
        <p:spPr>
          <a:xfrm>
            <a:off x="777240" y="5623560"/>
            <a:ext cx="10607040" cy="685800"/>
          </a:xfrm>
          <a:prstGeom prst="rect">
            <a:avLst/>
          </a:prstGeom>
          <a:noFill/>
        </p:spPr>
        <p:txBody>
          <a:bodyPr wrap="square" anchor="t">
            <a:spAutoFit/>
          </a:bodyPr>
          <a:lstStyle/>
          <a:p>
            <a:pPr algn="l">
              <a:spcAft>
                <a:spcPts val="400"/>
              </a:spcAft>
            </a:pPr>
            <a:r>
              <a:rPr sz="1150" b="0">
                <a:solidFill>
                  <a:srgbClr val="5B6372"/>
                </a:solidFill>
                <a:latin typeface="Arial"/>
              </a:rPr>
              <a:t>LAB 01  ·  IN-CLASS · Spreadsheet or text editor · Python 3 (optional scorer) · no paid service required</a:t>
            </a:r>
          </a:p>
          <a:p>
            <a:pPr algn="l">
              <a:spcAft>
                <a:spcPts val="400"/>
              </a:spcAft>
            </a:pPr>
            <a:r>
              <a:rPr sz="1150" b="0">
                <a:solidFill>
                  <a:srgbClr val="5B6372"/>
                </a:solidFill>
                <a:latin typeface="Arial"/>
              </a:rPr>
              <a:t>Detailed procedures and prompts: Learner Guide / labs/lab-01-vision-needs-analysis/README.md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TOPIC 01 · ELO1 · K1, K2, A1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Recap — Topic 01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400" b="0">
                <a:solidFill>
                  <a:srgbClr val="161B26"/>
                </a:solidFill>
                <a:latin typeface="Arial"/>
              </a:rPr>
              <a:t>•  A vision system is sense → represent → analyse → decide → act or synthesise. Generative AI adds the fifth stage; it does not remove the first four.</a:t>
            </a:r>
          </a:p>
          <a:p>
            <a:pPr>
              <a:spcAft>
                <a:spcPts val="1000"/>
              </a:spcAft>
            </a:pPr>
            <a:r>
              <a:rPr sz="1400" b="0">
                <a:solidFill>
                  <a:srgbClr val="161B26"/>
                </a:solidFill>
                <a:latin typeface="Arial"/>
              </a:rPr>
              <a:t>•  Analysis and synthesis learn the same joint distribution and differ only in the direction of sampling — which is why a generated asset still has to be measured.</a:t>
            </a:r>
          </a:p>
          <a:p>
            <a:pPr>
              <a:spcAft>
                <a:spcPts val="1000"/>
              </a:spcAft>
            </a:pPr>
            <a:r>
              <a:rPr sz="1400" b="0">
                <a:solidFill>
                  <a:srgbClr val="161B26"/>
                </a:solidFill>
                <a:latin typeface="Arial"/>
              </a:rPr>
              <a:t>•  VAE, GAN and diffusion trade image quality, sample diversity, training stability and inference speed against each other; no architecture wins on all four.</a:t>
            </a:r>
          </a:p>
          <a:p>
            <a:pPr>
              <a:spcAft>
                <a:spcPts val="1000"/>
              </a:spcAft>
            </a:pPr>
            <a:r>
              <a:rPr sz="1400" b="0">
                <a:solidFill>
                  <a:srgbClr val="161B26"/>
                </a:solidFill>
                <a:latin typeface="Arial"/>
              </a:rPr>
              <a:t>•  A neuron is a weighted sum plus a non-linearity, and a CNN learns the kernels that classical computer vision hand-codes.</a:t>
            </a:r>
          </a:p>
          <a:p>
            <a:pPr>
              <a:spcAft>
                <a:spcPts val="1000"/>
              </a:spcAft>
            </a:pPr>
            <a:r>
              <a:rPr sz="1400" b="0">
                <a:solidFill>
                  <a:srgbClr val="161B26"/>
                </a:solidFill>
                <a:latin typeface="Arial"/>
              </a:rPr>
              <a:t>•  A vision system is needed where the task is visual, repeated at volume, specifiable, and currently expensive — and where no constraint gate blocks it.</a:t>
            </a:r>
          </a:p>
          <a:p>
            <a:pPr>
              <a:spcAft>
                <a:spcPts val="1000"/>
              </a:spcAft>
            </a:pPr>
            <a:r>
              <a:rPr sz="1400" b="0">
                <a:solidFill>
                  <a:srgbClr val="161B26"/>
                </a:solidFill>
                <a:latin typeface="Arial"/>
              </a:rPr>
              <a:t>•  You can now score a candidate use case on six criteria and specify its five-stage pipeline with a named measurement and a numeric threshold. (A1, K1, K2)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700" b="1">
                <a:solidFill>
                  <a:srgbClr val="1F6FEB"/>
                </a:solidFill>
                <a:latin typeface="Arial"/>
              </a:rPr>
              <a:t>TOPIC 02</a:t>
            </a:r>
          </a:p>
        </p:txBody>
      </p:sp>
      <p:sp>
        <p:nvSpPr>
          <p:cNvPr id="6" name="TextBox 5"/>
          <p:cNvSpPr txBox="1"/>
          <p:nvPr/>
        </p:nvSpPr>
        <p:spPr>
          <a:xfrm>
            <a:off x="1143000" y="2743200"/>
            <a:ext cx="9144000" cy="1463040"/>
          </a:xfrm>
          <a:prstGeom prst="rect">
            <a:avLst/>
          </a:prstGeom>
          <a:noFill/>
        </p:spPr>
        <p:txBody>
          <a:bodyPr wrap="square" anchor="t">
            <a:spAutoFit/>
          </a:bodyPr>
          <a:lstStyle/>
          <a:p>
            <a:pPr algn="l">
              <a:spcAft>
                <a:spcPts val="400"/>
              </a:spcAft>
            </a:pPr>
            <a:r>
              <a:rPr sz="3000" b="1">
                <a:solidFill>
                  <a:srgbClr val="161B26"/>
                </a:solidFill>
                <a:latin typeface="Arial"/>
              </a:rPr>
              <a:t>AI Image Generation, Editing and Visual Enhancement</a:t>
            </a:r>
          </a:p>
        </p:txBody>
      </p:sp>
      <p:sp>
        <p:nvSpPr>
          <p:cNvPr id="7" name="TextBox 6"/>
          <p:cNvSpPr txBox="1"/>
          <p:nvPr/>
        </p:nvSpPr>
        <p:spPr>
          <a:xfrm>
            <a:off x="1161288" y="4297680"/>
            <a:ext cx="9692640" cy="1280160"/>
          </a:xfrm>
          <a:prstGeom prst="rect">
            <a:avLst/>
          </a:prstGeom>
          <a:noFill/>
        </p:spPr>
        <p:txBody>
          <a:bodyPr wrap="square" anchor="t">
            <a:spAutoFit/>
          </a:bodyPr>
          <a:lstStyle/>
          <a:p>
            <a:pPr algn="l">
              <a:spcAft>
                <a:spcPts val="400"/>
              </a:spcAft>
            </a:pPr>
            <a:r>
              <a:rPr sz="1400" b="0">
                <a:solidFill>
                  <a:srgbClr val="5B6372"/>
                </a:solidFill>
                <a:latin typeface="Arial"/>
              </a:rPr>
              <a:t>How image and video data is represented · convolution, filtering and geometric transformation · prompt structure and controlled variance · masking, inpainting, outpainting and background swap · enhancement measured with PSNR and SSIM</a:t>
            </a:r>
          </a:p>
        </p:txBody>
      </p:sp>
      <p:sp>
        <p:nvSpPr>
          <p:cNvPr id="8" name="TextBox 7"/>
          <p:cNvSpPr txBox="1"/>
          <p:nvPr/>
        </p:nvSpPr>
        <p:spPr>
          <a:xfrm>
            <a:off x="9326880" y="640080"/>
            <a:ext cx="2377440" cy="1463040"/>
          </a:xfrm>
          <a:prstGeom prst="rect">
            <a:avLst/>
          </a:prstGeom>
          <a:noFill/>
        </p:spPr>
        <p:txBody>
          <a:bodyPr wrap="square" anchor="t">
            <a:spAutoFit/>
          </a:bodyPr>
          <a:lstStyle/>
          <a:p>
            <a:pPr algn="r">
              <a:spcAft>
                <a:spcPts val="400"/>
              </a:spcAft>
            </a:pPr>
            <a:r>
              <a:rPr sz="68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LU2 · ELO2 · K3, K4, A2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Key Concepts — Topic 02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An image is a typed 3-D array</a:t>
            </a:r>
          </a:p>
          <a:p>
            <a:pPr algn="l">
              <a:spcAft>
                <a:spcPts val="200"/>
              </a:spcAft>
            </a:pPr>
            <a:r>
              <a:rPr sz="1050" b="0">
                <a:solidFill>
                  <a:srgbClr val="5B6372"/>
                </a:solidFill>
                <a:latin typeface="Arial"/>
              </a:rPr>
              <a:t>OpenCV returns H x W x C uint8 in BGR order. shape, dtype and channel order are the three facts that cause most integration bugs; matplotlib expects RGB.</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A video is frames plus a clock</a:t>
            </a:r>
          </a:p>
          <a:p>
            <a:pPr algn="l">
              <a:spcAft>
                <a:spcPts val="200"/>
              </a:spcAft>
            </a:pPr>
            <a:r>
              <a:rPr sz="1050" b="0">
                <a:solidFill>
                  <a:srgbClr val="5B6372"/>
                </a:solidFill>
                <a:latin typeface="Arial"/>
              </a:rPr>
              <a:t>cap.get(cv2.CAP_PROP_FRAME_COUNT) / FPS gives duration; a 1080p 30 fps RGB stream is 1920*1080*3*30 = 186.6 MB/s uncompressed. That number drives every cloud-vs-edge decision later.</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HSV separates hue from saturation and brightness</a:t>
            </a:r>
          </a:p>
          <a:p>
            <a:pPr algn="l">
              <a:spcAft>
                <a:spcPts val="200"/>
              </a:spcAft>
            </a:pPr>
            <a:r>
              <a:rPr sz="1050" b="0">
                <a:solidFill>
                  <a:srgbClr val="5B6372"/>
                </a:solidFill>
                <a:latin typeface="Arial"/>
              </a:rPr>
              <a:t>For uint8 OpenCV HSV, H is 0-179 (degrees/2), S and V are 0-255. Hue can be more stable than raw RGB under brightness changes, but low saturation, shadows and colour casts still cause failures. Test the actual lighting range.</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Kernel filtering combines neighbouring pixels</a:t>
            </a:r>
          </a:p>
          <a:p>
            <a:pPr algn="l">
              <a:spcAft>
                <a:spcPts val="200"/>
              </a:spcAft>
            </a:pPr>
            <a:r>
              <a:rPr sz="1050" b="0">
                <a:solidFill>
                  <a:srgbClr val="5B6372"/>
                </a:solidFill>
                <a:latin typeface="Arial"/>
              </a:rPr>
              <a:t>dst(x,y) = sum over the kernel of K(i,j)*src(x+i, y+j). A 5x5 box kernel of 1/25 blurs; Sobel approximates a first derivative; Laplacian a second derivative. Sharpening combines a scaled derivative response with the original. cv2.filter2D performs correlation; flip an asymmetric kernel for convolution.</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Geometric transforms are matrix multiplies</a:t>
            </a:r>
          </a:p>
          <a:p>
            <a:pPr algn="l">
              <a:spcAft>
                <a:spcPts val="200"/>
              </a:spcAft>
            </a:pPr>
            <a:r>
              <a:rPr sz="1050" b="0">
                <a:solidFill>
                  <a:srgbClr val="5B6372"/>
                </a:solidFill>
                <a:latin typeface="Arial"/>
              </a:rPr>
              <a:t>Translation and rotation are 2x3 affine matrices used by warpAffine; perspective is a 3x3 homography used by warpPerspective. Affine preserves parallel lines; perspective preserves only straightness.</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Generative editing is masked, conditioned denoising</a:t>
            </a:r>
          </a:p>
          <a:p>
            <a:pPr algn="l">
              <a:spcAft>
                <a:spcPts val="200"/>
              </a:spcAft>
            </a:pPr>
            <a:r>
              <a:rPr sz="1000" b="0">
                <a:solidFill>
                  <a:srgbClr val="5B6372"/>
                </a:solidFill>
                <a:latin typeface="Arial"/>
              </a:rPr>
              <a:t>These labs use white = edit and black = preserve for binary masks; provider interfaces may differ. Check their contract and verify unmasked output regions. Inpainting fills inside the frame; outpainting extends the canvas; background replacement targets the complement of the subject.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K3 · METHODS TO REPRESENT IMAGE AND VIDEO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An Image Is a Typed 3-D Array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41605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38528"/>
            <a:ext cx="6035040" cy="3849624"/>
          </a:xfrm>
          <a:prstGeom prst="rect">
            <a:avLst/>
          </a:prstGeom>
          <a:noFill/>
        </p:spPr>
        <p:txBody>
          <a:bodyPr wrap="none" lIns="0" rIns="0" tIns="0" bIns="0" anchor="t">
            <a:noAutofit/>
          </a:bodyPr>
          <a:lstStyle/>
          <a:p>
            <a:pPr>
              <a:spcAft>
                <a:spcPts val="100"/>
              </a:spcAft>
            </a:pPr>
            <a:r>
              <a:rPr sz="1030">
                <a:solidFill>
                  <a:srgbClr val="9CDCFE"/>
                </a:solidFill>
                <a:latin typeface="Consolas"/>
              </a:rPr>
              <a:t>import cv2</a:t>
            </a:r>
          </a:p>
          <a:p>
            <a:pPr>
              <a:spcAft>
                <a:spcPts val="100"/>
              </a:spcAft>
            </a:pPr>
            <a:r>
              <a:rPr sz="1030">
                <a:solidFill>
                  <a:srgbClr val="9CDCFE"/>
                </a:solidFill>
                <a:latin typeface="Consolas"/>
              </a:rPr>
              <a:t> </a:t>
            </a:r>
          </a:p>
          <a:p>
            <a:pPr>
              <a:spcAft>
                <a:spcPts val="100"/>
              </a:spcAft>
            </a:pPr>
            <a:r>
              <a:rPr sz="1030">
                <a:solidFill>
                  <a:srgbClr val="9CDCFE"/>
                </a:solidFill>
                <a:latin typeface="Consolas"/>
              </a:rPr>
              <a:t>img = cv2.imread('reference/nq-product-flatlay.png')</a:t>
            </a:r>
          </a:p>
          <a:p>
            <a:pPr>
              <a:spcAft>
                <a:spcPts val="100"/>
              </a:spcAft>
            </a:pPr>
            <a:r>
              <a:rPr sz="1030">
                <a:solidFill>
                  <a:srgbClr val="9CDCFE"/>
                </a:solidFill>
                <a:latin typeface="Consolas"/>
              </a:rPr>
              <a:t>if img is None:</a:t>
            </a:r>
          </a:p>
          <a:p>
            <a:pPr>
              <a:spcAft>
                <a:spcPts val="100"/>
              </a:spcAft>
            </a:pPr>
            <a:r>
              <a:rPr sz="1030">
                <a:solidFill>
                  <a:srgbClr val="9CDCFE"/>
                </a:solidFill>
                <a:latin typeface="Consolas"/>
              </a:rPr>
              <a:t>    raise SystemExit('cannot read the file')   # imread does NOT raise</a:t>
            </a:r>
          </a:p>
          <a:p>
            <a:pPr>
              <a:spcAft>
                <a:spcPts val="100"/>
              </a:spcAft>
            </a:pPr>
            <a:r>
              <a:rPr sz="1030">
                <a:solidFill>
                  <a:srgbClr val="9CDCFE"/>
                </a:solidFill>
                <a:latin typeface="Consolas"/>
              </a:rPr>
              <a:t> </a:t>
            </a:r>
          </a:p>
          <a:p>
            <a:pPr>
              <a:spcAft>
                <a:spcPts val="100"/>
              </a:spcAft>
            </a:pPr>
            <a:r>
              <a:rPr sz="1030">
                <a:solidFill>
                  <a:srgbClr val="9CDCFE"/>
                </a:solidFill>
                <a:latin typeface="Consolas"/>
              </a:rPr>
              <a:t>print(img.shape)      # (720, 1280, 3)   -&gt; height, width, channels</a:t>
            </a:r>
          </a:p>
          <a:p>
            <a:pPr>
              <a:spcAft>
                <a:spcPts val="100"/>
              </a:spcAft>
            </a:pPr>
            <a:r>
              <a:rPr sz="1030">
                <a:solidFill>
                  <a:srgbClr val="9CDCFE"/>
                </a:solidFill>
                <a:latin typeface="Consolas"/>
              </a:rPr>
              <a:t>print(img.dtype)      # uint8            -&gt; 0..255 per channel</a:t>
            </a:r>
          </a:p>
          <a:p>
            <a:pPr>
              <a:spcAft>
                <a:spcPts val="100"/>
              </a:spcAft>
            </a:pPr>
            <a:r>
              <a:rPr sz="1030">
                <a:solidFill>
                  <a:srgbClr val="9CDCFE"/>
                </a:solidFill>
                <a:latin typeface="Consolas"/>
              </a:rPr>
              <a:t>print(img[10, 10])    # [255   0   0]    -&gt; B, G, R  (NOT R, G, B)</a:t>
            </a:r>
          </a:p>
          <a:p>
            <a:pPr>
              <a:spcAft>
                <a:spcPts val="100"/>
              </a:spcAft>
            </a:pPr>
            <a:r>
              <a:rPr sz="1030">
                <a:solidFill>
                  <a:srgbClr val="9CDCFE"/>
                </a:solidFill>
                <a:latin typeface="Consolas"/>
              </a:rPr>
              <a:t> </a:t>
            </a:r>
          </a:p>
          <a:p>
            <a:pPr>
              <a:spcAft>
                <a:spcPts val="100"/>
              </a:spcAft>
            </a:pPr>
            <a:r>
              <a:rPr sz="1030">
                <a:solidFill>
                  <a:srgbClr val="9CDCFE"/>
                </a:solidFill>
                <a:latin typeface="Consolas"/>
              </a:rPr>
              <a:t># indexing is [row, column] = [y, x] — the opposite order to a coordinate</a:t>
            </a:r>
          </a:p>
          <a:p>
            <a:pPr>
              <a:spcAft>
                <a:spcPts val="100"/>
              </a:spcAft>
            </a:pPr>
            <a:r>
              <a:rPr sz="1030">
                <a:solidFill>
                  <a:srgbClr val="9CDCFE"/>
                </a:solidFill>
                <a:latin typeface="Consolas"/>
              </a:rPr>
              <a:t>print(img[100, 200])  # the pixel at x=200, y=100</a:t>
            </a:r>
          </a:p>
        </p:txBody>
      </p:sp>
      <p:sp>
        <p:nvSpPr>
          <p:cNvPr id="9" name="Rectangle 8"/>
          <p:cNvSpPr/>
          <p:nvPr/>
        </p:nvSpPr>
        <p:spPr>
          <a:xfrm>
            <a:off x="7406640" y="1783080"/>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783080"/>
            <a:ext cx="82296" cy="9166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6096" y="1783080"/>
            <a:ext cx="3602736" cy="916686"/>
          </a:xfrm>
          <a:prstGeom prst="rect">
            <a:avLst/>
          </a:prstGeom>
          <a:noFill/>
        </p:spPr>
        <p:txBody>
          <a:bodyPr wrap="square" anchor="ctr">
            <a:spAutoFit/>
          </a:bodyPr>
          <a:lstStyle/>
          <a:p>
            <a:pPr algn="l">
              <a:spcAft>
                <a:spcPts val="200"/>
              </a:spcAft>
            </a:pPr>
            <a:r>
              <a:rPr sz="1300" b="1">
                <a:solidFill>
                  <a:srgbClr val="1F6FEB"/>
                </a:solidFill>
                <a:latin typeface="Arial"/>
              </a:rPr>
              <a:t>shape is (H, W, C)</a:t>
            </a:r>
          </a:p>
          <a:p>
            <a:pPr algn="l">
              <a:spcAft>
                <a:spcPts val="200"/>
              </a:spcAft>
            </a:pPr>
            <a:r>
              <a:rPr sz="1150" b="0">
                <a:solidFill>
                  <a:srgbClr val="161B26"/>
                </a:solidFill>
                <a:latin typeface="Arial"/>
              </a:rPr>
              <a:t>Height first. Getting this backwards is the single most common OpenCV bug.</a:t>
            </a:r>
          </a:p>
        </p:txBody>
      </p:sp>
      <p:sp>
        <p:nvSpPr>
          <p:cNvPr id="12" name="Rectangle 11"/>
          <p:cNvSpPr/>
          <p:nvPr/>
        </p:nvSpPr>
        <p:spPr>
          <a:xfrm>
            <a:off x="7406640" y="2864358"/>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2864358"/>
            <a:ext cx="82296" cy="91668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2864358"/>
            <a:ext cx="3602736" cy="916686"/>
          </a:xfrm>
          <a:prstGeom prst="rect">
            <a:avLst/>
          </a:prstGeom>
          <a:noFill/>
        </p:spPr>
        <p:txBody>
          <a:bodyPr wrap="square" anchor="ctr">
            <a:spAutoFit/>
          </a:bodyPr>
          <a:lstStyle/>
          <a:p>
            <a:pPr algn="l">
              <a:spcAft>
                <a:spcPts val="200"/>
              </a:spcAft>
            </a:pPr>
            <a:r>
              <a:rPr sz="1300" b="1">
                <a:solidFill>
                  <a:srgbClr val="10B981"/>
                </a:solidFill>
                <a:latin typeface="Arial"/>
              </a:rPr>
              <a:t>dtype is uint8</a:t>
            </a:r>
          </a:p>
          <a:p>
            <a:pPr algn="l">
              <a:spcAft>
                <a:spcPts val="200"/>
              </a:spcAft>
            </a:pPr>
            <a:r>
              <a:rPr sz="1150" b="0">
                <a:solidFill>
                  <a:srgbClr val="161B26"/>
                </a:solidFill>
                <a:latin typeface="Arial"/>
              </a:rPr>
              <a:t>Add a float array without clipping and values wrap modulo 256 — the image fills with speckle.</a:t>
            </a:r>
          </a:p>
        </p:txBody>
      </p:sp>
      <p:sp>
        <p:nvSpPr>
          <p:cNvPr id="15" name="Rectangle 14"/>
          <p:cNvSpPr/>
          <p:nvPr/>
        </p:nvSpPr>
        <p:spPr>
          <a:xfrm>
            <a:off x="7406640" y="3945636"/>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3945636"/>
            <a:ext cx="82296" cy="91668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6096" y="3945636"/>
            <a:ext cx="3602736" cy="916686"/>
          </a:xfrm>
          <a:prstGeom prst="rect">
            <a:avLst/>
          </a:prstGeom>
          <a:noFill/>
        </p:spPr>
        <p:txBody>
          <a:bodyPr wrap="square" anchor="ctr">
            <a:spAutoFit/>
          </a:bodyPr>
          <a:lstStyle/>
          <a:p>
            <a:pPr algn="l">
              <a:spcAft>
                <a:spcPts val="200"/>
              </a:spcAft>
            </a:pPr>
            <a:r>
              <a:rPr sz="1300" b="1">
                <a:solidFill>
                  <a:srgbClr val="7C3AED"/>
                </a:solidFill>
                <a:latin typeface="Arial"/>
              </a:rPr>
              <a:t>Channel order is BGR</a:t>
            </a:r>
          </a:p>
          <a:p>
            <a:pPr algn="l">
              <a:spcAft>
                <a:spcPts val="200"/>
              </a:spcAft>
            </a:pPr>
            <a:r>
              <a:rPr sz="1150" b="0">
                <a:solidFill>
                  <a:srgbClr val="161B26"/>
                </a:solidFill>
                <a:latin typeface="Arial"/>
              </a:rPr>
              <a:t>Pixel (10,10) in the supplied calibration patch is pure blue, so a correct read shows a high FIRST element.</a:t>
            </a:r>
          </a:p>
        </p:txBody>
      </p:sp>
      <p:sp>
        <p:nvSpPr>
          <p:cNvPr id="18" name="Rectangle 17"/>
          <p:cNvSpPr/>
          <p:nvPr/>
        </p:nvSpPr>
        <p:spPr>
          <a:xfrm>
            <a:off x="7406640" y="5026914"/>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5026914"/>
            <a:ext cx="82296" cy="91668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5026914"/>
            <a:ext cx="3602736" cy="916686"/>
          </a:xfrm>
          <a:prstGeom prst="rect">
            <a:avLst/>
          </a:prstGeom>
          <a:noFill/>
        </p:spPr>
        <p:txBody>
          <a:bodyPr wrap="square" anchor="ctr">
            <a:spAutoFit/>
          </a:bodyPr>
          <a:lstStyle/>
          <a:p>
            <a:pPr algn="l">
              <a:spcAft>
                <a:spcPts val="200"/>
              </a:spcAft>
            </a:pPr>
            <a:r>
              <a:rPr sz="1300" b="1">
                <a:solidFill>
                  <a:srgbClr val="F59E0B"/>
                </a:solidFill>
                <a:latin typeface="Arial"/>
              </a:rPr>
              <a:t>imread returns None on failure</a:t>
            </a:r>
          </a:p>
          <a:p>
            <a:pPr algn="l">
              <a:spcAft>
                <a:spcPts val="200"/>
              </a:spcAft>
            </a:pPr>
            <a:r>
              <a:rPr sz="1150" b="0">
                <a:solidFill>
                  <a:srgbClr val="161B26"/>
                </a:solidFill>
                <a:latin typeface="Arial"/>
              </a:rPr>
              <a:t>It does not raise. Always guard, or you get a NoneType error fifty lines later.</a:t>
            </a:r>
          </a:p>
        </p:txBody>
      </p:sp>
      <p:sp>
        <p:nvSpPr>
          <p:cNvPr id="21" name="Rectangle 20"/>
          <p:cNvSpPr/>
          <p:nvPr/>
        </p:nvSpPr>
        <p:spPr>
          <a:xfrm>
            <a:off x="777240" y="6053328"/>
            <a:ext cx="10634472" cy="4023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6053328"/>
            <a:ext cx="10241280" cy="402336"/>
          </a:xfrm>
          <a:prstGeom prst="rect">
            <a:avLst/>
          </a:prstGeom>
          <a:noFill/>
        </p:spPr>
        <p:txBody>
          <a:bodyPr wrap="square" anchor="ctr">
            <a:spAutoFit/>
          </a:bodyPr>
          <a:lstStyle/>
          <a:p>
            <a:pPr algn="l">
              <a:spcAft>
                <a:spcPts val="400"/>
              </a:spcAft>
            </a:pPr>
            <a:r>
              <a:rPr sz="1100" b="1">
                <a:solidFill>
                  <a:srgbClr val="127A3E"/>
                </a:solidFill>
                <a:latin typeface="Arial"/>
              </a:rPr>
              <a:t>VERIFY   </a:t>
            </a:r>
            <a:r>
              <a:rPr sz="1200" b="0">
                <a:solidFill>
                  <a:srgbClr val="161B26"/>
                </a:solidFill>
                <a:latin typeface="Arial"/>
              </a:rPr>
              <a:t>Lab 02 verifies all four of these on the supplied file before anything else is done to it.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K3 · WHY THE CHANNELS ARE NOT EQUAL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Grayscale Is a Weighted Sum, Not an Average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12263"/>
            <a:ext cx="2996184" cy="457200"/>
          </a:xfrm>
          <a:prstGeom prst="rect">
            <a:avLst/>
          </a:prstGeom>
          <a:noFill/>
        </p:spPr>
        <p:txBody>
          <a:bodyPr wrap="square" anchor="t">
            <a:spAutoFit/>
          </a:bodyPr>
          <a:lstStyle/>
          <a:p>
            <a:pPr algn="l">
              <a:spcAft>
                <a:spcPts val="400"/>
              </a:spcAft>
            </a:pPr>
            <a:r>
              <a:rPr sz="1500" b="1">
                <a:solidFill>
                  <a:srgbClr val="1F6FEB"/>
                </a:solidFill>
                <a:latin typeface="Arial"/>
              </a:rPr>
              <a:t>OpenCV's conversion</a:t>
            </a:r>
          </a:p>
        </p:txBody>
      </p:sp>
      <p:sp>
        <p:nvSpPr>
          <p:cNvPr id="10" name="Rectangle 9"/>
          <p:cNvSpPr/>
          <p:nvPr/>
        </p:nvSpPr>
        <p:spPr>
          <a:xfrm>
            <a:off x="960120" y="2715767"/>
            <a:ext cx="2996184" cy="6766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15767"/>
            <a:ext cx="2813304" cy="676656"/>
          </a:xfrm>
          <a:prstGeom prst="rect">
            <a:avLst/>
          </a:prstGeom>
          <a:noFill/>
        </p:spPr>
        <p:txBody>
          <a:bodyPr wrap="none" lIns="0" rIns="0" tIns="0" bIns="0" anchor="ctr">
            <a:noAutofit/>
          </a:bodyPr>
          <a:lstStyle/>
          <a:p>
            <a:pPr>
              <a:spcAft>
                <a:spcPts val="100"/>
              </a:spcAft>
            </a:pPr>
            <a:r>
              <a:rPr sz="1130">
                <a:solidFill>
                  <a:srgbClr val="9CDCFE"/>
                </a:solidFill>
                <a:latin typeface="Consolas"/>
              </a:rPr>
              <a:t>Y = 0.299·R + 0.587·G + 0.114·B</a:t>
            </a:r>
          </a:p>
        </p:txBody>
      </p:sp>
      <p:sp>
        <p:nvSpPr>
          <p:cNvPr id="12" name="TextBox 11"/>
          <p:cNvSpPr txBox="1"/>
          <p:nvPr/>
        </p:nvSpPr>
        <p:spPr>
          <a:xfrm>
            <a:off x="960120" y="3502151"/>
            <a:ext cx="2996184" cy="1856232"/>
          </a:xfrm>
          <a:prstGeom prst="rect">
            <a:avLst/>
          </a:prstGeom>
          <a:noFill/>
        </p:spPr>
        <p:txBody>
          <a:bodyPr wrap="square" anchor="t">
            <a:spAutoFit/>
          </a:bodyPr>
          <a:lstStyle/>
          <a:p>
            <a:pPr algn="l">
              <a:spcAft>
                <a:spcPts val="400"/>
              </a:spcAft>
            </a:pPr>
            <a:r>
              <a:rPr sz="1200" b="0">
                <a:solidFill>
                  <a:srgbClr val="5B6372"/>
                </a:solidFill>
                <a:latin typeface="Arial"/>
              </a:rPr>
              <a:t>Green dominates because human vision is most sensitive to it. An unweighted mean of the three channels is a different, wrong image.</a:t>
            </a:r>
          </a:p>
        </p:txBody>
      </p:sp>
      <p:sp>
        <p:nvSpPr>
          <p:cNvPr id="13" name="Rectangle 12"/>
          <p:cNvSpPr/>
          <p:nvPr/>
        </p:nvSpPr>
        <p:spPr>
          <a:xfrm>
            <a:off x="4413504"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6384" y="2112263"/>
            <a:ext cx="2996184" cy="457200"/>
          </a:xfrm>
          <a:prstGeom prst="rect">
            <a:avLst/>
          </a:prstGeom>
          <a:noFill/>
        </p:spPr>
        <p:txBody>
          <a:bodyPr wrap="square" anchor="t">
            <a:spAutoFit/>
          </a:bodyPr>
          <a:lstStyle/>
          <a:p>
            <a:pPr algn="l">
              <a:spcAft>
                <a:spcPts val="400"/>
              </a:spcAft>
            </a:pPr>
            <a:r>
              <a:rPr sz="1500" b="1">
                <a:solidFill>
                  <a:srgbClr val="10B981"/>
                </a:solidFill>
                <a:latin typeface="Arial"/>
              </a:rPr>
              <a:t>Check it yourself</a:t>
            </a:r>
          </a:p>
        </p:txBody>
      </p:sp>
      <p:sp>
        <p:nvSpPr>
          <p:cNvPr id="16" name="Rectangle 15"/>
          <p:cNvSpPr/>
          <p:nvPr/>
        </p:nvSpPr>
        <p:spPr>
          <a:xfrm>
            <a:off x="4596384" y="2715767"/>
            <a:ext cx="2996184" cy="6766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7824" y="2715767"/>
            <a:ext cx="2813304" cy="676656"/>
          </a:xfrm>
          <a:prstGeom prst="rect">
            <a:avLst/>
          </a:prstGeom>
          <a:noFill/>
        </p:spPr>
        <p:txBody>
          <a:bodyPr wrap="none" lIns="0" rIns="0" tIns="0" bIns="0" anchor="ctr">
            <a:noAutofit/>
          </a:bodyPr>
          <a:lstStyle/>
          <a:p>
            <a:pPr>
              <a:spcAft>
                <a:spcPts val="100"/>
              </a:spcAft>
            </a:pPr>
            <a:r>
              <a:rPr sz="1400">
                <a:solidFill>
                  <a:srgbClr val="9CDCFE"/>
                </a:solidFill>
                <a:latin typeface="Consolas"/>
              </a:rPr>
              <a:t>0.587 × 255 = 149.7</a:t>
            </a:r>
          </a:p>
        </p:txBody>
      </p:sp>
      <p:sp>
        <p:nvSpPr>
          <p:cNvPr id="18" name="TextBox 17"/>
          <p:cNvSpPr txBox="1"/>
          <p:nvPr/>
        </p:nvSpPr>
        <p:spPr>
          <a:xfrm>
            <a:off x="4596384" y="3502151"/>
            <a:ext cx="2996184" cy="1856232"/>
          </a:xfrm>
          <a:prstGeom prst="rect">
            <a:avLst/>
          </a:prstGeom>
          <a:noFill/>
        </p:spPr>
        <p:txBody>
          <a:bodyPr wrap="square" anchor="t">
            <a:spAutoFit/>
          </a:bodyPr>
          <a:lstStyle/>
          <a:p>
            <a:pPr algn="l">
              <a:spcAft>
                <a:spcPts val="400"/>
              </a:spcAft>
            </a:pPr>
            <a:r>
              <a:rPr sz="1200" b="0">
                <a:solidFill>
                  <a:srgbClr val="5B6372"/>
                </a:solidFill>
                <a:latin typeface="Arial"/>
              </a:rPr>
              <a:t>The pure-green calibration patch in the Lab 02 reference file converts to a grayscale value of about 150. Read the pixel and confirm it.</a:t>
            </a:r>
          </a:p>
        </p:txBody>
      </p:sp>
      <p:sp>
        <p:nvSpPr>
          <p:cNvPr id="19" name="Rectangle 18"/>
          <p:cNvSpPr/>
          <p:nvPr/>
        </p:nvSpPr>
        <p:spPr>
          <a:xfrm>
            <a:off x="8049768"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2648" y="2112263"/>
            <a:ext cx="2996184" cy="457200"/>
          </a:xfrm>
          <a:prstGeom prst="rect">
            <a:avLst/>
          </a:prstGeom>
          <a:noFill/>
        </p:spPr>
        <p:txBody>
          <a:bodyPr wrap="square" anchor="t">
            <a:spAutoFit/>
          </a:bodyPr>
          <a:lstStyle/>
          <a:p>
            <a:pPr algn="l">
              <a:spcAft>
                <a:spcPts val="400"/>
              </a:spcAft>
            </a:pPr>
            <a:r>
              <a:rPr sz="1500" b="1">
                <a:solidFill>
                  <a:srgbClr val="7C3AED"/>
                </a:solidFill>
                <a:latin typeface="Arial"/>
              </a:rPr>
              <a:t>What you lose</a:t>
            </a:r>
          </a:p>
        </p:txBody>
      </p:sp>
      <p:sp>
        <p:nvSpPr>
          <p:cNvPr id="22" name="Rectangle 21"/>
          <p:cNvSpPr/>
          <p:nvPr/>
        </p:nvSpPr>
        <p:spPr>
          <a:xfrm>
            <a:off x="8232648" y="2715767"/>
            <a:ext cx="2996184" cy="6766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4088" y="2715767"/>
            <a:ext cx="2813304" cy="676656"/>
          </a:xfrm>
          <a:prstGeom prst="rect">
            <a:avLst/>
          </a:prstGeom>
          <a:noFill/>
        </p:spPr>
        <p:txBody>
          <a:bodyPr wrap="none" lIns="0" rIns="0" tIns="0" bIns="0" anchor="ctr">
            <a:noAutofit/>
          </a:bodyPr>
          <a:lstStyle/>
          <a:p>
            <a:pPr>
              <a:spcAft>
                <a:spcPts val="100"/>
              </a:spcAft>
            </a:pPr>
            <a:r>
              <a:rPr sz="1400">
                <a:solidFill>
                  <a:srgbClr val="9CDCFE"/>
                </a:solidFill>
                <a:latin typeface="Consolas"/>
              </a:rPr>
              <a:t>3 channels → 1</a:t>
            </a:r>
          </a:p>
        </p:txBody>
      </p:sp>
      <p:sp>
        <p:nvSpPr>
          <p:cNvPr id="24" name="TextBox 23"/>
          <p:cNvSpPr txBox="1"/>
          <p:nvPr/>
        </p:nvSpPr>
        <p:spPr>
          <a:xfrm>
            <a:off x="8232648" y="3502151"/>
            <a:ext cx="2996184" cy="1856232"/>
          </a:xfrm>
          <a:prstGeom prst="rect">
            <a:avLst/>
          </a:prstGeom>
          <a:noFill/>
        </p:spPr>
        <p:txBody>
          <a:bodyPr wrap="square" anchor="t">
            <a:spAutoFit/>
          </a:bodyPr>
          <a:lstStyle/>
          <a:p>
            <a:pPr algn="l">
              <a:spcAft>
                <a:spcPts val="400"/>
              </a:spcAft>
            </a:pPr>
            <a:r>
              <a:rPr sz="1200" b="0">
                <a:solidFill>
                  <a:srgbClr val="5B6372"/>
                </a:solidFill>
                <a:latin typeface="Arial"/>
              </a:rPr>
              <a:t>Two-thirds of the data, and all hue information. A red and a green object of the same luminance become indistinguishable.</a:t>
            </a:r>
          </a:p>
        </p:txBody>
      </p:sp>
      <p:sp>
        <p:nvSpPr>
          <p:cNvPr id="25" name="TextBox 2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Every detector in Topic 04 takes grayscale input, so this conversion sits under work you will do two topics from now.</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K3 · COLOUR SPACES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Three Colour Models, Three Jobs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F6FEB"/>
                </a:solidFill>
                <a:latin typeface="Arial"/>
              </a:rPr>
              <a:t>For capture and display</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For analysis</a:t>
            </a:r>
          </a:p>
        </p:txBody>
      </p:sp>
      <p:sp>
        <p:nvSpPr>
          <p:cNvPr id="13" name="TextBox 12"/>
          <p:cNvSpPr txBox="1"/>
          <p:nvPr/>
        </p:nvSpPr>
        <p:spPr>
          <a:xfrm>
            <a:off x="1005840" y="2423160"/>
            <a:ext cx="4754880" cy="3017520"/>
          </a:xfrm>
          <a:prstGeom prst="rect">
            <a:avLst/>
          </a:prstGeom>
          <a:noFill/>
        </p:spPr>
        <p:txBody>
          <a:bodyPr wrap="square">
            <a:spAutoFit/>
          </a:bodyPr>
          <a:lstStyle/>
          <a:p>
            <a:pPr>
              <a:spcAft>
                <a:spcPts val="800"/>
              </a:spcAft>
            </a:pPr>
            <a:r>
              <a:rPr sz="1300" b="1">
                <a:solidFill>
                  <a:srgbClr val="161B26"/>
                </a:solidFill>
                <a:latin typeface="Arial"/>
              </a:rPr>
              <a:t>•  RGB / BGR — additive light</a:t>
            </a:r>
          </a:p>
          <a:p>
            <a:pPr>
              <a:spcAft>
                <a:spcPts val="800"/>
              </a:spcAft>
            </a:pPr>
            <a:r>
              <a:rPr sz="1100" b="0">
                <a:solidFill>
                  <a:srgbClr val="5B6372"/>
                </a:solidFill>
                <a:latin typeface="Arial"/>
              </a:rPr>
              <a:t>–  How a display emits colour and how a sensor records it.</a:t>
            </a:r>
          </a:p>
          <a:p>
            <a:pPr>
              <a:spcAft>
                <a:spcPts val="800"/>
              </a:spcAft>
            </a:pPr>
            <a:r>
              <a:rPr sz="1100" b="0">
                <a:solidFill>
                  <a:srgbClr val="5B6372"/>
                </a:solidFill>
                <a:latin typeface="Arial"/>
              </a:rPr>
              <a:t>–  Three channels that all change when the light changes.</a:t>
            </a:r>
          </a:p>
          <a:p>
            <a:pPr>
              <a:spcAft>
                <a:spcPts val="800"/>
              </a:spcAft>
            </a:pPr>
            <a:r>
              <a:rPr sz="1100" b="0">
                <a:solidFill>
                  <a:srgbClr val="5B6372"/>
                </a:solidFill>
                <a:latin typeface="Arial"/>
              </a:rPr>
              <a:t>–  Bad for thresholding: an exposure drop moves all three.</a:t>
            </a:r>
          </a:p>
          <a:p>
            <a:pPr>
              <a:spcAft>
                <a:spcPts val="800"/>
              </a:spcAft>
            </a:pPr>
            <a:r>
              <a:rPr sz="1300" b="1">
                <a:solidFill>
                  <a:srgbClr val="161B26"/>
                </a:solidFill>
                <a:latin typeface="Arial"/>
              </a:rPr>
              <a:t>•  CMYK — subtractive ink</a:t>
            </a:r>
          </a:p>
          <a:p>
            <a:pPr>
              <a:spcAft>
                <a:spcPts val="800"/>
              </a:spcAft>
            </a:pPr>
            <a:r>
              <a:rPr sz="1100" b="0">
                <a:solidFill>
                  <a:srgbClr val="5B6372"/>
                </a:solidFill>
                <a:latin typeface="Arial"/>
              </a:rPr>
              <a:t>–  How a printer lays down colour. Not used in this course, but it is why a print proof never matches a screen exactly.</a:t>
            </a:r>
          </a:p>
        </p:txBody>
      </p:sp>
      <p:sp>
        <p:nvSpPr>
          <p:cNvPr id="14" name="TextBox 13"/>
          <p:cNvSpPr txBox="1"/>
          <p:nvPr/>
        </p:nvSpPr>
        <p:spPr>
          <a:xfrm>
            <a:off x="6583680" y="2423160"/>
            <a:ext cx="4617720" cy="3017520"/>
          </a:xfrm>
          <a:prstGeom prst="rect">
            <a:avLst/>
          </a:prstGeom>
          <a:noFill/>
        </p:spPr>
        <p:txBody>
          <a:bodyPr wrap="square">
            <a:spAutoFit/>
          </a:bodyPr>
          <a:lstStyle/>
          <a:p>
            <a:pPr>
              <a:spcAft>
                <a:spcPts val="800"/>
              </a:spcAft>
            </a:pPr>
            <a:r>
              <a:rPr sz="1300" b="1">
                <a:solidFill>
                  <a:srgbClr val="161B26"/>
                </a:solidFill>
                <a:latin typeface="Arial"/>
              </a:rPr>
              <a:t>•  HSV — how people describe colour</a:t>
            </a:r>
          </a:p>
          <a:p>
            <a:pPr>
              <a:spcAft>
                <a:spcPts val="800"/>
              </a:spcAft>
            </a:pPr>
            <a:r>
              <a:rPr sz="1100" b="0">
                <a:solidFill>
                  <a:srgbClr val="5B6372"/>
                </a:solidFill>
                <a:latin typeface="Arial"/>
              </a:rPr>
              <a:t>–  Hue: which colour. OpenCV 8-bit range is 0–179 (degrees halved so the value fits a byte).</a:t>
            </a:r>
          </a:p>
          <a:p>
            <a:pPr>
              <a:spcAft>
                <a:spcPts val="800"/>
              </a:spcAft>
            </a:pPr>
            <a:r>
              <a:rPr sz="1100" b="0">
                <a:solidFill>
                  <a:srgbClr val="5B6372"/>
                </a:solidFill>
                <a:latin typeface="Arial"/>
              </a:rPr>
              <a:t>–  Saturation: how much grey is mixed in. 0–255.</a:t>
            </a:r>
          </a:p>
          <a:p>
            <a:pPr>
              <a:spcAft>
                <a:spcPts val="800"/>
              </a:spcAft>
            </a:pPr>
            <a:r>
              <a:rPr sz="1100" b="0">
                <a:solidFill>
                  <a:srgbClr val="5B6372"/>
                </a:solidFill>
                <a:latin typeface="Arial"/>
              </a:rPr>
              <a:t>–  Value: how bright. 0–255.</a:t>
            </a:r>
          </a:p>
          <a:p>
            <a:pPr>
              <a:spcAft>
                <a:spcPts val="800"/>
              </a:spcAft>
            </a:pPr>
            <a:r>
              <a:rPr sz="1100" b="0">
                <a:solidFill>
                  <a:srgbClr val="5B6372"/>
                </a:solidFill>
                <a:latin typeface="Arial"/>
              </a:rPr>
              <a:t>–  Good for thresholding: hue survives an exposure change, so a mask built on it does not collapse when the lighting shifts.</a:t>
            </a:r>
          </a:p>
        </p:txBody>
      </p:sp>
      <p:sp>
        <p:nvSpPr>
          <p:cNvPr id="15" name="TextBox 14"/>
          <p:cNvSpPr txBox="1"/>
          <p:nvPr/>
        </p:nvSpPr>
        <p:spPr>
          <a:xfrm>
            <a:off x="777240" y="5669280"/>
            <a:ext cx="10698480" cy="640080"/>
          </a:xfrm>
          <a:prstGeom prst="rect">
            <a:avLst/>
          </a:prstGeom>
          <a:noFill/>
        </p:spPr>
        <p:txBody>
          <a:bodyPr wrap="square" anchor="ctr">
            <a:spAutoFit/>
          </a:bodyPr>
          <a:lstStyle/>
          <a:p>
            <a:pPr algn="ctr">
              <a:spcAft>
                <a:spcPts val="400"/>
              </a:spcAft>
            </a:pPr>
            <a:r>
              <a:rPr sz="1250" b="0">
                <a:solidFill>
                  <a:srgbClr val="5B6372"/>
                </a:solidFill>
                <a:latin typeface="Arial"/>
              </a:rPr>
              <a:t>Lab 06 measures this claim: under a 40% exposure drop the HSV brand mask held at 12.66% coverage while a raw blue-channel threshold collapsed from 79.0% to 0.0%.</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K3 · THE MEASUREMENT BEHIND THE CLAIM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HSV Versus a Raw-Channel Threshold Under an Exposure Drop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HSV: no change at all</a:t>
            </a:r>
          </a:p>
          <a:p>
            <a:pPr algn="l">
              <a:spcAft>
                <a:spcPts val="200"/>
              </a:spcAft>
            </a:pPr>
            <a:r>
              <a:rPr sz="1100" b="0">
                <a:solidFill>
                  <a:srgbClr val="161B26"/>
                </a:solidFill>
                <a:latin typeface="Arial"/>
              </a:rPr>
              <a:t>12.66% before, 12.66% after. Hue is unchanged by a uniform brightness scale.</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Raw channel: total collapse</a:t>
            </a:r>
          </a:p>
          <a:p>
            <a:pPr algn="l">
              <a:spcAft>
                <a:spcPts val="200"/>
              </a:spcAft>
            </a:pPr>
            <a:r>
              <a:rPr sz="1100" b="0">
                <a:solidFill>
                  <a:srgbClr val="161B26"/>
                </a:solidFill>
                <a:latin typeface="Arial"/>
              </a:rPr>
              <a:t>79.0% to 0.0%. Every pixel fell below the fixed threshold.</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Not a universal law</a:t>
            </a:r>
          </a:p>
          <a:p>
            <a:pPr algn="l">
              <a:spcAft>
                <a:spcPts val="200"/>
              </a:spcAft>
            </a:pPr>
            <a:r>
              <a:rPr sz="1100" b="0">
                <a:solidFill>
                  <a:srgbClr val="161B26"/>
                </a:solidFill>
                <a:latin typeface="Arial"/>
              </a:rPr>
              <a:t>Clipping, noise and a white-balance shift can still move hue. Test on your own deliveries.</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Why it matters here</a:t>
            </a:r>
          </a:p>
          <a:p>
            <a:pPr algn="l">
              <a:spcAft>
                <a:spcPts val="200"/>
              </a:spcAft>
            </a:pPr>
            <a:r>
              <a:rPr sz="1100" b="0">
                <a:solidFill>
                  <a:srgbClr val="161B26"/>
                </a:solidFill>
                <a:latin typeface="Arial"/>
              </a:rPr>
              <a:t>A brand-colour gate built on a raw channel will silently pass or fail everything after a lighting change.</a:t>
            </a:r>
          </a:p>
        </p:txBody>
      </p:sp>
      <p:sp>
        <p:nvSpPr>
          <p:cNvPr id="20" name="Rectangle 19"/>
          <p:cNvSpPr/>
          <p:nvPr/>
        </p:nvSpPr>
        <p:spPr>
          <a:xfrm>
            <a:off x="777240" y="5925312"/>
            <a:ext cx="1417320"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MEASURED</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Measured in Lab 06 on the supplied synthetic master with opencv-python 4.13. The V channel was scaled by 0.6 to simulate an under-exposed delivery; the same threshold was then re-run.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K3 · THE NUMBER THAT DECIDES YOUR ARCHITECTURE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Video Is Frames Plus a Clock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41605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38528"/>
            <a:ext cx="6035040" cy="3849624"/>
          </a:xfrm>
          <a:prstGeom prst="rect">
            <a:avLst/>
          </a:prstGeom>
          <a:noFill/>
        </p:spPr>
        <p:txBody>
          <a:bodyPr wrap="none" lIns="0" rIns="0" tIns="0" bIns="0" anchor="t">
            <a:noAutofit/>
          </a:bodyPr>
          <a:lstStyle/>
          <a:p>
            <a:pPr>
              <a:spcAft>
                <a:spcPts val="100"/>
              </a:spcAft>
            </a:pPr>
            <a:r>
              <a:rPr sz="990">
                <a:solidFill>
                  <a:srgbClr val="9CDCFE"/>
                </a:solidFill>
                <a:latin typeface="Consolas"/>
              </a:rPr>
              <a:t>cap = cv2.VideoCapture('reference/nq-shelf-pan.mp4')</a:t>
            </a:r>
          </a:p>
          <a:p>
            <a:pPr>
              <a:spcAft>
                <a:spcPts val="100"/>
              </a:spcAft>
            </a:pPr>
            <a:r>
              <a:rPr sz="990">
                <a:solidFill>
                  <a:srgbClr val="9CDCFE"/>
                </a:solidFill>
                <a:latin typeface="Consolas"/>
              </a:rPr>
              <a:t>w   = int(cap.get(cv2.CAP_PROP_FRAME_WIDTH))     # 640</a:t>
            </a:r>
          </a:p>
          <a:p>
            <a:pPr>
              <a:spcAft>
                <a:spcPts val="100"/>
              </a:spcAft>
            </a:pPr>
            <a:r>
              <a:rPr sz="990">
                <a:solidFill>
                  <a:srgbClr val="9CDCFE"/>
                </a:solidFill>
                <a:latin typeface="Consolas"/>
              </a:rPr>
              <a:t>h   = int(cap.get(cv2.CAP_PROP_FRAME_HEIGHT))    # 360</a:t>
            </a:r>
          </a:p>
          <a:p>
            <a:pPr>
              <a:spcAft>
                <a:spcPts val="100"/>
              </a:spcAft>
            </a:pPr>
            <a:r>
              <a:rPr sz="990">
                <a:solidFill>
                  <a:srgbClr val="9CDCFE"/>
                </a:solidFill>
                <a:latin typeface="Consolas"/>
              </a:rPr>
              <a:t>fps = cap.get(cv2.CAP_PROP_FPS)                  # 25.0</a:t>
            </a:r>
          </a:p>
          <a:p>
            <a:pPr>
              <a:spcAft>
                <a:spcPts val="100"/>
              </a:spcAft>
            </a:pPr>
            <a:r>
              <a:rPr sz="990">
                <a:solidFill>
                  <a:srgbClr val="9CDCFE"/>
                </a:solidFill>
                <a:latin typeface="Consolas"/>
              </a:rPr>
              <a:t>n   = int(cap.get(cv2.CAP_PROP_FRAME_COUNT))     # 150  (from the container)</a:t>
            </a:r>
          </a:p>
          <a:p>
            <a:pPr>
              <a:spcAft>
                <a:spcPts val="100"/>
              </a:spcAft>
            </a:pPr>
            <a:r>
              <a:rPr sz="990">
                <a:solidFill>
                  <a:srgbClr val="9CDCFE"/>
                </a:solidFill>
                <a:latin typeface="Consolas"/>
              </a:rPr>
              <a:t> </a:t>
            </a:r>
          </a:p>
          <a:p>
            <a:pPr>
              <a:spcAft>
                <a:spcPts val="100"/>
              </a:spcAft>
            </a:pPr>
            <a:r>
              <a:rPr sz="990">
                <a:solidFill>
                  <a:srgbClr val="9CDCFE"/>
                </a:solidFill>
                <a:latin typeface="Consolas"/>
              </a:rPr>
              <a:t>decoded = 0</a:t>
            </a:r>
          </a:p>
          <a:p>
            <a:pPr>
              <a:spcAft>
                <a:spcPts val="100"/>
              </a:spcAft>
            </a:pPr>
            <a:r>
              <a:rPr sz="990">
                <a:solidFill>
                  <a:srgbClr val="9CDCFE"/>
                </a:solidFill>
                <a:latin typeface="Consolas"/>
              </a:rPr>
              <a:t>while True:</a:t>
            </a:r>
          </a:p>
          <a:p>
            <a:pPr>
              <a:spcAft>
                <a:spcPts val="100"/>
              </a:spcAft>
            </a:pPr>
            <a:r>
              <a:rPr sz="990">
                <a:solidFill>
                  <a:srgbClr val="9CDCFE"/>
                </a:solidFill>
                <a:latin typeface="Consolas"/>
              </a:rPr>
              <a:t>    ok, frame = cap.read()</a:t>
            </a:r>
          </a:p>
          <a:p>
            <a:pPr>
              <a:spcAft>
                <a:spcPts val="100"/>
              </a:spcAft>
            </a:pPr>
            <a:r>
              <a:rPr sz="990">
                <a:solidFill>
                  <a:srgbClr val="9CDCFE"/>
                </a:solidFill>
                <a:latin typeface="Consolas"/>
              </a:rPr>
              <a:t>    if not ok:</a:t>
            </a:r>
          </a:p>
          <a:p>
            <a:pPr>
              <a:spcAft>
                <a:spcPts val="100"/>
              </a:spcAft>
            </a:pPr>
            <a:r>
              <a:rPr sz="990">
                <a:solidFill>
                  <a:srgbClr val="9CDCFE"/>
                </a:solidFill>
                <a:latin typeface="Consolas"/>
              </a:rPr>
              <a:t>        break</a:t>
            </a:r>
          </a:p>
          <a:p>
            <a:pPr>
              <a:spcAft>
                <a:spcPts val="100"/>
              </a:spcAft>
            </a:pPr>
            <a:r>
              <a:rPr sz="990">
                <a:solidFill>
                  <a:srgbClr val="9CDCFE"/>
                </a:solidFill>
                <a:latin typeface="Consolas"/>
              </a:rPr>
              <a:t>    decoded += 1</a:t>
            </a:r>
          </a:p>
          <a:p>
            <a:pPr>
              <a:spcAft>
                <a:spcPts val="100"/>
              </a:spcAft>
            </a:pPr>
            <a:r>
              <a:rPr sz="990">
                <a:solidFill>
                  <a:srgbClr val="9CDCFE"/>
                </a:solidFill>
                <a:latin typeface="Consolas"/>
              </a:rPr>
              <a:t>print(n, decoded)        # trust the LOOP, not the property</a:t>
            </a:r>
          </a:p>
          <a:p>
            <a:pPr>
              <a:spcAft>
                <a:spcPts val="100"/>
              </a:spcAft>
            </a:pPr>
            <a:r>
              <a:rPr sz="990">
                <a:solidFill>
                  <a:srgbClr val="9CDCFE"/>
                </a:solidFill>
                <a:latin typeface="Consolas"/>
              </a:rPr>
              <a:t> </a:t>
            </a:r>
          </a:p>
          <a:p>
            <a:pPr>
              <a:spcAft>
                <a:spcPts val="100"/>
              </a:spcAft>
            </a:pPr>
            <a:r>
              <a:rPr sz="990">
                <a:solidFill>
                  <a:srgbClr val="9CDCFE"/>
                </a:solidFill>
                <a:latin typeface="Consolas"/>
              </a:rPr>
              <a:t># uncompressed byte rate = W * H * channels * bytes-per-channel * fps</a:t>
            </a:r>
          </a:p>
          <a:p>
            <a:pPr>
              <a:spcAft>
                <a:spcPts val="100"/>
              </a:spcAft>
            </a:pPr>
            <a:r>
              <a:rPr sz="990">
                <a:solidFill>
                  <a:srgbClr val="9CDCFE"/>
                </a:solidFill>
                <a:latin typeface="Consolas"/>
              </a:rPr>
              <a:t>#   640 x 360 x 3 x 25  =  17,280,000 B/s  =  17.3 MB/s</a:t>
            </a:r>
          </a:p>
          <a:p>
            <a:pPr>
              <a:spcAft>
                <a:spcPts val="100"/>
              </a:spcAft>
            </a:pPr>
            <a:r>
              <a:rPr sz="990">
                <a:solidFill>
                  <a:srgbClr val="9CDCFE"/>
                </a:solidFill>
                <a:latin typeface="Consolas"/>
              </a:rPr>
              <a:t># 1920 x 1080 x 3 x 30  = 186,624,000 B/s  = 186.6 MB/s</a:t>
            </a:r>
          </a:p>
        </p:txBody>
      </p:sp>
      <p:sp>
        <p:nvSpPr>
          <p:cNvPr id="9" name="Rectangle 8"/>
          <p:cNvSpPr/>
          <p:nvPr/>
        </p:nvSpPr>
        <p:spPr>
          <a:xfrm>
            <a:off x="7406640" y="1783080"/>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783080"/>
            <a:ext cx="82296" cy="9166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6096" y="1783080"/>
            <a:ext cx="3602736" cy="916686"/>
          </a:xfrm>
          <a:prstGeom prst="rect">
            <a:avLst/>
          </a:prstGeom>
          <a:noFill/>
        </p:spPr>
        <p:txBody>
          <a:bodyPr wrap="square" anchor="ctr">
            <a:spAutoFit/>
          </a:bodyPr>
          <a:lstStyle/>
          <a:p>
            <a:pPr algn="l">
              <a:spcAft>
                <a:spcPts val="200"/>
              </a:spcAft>
            </a:pPr>
            <a:r>
              <a:rPr sz="1300" b="1">
                <a:solidFill>
                  <a:srgbClr val="1F6FEB"/>
                </a:solidFill>
                <a:latin typeface="Arial"/>
              </a:rPr>
              <a:t>Properties are metadata</a:t>
            </a:r>
          </a:p>
          <a:p>
            <a:pPr algn="l">
              <a:spcAft>
                <a:spcPts val="200"/>
              </a:spcAft>
            </a:pPr>
            <a:r>
              <a:rPr sz="1150" b="0">
                <a:solidFill>
                  <a:srgbClr val="161B26"/>
                </a:solidFill>
                <a:latin typeface="Arial"/>
              </a:rPr>
              <a:t>CAP_PROP_FRAME_COUNT is read from the container index and is backend-dependent. It can disagree with what decodes.</a:t>
            </a:r>
          </a:p>
        </p:txBody>
      </p:sp>
      <p:sp>
        <p:nvSpPr>
          <p:cNvPr id="12" name="Rectangle 11"/>
          <p:cNvSpPr/>
          <p:nvPr/>
        </p:nvSpPr>
        <p:spPr>
          <a:xfrm>
            <a:off x="7406640" y="2864358"/>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2864358"/>
            <a:ext cx="82296" cy="91668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2864358"/>
            <a:ext cx="3602736" cy="916686"/>
          </a:xfrm>
          <a:prstGeom prst="rect">
            <a:avLst/>
          </a:prstGeom>
          <a:noFill/>
        </p:spPr>
        <p:txBody>
          <a:bodyPr wrap="square" anchor="ctr">
            <a:spAutoFit/>
          </a:bodyPr>
          <a:lstStyle/>
          <a:p>
            <a:pPr algn="l">
              <a:spcAft>
                <a:spcPts val="200"/>
              </a:spcAft>
            </a:pPr>
            <a:r>
              <a:rPr sz="1300" b="1">
                <a:solidFill>
                  <a:srgbClr val="10B981"/>
                </a:solidFill>
                <a:latin typeface="Arial"/>
              </a:rPr>
              <a:t>Duration = frames / fps</a:t>
            </a:r>
          </a:p>
          <a:p>
            <a:pPr algn="l">
              <a:spcAft>
                <a:spcPts val="200"/>
              </a:spcAft>
            </a:pPr>
            <a:r>
              <a:rPr sz="1150" b="0">
                <a:solidFill>
                  <a:srgbClr val="161B26"/>
                </a:solidFill>
                <a:latin typeface="Arial"/>
              </a:rPr>
              <a:t>Not from the filename, and not from what the client said.</a:t>
            </a:r>
          </a:p>
        </p:txBody>
      </p:sp>
      <p:sp>
        <p:nvSpPr>
          <p:cNvPr id="15" name="Rectangle 14"/>
          <p:cNvSpPr/>
          <p:nvPr/>
        </p:nvSpPr>
        <p:spPr>
          <a:xfrm>
            <a:off x="7406640" y="3945636"/>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3945636"/>
            <a:ext cx="82296" cy="91668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6096" y="3945636"/>
            <a:ext cx="3602736" cy="916686"/>
          </a:xfrm>
          <a:prstGeom prst="rect">
            <a:avLst/>
          </a:prstGeom>
          <a:noFill/>
        </p:spPr>
        <p:txBody>
          <a:bodyPr wrap="square" anchor="ctr">
            <a:spAutoFit/>
          </a:bodyPr>
          <a:lstStyle/>
          <a:p>
            <a:pPr algn="l">
              <a:spcAft>
                <a:spcPts val="200"/>
              </a:spcAft>
            </a:pPr>
            <a:r>
              <a:rPr sz="1300" b="1">
                <a:solidFill>
                  <a:srgbClr val="7C3AED"/>
                </a:solidFill>
                <a:latin typeface="Arial"/>
              </a:rPr>
              <a:t>17.3 MB/s for one small clip</a:t>
            </a:r>
          </a:p>
          <a:p>
            <a:pPr algn="l">
              <a:spcAft>
                <a:spcPts val="200"/>
              </a:spcAft>
            </a:pPr>
            <a:r>
              <a:rPr sz="1150" b="0">
                <a:solidFill>
                  <a:srgbClr val="161B26"/>
                </a:solidFill>
                <a:latin typeface="Arial"/>
              </a:rPr>
              <a:t>Multiply by 41 stores in Topic 05 and the raw-frame architecture becomes arithmetically impossible.</a:t>
            </a:r>
          </a:p>
        </p:txBody>
      </p:sp>
      <p:sp>
        <p:nvSpPr>
          <p:cNvPr id="18" name="Rectangle 17"/>
          <p:cNvSpPr/>
          <p:nvPr/>
        </p:nvSpPr>
        <p:spPr>
          <a:xfrm>
            <a:off x="7406640" y="5026914"/>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5026914"/>
            <a:ext cx="82296" cy="91668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5026914"/>
            <a:ext cx="3602736" cy="916686"/>
          </a:xfrm>
          <a:prstGeom prst="rect">
            <a:avLst/>
          </a:prstGeom>
          <a:noFill/>
        </p:spPr>
        <p:txBody>
          <a:bodyPr wrap="square" anchor="ctr">
            <a:spAutoFit/>
          </a:bodyPr>
          <a:lstStyle/>
          <a:p>
            <a:pPr algn="l">
              <a:spcAft>
                <a:spcPts val="200"/>
              </a:spcAft>
            </a:pPr>
            <a:r>
              <a:rPr sz="1300" b="1">
                <a:solidFill>
                  <a:srgbClr val="F59E0B"/>
                </a:solidFill>
                <a:latin typeface="Arial"/>
              </a:rPr>
              <a:t>Compression ratio measured</a:t>
            </a:r>
          </a:p>
          <a:p>
            <a:pPr algn="l">
              <a:spcAft>
                <a:spcPts val="200"/>
              </a:spcAft>
            </a:pPr>
            <a:r>
              <a:rPr sz="1150" b="0">
                <a:solidFill>
                  <a:srgbClr val="161B26"/>
                </a:solidFill>
                <a:latin typeface="Arial"/>
              </a:rPr>
              <a:t>The supplied clip encodes to about 284 kB for 6 s — roughly 365:1 against uncompressed.</a:t>
            </a:r>
          </a:p>
        </p:txBody>
      </p:sp>
      <p:sp>
        <p:nvSpPr>
          <p:cNvPr id="21" name="Rectangle 20"/>
          <p:cNvSpPr/>
          <p:nvPr/>
        </p:nvSpPr>
        <p:spPr>
          <a:xfrm>
            <a:off x="777240" y="6053328"/>
            <a:ext cx="10634472" cy="4023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6053328"/>
            <a:ext cx="10241280" cy="402336"/>
          </a:xfrm>
          <a:prstGeom prst="rect">
            <a:avLst/>
          </a:prstGeom>
          <a:noFill/>
        </p:spPr>
        <p:txBody>
          <a:bodyPr wrap="square" anchor="ctr">
            <a:spAutoFit/>
          </a:bodyPr>
          <a:lstStyle/>
          <a:p>
            <a:pPr algn="l">
              <a:spcAft>
                <a:spcPts val="400"/>
              </a:spcAft>
            </a:pPr>
            <a:r>
              <a:rPr sz="1100" b="1">
                <a:solidFill>
                  <a:srgbClr val="127A3E"/>
                </a:solidFill>
                <a:latin typeface="Arial"/>
              </a:rPr>
              <a:t>VERIFY   </a:t>
            </a:r>
            <a:r>
              <a:rPr sz="1200" b="0">
                <a:solidFill>
                  <a:srgbClr val="161B26"/>
                </a:solidFill>
                <a:latin typeface="Arial"/>
              </a:rPr>
              <a:t>Lab 02 writes all of these into out/representation-report.json and compares them against a supplied expected-value file.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K3 · WHY NOBODY SHIPS RAW FRAMES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Uncompressed Byte Rate by Format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Scaling is brutal</a:t>
            </a:r>
          </a:p>
          <a:p>
            <a:pPr algn="l">
              <a:spcAft>
                <a:spcPts val="200"/>
              </a:spcAft>
            </a:pPr>
            <a:r>
              <a:rPr sz="1100" b="0">
                <a:solidFill>
                  <a:srgbClr val="161B26"/>
                </a:solidFill>
                <a:latin typeface="Arial"/>
              </a:rPr>
              <a:t>4K at 30 fps is 43x the small clip. Resolution enters squared.</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Compression is not optional</a:t>
            </a:r>
          </a:p>
          <a:p>
            <a:pPr algn="l">
              <a:spcAft>
                <a:spcPts val="200"/>
              </a:spcAft>
            </a:pPr>
            <a:r>
              <a:rPr sz="1100" b="0">
                <a:solidFill>
                  <a:srgbClr val="161B26"/>
                </a:solidFill>
                <a:latin typeface="Arial"/>
              </a:rPr>
              <a:t>The measured encode of the course clip is roughly 365:1.</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It is per camera</a:t>
            </a:r>
          </a:p>
          <a:p>
            <a:pPr algn="l">
              <a:spcAft>
                <a:spcPts val="200"/>
              </a:spcAft>
            </a:pPr>
            <a:r>
              <a:rPr sz="1100" b="0">
                <a:solidFill>
                  <a:srgbClr val="161B26"/>
                </a:solidFill>
                <a:latin typeface="Arial"/>
              </a:rPr>
              <a:t>One store camera at 1080p30 exceeds a 20 Mbit/s uplink by more than 70x.</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This is Topic 05's split A</a:t>
            </a:r>
          </a:p>
          <a:p>
            <a:pPr algn="l">
              <a:spcAft>
                <a:spcPts val="200"/>
              </a:spcAft>
            </a:pPr>
            <a:r>
              <a:rPr sz="1100" b="0">
                <a:solidFill>
                  <a:srgbClr val="161B26"/>
                </a:solidFill>
                <a:latin typeface="Arial"/>
              </a:rPr>
              <a:t>Sending raw frames to the cloud is included there precisely so it can be shown to be infeasible.</a:t>
            </a:r>
          </a:p>
        </p:txBody>
      </p:sp>
      <p:sp>
        <p:nvSpPr>
          <p:cNvPr id="20" name="Rectangle 19"/>
          <p:cNvSpPr/>
          <p:nvPr/>
        </p:nvSpPr>
        <p:spPr>
          <a:xfrm>
            <a:off x="777240" y="5925312"/>
            <a:ext cx="1417320"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MODELLED</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Computed directly from width × height × 3 bytes × frame rate. Arithmetic, not a measurement — but the arithmetic is what eliminates a whole architecture in Topic 05.</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500" b="1">
                <a:solidFill>
                  <a:srgbClr val="1F6FEB"/>
                </a:solidFill>
                <a:latin typeface="Arial"/>
              </a:rPr>
              <a:t>K4 · IMAGE AND VIDEO PROCESSING, FILTERING AND TRANSFORMATION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400" b="1">
                <a:solidFill>
                  <a:srgbClr val="161B26"/>
                </a:solidFill>
                <a:latin typeface="Arial"/>
              </a:rPr>
              <a:t>Filtering is convolution. Transformation is a matrix multiply.</a:t>
            </a:r>
          </a:p>
        </p:txBody>
      </p:sp>
      <p:sp>
        <p:nvSpPr>
          <p:cNvPr id="6" name="TextBox 5"/>
          <p:cNvSpPr txBox="1"/>
          <p:nvPr/>
        </p:nvSpPr>
        <p:spPr>
          <a:xfrm>
            <a:off x="1024128" y="4480560"/>
            <a:ext cx="10058400" cy="1280160"/>
          </a:xfrm>
          <a:prstGeom prst="rect">
            <a:avLst/>
          </a:prstGeom>
          <a:noFill/>
        </p:spPr>
        <p:txBody>
          <a:bodyPr wrap="square" anchor="t">
            <a:spAutoFit/>
          </a:bodyPr>
          <a:lstStyle/>
          <a:p>
            <a:pPr algn="l">
              <a:spcAft>
                <a:spcPts val="400"/>
              </a:spcAft>
            </a:pPr>
            <a:r>
              <a:rPr sz="1700" b="0">
                <a:solidFill>
                  <a:srgbClr val="5B6372"/>
                </a:solidFill>
                <a:latin typeface="Arial"/>
              </a:rPr>
              <a:t>Two operations account for almost everything OpenCV does to an image before a model ever sees it — and both are things you can compute by hand on a small example.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K4 · SIX OPERATIONS, SIX DIFFERENT JOBS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Filter Bank — What Each One Is For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701515"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1518635" cy="600891"/>
          </a:xfrm>
          <a:prstGeom prst="rect">
            <a:avLst/>
          </a:prstGeom>
          <a:noFill/>
        </p:spPr>
        <p:txBody>
          <a:bodyPr wrap="square" anchor="ctr">
            <a:spAutoFit/>
          </a:bodyPr>
          <a:lstStyle/>
          <a:p>
            <a:pPr algn="l">
              <a:spcAft>
                <a:spcPts val="400"/>
              </a:spcAft>
            </a:pPr>
            <a:r>
              <a:rPr sz="1100" b="1">
                <a:solidFill>
                  <a:srgbClr val="FFFFFF"/>
                </a:solidFill>
                <a:latin typeface="Arial"/>
              </a:rPr>
              <a:t>Filter</a:t>
            </a:r>
          </a:p>
        </p:txBody>
      </p:sp>
      <p:sp>
        <p:nvSpPr>
          <p:cNvPr id="9" name="Rectangle 8"/>
          <p:cNvSpPr/>
          <p:nvPr/>
        </p:nvSpPr>
        <p:spPr>
          <a:xfrm>
            <a:off x="2478755" y="1783080"/>
            <a:ext cx="4253788"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88483" y="1783080"/>
            <a:ext cx="4070908" cy="600891"/>
          </a:xfrm>
          <a:prstGeom prst="rect">
            <a:avLst/>
          </a:prstGeom>
          <a:noFill/>
        </p:spPr>
        <p:txBody>
          <a:bodyPr wrap="square" anchor="ctr">
            <a:spAutoFit/>
          </a:bodyPr>
          <a:lstStyle/>
          <a:p>
            <a:pPr algn="l">
              <a:spcAft>
                <a:spcPts val="400"/>
              </a:spcAft>
            </a:pPr>
            <a:r>
              <a:rPr sz="1100" b="1">
                <a:solidFill>
                  <a:srgbClr val="FFFFFF"/>
                </a:solidFill>
                <a:latin typeface="Arial"/>
              </a:rPr>
              <a:t>Kernel / mechanism</a:t>
            </a:r>
          </a:p>
        </p:txBody>
      </p:sp>
      <p:sp>
        <p:nvSpPr>
          <p:cNvPr id="11" name="Rectangle 10"/>
          <p:cNvSpPr/>
          <p:nvPr/>
        </p:nvSpPr>
        <p:spPr>
          <a:xfrm>
            <a:off x="6732543" y="1783080"/>
            <a:ext cx="2977652"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2271" y="1783080"/>
            <a:ext cx="2794772" cy="600891"/>
          </a:xfrm>
          <a:prstGeom prst="rect">
            <a:avLst/>
          </a:prstGeom>
          <a:noFill/>
        </p:spPr>
        <p:txBody>
          <a:bodyPr wrap="square" anchor="ctr">
            <a:spAutoFit/>
          </a:bodyPr>
          <a:lstStyle/>
          <a:p>
            <a:pPr algn="l">
              <a:spcAft>
                <a:spcPts val="400"/>
              </a:spcAft>
            </a:pPr>
            <a:r>
              <a:rPr sz="1100" b="1">
                <a:solidFill>
                  <a:srgbClr val="FFFFFF"/>
                </a:solidFill>
                <a:latin typeface="Arial"/>
              </a:rPr>
              <a:t>Best against</a:t>
            </a:r>
          </a:p>
        </p:txBody>
      </p:sp>
      <p:sp>
        <p:nvSpPr>
          <p:cNvPr id="13" name="Rectangle 12"/>
          <p:cNvSpPr/>
          <p:nvPr/>
        </p:nvSpPr>
        <p:spPr>
          <a:xfrm>
            <a:off x="9710195" y="1783080"/>
            <a:ext cx="1701515"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19923" y="1783080"/>
            <a:ext cx="1518635" cy="600891"/>
          </a:xfrm>
          <a:prstGeom prst="rect">
            <a:avLst/>
          </a:prstGeom>
          <a:noFill/>
        </p:spPr>
        <p:txBody>
          <a:bodyPr wrap="square" anchor="ctr">
            <a:spAutoFit/>
          </a:bodyPr>
          <a:lstStyle/>
          <a:p>
            <a:pPr algn="l">
              <a:spcAft>
                <a:spcPts val="400"/>
              </a:spcAft>
            </a:pPr>
            <a:r>
              <a:rPr sz="1100" b="1">
                <a:solidFill>
                  <a:srgbClr val="FFFFFF"/>
                </a:solidFill>
                <a:latin typeface="Arial"/>
              </a:rPr>
              <a:t>Cost</a:t>
            </a:r>
          </a:p>
        </p:txBody>
      </p:sp>
      <p:sp>
        <p:nvSpPr>
          <p:cNvPr id="15" name="Rectangle 14"/>
          <p:cNvSpPr/>
          <p:nvPr/>
        </p:nvSpPr>
        <p:spPr>
          <a:xfrm>
            <a:off x="777240" y="2383971"/>
            <a:ext cx="1701515"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383971"/>
            <a:ext cx="1518635" cy="600891"/>
          </a:xfrm>
          <a:prstGeom prst="rect">
            <a:avLst/>
          </a:prstGeom>
          <a:noFill/>
        </p:spPr>
        <p:txBody>
          <a:bodyPr wrap="square" anchor="ctr">
            <a:spAutoFit/>
          </a:bodyPr>
          <a:lstStyle/>
          <a:p>
            <a:pPr algn="l">
              <a:spcAft>
                <a:spcPts val="400"/>
              </a:spcAft>
            </a:pPr>
            <a:r>
              <a:rPr sz="1000" b="1">
                <a:solidFill>
                  <a:srgbClr val="161B26"/>
                </a:solidFill>
                <a:latin typeface="Arial"/>
              </a:rPr>
              <a:t>Box blur 5x5</a:t>
            </a:r>
          </a:p>
        </p:txBody>
      </p:sp>
      <p:sp>
        <p:nvSpPr>
          <p:cNvPr id="17" name="Rectangle 16"/>
          <p:cNvSpPr/>
          <p:nvPr/>
        </p:nvSpPr>
        <p:spPr>
          <a:xfrm>
            <a:off x="2478755" y="2383971"/>
            <a:ext cx="425378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88483" y="2383971"/>
            <a:ext cx="4070908" cy="600891"/>
          </a:xfrm>
          <a:prstGeom prst="rect">
            <a:avLst/>
          </a:prstGeom>
          <a:noFill/>
        </p:spPr>
        <p:txBody>
          <a:bodyPr wrap="square" anchor="ctr">
            <a:spAutoFit/>
          </a:bodyPr>
          <a:lstStyle/>
          <a:p>
            <a:pPr algn="l">
              <a:spcAft>
                <a:spcPts val="400"/>
              </a:spcAft>
            </a:pPr>
            <a:r>
              <a:rPr sz="1000" b="0">
                <a:solidFill>
                  <a:srgbClr val="161B26"/>
                </a:solidFill>
                <a:latin typeface="Arial"/>
              </a:rPr>
              <a:t>25 cells of 1/25 — a plain mean</a:t>
            </a:r>
          </a:p>
        </p:txBody>
      </p:sp>
      <p:sp>
        <p:nvSpPr>
          <p:cNvPr id="19" name="Rectangle 18"/>
          <p:cNvSpPr/>
          <p:nvPr/>
        </p:nvSpPr>
        <p:spPr>
          <a:xfrm>
            <a:off x="6732543" y="2383971"/>
            <a:ext cx="2977652"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42271" y="2383971"/>
            <a:ext cx="2794772" cy="600891"/>
          </a:xfrm>
          <a:prstGeom prst="rect">
            <a:avLst/>
          </a:prstGeom>
          <a:noFill/>
        </p:spPr>
        <p:txBody>
          <a:bodyPr wrap="square" anchor="ctr">
            <a:spAutoFit/>
          </a:bodyPr>
          <a:lstStyle/>
          <a:p>
            <a:pPr algn="l">
              <a:spcAft>
                <a:spcPts val="400"/>
              </a:spcAft>
            </a:pPr>
            <a:r>
              <a:rPr sz="1000" b="0">
                <a:solidFill>
                  <a:srgbClr val="161B26"/>
                </a:solidFill>
                <a:latin typeface="Arial"/>
              </a:rPr>
              <a:t>Nothing in particular; the reference case</a:t>
            </a:r>
          </a:p>
        </p:txBody>
      </p:sp>
      <p:sp>
        <p:nvSpPr>
          <p:cNvPr id="21" name="Rectangle 20"/>
          <p:cNvSpPr/>
          <p:nvPr/>
        </p:nvSpPr>
        <p:spPr>
          <a:xfrm>
            <a:off x="9710195" y="2383971"/>
            <a:ext cx="1701515"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19923" y="2383971"/>
            <a:ext cx="1518635" cy="600891"/>
          </a:xfrm>
          <a:prstGeom prst="rect">
            <a:avLst/>
          </a:prstGeom>
          <a:noFill/>
        </p:spPr>
        <p:txBody>
          <a:bodyPr wrap="square" anchor="ctr">
            <a:spAutoFit/>
          </a:bodyPr>
          <a:lstStyle/>
          <a:p>
            <a:pPr algn="l">
              <a:spcAft>
                <a:spcPts val="400"/>
              </a:spcAft>
            </a:pPr>
            <a:r>
              <a:rPr sz="1000" b="0">
                <a:solidFill>
                  <a:srgbClr val="161B26"/>
                </a:solidFill>
                <a:latin typeface="Arial"/>
              </a:rPr>
              <a:t>Very low</a:t>
            </a:r>
          </a:p>
        </p:txBody>
      </p:sp>
      <p:sp>
        <p:nvSpPr>
          <p:cNvPr id="23" name="Rectangle 22"/>
          <p:cNvSpPr/>
          <p:nvPr/>
        </p:nvSpPr>
        <p:spPr>
          <a:xfrm>
            <a:off x="777240" y="2984862"/>
            <a:ext cx="1701515"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2984862"/>
            <a:ext cx="1518635" cy="600891"/>
          </a:xfrm>
          <a:prstGeom prst="rect">
            <a:avLst/>
          </a:prstGeom>
          <a:noFill/>
        </p:spPr>
        <p:txBody>
          <a:bodyPr wrap="square" anchor="ctr">
            <a:spAutoFit/>
          </a:bodyPr>
          <a:lstStyle/>
          <a:p>
            <a:pPr algn="l">
              <a:spcAft>
                <a:spcPts val="400"/>
              </a:spcAft>
            </a:pPr>
            <a:r>
              <a:rPr sz="1000" b="1">
                <a:solidFill>
                  <a:srgbClr val="161B26"/>
                </a:solidFill>
                <a:latin typeface="Arial"/>
              </a:rPr>
              <a:t>Gaussian blur</a:t>
            </a:r>
          </a:p>
        </p:txBody>
      </p:sp>
      <p:sp>
        <p:nvSpPr>
          <p:cNvPr id="25" name="Rectangle 24"/>
          <p:cNvSpPr/>
          <p:nvPr/>
        </p:nvSpPr>
        <p:spPr>
          <a:xfrm>
            <a:off x="2478755" y="2984862"/>
            <a:ext cx="425378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88483" y="2984862"/>
            <a:ext cx="4070908" cy="600891"/>
          </a:xfrm>
          <a:prstGeom prst="rect">
            <a:avLst/>
          </a:prstGeom>
          <a:noFill/>
        </p:spPr>
        <p:txBody>
          <a:bodyPr wrap="square" anchor="ctr">
            <a:spAutoFit/>
          </a:bodyPr>
          <a:lstStyle/>
          <a:p>
            <a:pPr algn="l">
              <a:spcAft>
                <a:spcPts val="400"/>
              </a:spcAft>
            </a:pPr>
            <a:r>
              <a:rPr sz="1000" b="0">
                <a:solidFill>
                  <a:srgbClr val="161B26"/>
                </a:solidFill>
                <a:latin typeface="Arial"/>
              </a:rPr>
              <a:t>Weights fall off with distance from the centre</a:t>
            </a:r>
          </a:p>
        </p:txBody>
      </p:sp>
      <p:sp>
        <p:nvSpPr>
          <p:cNvPr id="27" name="Rectangle 26"/>
          <p:cNvSpPr/>
          <p:nvPr/>
        </p:nvSpPr>
        <p:spPr>
          <a:xfrm>
            <a:off x="6732543" y="2984862"/>
            <a:ext cx="2977652"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42271" y="2984862"/>
            <a:ext cx="2794772" cy="600891"/>
          </a:xfrm>
          <a:prstGeom prst="rect">
            <a:avLst/>
          </a:prstGeom>
          <a:noFill/>
        </p:spPr>
        <p:txBody>
          <a:bodyPr wrap="square" anchor="ctr">
            <a:spAutoFit/>
          </a:bodyPr>
          <a:lstStyle/>
          <a:p>
            <a:pPr algn="l">
              <a:spcAft>
                <a:spcPts val="400"/>
              </a:spcAft>
            </a:pPr>
            <a:r>
              <a:rPr sz="1000" b="0">
                <a:solidFill>
                  <a:srgbClr val="161B26"/>
                </a:solidFill>
                <a:latin typeface="Arial"/>
              </a:rPr>
              <a:t>Gaussian sensor noise</a:t>
            </a:r>
          </a:p>
        </p:txBody>
      </p:sp>
      <p:sp>
        <p:nvSpPr>
          <p:cNvPr id="29" name="Rectangle 28"/>
          <p:cNvSpPr/>
          <p:nvPr/>
        </p:nvSpPr>
        <p:spPr>
          <a:xfrm>
            <a:off x="9710195" y="2984862"/>
            <a:ext cx="1701515"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19923" y="2984862"/>
            <a:ext cx="1518635" cy="600891"/>
          </a:xfrm>
          <a:prstGeom prst="rect">
            <a:avLst/>
          </a:prstGeom>
          <a:noFill/>
        </p:spPr>
        <p:txBody>
          <a:bodyPr wrap="square" anchor="ctr">
            <a:spAutoFit/>
          </a:bodyPr>
          <a:lstStyle/>
          <a:p>
            <a:pPr algn="l">
              <a:spcAft>
                <a:spcPts val="400"/>
              </a:spcAft>
            </a:pPr>
            <a:r>
              <a:rPr sz="1000" b="0">
                <a:solidFill>
                  <a:srgbClr val="161B26"/>
                </a:solidFill>
                <a:latin typeface="Arial"/>
              </a:rPr>
              <a:t>Low</a:t>
            </a:r>
          </a:p>
        </p:txBody>
      </p:sp>
      <p:sp>
        <p:nvSpPr>
          <p:cNvPr id="31" name="Rectangle 30"/>
          <p:cNvSpPr/>
          <p:nvPr/>
        </p:nvSpPr>
        <p:spPr>
          <a:xfrm>
            <a:off x="777240" y="3585753"/>
            <a:ext cx="1701515"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585753"/>
            <a:ext cx="1518635" cy="600891"/>
          </a:xfrm>
          <a:prstGeom prst="rect">
            <a:avLst/>
          </a:prstGeom>
          <a:noFill/>
        </p:spPr>
        <p:txBody>
          <a:bodyPr wrap="square" anchor="ctr">
            <a:spAutoFit/>
          </a:bodyPr>
          <a:lstStyle/>
          <a:p>
            <a:pPr algn="l">
              <a:spcAft>
                <a:spcPts val="400"/>
              </a:spcAft>
            </a:pPr>
            <a:r>
              <a:rPr sz="1000" b="1">
                <a:solidFill>
                  <a:srgbClr val="161B26"/>
                </a:solidFill>
                <a:latin typeface="Arial"/>
              </a:rPr>
              <a:t>Median</a:t>
            </a:r>
          </a:p>
        </p:txBody>
      </p:sp>
      <p:sp>
        <p:nvSpPr>
          <p:cNvPr id="33" name="Rectangle 32"/>
          <p:cNvSpPr/>
          <p:nvPr/>
        </p:nvSpPr>
        <p:spPr>
          <a:xfrm>
            <a:off x="2478755" y="3585753"/>
            <a:ext cx="425378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588483" y="3585753"/>
            <a:ext cx="4070908" cy="600891"/>
          </a:xfrm>
          <a:prstGeom prst="rect">
            <a:avLst/>
          </a:prstGeom>
          <a:noFill/>
        </p:spPr>
        <p:txBody>
          <a:bodyPr wrap="square" anchor="ctr">
            <a:spAutoFit/>
          </a:bodyPr>
          <a:lstStyle/>
          <a:p>
            <a:pPr algn="l">
              <a:spcAft>
                <a:spcPts val="400"/>
              </a:spcAft>
            </a:pPr>
            <a:r>
              <a:rPr sz="1000" b="0">
                <a:solidFill>
                  <a:srgbClr val="161B26"/>
                </a:solidFill>
                <a:latin typeface="Arial"/>
              </a:rPr>
              <a:t>Rank filter — replaces each pixel with the neighbourhood median</a:t>
            </a:r>
          </a:p>
        </p:txBody>
      </p:sp>
      <p:sp>
        <p:nvSpPr>
          <p:cNvPr id="35" name="Rectangle 34"/>
          <p:cNvSpPr/>
          <p:nvPr/>
        </p:nvSpPr>
        <p:spPr>
          <a:xfrm>
            <a:off x="6732543" y="3585753"/>
            <a:ext cx="2977652"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42271" y="3585753"/>
            <a:ext cx="2794772" cy="600891"/>
          </a:xfrm>
          <a:prstGeom prst="rect">
            <a:avLst/>
          </a:prstGeom>
          <a:noFill/>
        </p:spPr>
        <p:txBody>
          <a:bodyPr wrap="square" anchor="ctr">
            <a:spAutoFit/>
          </a:bodyPr>
          <a:lstStyle/>
          <a:p>
            <a:pPr algn="l">
              <a:spcAft>
                <a:spcPts val="400"/>
              </a:spcAft>
            </a:pPr>
            <a:r>
              <a:rPr sz="1000" b="0">
                <a:solidFill>
                  <a:srgbClr val="161B26"/>
                </a:solidFill>
                <a:latin typeface="Arial"/>
              </a:rPr>
              <a:t>Salt-and-pepper impulse noise</a:t>
            </a:r>
          </a:p>
        </p:txBody>
      </p:sp>
      <p:sp>
        <p:nvSpPr>
          <p:cNvPr id="37" name="Rectangle 36"/>
          <p:cNvSpPr/>
          <p:nvPr/>
        </p:nvSpPr>
        <p:spPr>
          <a:xfrm>
            <a:off x="9710195" y="3585753"/>
            <a:ext cx="1701515"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19923" y="3585753"/>
            <a:ext cx="1518635" cy="600891"/>
          </a:xfrm>
          <a:prstGeom prst="rect">
            <a:avLst/>
          </a:prstGeom>
          <a:noFill/>
        </p:spPr>
        <p:txBody>
          <a:bodyPr wrap="square" anchor="ctr">
            <a:spAutoFit/>
          </a:bodyPr>
          <a:lstStyle/>
          <a:p>
            <a:pPr algn="l">
              <a:spcAft>
                <a:spcPts val="400"/>
              </a:spcAft>
            </a:pPr>
            <a:r>
              <a:rPr sz="1000" b="0">
                <a:solidFill>
                  <a:srgbClr val="161B26"/>
                </a:solidFill>
                <a:latin typeface="Arial"/>
              </a:rPr>
              <a:t>Low</a:t>
            </a:r>
          </a:p>
        </p:txBody>
      </p:sp>
      <p:sp>
        <p:nvSpPr>
          <p:cNvPr id="39" name="Rectangle 38"/>
          <p:cNvSpPr/>
          <p:nvPr/>
        </p:nvSpPr>
        <p:spPr>
          <a:xfrm>
            <a:off x="777240" y="4186644"/>
            <a:ext cx="1701515"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4186644"/>
            <a:ext cx="1518635" cy="600891"/>
          </a:xfrm>
          <a:prstGeom prst="rect">
            <a:avLst/>
          </a:prstGeom>
          <a:noFill/>
        </p:spPr>
        <p:txBody>
          <a:bodyPr wrap="square" anchor="ctr">
            <a:spAutoFit/>
          </a:bodyPr>
          <a:lstStyle/>
          <a:p>
            <a:pPr algn="l">
              <a:spcAft>
                <a:spcPts val="400"/>
              </a:spcAft>
            </a:pPr>
            <a:r>
              <a:rPr sz="1000" b="1">
                <a:solidFill>
                  <a:srgbClr val="161B26"/>
                </a:solidFill>
                <a:latin typeface="Arial"/>
              </a:rPr>
              <a:t>Bilateral</a:t>
            </a:r>
          </a:p>
        </p:txBody>
      </p:sp>
      <p:sp>
        <p:nvSpPr>
          <p:cNvPr id="41" name="Rectangle 40"/>
          <p:cNvSpPr/>
          <p:nvPr/>
        </p:nvSpPr>
        <p:spPr>
          <a:xfrm>
            <a:off x="2478755" y="4186644"/>
            <a:ext cx="425378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88483" y="4186644"/>
            <a:ext cx="4070908" cy="600891"/>
          </a:xfrm>
          <a:prstGeom prst="rect">
            <a:avLst/>
          </a:prstGeom>
          <a:noFill/>
        </p:spPr>
        <p:txBody>
          <a:bodyPr wrap="square" anchor="ctr">
            <a:spAutoFit/>
          </a:bodyPr>
          <a:lstStyle/>
          <a:p>
            <a:pPr algn="l">
              <a:spcAft>
                <a:spcPts val="400"/>
              </a:spcAft>
            </a:pPr>
            <a:r>
              <a:rPr sz="1000" b="0">
                <a:solidFill>
                  <a:srgbClr val="161B26"/>
                </a:solidFill>
                <a:latin typeface="Arial"/>
              </a:rPr>
              <a:t>Weights by spatial distance AND intensity difference</a:t>
            </a:r>
          </a:p>
        </p:txBody>
      </p:sp>
      <p:sp>
        <p:nvSpPr>
          <p:cNvPr id="43" name="Rectangle 42"/>
          <p:cNvSpPr/>
          <p:nvPr/>
        </p:nvSpPr>
        <p:spPr>
          <a:xfrm>
            <a:off x="6732543" y="4186644"/>
            <a:ext cx="2977652"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42271" y="4186644"/>
            <a:ext cx="2794772" cy="600891"/>
          </a:xfrm>
          <a:prstGeom prst="rect">
            <a:avLst/>
          </a:prstGeom>
          <a:noFill/>
        </p:spPr>
        <p:txBody>
          <a:bodyPr wrap="square" anchor="ctr">
            <a:spAutoFit/>
          </a:bodyPr>
          <a:lstStyle/>
          <a:p>
            <a:pPr algn="l">
              <a:spcAft>
                <a:spcPts val="400"/>
              </a:spcAft>
            </a:pPr>
            <a:r>
              <a:rPr sz="1000" b="0">
                <a:solidFill>
                  <a:srgbClr val="161B26"/>
                </a:solidFill>
                <a:latin typeface="Arial"/>
              </a:rPr>
              <a:t>Noise, while keeping edges</a:t>
            </a:r>
          </a:p>
        </p:txBody>
      </p:sp>
      <p:sp>
        <p:nvSpPr>
          <p:cNvPr id="45" name="Rectangle 44"/>
          <p:cNvSpPr/>
          <p:nvPr/>
        </p:nvSpPr>
        <p:spPr>
          <a:xfrm>
            <a:off x="9710195" y="4186644"/>
            <a:ext cx="1701515"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819923" y="4186644"/>
            <a:ext cx="1518635" cy="600891"/>
          </a:xfrm>
          <a:prstGeom prst="rect">
            <a:avLst/>
          </a:prstGeom>
          <a:noFill/>
        </p:spPr>
        <p:txBody>
          <a:bodyPr wrap="square" anchor="ctr">
            <a:spAutoFit/>
          </a:bodyPr>
          <a:lstStyle/>
          <a:p>
            <a:pPr algn="l">
              <a:spcAft>
                <a:spcPts val="400"/>
              </a:spcAft>
            </a:pPr>
            <a:r>
              <a:rPr sz="1000" b="0">
                <a:solidFill>
                  <a:srgbClr val="161B26"/>
                </a:solidFill>
                <a:latin typeface="Arial"/>
              </a:rPr>
              <a:t>High</a:t>
            </a:r>
          </a:p>
        </p:txBody>
      </p:sp>
      <p:sp>
        <p:nvSpPr>
          <p:cNvPr id="47" name="Rectangle 46"/>
          <p:cNvSpPr/>
          <p:nvPr/>
        </p:nvSpPr>
        <p:spPr>
          <a:xfrm>
            <a:off x="777240" y="4787535"/>
            <a:ext cx="1701515"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6968" y="4787535"/>
            <a:ext cx="1518635" cy="600891"/>
          </a:xfrm>
          <a:prstGeom prst="rect">
            <a:avLst/>
          </a:prstGeom>
          <a:noFill/>
        </p:spPr>
        <p:txBody>
          <a:bodyPr wrap="square" anchor="ctr">
            <a:spAutoFit/>
          </a:bodyPr>
          <a:lstStyle/>
          <a:p>
            <a:pPr algn="l">
              <a:spcAft>
                <a:spcPts val="400"/>
              </a:spcAft>
            </a:pPr>
            <a:r>
              <a:rPr sz="1000" b="1">
                <a:solidFill>
                  <a:srgbClr val="161B26"/>
                </a:solidFill>
                <a:latin typeface="Arial"/>
              </a:rPr>
              <a:t>Unsharp mask</a:t>
            </a:r>
          </a:p>
        </p:txBody>
      </p:sp>
      <p:sp>
        <p:nvSpPr>
          <p:cNvPr id="49" name="Rectangle 48"/>
          <p:cNvSpPr/>
          <p:nvPr/>
        </p:nvSpPr>
        <p:spPr>
          <a:xfrm>
            <a:off x="2478755" y="4787535"/>
            <a:ext cx="425378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588483" y="4787535"/>
            <a:ext cx="4070908" cy="600891"/>
          </a:xfrm>
          <a:prstGeom prst="rect">
            <a:avLst/>
          </a:prstGeom>
          <a:noFill/>
        </p:spPr>
        <p:txBody>
          <a:bodyPr wrap="square" anchor="ctr">
            <a:spAutoFit/>
          </a:bodyPr>
          <a:lstStyle/>
          <a:p>
            <a:pPr algn="l">
              <a:spcAft>
                <a:spcPts val="400"/>
              </a:spcAft>
            </a:pPr>
            <a:r>
              <a:rPr sz="1000" b="0">
                <a:solidFill>
                  <a:srgbClr val="161B26"/>
                </a:solidFill>
                <a:latin typeface="Arial"/>
              </a:rPr>
              <a:t>original × 1.5 + blurred × (−0.5) — adds the high-frequency residual back</a:t>
            </a:r>
          </a:p>
        </p:txBody>
      </p:sp>
      <p:sp>
        <p:nvSpPr>
          <p:cNvPr id="51" name="Rectangle 50"/>
          <p:cNvSpPr/>
          <p:nvPr/>
        </p:nvSpPr>
        <p:spPr>
          <a:xfrm>
            <a:off x="6732543" y="4787535"/>
            <a:ext cx="2977652"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842271" y="4787535"/>
            <a:ext cx="2794772" cy="600891"/>
          </a:xfrm>
          <a:prstGeom prst="rect">
            <a:avLst/>
          </a:prstGeom>
          <a:noFill/>
        </p:spPr>
        <p:txBody>
          <a:bodyPr wrap="square" anchor="ctr">
            <a:spAutoFit/>
          </a:bodyPr>
          <a:lstStyle/>
          <a:p>
            <a:pPr algn="l">
              <a:spcAft>
                <a:spcPts val="400"/>
              </a:spcAft>
            </a:pPr>
            <a:r>
              <a:rPr sz="1000" b="0">
                <a:solidFill>
                  <a:srgbClr val="161B26"/>
                </a:solidFill>
                <a:latin typeface="Arial"/>
              </a:rPr>
              <a:t>Soft focus on a clean image</a:t>
            </a:r>
          </a:p>
        </p:txBody>
      </p:sp>
      <p:sp>
        <p:nvSpPr>
          <p:cNvPr id="53" name="Rectangle 52"/>
          <p:cNvSpPr/>
          <p:nvPr/>
        </p:nvSpPr>
        <p:spPr>
          <a:xfrm>
            <a:off x="9710195" y="4787535"/>
            <a:ext cx="1701515"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819923" y="4787535"/>
            <a:ext cx="1518635" cy="600891"/>
          </a:xfrm>
          <a:prstGeom prst="rect">
            <a:avLst/>
          </a:prstGeom>
          <a:noFill/>
        </p:spPr>
        <p:txBody>
          <a:bodyPr wrap="square" anchor="ctr">
            <a:spAutoFit/>
          </a:bodyPr>
          <a:lstStyle/>
          <a:p>
            <a:pPr algn="l">
              <a:spcAft>
                <a:spcPts val="400"/>
              </a:spcAft>
            </a:pPr>
            <a:r>
              <a:rPr sz="1000" b="0">
                <a:solidFill>
                  <a:srgbClr val="161B26"/>
                </a:solidFill>
                <a:latin typeface="Arial"/>
              </a:rPr>
              <a:t>Low</a:t>
            </a:r>
          </a:p>
        </p:txBody>
      </p:sp>
      <p:sp>
        <p:nvSpPr>
          <p:cNvPr id="55" name="Rectangle 54"/>
          <p:cNvSpPr/>
          <p:nvPr/>
        </p:nvSpPr>
        <p:spPr>
          <a:xfrm>
            <a:off x="777240" y="5388426"/>
            <a:ext cx="1701515"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 y="5388426"/>
            <a:ext cx="1518635" cy="600891"/>
          </a:xfrm>
          <a:prstGeom prst="rect">
            <a:avLst/>
          </a:prstGeom>
          <a:noFill/>
        </p:spPr>
        <p:txBody>
          <a:bodyPr wrap="square" anchor="ctr">
            <a:spAutoFit/>
          </a:bodyPr>
          <a:lstStyle/>
          <a:p>
            <a:pPr algn="l">
              <a:spcAft>
                <a:spcPts val="400"/>
              </a:spcAft>
            </a:pPr>
            <a:r>
              <a:rPr sz="1000" b="1">
                <a:solidFill>
                  <a:srgbClr val="161B26"/>
                </a:solidFill>
                <a:latin typeface="Arial"/>
              </a:rPr>
              <a:t>Morphology</a:t>
            </a:r>
          </a:p>
        </p:txBody>
      </p:sp>
      <p:sp>
        <p:nvSpPr>
          <p:cNvPr id="57" name="Rectangle 56"/>
          <p:cNvSpPr/>
          <p:nvPr/>
        </p:nvSpPr>
        <p:spPr>
          <a:xfrm>
            <a:off x="2478755" y="5388426"/>
            <a:ext cx="425378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588483" y="5388426"/>
            <a:ext cx="4070908" cy="600891"/>
          </a:xfrm>
          <a:prstGeom prst="rect">
            <a:avLst/>
          </a:prstGeom>
          <a:noFill/>
        </p:spPr>
        <p:txBody>
          <a:bodyPr wrap="square" anchor="ctr">
            <a:spAutoFit/>
          </a:bodyPr>
          <a:lstStyle/>
          <a:p>
            <a:pPr algn="l">
              <a:spcAft>
                <a:spcPts val="400"/>
              </a:spcAft>
            </a:pPr>
            <a:r>
              <a:rPr sz="1000" b="0">
                <a:solidFill>
                  <a:srgbClr val="161B26"/>
                </a:solidFill>
                <a:latin typeface="Arial"/>
              </a:rPr>
              <a:t>Erode, dilate, open, close with a structuring element</a:t>
            </a:r>
          </a:p>
        </p:txBody>
      </p:sp>
      <p:sp>
        <p:nvSpPr>
          <p:cNvPr id="59" name="Rectangle 58"/>
          <p:cNvSpPr/>
          <p:nvPr/>
        </p:nvSpPr>
        <p:spPr>
          <a:xfrm>
            <a:off x="6732543" y="5388426"/>
            <a:ext cx="2977652"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842271" y="5388426"/>
            <a:ext cx="2794772" cy="600891"/>
          </a:xfrm>
          <a:prstGeom prst="rect">
            <a:avLst/>
          </a:prstGeom>
          <a:noFill/>
        </p:spPr>
        <p:txBody>
          <a:bodyPr wrap="square" anchor="ctr">
            <a:spAutoFit/>
          </a:bodyPr>
          <a:lstStyle/>
          <a:p>
            <a:pPr algn="l">
              <a:spcAft>
                <a:spcPts val="400"/>
              </a:spcAft>
            </a:pPr>
            <a:r>
              <a:rPr sz="1000" b="0">
                <a:solidFill>
                  <a:srgbClr val="161B26"/>
                </a:solidFill>
                <a:latin typeface="Arial"/>
              </a:rPr>
              <a:t>Cleaning a binary mask</a:t>
            </a:r>
          </a:p>
        </p:txBody>
      </p:sp>
      <p:sp>
        <p:nvSpPr>
          <p:cNvPr id="61" name="Rectangle 60"/>
          <p:cNvSpPr/>
          <p:nvPr/>
        </p:nvSpPr>
        <p:spPr>
          <a:xfrm>
            <a:off x="9710195" y="5388426"/>
            <a:ext cx="1701515"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819923" y="5388426"/>
            <a:ext cx="1518635" cy="600891"/>
          </a:xfrm>
          <a:prstGeom prst="rect">
            <a:avLst/>
          </a:prstGeom>
          <a:noFill/>
        </p:spPr>
        <p:txBody>
          <a:bodyPr wrap="square" anchor="ctr">
            <a:spAutoFit/>
          </a:bodyPr>
          <a:lstStyle/>
          <a:p>
            <a:pPr algn="l">
              <a:spcAft>
                <a:spcPts val="400"/>
              </a:spcAft>
            </a:pPr>
            <a:r>
              <a:rPr sz="1000" b="0">
                <a:solidFill>
                  <a:srgbClr val="161B26"/>
                </a:solidFill>
                <a:latin typeface="Arial"/>
              </a:rPr>
              <a:t>Very low</a:t>
            </a:r>
          </a:p>
        </p:txBody>
      </p:sp>
      <p:sp>
        <p:nvSpPr>
          <p:cNvPr id="63" name="TextBox 62"/>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A median is immune to an outlier that a mean is not — that single property is why it dominates on impulse noise. Lab 05 measures the margin.</a:t>
            </a:r>
          </a:p>
        </p:txBody>
      </p:sp>
      <p:sp>
        <p:nvSpPr>
          <p:cNvPr id="64" name="TextBox 6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65" name="TextBox 6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6" name="TextBox 6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K4, A2 · LAB 05 RESULTS ON THE SUPPLIED REFERENCE FRAME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Measured — Which Filter Actually Wins, by Degradation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Median owns impulse noise</a:t>
            </a:r>
          </a:p>
          <a:p>
            <a:pPr algn="l">
              <a:spcAft>
                <a:spcPts val="200"/>
              </a:spcAft>
            </a:pPr>
            <a:r>
              <a:rPr sz="1100" b="0">
                <a:solidFill>
                  <a:srgbClr val="161B26"/>
                </a:solidFill>
                <a:latin typeface="Arial"/>
              </a:rPr>
              <a:t>0.932 against a 0.322 baseline — the largest single margin in the matrix.</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Bilateral owns Gaussian noise</a:t>
            </a:r>
          </a:p>
          <a:p>
            <a:pPr algn="l">
              <a:spcAft>
                <a:spcPts val="200"/>
              </a:spcAft>
            </a:pPr>
            <a:r>
              <a:rPr sz="1100" b="0">
                <a:solidFill>
                  <a:srgbClr val="161B26"/>
                </a:solidFill>
                <a:latin typeface="Arial"/>
              </a:rPr>
              <a:t>0.878, because it smooths within regions without crossing edges.</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Unsharp slightly improves this blur</a:t>
            </a:r>
          </a:p>
          <a:p>
            <a:pPr algn="l">
              <a:spcAft>
                <a:spcPts val="200"/>
              </a:spcAft>
            </a:pPr>
            <a:r>
              <a:rPr sz="1100" b="0">
                <a:solidFill>
                  <a:srgbClr val="161B26"/>
                </a:solidFill>
                <a:latin typeface="Arial"/>
              </a:rPr>
              <a:t>Unsharp reaches0.885 versus0.876 baseline on this fixture. This small gain does not restore lost detail.</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Unsharp makes noise worse</a:t>
            </a:r>
          </a:p>
          <a:p>
            <a:pPr algn="l">
              <a:spcAft>
                <a:spcPts val="200"/>
              </a:spcAft>
            </a:pPr>
            <a:r>
              <a:rPr sz="1100" b="0">
                <a:solidFill>
                  <a:srgbClr val="161B26"/>
                </a:solidFill>
                <a:latin typeface="Arial"/>
              </a:rPr>
              <a:t>It amplifies exactly the high-frequency content that noise lives in.</a:t>
            </a:r>
          </a:p>
        </p:txBody>
      </p:sp>
      <p:sp>
        <p:nvSpPr>
          <p:cNvPr id="20" name="Rectangle 19"/>
          <p:cNvSpPr/>
          <p:nvPr/>
        </p:nvSpPr>
        <p:spPr>
          <a:xfrm>
            <a:off x="777240" y="5925312"/>
            <a:ext cx="1417320"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MEASURED</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Measured in Lab 05 with opencv-python 4.13 on the supplied 800x600 reference frame, using the NumPy SSIM implementation shipped with the course. Values are SSIM against the clean master, so higher is better.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A2 · APPLY PROCESSING, FILTERING AND ANALYSIS METHODS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Two Metrics, Two Different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12263"/>
            <a:ext cx="2996184" cy="457200"/>
          </a:xfrm>
          <a:prstGeom prst="rect">
            <a:avLst/>
          </a:prstGeom>
          <a:noFill/>
        </p:spPr>
        <p:txBody>
          <a:bodyPr wrap="square" anchor="t">
            <a:spAutoFit/>
          </a:bodyPr>
          <a:lstStyle/>
          <a:p>
            <a:pPr algn="l">
              <a:spcAft>
                <a:spcPts val="400"/>
              </a:spcAft>
            </a:pPr>
            <a:r>
              <a:rPr sz="1500" b="1">
                <a:solidFill>
                  <a:srgbClr val="1F6FEB"/>
                </a:solidFill>
                <a:latin typeface="Arial"/>
              </a:rPr>
              <a:t>PSNR</a:t>
            </a:r>
          </a:p>
        </p:txBody>
      </p:sp>
      <p:sp>
        <p:nvSpPr>
          <p:cNvPr id="10" name="Rectangle 9"/>
          <p:cNvSpPr/>
          <p:nvPr/>
        </p:nvSpPr>
        <p:spPr>
          <a:xfrm>
            <a:off x="960120"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15767"/>
            <a:ext cx="2813304" cy="1042416"/>
          </a:xfrm>
          <a:prstGeom prst="rect">
            <a:avLst/>
          </a:prstGeom>
          <a:noFill/>
        </p:spPr>
        <p:txBody>
          <a:bodyPr wrap="none" lIns="0" rIns="0" tIns="0" bIns="0" anchor="ctr">
            <a:noAutofit/>
          </a:bodyPr>
          <a:lstStyle/>
          <a:p>
            <a:pPr>
              <a:spcAft>
                <a:spcPts val="100"/>
              </a:spcAft>
            </a:pPr>
            <a:r>
              <a:rPr sz="1300">
                <a:solidFill>
                  <a:srgbClr val="9CDCFE"/>
                </a:solidFill>
                <a:latin typeface="Consolas"/>
              </a:rPr>
              <a:t>MSE = mean((a − b)²)</a:t>
            </a:r>
          </a:p>
          <a:p>
            <a:pPr>
              <a:spcAft>
                <a:spcPts val="100"/>
              </a:spcAft>
            </a:pPr>
            <a:r>
              <a:rPr sz="1300">
                <a:solidFill>
                  <a:srgbClr val="9CDCFE"/>
                </a:solidFill>
                <a:latin typeface="Consolas"/>
              </a:rPr>
              <a:t>PSNR = 10·log₁₀(255² / MSE)</a:t>
            </a:r>
          </a:p>
        </p:txBody>
      </p:sp>
      <p:sp>
        <p:nvSpPr>
          <p:cNvPr id="12" name="TextBox 11"/>
          <p:cNvSpPr txBox="1"/>
          <p:nvPr/>
        </p:nvSpPr>
        <p:spPr>
          <a:xfrm>
            <a:off x="960120"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A per-pixel error average, in decibels. Cheap, and it catches gross error. It rewards aggressive smoothing, because smoothing lowers mean squared error.</a:t>
            </a:r>
          </a:p>
        </p:txBody>
      </p:sp>
      <p:sp>
        <p:nvSpPr>
          <p:cNvPr id="13" name="Rectangle 12"/>
          <p:cNvSpPr/>
          <p:nvPr/>
        </p:nvSpPr>
        <p:spPr>
          <a:xfrm>
            <a:off x="4413504"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6384" y="2112263"/>
            <a:ext cx="2996184" cy="457200"/>
          </a:xfrm>
          <a:prstGeom prst="rect">
            <a:avLst/>
          </a:prstGeom>
          <a:noFill/>
        </p:spPr>
        <p:txBody>
          <a:bodyPr wrap="square" anchor="t">
            <a:spAutoFit/>
          </a:bodyPr>
          <a:lstStyle/>
          <a:p>
            <a:pPr algn="l">
              <a:spcAft>
                <a:spcPts val="400"/>
              </a:spcAft>
            </a:pPr>
            <a:r>
              <a:rPr sz="1500" b="1">
                <a:solidFill>
                  <a:srgbClr val="10B981"/>
                </a:solidFill>
                <a:latin typeface="Arial"/>
              </a:rPr>
              <a:t>SSIM</a:t>
            </a:r>
          </a:p>
        </p:txBody>
      </p:sp>
      <p:sp>
        <p:nvSpPr>
          <p:cNvPr id="16" name="Rectangle 15"/>
          <p:cNvSpPr/>
          <p:nvPr/>
        </p:nvSpPr>
        <p:spPr>
          <a:xfrm>
            <a:off x="4596384" y="2715767"/>
            <a:ext cx="2996184" cy="14081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7824" y="2715767"/>
            <a:ext cx="2813304" cy="1408176"/>
          </a:xfrm>
          <a:prstGeom prst="rect">
            <a:avLst/>
          </a:prstGeom>
          <a:noFill/>
        </p:spPr>
        <p:txBody>
          <a:bodyPr wrap="none" lIns="0" rIns="0" tIns="0" bIns="0" anchor="ctr">
            <a:noAutofit/>
          </a:bodyPr>
          <a:lstStyle/>
          <a:p>
            <a:pPr>
              <a:spcAft>
                <a:spcPts val="100"/>
              </a:spcAft>
            </a:pPr>
            <a:r>
              <a:rPr sz="1350">
                <a:solidFill>
                  <a:srgbClr val="9CDCFE"/>
                </a:solidFill>
                <a:latin typeface="Consolas"/>
              </a:rPr>
              <a:t>((2μₓμᵧ+C₁)(2σₓᵧ+C₂))</a:t>
            </a:r>
          </a:p>
          <a:p>
            <a:pPr>
              <a:spcAft>
                <a:spcPts val="100"/>
              </a:spcAft>
            </a:pPr>
            <a:r>
              <a:rPr sz="1350">
                <a:solidFill>
                  <a:srgbClr val="9CDCFE"/>
                </a:solidFill>
                <a:latin typeface="Consolas"/>
              </a:rPr>
              <a:t>─────────────────────</a:t>
            </a:r>
          </a:p>
          <a:p>
            <a:pPr>
              <a:spcAft>
                <a:spcPts val="100"/>
              </a:spcAft>
            </a:pPr>
            <a:r>
              <a:rPr sz="1350">
                <a:solidFill>
                  <a:srgbClr val="9CDCFE"/>
                </a:solidFill>
                <a:latin typeface="Consolas"/>
              </a:rPr>
              <a:t>((μₓ²+μᵧ²+C₁)(σₓ²+σᵧ²+C₂))</a:t>
            </a:r>
          </a:p>
        </p:txBody>
      </p:sp>
      <p:sp>
        <p:nvSpPr>
          <p:cNvPr id="18" name="TextBox 17"/>
          <p:cNvSpPr txBox="1"/>
          <p:nvPr/>
        </p:nvSpPr>
        <p:spPr>
          <a:xfrm>
            <a:off x="4596384" y="4233671"/>
            <a:ext cx="2996184" cy="1124712"/>
          </a:xfrm>
          <a:prstGeom prst="rect">
            <a:avLst/>
          </a:prstGeom>
          <a:noFill/>
        </p:spPr>
        <p:txBody>
          <a:bodyPr wrap="square" anchor="t">
            <a:spAutoFit/>
          </a:bodyPr>
          <a:lstStyle/>
          <a:p>
            <a:pPr algn="l">
              <a:spcAft>
                <a:spcPts val="400"/>
              </a:spcAft>
            </a:pPr>
            <a:r>
              <a:rPr sz="1200" b="0">
                <a:solidFill>
                  <a:srgbClr val="5B6372"/>
                </a:solidFill>
                <a:latin typeface="Arial"/>
              </a:rPr>
              <a:t>Luminance, contrast and structure, over a sliding Gaussian window. C₁=(0.01·255)², C₂=(0.03·255)². It punishes the lost texture that smoothing cost you.</a:t>
            </a:r>
          </a:p>
        </p:txBody>
      </p:sp>
      <p:sp>
        <p:nvSpPr>
          <p:cNvPr id="19" name="Rectangle 18"/>
          <p:cNvSpPr/>
          <p:nvPr/>
        </p:nvSpPr>
        <p:spPr>
          <a:xfrm>
            <a:off x="8049768"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2648" y="2112263"/>
            <a:ext cx="2996184" cy="457200"/>
          </a:xfrm>
          <a:prstGeom prst="rect">
            <a:avLst/>
          </a:prstGeom>
          <a:noFill/>
        </p:spPr>
        <p:txBody>
          <a:bodyPr wrap="square" anchor="t">
            <a:spAutoFit/>
          </a:bodyPr>
          <a:lstStyle/>
          <a:p>
            <a:pPr algn="l">
              <a:spcAft>
                <a:spcPts val="400"/>
              </a:spcAft>
            </a:pPr>
            <a:r>
              <a:rPr sz="1500" b="1">
                <a:solidFill>
                  <a:srgbClr val="7C3AED"/>
                </a:solidFill>
                <a:latin typeface="Arial"/>
              </a:rPr>
              <a:t>When they disagree</a:t>
            </a:r>
          </a:p>
        </p:txBody>
      </p:sp>
      <p:sp>
        <p:nvSpPr>
          <p:cNvPr id="22" name="Rectangle 21"/>
          <p:cNvSpPr/>
          <p:nvPr/>
        </p:nvSpPr>
        <p:spPr>
          <a:xfrm>
            <a:off x="8232648" y="2715767"/>
            <a:ext cx="2996184" cy="6766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4088" y="2715767"/>
            <a:ext cx="2813304" cy="676656"/>
          </a:xfrm>
          <a:prstGeom prst="rect">
            <a:avLst/>
          </a:prstGeom>
          <a:noFill/>
        </p:spPr>
        <p:txBody>
          <a:bodyPr wrap="none" lIns="0" rIns="0" tIns="0" bIns="0" anchor="ctr">
            <a:noAutofit/>
          </a:bodyPr>
          <a:lstStyle/>
          <a:p>
            <a:pPr>
              <a:spcAft>
                <a:spcPts val="100"/>
              </a:spcAft>
            </a:pPr>
            <a:r>
              <a:rPr sz="1400">
                <a:solidFill>
                  <a:srgbClr val="9CDCFE"/>
                </a:solidFill>
                <a:latin typeface="Consolas"/>
              </a:rPr>
              <a:t>inspect the task</a:t>
            </a:r>
          </a:p>
        </p:txBody>
      </p:sp>
      <p:sp>
        <p:nvSpPr>
          <p:cNvPr id="24" name="TextBox 23"/>
          <p:cNvSpPr txBox="1"/>
          <p:nvPr/>
        </p:nvSpPr>
        <p:spPr>
          <a:xfrm>
            <a:off x="8232648" y="3502151"/>
            <a:ext cx="2996184" cy="1856232"/>
          </a:xfrm>
          <a:prstGeom prst="rect">
            <a:avLst/>
          </a:prstGeom>
          <a:noFill/>
        </p:spPr>
        <p:txBody>
          <a:bodyPr wrap="square" anchor="t">
            <a:spAutoFit/>
          </a:bodyPr>
          <a:lstStyle/>
          <a:p>
            <a:pPr algn="l">
              <a:spcAft>
                <a:spcPts val="400"/>
              </a:spcAft>
            </a:pPr>
            <a:r>
              <a:rPr sz="1200" b="0">
                <a:solidFill>
                  <a:srgbClr val="5B6372"/>
                </a:solidFill>
                <a:latin typeface="Arial"/>
              </a:rPr>
              <a:t>Neither metric guarantees perceived quality. Lab05 asks you to inspect a cell where the two rank filters differently and explain which you would gate a customer-facing asset on.</a:t>
            </a:r>
          </a:p>
        </p:txBody>
      </p:sp>
      <p:sp>
        <p:nvSpPr>
          <p:cNvPr id="25" name="TextBox 2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cv2.PSNR ships in the base wheel. The cv2.quality SSIM module does NOT — it is contrib-only — so the course ships its own NumPy implementation in ssim.py rather than adding a dependency for one function.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K4 · NAME THREE GEOMETRIC TRANSFORMATIONS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Geometric Transformation — Affine and Perspective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41605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38528"/>
            <a:ext cx="6035040" cy="3849624"/>
          </a:xfrm>
          <a:prstGeom prst="rect">
            <a:avLst/>
          </a:prstGeom>
          <a:noFill/>
        </p:spPr>
        <p:txBody>
          <a:bodyPr wrap="none" lIns="0" rIns="0" tIns="0" bIns="0" anchor="t">
            <a:noAutofit/>
          </a:bodyPr>
          <a:lstStyle/>
          <a:p>
            <a:pPr>
              <a:spcAft>
                <a:spcPts val="100"/>
              </a:spcAft>
            </a:pPr>
            <a:r>
              <a:rPr sz="1250">
                <a:solidFill>
                  <a:srgbClr val="9CDCFE"/>
                </a:solidFill>
                <a:latin typeface="Consolas"/>
              </a:rPr>
              <a:t>import numpy as np, cv2</a:t>
            </a:r>
          </a:p>
          <a:p>
            <a:pPr>
              <a:spcAft>
                <a:spcPts val="100"/>
              </a:spcAft>
            </a:pPr>
            <a:r>
              <a:rPr sz="1250">
                <a:solidFill>
                  <a:srgbClr val="9CDCFE"/>
                </a:solidFill>
                <a:latin typeface="Consolas"/>
              </a:rPr>
              <a:t>h, w = img.shape[:2]</a:t>
            </a:r>
          </a:p>
          <a:p>
            <a:pPr>
              <a:spcAft>
                <a:spcPts val="100"/>
              </a:spcAft>
            </a:pPr>
            <a:r>
              <a:rPr sz="1250">
                <a:solidFill>
                  <a:srgbClr val="9CDCFE"/>
                </a:solidFill>
                <a:latin typeface="Consolas"/>
              </a:rPr>
              <a:t> </a:t>
            </a:r>
          </a:p>
          <a:p>
            <a:pPr>
              <a:spcAft>
                <a:spcPts val="100"/>
              </a:spcAft>
            </a:pPr>
            <a:r>
              <a:rPr sz="1250">
                <a:solidFill>
                  <a:srgbClr val="9CDCFE"/>
                </a:solidFill>
                <a:latin typeface="Consolas"/>
              </a:rPr>
              <a:t># TRANSLATION — a 2x3 affine matrix, applied by warpAffine</a:t>
            </a:r>
          </a:p>
          <a:p>
            <a:pPr>
              <a:spcAft>
                <a:spcPts val="100"/>
              </a:spcAft>
            </a:pPr>
            <a:r>
              <a:rPr sz="1250">
                <a:solidFill>
                  <a:srgbClr val="9CDCFE"/>
                </a:solidFill>
                <a:latin typeface="Consolas"/>
              </a:rPr>
              <a:t>M = np.float32([[1, 0, 100],</a:t>
            </a:r>
          </a:p>
          <a:p>
            <a:pPr>
              <a:spcAft>
                <a:spcPts val="100"/>
              </a:spcAft>
            </a:pPr>
            <a:r>
              <a:rPr sz="1250">
                <a:solidFill>
                  <a:srgbClr val="9CDCFE"/>
                </a:solidFill>
                <a:latin typeface="Consolas"/>
              </a:rPr>
              <a:t>                [0, 1,  50]])          # shift +100 x, +50 y</a:t>
            </a:r>
          </a:p>
          <a:p>
            <a:pPr>
              <a:spcAft>
                <a:spcPts val="100"/>
              </a:spcAft>
            </a:pPr>
            <a:r>
              <a:rPr sz="1250">
                <a:solidFill>
                  <a:srgbClr val="9CDCFE"/>
                </a:solidFill>
                <a:latin typeface="Consolas"/>
              </a:rPr>
              <a:t>shifted = cv2.warpAffine(img, M, (w, h))</a:t>
            </a:r>
          </a:p>
          <a:p>
            <a:pPr>
              <a:spcAft>
                <a:spcPts val="100"/>
              </a:spcAft>
            </a:pPr>
            <a:r>
              <a:rPr sz="1250">
                <a:solidFill>
                  <a:srgbClr val="9CDCFE"/>
                </a:solidFill>
                <a:latin typeface="Consolas"/>
              </a:rPr>
              <a:t> </a:t>
            </a:r>
          </a:p>
          <a:p>
            <a:pPr>
              <a:spcAft>
                <a:spcPts val="100"/>
              </a:spcAft>
            </a:pPr>
            <a:r>
              <a:rPr sz="1250">
                <a:solidFill>
                  <a:srgbClr val="9CDCFE"/>
                </a:solidFill>
                <a:latin typeface="Consolas"/>
              </a:rPr>
              <a:t># ROTATION about an arbitrary centre, with scale</a:t>
            </a:r>
          </a:p>
          <a:p>
            <a:pPr>
              <a:spcAft>
                <a:spcPts val="100"/>
              </a:spcAft>
            </a:pPr>
            <a:r>
              <a:rPr sz="1250">
                <a:solidFill>
                  <a:srgbClr val="9CDCFE"/>
                </a:solidFill>
                <a:latin typeface="Consolas"/>
              </a:rPr>
              <a:t>M = cv2.getRotationMatrix2D((w/2, h/2), angle=30, scale=1.0)</a:t>
            </a:r>
          </a:p>
          <a:p>
            <a:pPr>
              <a:spcAft>
                <a:spcPts val="100"/>
              </a:spcAft>
            </a:pPr>
            <a:r>
              <a:rPr sz="1250">
                <a:solidFill>
                  <a:srgbClr val="9CDCFE"/>
                </a:solidFill>
                <a:latin typeface="Consolas"/>
              </a:rPr>
              <a:t>rotated = cv2.warpAffine(img, M, (w, h))</a:t>
            </a:r>
          </a:p>
          <a:p>
            <a:pPr>
              <a:spcAft>
                <a:spcPts val="100"/>
              </a:spcAft>
            </a:pPr>
            <a:r>
              <a:rPr sz="1250">
                <a:solidFill>
                  <a:srgbClr val="9CDCFE"/>
                </a:solidFill>
                <a:latin typeface="Consolas"/>
              </a:rPr>
              <a:t> </a:t>
            </a:r>
          </a:p>
          <a:p>
            <a:pPr>
              <a:spcAft>
                <a:spcPts val="100"/>
              </a:spcAft>
            </a:pPr>
            <a:r>
              <a:rPr sz="1250">
                <a:solidFill>
                  <a:srgbClr val="9CDCFE"/>
                </a:solidFill>
                <a:latin typeface="Consolas"/>
              </a:rPr>
              <a:t># AFFINE from three point correspondences</a:t>
            </a:r>
          </a:p>
          <a:p>
            <a:pPr>
              <a:spcAft>
                <a:spcPts val="100"/>
              </a:spcAft>
            </a:pPr>
            <a:r>
              <a:rPr sz="1250">
                <a:solidFill>
                  <a:srgbClr val="9CDCFE"/>
                </a:solidFill>
                <a:latin typeface="Consolas"/>
              </a:rPr>
              <a:t>M = cv2.getAffineTransform(src_pts3, dst_pts3)      # 2x3</a:t>
            </a:r>
          </a:p>
          <a:p>
            <a:pPr>
              <a:spcAft>
                <a:spcPts val="100"/>
              </a:spcAft>
            </a:pPr>
            <a:r>
              <a:rPr sz="1250">
                <a:solidFill>
                  <a:srgbClr val="9CDCFE"/>
                </a:solidFill>
                <a:latin typeface="Consolas"/>
              </a:rPr>
              <a:t> </a:t>
            </a:r>
          </a:p>
          <a:p>
            <a:pPr>
              <a:spcAft>
                <a:spcPts val="100"/>
              </a:spcAft>
            </a:pPr>
            <a:r>
              <a:rPr sz="1250">
                <a:solidFill>
                  <a:srgbClr val="9CDCFE"/>
                </a:solidFill>
                <a:latin typeface="Consolas"/>
              </a:rPr>
              <a:t># PERSPECTIVE from four point correspondences</a:t>
            </a:r>
          </a:p>
          <a:p>
            <a:pPr>
              <a:spcAft>
                <a:spcPts val="100"/>
              </a:spcAft>
            </a:pPr>
            <a:r>
              <a:rPr sz="1250">
                <a:solidFill>
                  <a:srgbClr val="9CDCFE"/>
                </a:solidFill>
                <a:latin typeface="Consolas"/>
              </a:rPr>
              <a:t>M = cv2.getPerspectiveTransform(src_pts4, dst_pts4)  # 3x3</a:t>
            </a:r>
          </a:p>
          <a:p>
            <a:pPr>
              <a:spcAft>
                <a:spcPts val="100"/>
              </a:spcAft>
            </a:pPr>
            <a:r>
              <a:rPr sz="1250">
                <a:solidFill>
                  <a:srgbClr val="9CDCFE"/>
                </a:solidFill>
                <a:latin typeface="Consolas"/>
              </a:rPr>
              <a:t>flat = cv2.warpPerspective(img, M, (300, 300))</a:t>
            </a:r>
          </a:p>
        </p:txBody>
      </p:sp>
      <p:sp>
        <p:nvSpPr>
          <p:cNvPr id="9" name="Rectangle 8"/>
          <p:cNvSpPr/>
          <p:nvPr/>
        </p:nvSpPr>
        <p:spPr>
          <a:xfrm>
            <a:off x="7406640" y="1783080"/>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783080"/>
            <a:ext cx="82296" cy="9166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6096" y="1783080"/>
            <a:ext cx="3602736" cy="916686"/>
          </a:xfrm>
          <a:prstGeom prst="rect">
            <a:avLst/>
          </a:prstGeom>
          <a:noFill/>
        </p:spPr>
        <p:txBody>
          <a:bodyPr wrap="square" anchor="ctr">
            <a:spAutoFit/>
          </a:bodyPr>
          <a:lstStyle/>
          <a:p>
            <a:pPr algn="l">
              <a:spcAft>
                <a:spcPts val="200"/>
              </a:spcAft>
            </a:pPr>
            <a:r>
              <a:rPr sz="1300" b="1">
                <a:solidFill>
                  <a:srgbClr val="1F6FEB"/>
                </a:solidFill>
                <a:latin typeface="Arial"/>
              </a:rPr>
              <a:t>Affine is 2x3</a:t>
            </a:r>
          </a:p>
          <a:p>
            <a:pPr algn="l">
              <a:spcAft>
                <a:spcPts val="200"/>
              </a:spcAft>
            </a:pPr>
            <a:r>
              <a:rPr sz="1150" b="0">
                <a:solidFill>
                  <a:srgbClr val="161B26"/>
                </a:solidFill>
                <a:latin typeface="Arial"/>
              </a:rPr>
              <a:t>Scaling, translation, rotation, shear. Parallel lines stay parallel.</a:t>
            </a:r>
          </a:p>
        </p:txBody>
      </p:sp>
      <p:sp>
        <p:nvSpPr>
          <p:cNvPr id="12" name="Rectangle 11"/>
          <p:cNvSpPr/>
          <p:nvPr/>
        </p:nvSpPr>
        <p:spPr>
          <a:xfrm>
            <a:off x="7406640" y="2864358"/>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2864358"/>
            <a:ext cx="82296" cy="91668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2864358"/>
            <a:ext cx="3602736" cy="916686"/>
          </a:xfrm>
          <a:prstGeom prst="rect">
            <a:avLst/>
          </a:prstGeom>
          <a:noFill/>
        </p:spPr>
        <p:txBody>
          <a:bodyPr wrap="square" anchor="ctr">
            <a:spAutoFit/>
          </a:bodyPr>
          <a:lstStyle/>
          <a:p>
            <a:pPr algn="l">
              <a:spcAft>
                <a:spcPts val="200"/>
              </a:spcAft>
            </a:pPr>
            <a:r>
              <a:rPr sz="1300" b="1">
                <a:solidFill>
                  <a:srgbClr val="10B981"/>
                </a:solidFill>
                <a:latin typeface="Arial"/>
              </a:rPr>
              <a:t>Perspective is 3x3</a:t>
            </a:r>
          </a:p>
          <a:p>
            <a:pPr algn="l">
              <a:spcAft>
                <a:spcPts val="200"/>
              </a:spcAft>
            </a:pPr>
            <a:r>
              <a:rPr sz="1150" b="0">
                <a:solidFill>
                  <a:srgbClr val="161B26"/>
                </a:solidFill>
                <a:latin typeface="Arial"/>
              </a:rPr>
              <a:t>A homography. Straight lines stay straight, but parallel lines converge.</a:t>
            </a:r>
          </a:p>
        </p:txBody>
      </p:sp>
      <p:sp>
        <p:nvSpPr>
          <p:cNvPr id="15" name="Rectangle 14"/>
          <p:cNvSpPr/>
          <p:nvPr/>
        </p:nvSpPr>
        <p:spPr>
          <a:xfrm>
            <a:off x="7406640" y="3945636"/>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3945636"/>
            <a:ext cx="82296" cy="91668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6096" y="3945636"/>
            <a:ext cx="3602736" cy="916686"/>
          </a:xfrm>
          <a:prstGeom prst="rect">
            <a:avLst/>
          </a:prstGeom>
          <a:noFill/>
        </p:spPr>
        <p:txBody>
          <a:bodyPr wrap="square" anchor="ctr">
            <a:spAutoFit/>
          </a:bodyPr>
          <a:lstStyle/>
          <a:p>
            <a:pPr algn="l">
              <a:spcAft>
                <a:spcPts val="200"/>
              </a:spcAft>
            </a:pPr>
            <a:r>
              <a:rPr sz="1300" b="1">
                <a:solidFill>
                  <a:srgbClr val="7C3AED"/>
                </a:solidFill>
                <a:latin typeface="Arial"/>
              </a:rPr>
              <a:t>Three points vs four</a:t>
            </a:r>
          </a:p>
          <a:p>
            <a:pPr algn="l">
              <a:spcAft>
                <a:spcPts val="200"/>
              </a:spcAft>
            </a:pPr>
            <a:r>
              <a:rPr sz="1150" b="0">
                <a:solidFill>
                  <a:srgbClr val="161B26"/>
                </a:solidFill>
                <a:latin typeface="Arial"/>
              </a:rPr>
              <a:t>An affine map is determined by 3 correspondences; a homography needs 4.</a:t>
            </a:r>
          </a:p>
        </p:txBody>
      </p:sp>
      <p:sp>
        <p:nvSpPr>
          <p:cNvPr id="18" name="Rectangle 17"/>
          <p:cNvSpPr/>
          <p:nvPr/>
        </p:nvSpPr>
        <p:spPr>
          <a:xfrm>
            <a:off x="7406640" y="5026914"/>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5026914"/>
            <a:ext cx="82296" cy="91668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5026914"/>
            <a:ext cx="3602736" cy="916686"/>
          </a:xfrm>
          <a:prstGeom prst="rect">
            <a:avLst/>
          </a:prstGeom>
          <a:noFill/>
        </p:spPr>
        <p:txBody>
          <a:bodyPr wrap="square" anchor="ctr">
            <a:spAutoFit/>
          </a:bodyPr>
          <a:lstStyle/>
          <a:p>
            <a:pPr algn="l">
              <a:spcAft>
                <a:spcPts val="200"/>
              </a:spcAft>
            </a:pPr>
            <a:r>
              <a:rPr sz="1300" b="1">
                <a:solidFill>
                  <a:srgbClr val="F59E0B"/>
                </a:solidFill>
                <a:latin typeface="Arial"/>
              </a:rPr>
              <a:t>Interpolation matters</a:t>
            </a:r>
          </a:p>
          <a:p>
            <a:pPr algn="l">
              <a:spcAft>
                <a:spcPts val="200"/>
              </a:spcAft>
            </a:pPr>
            <a:r>
              <a:rPr sz="1150" b="0">
                <a:solidFill>
                  <a:srgbClr val="161B26"/>
                </a:solidFill>
                <a:latin typeface="Arial"/>
              </a:rPr>
              <a:t>INTER_AREA for shrinking, INTER_CUBIC or INTER_LINEAR for enlarging.</a:t>
            </a:r>
          </a:p>
        </p:txBody>
      </p:sp>
      <p:sp>
        <p:nvSpPr>
          <p:cNvPr id="21" name="Rectangle 20"/>
          <p:cNvSpPr/>
          <p:nvPr/>
        </p:nvSpPr>
        <p:spPr>
          <a:xfrm>
            <a:off x="777240" y="6053328"/>
            <a:ext cx="10634472" cy="4023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6053328"/>
            <a:ext cx="10241280" cy="402336"/>
          </a:xfrm>
          <a:prstGeom prst="rect">
            <a:avLst/>
          </a:prstGeom>
          <a:noFill/>
        </p:spPr>
        <p:txBody>
          <a:bodyPr wrap="square" anchor="ctr">
            <a:spAutoFit/>
          </a:bodyPr>
          <a:lstStyle/>
          <a:p>
            <a:pPr algn="l">
              <a:spcAft>
                <a:spcPts val="400"/>
              </a:spcAft>
            </a:pPr>
            <a:r>
              <a:rPr sz="1100" b="1">
                <a:solidFill>
                  <a:srgbClr val="127A3E"/>
                </a:solidFill>
                <a:latin typeface="Arial"/>
              </a:rPr>
              <a:t>VERIFY   </a:t>
            </a:r>
            <a:r>
              <a:rPr sz="1200" b="0">
                <a:solidFill>
                  <a:srgbClr val="161B26"/>
                </a:solidFill>
                <a:latin typeface="Arial"/>
              </a:rPr>
              <a:t>The Written Assessment asks you to name three geometric transformations OpenCV provides. Scaling, translation, rotation, affine and perspective are all acceptable — say which matrix each needs.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K4, K5 · NAME THREE THRESHOLDING OPTIONS FOR SEGMENTATION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Thresholding — Five Options, One Decision Rule Each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THRESH_BINARY</a:t>
            </a:r>
          </a:p>
          <a:p>
            <a:pPr algn="l">
              <a:spcAft>
                <a:spcPts val="200"/>
              </a:spcAft>
            </a:pPr>
            <a:r>
              <a:rPr sz="1000" b="0">
                <a:solidFill>
                  <a:srgbClr val="5B6372"/>
                </a:solidFill>
                <a:latin typeface="Arial"/>
              </a:rPr>
              <a:t>dst = maxVal if src &gt; thresh, else 0. The default: a hard two-level mask.</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THRESH_BINARY_INV</a:t>
            </a:r>
          </a:p>
          <a:p>
            <a:pPr algn="l">
              <a:spcAft>
                <a:spcPts val="200"/>
              </a:spcAft>
            </a:pPr>
            <a:r>
              <a:rPr sz="1000" b="0">
                <a:solidFill>
                  <a:srgbClr val="5B6372"/>
                </a:solidFill>
                <a:latin typeface="Arial"/>
              </a:rPr>
              <a:t>dst = 0 if src &gt; thresh, else maxVal. The same mask, inverted — used when the object is darker than the background.</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THRESH_TRUNC</a:t>
            </a:r>
          </a:p>
          <a:p>
            <a:pPr algn="l">
              <a:spcAft>
                <a:spcPts val="200"/>
              </a:spcAft>
            </a:pPr>
            <a:r>
              <a:rPr sz="1000" b="0">
                <a:solidFill>
                  <a:srgbClr val="5B6372"/>
                </a:solidFill>
                <a:latin typeface="Arial"/>
              </a:rPr>
              <a:t>dst = thresh if src &gt; thresh, else src. Caps the bright end without discarding the dark detail.</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THRESH_TOZERO</a:t>
            </a:r>
          </a:p>
          <a:p>
            <a:pPr algn="l">
              <a:spcAft>
                <a:spcPts val="200"/>
              </a:spcAft>
            </a:pPr>
            <a:r>
              <a:rPr sz="1000" b="0">
                <a:solidFill>
                  <a:srgbClr val="5B6372"/>
                </a:solidFill>
                <a:latin typeface="Arial"/>
              </a:rPr>
              <a:t>dst = src if src &gt; thresh, else 0. Keeps bright detail, discards everything below.</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THRESH_TOZERO_INV</a:t>
            </a:r>
          </a:p>
          <a:p>
            <a:pPr algn="l">
              <a:spcAft>
                <a:spcPts val="200"/>
              </a:spcAft>
            </a:pPr>
            <a:r>
              <a:rPr sz="1000" b="0">
                <a:solidFill>
                  <a:srgbClr val="5B6372"/>
                </a:solidFill>
                <a:latin typeface="Arial"/>
              </a:rPr>
              <a:t>dst = 0 if src &gt; thresh, else src. The complement.</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Adaptive + Otsu</a:t>
            </a:r>
          </a:p>
          <a:p>
            <a:pPr algn="l">
              <a:spcAft>
                <a:spcPts val="200"/>
              </a:spcAft>
            </a:pPr>
            <a:r>
              <a:rPr sz="1000" b="0">
                <a:solidFill>
                  <a:srgbClr val="5B6372"/>
                </a:solidFill>
                <a:latin typeface="Arial"/>
              </a:rPr>
              <a:t>Adaptive computes a threshold per neighbourhood, for uneven illumination. Otsu picks one global threshold by maximising between-class variance.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K4, K5, A2 · THE MASK EVERY EDIT DEPENDS 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Segmentation by Colour — the HSV Route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41605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38528"/>
            <a:ext cx="6035040" cy="3849624"/>
          </a:xfrm>
          <a:prstGeom prst="rect">
            <a:avLst/>
          </a:prstGeom>
          <a:noFill/>
        </p:spPr>
        <p:txBody>
          <a:bodyPr wrap="none" lIns="0" rIns="0" tIns="0" bIns="0" anchor="t">
            <a:noAutofit/>
          </a:bodyPr>
          <a:lstStyle/>
          <a:p>
            <a:pPr>
              <a:spcAft>
                <a:spcPts val="100"/>
              </a:spcAft>
            </a:pPr>
            <a:r>
              <a:rPr sz="1080">
                <a:solidFill>
                  <a:srgbClr val="9CDCFE"/>
                </a:solidFill>
                <a:latin typeface="Consolas"/>
              </a:rPr>
              <a:t>hsv  = cv2.cvtColor(img, cv2.COLOR_BGR2HSV)</a:t>
            </a:r>
          </a:p>
          <a:p>
            <a:pPr>
              <a:spcAft>
                <a:spcPts val="100"/>
              </a:spcAft>
            </a:pPr>
            <a:r>
              <a:rPr sz="1080">
                <a:solidFill>
                  <a:srgbClr val="9CDCFE"/>
                </a:solidFill>
                <a:latin typeface="Consolas"/>
              </a:rPr>
              <a:t> </a:t>
            </a:r>
          </a:p>
          <a:p>
            <a:pPr>
              <a:spcAft>
                <a:spcPts val="100"/>
              </a:spcAft>
            </a:pPr>
            <a:r>
              <a:rPr sz="1080">
                <a:solidFill>
                  <a:srgbClr val="9CDCFE"/>
                </a:solidFill>
                <a:latin typeface="Consolas"/>
              </a:rPr>
              <a:t># a slate-blue band. NOTE the OpenCV hue scale: 210 degrees is H = 105</a:t>
            </a:r>
          </a:p>
          <a:p>
            <a:pPr>
              <a:spcAft>
                <a:spcPts val="100"/>
              </a:spcAft>
            </a:pPr>
            <a:r>
              <a:rPr sz="1080">
                <a:solidFill>
                  <a:srgbClr val="9CDCFE"/>
                </a:solidFill>
                <a:latin typeface="Consolas"/>
              </a:rPr>
              <a:t>mask = cv2.inRange(hsv, (98, 90, 60), (116, 255, 255))</a:t>
            </a:r>
          </a:p>
          <a:p>
            <a:pPr>
              <a:spcAft>
                <a:spcPts val="100"/>
              </a:spcAft>
            </a:pPr>
            <a:r>
              <a:rPr sz="1080">
                <a:solidFill>
                  <a:srgbClr val="9CDCFE"/>
                </a:solidFill>
                <a:latin typeface="Consolas"/>
              </a:rPr>
              <a:t> </a:t>
            </a:r>
          </a:p>
          <a:p>
            <a:pPr>
              <a:spcAft>
                <a:spcPts val="100"/>
              </a:spcAft>
            </a:pPr>
            <a:r>
              <a:rPr sz="1080">
                <a:solidFill>
                  <a:srgbClr val="9CDCFE"/>
                </a:solidFill>
                <a:latin typeface="Consolas"/>
              </a:rPr>
              <a:t># RED WRAPS AROUND — it needs two bands ORed together</a:t>
            </a:r>
          </a:p>
          <a:p>
            <a:pPr>
              <a:spcAft>
                <a:spcPts val="100"/>
              </a:spcAft>
            </a:pPr>
            <a:r>
              <a:rPr sz="1080">
                <a:solidFill>
                  <a:srgbClr val="9CDCFE"/>
                </a:solidFill>
                <a:latin typeface="Consolas"/>
              </a:rPr>
              <a:t>m1   = cv2.inRange(hsv, (0,   120, 80), (8,   255, 255))</a:t>
            </a:r>
          </a:p>
          <a:p>
            <a:pPr>
              <a:spcAft>
                <a:spcPts val="100"/>
              </a:spcAft>
            </a:pPr>
            <a:r>
              <a:rPr sz="1080">
                <a:solidFill>
                  <a:srgbClr val="9CDCFE"/>
                </a:solidFill>
                <a:latin typeface="Consolas"/>
              </a:rPr>
              <a:t>m2   = cv2.inRange(hsv, (172, 120, 80), (179, 255, 255))</a:t>
            </a:r>
          </a:p>
          <a:p>
            <a:pPr>
              <a:spcAft>
                <a:spcPts val="100"/>
              </a:spcAft>
            </a:pPr>
            <a:r>
              <a:rPr sz="1080">
                <a:solidFill>
                  <a:srgbClr val="9CDCFE"/>
                </a:solidFill>
                <a:latin typeface="Consolas"/>
              </a:rPr>
              <a:t>red  = cv2.bitwise_or(m1, m2)</a:t>
            </a:r>
          </a:p>
          <a:p>
            <a:pPr>
              <a:spcAft>
                <a:spcPts val="100"/>
              </a:spcAft>
            </a:pPr>
            <a:r>
              <a:rPr sz="1080">
                <a:solidFill>
                  <a:srgbClr val="9CDCFE"/>
                </a:solidFill>
                <a:latin typeface="Consolas"/>
              </a:rPr>
              <a:t> </a:t>
            </a:r>
          </a:p>
          <a:p>
            <a:pPr>
              <a:spcAft>
                <a:spcPts val="100"/>
              </a:spcAft>
            </a:pPr>
            <a:r>
              <a:rPr sz="1080">
                <a:solidFill>
                  <a:srgbClr val="9CDCFE"/>
                </a:solidFill>
                <a:latin typeface="Consolas"/>
              </a:rPr>
              <a:t># clean the mask: close pinholes, then grow past the object boundary</a:t>
            </a:r>
          </a:p>
          <a:p>
            <a:pPr>
              <a:spcAft>
                <a:spcPts val="100"/>
              </a:spcAft>
            </a:pPr>
            <a:r>
              <a:rPr sz="1080">
                <a:solidFill>
                  <a:srgbClr val="9CDCFE"/>
                </a:solidFill>
                <a:latin typeface="Consolas"/>
              </a:rPr>
              <a:t>k    = cv2.getStructuringElement(cv2.MORPH_ELLIPSE, (5, 5))</a:t>
            </a:r>
          </a:p>
          <a:p>
            <a:pPr>
              <a:spcAft>
                <a:spcPts val="100"/>
              </a:spcAft>
            </a:pPr>
            <a:r>
              <a:rPr sz="1080">
                <a:solidFill>
                  <a:srgbClr val="9CDCFE"/>
                </a:solidFill>
                <a:latin typeface="Consolas"/>
              </a:rPr>
              <a:t>mask = cv2.morphologyEx(mask, cv2.MORPH_CLOSE, k)</a:t>
            </a:r>
          </a:p>
          <a:p>
            <a:pPr>
              <a:spcAft>
                <a:spcPts val="100"/>
              </a:spcAft>
            </a:pPr>
            <a:r>
              <a:rPr sz="1080">
                <a:solidFill>
                  <a:srgbClr val="9CDCFE"/>
                </a:solidFill>
                <a:latin typeface="Consolas"/>
              </a:rPr>
              <a:t>mask = cv2.dilate(mask, k, iterations=2)</a:t>
            </a:r>
          </a:p>
          <a:p>
            <a:pPr>
              <a:spcAft>
                <a:spcPts val="100"/>
              </a:spcAft>
            </a:pPr>
            <a:r>
              <a:rPr sz="1080">
                <a:solidFill>
                  <a:srgbClr val="9CDCFE"/>
                </a:solidFill>
                <a:latin typeface="Consolas"/>
              </a:rPr>
              <a:t> </a:t>
            </a:r>
          </a:p>
          <a:p>
            <a:pPr>
              <a:spcAft>
                <a:spcPts val="100"/>
              </a:spcAft>
            </a:pPr>
            <a:r>
              <a:rPr sz="1080">
                <a:solidFill>
                  <a:srgbClr val="9CDCFE"/>
                </a:solidFill>
                <a:latin typeface="Consolas"/>
              </a:rPr>
              <a:t>print('coverage %.2f%%' % (100.0 * (mask &gt; 0).mean()))</a:t>
            </a:r>
          </a:p>
        </p:txBody>
      </p:sp>
      <p:sp>
        <p:nvSpPr>
          <p:cNvPr id="9" name="Rectangle 8"/>
          <p:cNvSpPr/>
          <p:nvPr/>
        </p:nvSpPr>
        <p:spPr>
          <a:xfrm>
            <a:off x="7406640" y="1783080"/>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783080"/>
            <a:ext cx="82296" cy="9166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6096" y="1783080"/>
            <a:ext cx="3602736" cy="916686"/>
          </a:xfrm>
          <a:prstGeom prst="rect">
            <a:avLst/>
          </a:prstGeom>
          <a:noFill/>
        </p:spPr>
        <p:txBody>
          <a:bodyPr wrap="square" anchor="ctr">
            <a:spAutoFit/>
          </a:bodyPr>
          <a:lstStyle/>
          <a:p>
            <a:pPr algn="l">
              <a:spcAft>
                <a:spcPts val="200"/>
              </a:spcAft>
            </a:pPr>
            <a:r>
              <a:rPr sz="1300" b="1">
                <a:solidFill>
                  <a:srgbClr val="1F6FEB"/>
                </a:solidFill>
                <a:latin typeface="Arial"/>
              </a:rPr>
              <a:t>Halve the degrees</a:t>
            </a:r>
          </a:p>
          <a:p>
            <a:pPr algn="l">
              <a:spcAft>
                <a:spcPts val="200"/>
              </a:spcAft>
            </a:pPr>
            <a:r>
              <a:rPr sz="1150" b="0">
                <a:solidFill>
                  <a:srgbClr val="161B26"/>
                </a:solidFill>
                <a:latin typeface="Arial"/>
              </a:rPr>
              <a:t>A 210-degree blue is H=105 in OpenCV, not 210. This is the most common HSV error.</a:t>
            </a:r>
          </a:p>
        </p:txBody>
      </p:sp>
      <p:sp>
        <p:nvSpPr>
          <p:cNvPr id="12" name="Rectangle 11"/>
          <p:cNvSpPr/>
          <p:nvPr/>
        </p:nvSpPr>
        <p:spPr>
          <a:xfrm>
            <a:off x="7406640" y="2864358"/>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2864358"/>
            <a:ext cx="82296" cy="91668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2864358"/>
            <a:ext cx="3602736" cy="916686"/>
          </a:xfrm>
          <a:prstGeom prst="rect">
            <a:avLst/>
          </a:prstGeom>
          <a:noFill/>
        </p:spPr>
        <p:txBody>
          <a:bodyPr wrap="square" anchor="ctr">
            <a:spAutoFit/>
          </a:bodyPr>
          <a:lstStyle/>
          <a:p>
            <a:pPr algn="l">
              <a:spcAft>
                <a:spcPts val="200"/>
              </a:spcAft>
            </a:pPr>
            <a:r>
              <a:rPr sz="1300" b="1">
                <a:solidFill>
                  <a:srgbClr val="10B981"/>
                </a:solidFill>
                <a:latin typeface="Arial"/>
              </a:rPr>
              <a:t>Red needs two bands</a:t>
            </a:r>
          </a:p>
          <a:p>
            <a:pPr algn="l">
              <a:spcAft>
                <a:spcPts val="200"/>
              </a:spcAft>
            </a:pPr>
            <a:r>
              <a:rPr sz="1150" b="0">
                <a:solidFill>
                  <a:srgbClr val="161B26"/>
                </a:solidFill>
                <a:latin typeface="Arial"/>
              </a:rPr>
              <a:t>It spans H near 179 and H near 0. One inRange call silently misses half of it.</a:t>
            </a:r>
          </a:p>
        </p:txBody>
      </p:sp>
      <p:sp>
        <p:nvSpPr>
          <p:cNvPr id="15" name="Rectangle 14"/>
          <p:cNvSpPr/>
          <p:nvPr/>
        </p:nvSpPr>
        <p:spPr>
          <a:xfrm>
            <a:off x="7406640" y="3945636"/>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3945636"/>
            <a:ext cx="82296" cy="91668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6096" y="3945636"/>
            <a:ext cx="3602736" cy="916686"/>
          </a:xfrm>
          <a:prstGeom prst="rect">
            <a:avLst/>
          </a:prstGeom>
          <a:noFill/>
        </p:spPr>
        <p:txBody>
          <a:bodyPr wrap="square" anchor="ctr">
            <a:spAutoFit/>
          </a:bodyPr>
          <a:lstStyle/>
          <a:p>
            <a:pPr algn="l">
              <a:spcAft>
                <a:spcPts val="200"/>
              </a:spcAft>
            </a:pPr>
            <a:r>
              <a:rPr sz="1300" b="1">
                <a:solidFill>
                  <a:srgbClr val="7C3AED"/>
                </a:solidFill>
                <a:latin typeface="Arial"/>
              </a:rPr>
              <a:t>Close, then dilate</a:t>
            </a:r>
          </a:p>
          <a:p>
            <a:pPr algn="l">
              <a:spcAft>
                <a:spcPts val="200"/>
              </a:spcAft>
            </a:pPr>
            <a:r>
              <a:rPr sz="1150" b="0">
                <a:solidFill>
                  <a:srgbClr val="161B26"/>
                </a:solidFill>
                <a:latin typeface="Arial"/>
              </a:rPr>
              <a:t>Closing fills compression pinholes; dilation grows the mask a few pixels so a fill can blend.</a:t>
            </a:r>
          </a:p>
        </p:txBody>
      </p:sp>
      <p:sp>
        <p:nvSpPr>
          <p:cNvPr id="18" name="Rectangle 17"/>
          <p:cNvSpPr/>
          <p:nvPr/>
        </p:nvSpPr>
        <p:spPr>
          <a:xfrm>
            <a:off x="7406640" y="5026914"/>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5026914"/>
            <a:ext cx="82296" cy="91668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5026914"/>
            <a:ext cx="3602736" cy="916686"/>
          </a:xfrm>
          <a:prstGeom prst="rect">
            <a:avLst/>
          </a:prstGeom>
          <a:noFill/>
        </p:spPr>
        <p:txBody>
          <a:bodyPr wrap="square" anchor="ctr">
            <a:spAutoFit/>
          </a:bodyPr>
          <a:lstStyle/>
          <a:p>
            <a:pPr algn="l">
              <a:spcAft>
                <a:spcPts val="200"/>
              </a:spcAft>
            </a:pPr>
            <a:r>
              <a:rPr sz="1300" b="1">
                <a:solidFill>
                  <a:srgbClr val="F59E0B"/>
                </a:solidFill>
                <a:latin typeface="Arial"/>
              </a:rPr>
              <a:t>Always report coverage</a:t>
            </a:r>
          </a:p>
          <a:p>
            <a:pPr algn="l">
              <a:spcAft>
                <a:spcPts val="200"/>
              </a:spcAft>
            </a:pPr>
            <a:r>
              <a:rPr sz="1150" b="0">
                <a:solidFill>
                  <a:srgbClr val="161B26"/>
                </a:solidFill>
                <a:latin typeface="Arial"/>
              </a:rPr>
              <a:t>A tag mask should be low single digits. If it is 30%, the band is catching the product.</a:t>
            </a:r>
          </a:p>
        </p:txBody>
      </p:sp>
      <p:sp>
        <p:nvSpPr>
          <p:cNvPr id="21" name="Rectangle 20"/>
          <p:cNvSpPr/>
          <p:nvPr/>
        </p:nvSpPr>
        <p:spPr>
          <a:xfrm>
            <a:off x="777240" y="6053328"/>
            <a:ext cx="10634472" cy="4023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6053328"/>
            <a:ext cx="10241280" cy="402336"/>
          </a:xfrm>
          <a:prstGeom prst="rect">
            <a:avLst/>
          </a:prstGeom>
          <a:noFill/>
        </p:spPr>
        <p:txBody>
          <a:bodyPr wrap="square" anchor="ctr">
            <a:spAutoFit/>
          </a:bodyPr>
          <a:lstStyle/>
          <a:p>
            <a:pPr algn="l">
              <a:spcAft>
                <a:spcPts val="400"/>
              </a:spcAft>
            </a:pPr>
            <a:r>
              <a:rPr sz="1100" b="1">
                <a:solidFill>
                  <a:srgbClr val="127A3E"/>
                </a:solidFill>
                <a:latin typeface="Arial"/>
              </a:rPr>
              <a:t>VERIFY   </a:t>
            </a:r>
            <a:r>
              <a:rPr sz="1200" b="0">
                <a:solidFill>
                  <a:srgbClr val="161B26"/>
                </a:solidFill>
                <a:latin typeface="Arial"/>
              </a:rPr>
              <a:t>Lab 04 builds exactly this mask and then proves the edit was contained by measuring change inside and outside it.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K4, A2 · WHY MASK-BASED EDITING IS WHAT SHIPS COMMERCIALLY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Masked Generative Editing — the Mechanism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2452878" cy="2606040"/>
          </a:xfrm>
          <a:prstGeom prst="round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52878" cy="3840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48840"/>
            <a:ext cx="2452878" cy="384048"/>
          </a:xfrm>
          <a:prstGeom prst="rect">
            <a:avLst/>
          </a:prstGeom>
          <a:noFill/>
        </p:spPr>
        <p:txBody>
          <a:bodyPr wrap="square" anchor="ctr">
            <a:spAutoFit/>
          </a:bodyPr>
          <a:lstStyle/>
          <a:p>
            <a:pPr algn="ctr">
              <a:spcAft>
                <a:spcPts val="400"/>
              </a:spcAft>
            </a:pPr>
            <a:r>
              <a:rPr sz="1250" b="1">
                <a:solidFill>
                  <a:srgbClr val="FFFFFF"/>
                </a:solidFill>
                <a:latin typeface="Arial"/>
              </a:rPr>
              <a:t>BUILD THE MASK</a:t>
            </a:r>
          </a:p>
        </p:txBody>
      </p:sp>
      <p:sp>
        <p:nvSpPr>
          <p:cNvPr id="10" name="TextBox 9"/>
          <p:cNvSpPr txBox="1"/>
          <p:nvPr/>
        </p:nvSpPr>
        <p:spPr>
          <a:xfrm>
            <a:off x="923544" y="2651760"/>
            <a:ext cx="2160270" cy="1965960"/>
          </a:xfrm>
          <a:prstGeom prst="rect">
            <a:avLst/>
          </a:prstGeom>
          <a:noFill/>
        </p:spPr>
        <p:txBody>
          <a:bodyPr wrap="square" anchor="t">
            <a:spAutoFit/>
          </a:bodyPr>
          <a:lstStyle/>
          <a:p>
            <a:pPr algn="l">
              <a:spcAft>
                <a:spcPts val="400"/>
              </a:spcAft>
            </a:pPr>
            <a:r>
              <a:rPr sz="1150" b="0">
                <a:solidFill>
                  <a:srgbClr val="161B26"/>
                </a:solidFill>
                <a:latin typeface="Arial"/>
              </a:rPr>
              <a:t>A single-channel 8-bit image. WHITE (255) marks the pixels the model may rewrite; BLACK (0) marks the pixels it must preserve.</a:t>
            </a:r>
          </a:p>
        </p:txBody>
      </p:sp>
      <p:cxnSp>
        <p:nvCxnSpPr>
          <p:cNvPr id="11" name="Connector 10"/>
          <p:cNvCxnSpPr/>
          <p:nvPr/>
        </p:nvCxnSpPr>
        <p:spPr>
          <a:xfrm>
            <a:off x="3230118" y="3451860"/>
            <a:ext cx="274320" cy="0"/>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504438" y="2148840"/>
            <a:ext cx="2452878" cy="2606040"/>
          </a:xfrm>
          <a:prstGeom prst="roundRect">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04438" y="2148840"/>
            <a:ext cx="2452878"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4438" y="2148840"/>
            <a:ext cx="2452878" cy="384048"/>
          </a:xfrm>
          <a:prstGeom prst="rect">
            <a:avLst/>
          </a:prstGeom>
          <a:noFill/>
        </p:spPr>
        <p:txBody>
          <a:bodyPr wrap="square" anchor="ctr">
            <a:spAutoFit/>
          </a:bodyPr>
          <a:lstStyle/>
          <a:p>
            <a:pPr algn="ctr">
              <a:spcAft>
                <a:spcPts val="400"/>
              </a:spcAft>
            </a:pPr>
            <a:r>
              <a:rPr sz="1250" b="1">
                <a:solidFill>
                  <a:srgbClr val="FFFFFF"/>
                </a:solidFill>
                <a:latin typeface="Arial"/>
              </a:rPr>
              <a:t>STATE THE SEMANTICS</a:t>
            </a:r>
          </a:p>
        </p:txBody>
      </p:sp>
      <p:sp>
        <p:nvSpPr>
          <p:cNvPr id="15" name="TextBox 14"/>
          <p:cNvSpPr txBox="1"/>
          <p:nvPr/>
        </p:nvSpPr>
        <p:spPr>
          <a:xfrm>
            <a:off x="3650742" y="2651760"/>
            <a:ext cx="2160270" cy="1965960"/>
          </a:xfrm>
          <a:prstGeom prst="rect">
            <a:avLst/>
          </a:prstGeom>
          <a:noFill/>
        </p:spPr>
        <p:txBody>
          <a:bodyPr wrap="square" anchor="t">
            <a:spAutoFit/>
          </a:bodyPr>
          <a:lstStyle/>
          <a:p>
            <a:pPr algn="l">
              <a:spcAft>
                <a:spcPts val="400"/>
              </a:spcAft>
            </a:pPr>
            <a:r>
              <a:rPr sz="1150" b="0">
                <a:solidFill>
                  <a:srgbClr val="161B26"/>
                </a:solidFill>
                <a:latin typeface="Arial"/>
              </a:rPr>
              <a:t>Record which colour is editable as an explicit field. Semantics are not universal across tools, and an inverted mask does not error — it produces a confident wrong image.</a:t>
            </a:r>
          </a:p>
        </p:txBody>
      </p:sp>
      <p:cxnSp>
        <p:nvCxnSpPr>
          <p:cNvPr id="16" name="Connector 15"/>
          <p:cNvCxnSpPr/>
          <p:nvPr/>
        </p:nvCxnSpPr>
        <p:spPr>
          <a:xfrm>
            <a:off x="5957316" y="3451860"/>
            <a:ext cx="274320" cy="0"/>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31636" y="2148840"/>
            <a:ext cx="2452878" cy="2606040"/>
          </a:xfrm>
          <a:prstGeom prst="roundRect">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31636" y="2148840"/>
            <a:ext cx="2452878"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1636" y="2148840"/>
            <a:ext cx="2452878" cy="384048"/>
          </a:xfrm>
          <a:prstGeom prst="rect">
            <a:avLst/>
          </a:prstGeom>
          <a:noFill/>
        </p:spPr>
        <p:txBody>
          <a:bodyPr wrap="square" anchor="ctr">
            <a:spAutoFit/>
          </a:bodyPr>
          <a:lstStyle/>
          <a:p>
            <a:pPr algn="ctr">
              <a:spcAft>
                <a:spcPts val="400"/>
              </a:spcAft>
            </a:pPr>
            <a:r>
              <a:rPr sz="1250" b="1">
                <a:solidFill>
                  <a:srgbClr val="FFFFFF"/>
                </a:solidFill>
                <a:latin typeface="Arial"/>
              </a:rPr>
              <a:t>CONDITION THE SAMPLER</a:t>
            </a:r>
          </a:p>
        </p:txBody>
      </p:sp>
      <p:sp>
        <p:nvSpPr>
          <p:cNvPr id="20" name="TextBox 19"/>
          <p:cNvSpPr txBox="1"/>
          <p:nvPr/>
        </p:nvSpPr>
        <p:spPr>
          <a:xfrm>
            <a:off x="6377940" y="2651760"/>
            <a:ext cx="2160270" cy="1965960"/>
          </a:xfrm>
          <a:prstGeom prst="rect">
            <a:avLst/>
          </a:prstGeom>
          <a:noFill/>
        </p:spPr>
        <p:txBody>
          <a:bodyPr wrap="square" anchor="t">
            <a:spAutoFit/>
          </a:bodyPr>
          <a:lstStyle/>
          <a:p>
            <a:pPr algn="l">
              <a:spcAft>
                <a:spcPts val="400"/>
              </a:spcAft>
            </a:pPr>
            <a:r>
              <a:rPr sz="1150" b="0">
                <a:solidFill>
                  <a:srgbClr val="161B26"/>
                </a:solidFill>
                <a:latin typeface="Arial"/>
              </a:rPr>
              <a:t>The prompt plus the unmasked pixels condition the denoising. The model only writes inside the mask.</a:t>
            </a:r>
          </a:p>
        </p:txBody>
      </p:sp>
      <p:cxnSp>
        <p:nvCxnSpPr>
          <p:cNvPr id="21" name="Connector 20"/>
          <p:cNvCxnSpPr/>
          <p:nvPr/>
        </p:nvCxnSpPr>
        <p:spPr>
          <a:xfrm>
            <a:off x="8684514" y="3451860"/>
            <a:ext cx="274320" cy="0"/>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958834" y="2148840"/>
            <a:ext cx="2452878" cy="2606040"/>
          </a:xfrm>
          <a:prstGeom prst="roundRect">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58834" y="2148840"/>
            <a:ext cx="2452878"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58834" y="2148840"/>
            <a:ext cx="2452878" cy="384048"/>
          </a:xfrm>
          <a:prstGeom prst="rect">
            <a:avLst/>
          </a:prstGeom>
          <a:noFill/>
        </p:spPr>
        <p:txBody>
          <a:bodyPr wrap="square" anchor="ctr">
            <a:spAutoFit/>
          </a:bodyPr>
          <a:lstStyle/>
          <a:p>
            <a:pPr algn="ctr">
              <a:spcAft>
                <a:spcPts val="400"/>
              </a:spcAft>
            </a:pPr>
            <a:r>
              <a:rPr sz="1250" b="1">
                <a:solidFill>
                  <a:srgbClr val="FFFFFF"/>
                </a:solidFill>
                <a:latin typeface="Arial"/>
              </a:rPr>
              <a:t>MEASURE CONTAINMENT</a:t>
            </a:r>
          </a:p>
        </p:txBody>
      </p:sp>
      <p:sp>
        <p:nvSpPr>
          <p:cNvPr id="25" name="TextBox 24"/>
          <p:cNvSpPr txBox="1"/>
          <p:nvPr/>
        </p:nvSpPr>
        <p:spPr>
          <a:xfrm>
            <a:off x="9105138" y="2651760"/>
            <a:ext cx="2160270" cy="1965960"/>
          </a:xfrm>
          <a:prstGeom prst="rect">
            <a:avLst/>
          </a:prstGeom>
          <a:noFill/>
        </p:spPr>
        <p:txBody>
          <a:bodyPr wrap="square" anchor="t">
            <a:spAutoFit/>
          </a:bodyPr>
          <a:lstStyle/>
          <a:p>
            <a:pPr algn="l">
              <a:spcAft>
                <a:spcPts val="400"/>
              </a:spcAft>
            </a:pPr>
            <a:r>
              <a:rPr sz="1150" b="0">
                <a:solidFill>
                  <a:srgbClr val="161B26"/>
                </a:solidFill>
                <a:latin typeface="Arial"/>
              </a:rPr>
              <a:t>Mean absolute difference inside the mask (clearly non-zero) and outside it (effectively zero). That is the numeric proof.</a:t>
            </a:r>
          </a:p>
        </p:txBody>
      </p:sp>
      <p:sp>
        <p:nvSpPr>
          <p:cNvPr id="26" name="Rectangle 25"/>
          <p:cNvSpPr/>
          <p:nvPr/>
        </p:nvSpPr>
        <p:spPr>
          <a:xfrm>
            <a:off x="777240" y="5120640"/>
            <a:ext cx="10634472"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5120640"/>
            <a:ext cx="10241280" cy="914400"/>
          </a:xfrm>
          <a:prstGeom prst="rect">
            <a:avLst/>
          </a:prstGeom>
          <a:noFill/>
        </p:spPr>
        <p:txBody>
          <a:bodyPr wrap="square" anchor="ctr">
            <a:spAutoFit/>
          </a:bodyPr>
          <a:lstStyle/>
          <a:p>
            <a:pPr algn="l">
              <a:spcAft>
                <a:spcPts val="400"/>
              </a:spcAft>
            </a:pPr>
            <a:r>
              <a:rPr sz="1150" b="1">
                <a:solidFill>
                  <a:srgbClr val="127A3E"/>
                </a:solidFill>
                <a:latin typeface="Arial"/>
              </a:rPr>
              <a:t>SO WHAT   </a:t>
            </a:r>
            <a:r>
              <a:rPr sz="1300" b="0">
                <a:solidFill>
                  <a:srgbClr val="161B26"/>
                </a:solidFill>
                <a:latin typeface="Arial"/>
              </a:rPr>
              <a:t>Verify, do not assume. Lab 04's audit is the difference between 'the model said it only changed the tag' and 'the unmasked region is provably unchanged'.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fast">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K4 · PLUS ONE MORE ON THE NEXT SLIDE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Four Masked Edit Modes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2926080" cy="548640"/>
          </a:xfrm>
          <a:prstGeom prst="rect">
            <a:avLst/>
          </a:prstGeom>
          <a:noFill/>
        </p:spPr>
        <p:txBody>
          <a:bodyPr wrap="square" anchor="t">
            <a:spAutoFit/>
          </a:bodyPr>
          <a:lstStyle/>
          <a:p>
            <a:pPr algn="l">
              <a:spcAft>
                <a:spcPts val="400"/>
              </a:spcAft>
            </a:pPr>
            <a:r>
              <a:rPr sz="1700" b="1">
                <a:solidFill>
                  <a:srgbClr val="1F6FEB"/>
                </a:solidFill>
                <a:latin typeface="Arial"/>
              </a:rPr>
              <a:t>Inpaint</a:t>
            </a:r>
          </a:p>
        </p:txBody>
      </p:sp>
      <p:sp>
        <p:nvSpPr>
          <p:cNvPr id="10" name="TextBox 9"/>
          <p:cNvSpPr txBox="1"/>
          <p:nvPr/>
        </p:nvSpPr>
        <p:spPr>
          <a:xfrm>
            <a:off x="1005840" y="2651760"/>
            <a:ext cx="2926080" cy="3200400"/>
          </a:xfrm>
          <a:prstGeom prst="rect">
            <a:avLst/>
          </a:prstGeom>
          <a:noFill/>
        </p:spPr>
        <p:txBody>
          <a:bodyPr wrap="square">
            <a:spAutoFit/>
          </a:bodyPr>
          <a:lstStyle/>
          <a:p>
            <a:pPr>
              <a:spcAft>
                <a:spcPts val="800"/>
              </a:spcAft>
            </a:pPr>
            <a:r>
              <a:rPr sz="1300" b="0">
                <a:solidFill>
                  <a:srgbClr val="161B26"/>
                </a:solidFill>
                <a:latin typeface="Arial"/>
              </a:rPr>
              <a:t>•  Fills a masked region INSIDE the frame.</a:t>
            </a:r>
          </a:p>
          <a:p>
            <a:pPr>
              <a:spcAft>
                <a:spcPts val="800"/>
              </a:spcAft>
            </a:pPr>
            <a:r>
              <a:rPr sz="1300" b="0">
                <a:solidFill>
                  <a:srgbClr val="161B26"/>
                </a:solidFill>
                <a:latin typeface="Arial"/>
              </a:rPr>
              <a:t>•  Removes an object, or replaces it.</a:t>
            </a:r>
          </a:p>
          <a:p>
            <a:pPr>
              <a:spcAft>
                <a:spcPts val="800"/>
              </a:spcAft>
            </a:pPr>
            <a:r>
              <a:rPr sz="1300" b="0">
                <a:solidFill>
                  <a:srgbClr val="161B26"/>
                </a:solidFill>
                <a:latin typeface="Arial"/>
              </a:rPr>
              <a:t>•  Mask from colour, from a semantic segmentation class, or by hand.</a:t>
            </a:r>
          </a:p>
          <a:p>
            <a:pPr>
              <a:spcAft>
                <a:spcPts val="800"/>
              </a:spcAft>
            </a:pPr>
            <a:r>
              <a:rPr sz="1300" b="0">
                <a:solidFill>
                  <a:srgbClr val="161B26"/>
                </a:solidFill>
                <a:latin typeface="Arial"/>
              </a:rPr>
              <a:t>•  Dilate a few pixels or you get a halo.</a:t>
            </a:r>
          </a:p>
          <a:p>
            <a:pPr>
              <a:spcAft>
                <a:spcPts val="800"/>
              </a:spcAft>
            </a:pPr>
            <a:r>
              <a:rPr sz="1300" b="0">
                <a:solidFill>
                  <a:srgbClr val="161B26"/>
                </a:solidFill>
                <a:latin typeface="Arial"/>
              </a:rPr>
              <a:t>•  Classical baseline: cv2.inpaint (Telea, Navier-Stokes).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1993392"/>
            <a:ext cx="2926080" cy="548640"/>
          </a:xfrm>
          <a:prstGeom prst="rect">
            <a:avLst/>
          </a:prstGeom>
          <a:noFill/>
        </p:spPr>
        <p:txBody>
          <a:bodyPr wrap="square" anchor="t">
            <a:spAutoFit/>
          </a:bodyPr>
          <a:lstStyle/>
          <a:p>
            <a:pPr algn="l">
              <a:spcAft>
                <a:spcPts val="400"/>
              </a:spcAft>
            </a:pPr>
            <a:r>
              <a:rPr sz="1700" b="1">
                <a:solidFill>
                  <a:srgbClr val="10B981"/>
                </a:solidFill>
                <a:latin typeface="Arial"/>
              </a:rPr>
              <a:t>Outpaint</a:t>
            </a:r>
          </a:p>
        </p:txBody>
      </p:sp>
      <p:sp>
        <p:nvSpPr>
          <p:cNvPr id="14" name="TextBox 13"/>
          <p:cNvSpPr txBox="1"/>
          <p:nvPr/>
        </p:nvSpPr>
        <p:spPr>
          <a:xfrm>
            <a:off x="4800600" y="2651760"/>
            <a:ext cx="2926080" cy="3200400"/>
          </a:xfrm>
          <a:prstGeom prst="rect">
            <a:avLst/>
          </a:prstGeom>
          <a:noFill/>
        </p:spPr>
        <p:txBody>
          <a:bodyPr wrap="square">
            <a:spAutoFit/>
          </a:bodyPr>
          <a:lstStyle/>
          <a:p>
            <a:pPr>
              <a:spcAft>
                <a:spcPts val="800"/>
              </a:spcAft>
            </a:pPr>
            <a:r>
              <a:rPr sz="1300" b="0">
                <a:solidFill>
                  <a:srgbClr val="161B26"/>
                </a:solidFill>
                <a:latin typeface="Arial"/>
              </a:rPr>
              <a:t>•  Extends the frame BEYOND its original edges.</a:t>
            </a:r>
          </a:p>
          <a:p>
            <a:pPr>
              <a:spcAft>
                <a:spcPts val="800"/>
              </a:spcAft>
            </a:pPr>
            <a:r>
              <a:rPr sz="1300" b="0">
                <a:solidFill>
                  <a:srgbClr val="161B26"/>
                </a:solidFill>
                <a:latin typeface="Arial"/>
              </a:rPr>
              <a:t>•  Also called generative expand.</a:t>
            </a:r>
          </a:p>
          <a:p>
            <a:pPr>
              <a:spcAft>
                <a:spcPts val="800"/>
              </a:spcAft>
            </a:pPr>
            <a:r>
              <a:rPr sz="1300" b="0">
                <a:solidFill>
                  <a:srgbClr val="161B26"/>
                </a:solidFill>
                <a:latin typeface="Arial"/>
              </a:rPr>
              <a:t>•  Changes aspect ratio without cropping.</a:t>
            </a:r>
          </a:p>
          <a:p>
            <a:pPr>
              <a:spcAft>
                <a:spcPts val="800"/>
              </a:spcAft>
            </a:pPr>
            <a:r>
              <a:rPr sz="1300" b="0">
                <a:solidFill>
                  <a:srgbClr val="161B26"/>
                </a:solidFill>
                <a:latin typeface="Arial"/>
              </a:rPr>
              <a:t>•  Needs a padded canvas AND a mask.</a:t>
            </a:r>
          </a:p>
          <a:p>
            <a:pPr>
              <a:spcAft>
                <a:spcPts val="800"/>
              </a:spcAft>
            </a:pPr>
            <a:r>
              <a:rPr sz="1300" b="0">
                <a:solidFill>
                  <a:srgbClr val="161B26"/>
                </a:solidFill>
                <a:latin typeface="Arial"/>
              </a:rPr>
              <a:t>•  Acceptance: the original columns stay bit-identical.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1993392"/>
            <a:ext cx="2926080" cy="548640"/>
          </a:xfrm>
          <a:prstGeom prst="rect">
            <a:avLst/>
          </a:prstGeom>
          <a:noFill/>
        </p:spPr>
        <p:txBody>
          <a:bodyPr wrap="square" anchor="t">
            <a:spAutoFit/>
          </a:bodyPr>
          <a:lstStyle/>
          <a:p>
            <a:pPr algn="l">
              <a:spcAft>
                <a:spcPts val="400"/>
              </a:spcAft>
            </a:pPr>
            <a:r>
              <a:rPr sz="1700" b="1">
                <a:solidFill>
                  <a:srgbClr val="7C3AED"/>
                </a:solidFill>
                <a:latin typeface="Arial"/>
              </a:rPr>
              <a:t>Background swap</a:t>
            </a:r>
          </a:p>
        </p:txBody>
      </p:sp>
      <p:sp>
        <p:nvSpPr>
          <p:cNvPr id="18" name="TextBox 17"/>
          <p:cNvSpPr txBox="1"/>
          <p:nvPr/>
        </p:nvSpPr>
        <p:spPr>
          <a:xfrm>
            <a:off x="8595360" y="2651760"/>
            <a:ext cx="2926080" cy="3200400"/>
          </a:xfrm>
          <a:prstGeom prst="rect">
            <a:avLst/>
          </a:prstGeom>
          <a:noFill/>
        </p:spPr>
        <p:txBody>
          <a:bodyPr wrap="square">
            <a:spAutoFit/>
          </a:bodyPr>
          <a:lstStyle/>
          <a:p>
            <a:pPr>
              <a:spcAft>
                <a:spcPts val="800"/>
              </a:spcAft>
            </a:pPr>
            <a:r>
              <a:rPr sz="1300" b="0">
                <a:solidFill>
                  <a:srgbClr val="161B26"/>
                </a:solidFill>
                <a:latin typeface="Arial"/>
              </a:rPr>
              <a:t>•  Masks the complement of the subject.</a:t>
            </a:r>
          </a:p>
          <a:p>
            <a:pPr>
              <a:spcAft>
                <a:spcPts val="800"/>
              </a:spcAft>
            </a:pPr>
            <a:r>
              <a:rPr sz="1300" b="0">
                <a:solidFill>
                  <a:srgbClr val="161B26"/>
                </a:solidFill>
                <a:latin typeface="Arial"/>
              </a:rPr>
              <a:t>•  Re-renders the setting around a kept subject.</a:t>
            </a:r>
          </a:p>
          <a:p>
            <a:pPr>
              <a:spcAft>
                <a:spcPts val="800"/>
              </a:spcAft>
            </a:pPr>
            <a:r>
              <a:rPr sz="1300" b="0">
                <a:solidFill>
                  <a:srgbClr val="161B26"/>
                </a:solidFill>
                <a:latin typeface="Arial"/>
              </a:rPr>
              <a:t>•  A composite cannot fix the matte edge or colour spill; a re-render can.</a:t>
            </a:r>
          </a:p>
          <a:p>
            <a:pPr>
              <a:spcAft>
                <a:spcPts val="800"/>
              </a:spcAft>
            </a:pPr>
            <a:r>
              <a:rPr sz="1300" b="0">
                <a:solidFill>
                  <a:srgbClr val="161B26"/>
                </a:solidFill>
                <a:latin typeface="Arial"/>
              </a:rPr>
              <a:t>•  Acceptance: subject histogram distance stays inside threshold.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fast">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K4, A2 · THE TRADE-OFF, MEASURED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Mask-Free Editing — Faster to Author, Weaker to Guarantee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0B981"/>
                </a:solidFill>
                <a:latin typeface="Arial"/>
              </a:rPr>
              <a:t>Mechanism</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DC2626"/>
                </a:solidFill>
                <a:latin typeface="Arial"/>
              </a:rPr>
              <a:t>Consequence</a:t>
            </a:r>
          </a:p>
        </p:txBody>
      </p:sp>
      <p:sp>
        <p:nvSpPr>
          <p:cNvPr id="13" name="TextBox 12"/>
          <p:cNvSpPr txBox="1"/>
          <p:nvPr/>
        </p:nvSpPr>
        <p:spPr>
          <a:xfrm>
            <a:off x="1005840" y="2423160"/>
            <a:ext cx="4754880" cy="3017520"/>
          </a:xfrm>
          <a:prstGeom prst="rect">
            <a:avLst/>
          </a:prstGeom>
          <a:noFill/>
        </p:spPr>
        <p:txBody>
          <a:bodyPr wrap="square">
            <a:spAutoFit/>
          </a:bodyPr>
          <a:lstStyle/>
          <a:p>
            <a:pPr>
              <a:spcAft>
                <a:spcPts val="800"/>
              </a:spcAft>
            </a:pPr>
            <a:r>
              <a:rPr sz="1300" b="1">
                <a:solidFill>
                  <a:srgbClr val="161B26"/>
                </a:solidFill>
                <a:latin typeface="Arial"/>
              </a:rPr>
              <a:t>•  How it works</a:t>
            </a:r>
          </a:p>
          <a:p>
            <a:pPr>
              <a:spcAft>
                <a:spcPts val="800"/>
              </a:spcAft>
            </a:pPr>
            <a:r>
              <a:rPr sz="1100" b="0">
                <a:solidFill>
                  <a:srgbClr val="5B6372"/>
                </a:solidFill>
                <a:latin typeface="Arial"/>
              </a:rPr>
              <a:t>–  You supply a text instruction and no mask. The model infers both WHAT to change and WHERE.</a:t>
            </a:r>
          </a:p>
          <a:p>
            <a:pPr>
              <a:spcAft>
                <a:spcPts val="800"/>
              </a:spcAft>
            </a:pPr>
            <a:r>
              <a:rPr sz="1100" b="0">
                <a:solidFill>
                  <a:srgbClr val="5B6372"/>
                </a:solidFill>
                <a:latin typeface="Arial"/>
              </a:rPr>
              <a:t>–  One documented mechanism, DiffEdit, compares the denoising for a source prompt against a target prompt and derives its own mask from the difference.</a:t>
            </a:r>
          </a:p>
          <a:p>
            <a:pPr>
              <a:spcAft>
                <a:spcPts val="800"/>
              </a:spcAft>
            </a:pPr>
            <a:r>
              <a:rPr sz="1100" b="0">
                <a:solidFill>
                  <a:srgbClr val="5B6372"/>
                </a:solidFill>
                <a:latin typeface="Arial"/>
              </a:rPr>
              <a:t>–  Natively multimodal models go further: text and image are reasoned over in a single model, which is what makes conversational editing possible.</a:t>
            </a:r>
          </a:p>
        </p:txBody>
      </p:sp>
      <p:sp>
        <p:nvSpPr>
          <p:cNvPr id="14" name="TextBox 13"/>
          <p:cNvSpPr txBox="1"/>
          <p:nvPr/>
        </p:nvSpPr>
        <p:spPr>
          <a:xfrm>
            <a:off x="6583680" y="2423160"/>
            <a:ext cx="4617720" cy="3017520"/>
          </a:xfrm>
          <a:prstGeom prst="rect">
            <a:avLst/>
          </a:prstGeom>
          <a:noFill/>
        </p:spPr>
        <p:txBody>
          <a:bodyPr wrap="square">
            <a:spAutoFit/>
          </a:bodyPr>
          <a:lstStyle/>
          <a:p>
            <a:pPr>
              <a:spcAft>
                <a:spcPts val="800"/>
              </a:spcAft>
            </a:pPr>
            <a:r>
              <a:rPr sz="1300" b="1">
                <a:solidFill>
                  <a:srgbClr val="161B26"/>
                </a:solidFill>
                <a:latin typeface="Arial"/>
              </a:rPr>
              <a:t>•  What it costs you</a:t>
            </a:r>
          </a:p>
          <a:p>
            <a:pPr>
              <a:spcAft>
                <a:spcPts val="800"/>
              </a:spcAft>
            </a:pPr>
            <a:r>
              <a:rPr sz="1100" b="0">
                <a:solidFill>
                  <a:srgbClr val="5B6372"/>
                </a:solidFill>
                <a:latin typeface="Arial"/>
              </a:rPr>
              <a:t>–  The preserved region is INFERRED, not guaranteed.</a:t>
            </a:r>
          </a:p>
          <a:p>
            <a:pPr>
              <a:spcAft>
                <a:spcPts val="800"/>
              </a:spcAft>
            </a:pPr>
            <a:r>
              <a:rPr sz="1100" b="0">
                <a:solidFill>
                  <a:srgbClr val="5B6372"/>
                </a:solidFill>
                <a:latin typeface="Arial"/>
              </a:rPr>
              <a:t>–  The supplied AI-edited pair in Labs 03 and 04 measures this: the requested region changed by a mean absolute difference of 36.0/255, but pixels OUTSIDE the requested region still moved by 2.74/255.</a:t>
            </a:r>
          </a:p>
          <a:p>
            <a:pPr>
              <a:spcAft>
                <a:spcPts val="800"/>
              </a:spcAft>
            </a:pPr>
            <a:r>
              <a:rPr sz="1100" b="0">
                <a:solidFill>
                  <a:srgbClr val="5B6372"/>
                </a:solidFill>
                <a:latin typeface="Arial"/>
              </a:rPr>
              <a:t>–  Fine for ideation and social mock-ups. Not what you ship as a commercial master.</a:t>
            </a:r>
          </a:p>
        </p:txBody>
      </p:sp>
      <p:sp>
        <p:nvSpPr>
          <p:cNvPr id="15" name="TextBox 14"/>
          <p:cNvSpPr txBox="1"/>
          <p:nvPr/>
        </p:nvSpPr>
        <p:spPr>
          <a:xfrm>
            <a:off x="777240" y="5669280"/>
            <a:ext cx="10698480" cy="640080"/>
          </a:xfrm>
          <a:prstGeom prst="rect">
            <a:avLst/>
          </a:prstGeom>
          <a:noFill/>
        </p:spPr>
        <p:txBody>
          <a:bodyPr wrap="square" anchor="ctr">
            <a:spAutoFit/>
          </a:bodyPr>
          <a:lstStyle/>
          <a:p>
            <a:pPr algn="ctr">
              <a:spcAft>
                <a:spcPts val="400"/>
              </a:spcAft>
            </a:pPr>
            <a:r>
              <a:rPr sz="1250" b="0">
                <a:solidFill>
                  <a:srgbClr val="5B6372"/>
                </a:solidFill>
                <a:latin typeface="Arial"/>
              </a:rPr>
              <a:t>Source for the measurement: courseware/assets/edit-measurements.json, supplied with the AI-edited bottle pair. Method: mean absolute RGB channel difference on an approximate rectangular ROI — not a segmentation mask.</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fast">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K4, A2 · THE SUPPLIED AI-EDITED PAIR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Measured — A Mask-Free Edit Changes More Than You Asked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The edit landed</a:t>
            </a:r>
          </a:p>
          <a:p>
            <a:pPr algn="l">
              <a:spcAft>
                <a:spcPts val="200"/>
              </a:spcAft>
            </a:pPr>
            <a:r>
              <a:rPr sz="1100" b="0">
                <a:solidFill>
                  <a:srgbClr val="161B26"/>
                </a:solidFill>
                <a:latin typeface="Arial"/>
              </a:rPr>
              <a:t>36.0/255 inside the region the instruction named — the colour change happened.</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But it leaked</a:t>
            </a:r>
          </a:p>
          <a:p>
            <a:pPr algn="l">
              <a:spcAft>
                <a:spcPts val="200"/>
              </a:spcAft>
            </a:pPr>
            <a:r>
              <a:rPr sz="1100" b="0">
                <a:solidFill>
                  <a:srgbClr val="161B26"/>
                </a:solidFill>
                <a:latin typeface="Arial"/>
              </a:rPr>
              <a:t>2.74/255 outside it. The instruction said 'keep non-bottle pixels unchanged'. They moved.</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Small is not zero</a:t>
            </a:r>
          </a:p>
          <a:p>
            <a:pPr algn="l">
              <a:spcAft>
                <a:spcPts val="200"/>
              </a:spcAft>
            </a:pPr>
            <a:r>
              <a:rPr sz="1100" b="0">
                <a:solidFill>
                  <a:srgbClr val="161B26"/>
                </a:solidFill>
                <a:latin typeface="Arial"/>
              </a:rPr>
              <a:t>For a commercial master, 'small' is not the acceptance criterion — 'provably contained' is.</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This is why masks exist</a:t>
            </a:r>
          </a:p>
          <a:p>
            <a:pPr algn="l">
              <a:spcAft>
                <a:spcPts val="200"/>
              </a:spcAft>
            </a:pPr>
            <a:r>
              <a:rPr sz="1100" b="0">
                <a:solidFill>
                  <a:srgbClr val="161B26"/>
                </a:solidFill>
                <a:latin typeface="Arial"/>
              </a:rPr>
              <a:t>A mask states intended edit support; verify whether the provider preserves outside pixels.</a:t>
            </a:r>
          </a:p>
        </p:txBody>
      </p:sp>
      <p:sp>
        <p:nvSpPr>
          <p:cNvPr id="20" name="Rectangle 19"/>
          <p:cNvSpPr/>
          <p:nvPr/>
        </p:nvSpPr>
        <p:spPr>
          <a:xfrm>
            <a:off x="777240" y="5925312"/>
            <a:ext cx="1417320"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MEASURED</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From courseware/assets/edit-measurements.json, supplied with the coral/teal bottle pair. Method: mean absolute RGB channel difference on an approximate rectangular ROI, not a segmentation mask. Pixel difference is not perceptual or semantic quality.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A2 · LAB04 INPUT–MASK–OUTPUT CONTRACTS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Three Mask Geometries, Three Editing Contracts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3712464"/>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2209800" cy="4224528"/>
          </a:xfrm>
          <a:prstGeom prst="rect">
            <a:avLst/>
          </a:prstGeom>
          <a:noFill/>
        </p:spPr>
        <p:txBody>
          <a:bodyPr wrap="square" anchor="ctr">
            <a:spAutoFit/>
          </a:bodyPr>
          <a:lstStyle/>
          <a:p>
            <a:pPr algn="l">
              <a:spcAft>
                <a:spcPts val="200"/>
              </a:spcAft>
            </a:pPr>
            <a:r>
              <a:rPr sz="1300" b="1">
                <a:solidFill>
                  <a:srgbClr val="161B26"/>
                </a:solidFill>
                <a:latin typeface="Arial"/>
              </a:rPr>
              <a:t>OBJECT REGION</a:t>
            </a:r>
          </a:p>
          <a:p>
            <a:pPr algn="l">
              <a:spcAft>
                <a:spcPts val="200"/>
              </a:spcAft>
            </a:pPr>
            <a:r>
              <a:rPr sz="1000" b="0">
                <a:solidFill>
                  <a:srgbClr val="5B6372"/>
                </a:solidFill>
                <a:latin typeface="Arial"/>
              </a:rPr>
              <a:t>Input: colour-selected tag region. White pixels designate the repair region; black pixels preserve the surrounding product. Morphology changes the boundary, so inspect coverage.</a:t>
            </a:r>
          </a:p>
        </p:txBody>
      </p:sp>
      <p:sp>
        <p:nvSpPr>
          <p:cNvPr id="12" name="Rectangle 11"/>
          <p:cNvSpPr/>
          <p:nvPr/>
        </p:nvSpPr>
        <p:spPr>
          <a:xfrm>
            <a:off x="4413504" y="1783080"/>
            <a:ext cx="3361944"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51248" y="3712464"/>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51248"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5346192" y="1874520"/>
            <a:ext cx="2209800" cy="4224528"/>
          </a:xfrm>
          <a:prstGeom prst="rect">
            <a:avLst/>
          </a:prstGeom>
          <a:noFill/>
        </p:spPr>
        <p:txBody>
          <a:bodyPr wrap="square" anchor="ctr">
            <a:spAutoFit/>
          </a:bodyPr>
          <a:lstStyle/>
          <a:p>
            <a:pPr algn="l">
              <a:spcAft>
                <a:spcPts val="200"/>
              </a:spcAft>
            </a:pPr>
            <a:r>
              <a:rPr sz="1300" b="1">
                <a:solidFill>
                  <a:srgbClr val="161B26"/>
                </a:solidFill>
                <a:latin typeface="Arial"/>
              </a:rPr>
              <a:t>BACKGROUND REGION</a:t>
            </a:r>
          </a:p>
          <a:p>
            <a:pPr algn="l">
              <a:spcAft>
                <a:spcPts val="200"/>
              </a:spcAft>
            </a:pPr>
            <a:r>
              <a:rPr sz="1000" b="0">
                <a:solidFill>
                  <a:srgbClr val="5B6372"/>
                </a:solidFill>
                <a:latin typeface="Arial"/>
              </a:rPr>
              <a:t>Input: subject silhouette. Its complement designates background replacement. Subject containment is checked separately from visual similarity.</a:t>
            </a:r>
          </a:p>
        </p:txBody>
      </p:sp>
      <p:sp>
        <p:nvSpPr>
          <p:cNvPr id="17" name="Rectangle 16"/>
          <p:cNvSpPr/>
          <p:nvPr/>
        </p:nvSpPr>
        <p:spPr>
          <a:xfrm>
            <a:off x="8049768" y="1783080"/>
            <a:ext cx="3361944"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4370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87512"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87512"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8982456" y="1874520"/>
            <a:ext cx="2209800" cy="4224528"/>
          </a:xfrm>
          <a:prstGeom prst="rect">
            <a:avLst/>
          </a:prstGeom>
          <a:noFill/>
        </p:spPr>
        <p:txBody>
          <a:bodyPr wrap="square" anchor="ctr">
            <a:spAutoFit/>
          </a:bodyPr>
          <a:lstStyle/>
          <a:p>
            <a:pPr algn="l">
              <a:spcAft>
                <a:spcPts val="200"/>
              </a:spcAft>
            </a:pPr>
            <a:r>
              <a:rPr sz="1300" b="1">
                <a:solidFill>
                  <a:srgbClr val="161B26"/>
                </a:solidFill>
                <a:latin typeface="Arial"/>
              </a:rPr>
              <a:t>NEW CANVAS PANELS</a:t>
            </a:r>
          </a:p>
          <a:p>
            <a:pPr algn="l">
              <a:spcAft>
                <a:spcPts val="200"/>
              </a:spcAft>
            </a:pPr>
            <a:r>
              <a:rPr sz="1000" b="0">
                <a:solidFill>
                  <a:srgbClr val="5B6372"/>
                </a:solidFill>
                <a:latin typeface="Arial"/>
              </a:rPr>
              <a:t>Input: centred1024px square on an1820px-wide canvas. Two398px panels contain815,104 editable pixels; the original centre stays protected.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A2 · THE ACCEPTANCE GATE, NOT AN OPINION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Auditing a Masked Edit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12263"/>
            <a:ext cx="2996184" cy="457200"/>
          </a:xfrm>
          <a:prstGeom prst="rect">
            <a:avLst/>
          </a:prstGeom>
          <a:noFill/>
        </p:spPr>
        <p:txBody>
          <a:bodyPr wrap="square" anchor="t">
            <a:spAutoFit/>
          </a:bodyPr>
          <a:lstStyle/>
          <a:p>
            <a:pPr algn="l">
              <a:spcAft>
                <a:spcPts val="400"/>
              </a:spcAft>
            </a:pPr>
            <a:r>
              <a:rPr sz="1500" b="1">
                <a:solidFill>
                  <a:srgbClr val="1F6FEB"/>
                </a:solidFill>
                <a:latin typeface="Arial"/>
              </a:rPr>
              <a:t>Inside the mask</a:t>
            </a:r>
          </a:p>
        </p:txBody>
      </p:sp>
      <p:sp>
        <p:nvSpPr>
          <p:cNvPr id="10" name="Rectangle 9"/>
          <p:cNvSpPr/>
          <p:nvPr/>
        </p:nvSpPr>
        <p:spPr>
          <a:xfrm>
            <a:off x="960120"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15767"/>
            <a:ext cx="2813304" cy="1042416"/>
          </a:xfrm>
          <a:prstGeom prst="rect">
            <a:avLst/>
          </a:prstGeom>
          <a:noFill/>
        </p:spPr>
        <p:txBody>
          <a:bodyPr wrap="none" lIns="0" rIns="0" tIns="0" bIns="0" anchor="ctr">
            <a:noAutofit/>
          </a:bodyPr>
          <a:lstStyle/>
          <a:p>
            <a:pPr>
              <a:spcAft>
                <a:spcPts val="100"/>
              </a:spcAft>
            </a:pPr>
            <a:r>
              <a:rPr sz="1400">
                <a:solidFill>
                  <a:srgbClr val="9CDCFE"/>
                </a:solidFill>
                <a:latin typeface="Consolas"/>
              </a:rPr>
              <a:t>mean |orig − result|</a:t>
            </a:r>
          </a:p>
          <a:p>
            <a:pPr>
              <a:spcAft>
                <a:spcPts val="100"/>
              </a:spcAft>
            </a:pPr>
            <a:r>
              <a:rPr sz="1400">
                <a:solidFill>
                  <a:srgbClr val="9CDCFE"/>
                </a:solidFill>
                <a:latin typeface="Consolas"/>
              </a:rPr>
              <a:t>over mask &gt; 0</a:t>
            </a:r>
          </a:p>
        </p:txBody>
      </p:sp>
      <p:sp>
        <p:nvSpPr>
          <p:cNvPr id="12" name="TextBox 11"/>
          <p:cNvSpPr txBox="1"/>
          <p:nvPr/>
        </p:nvSpPr>
        <p:spPr>
          <a:xfrm>
            <a:off x="960120"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Must be clearly non-zero. If it is near zero, the edit did not happen — the mask was empty or inverted.</a:t>
            </a:r>
          </a:p>
        </p:txBody>
      </p:sp>
      <p:sp>
        <p:nvSpPr>
          <p:cNvPr id="13" name="Rectangle 12"/>
          <p:cNvSpPr/>
          <p:nvPr/>
        </p:nvSpPr>
        <p:spPr>
          <a:xfrm>
            <a:off x="4413504"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6384" y="2112263"/>
            <a:ext cx="2996184" cy="457200"/>
          </a:xfrm>
          <a:prstGeom prst="rect">
            <a:avLst/>
          </a:prstGeom>
          <a:noFill/>
        </p:spPr>
        <p:txBody>
          <a:bodyPr wrap="square" anchor="t">
            <a:spAutoFit/>
          </a:bodyPr>
          <a:lstStyle/>
          <a:p>
            <a:pPr algn="l">
              <a:spcAft>
                <a:spcPts val="400"/>
              </a:spcAft>
            </a:pPr>
            <a:r>
              <a:rPr sz="1500" b="1">
                <a:solidFill>
                  <a:srgbClr val="10B981"/>
                </a:solidFill>
                <a:latin typeface="Arial"/>
              </a:rPr>
              <a:t>Outside the mask</a:t>
            </a:r>
          </a:p>
        </p:txBody>
      </p:sp>
      <p:sp>
        <p:nvSpPr>
          <p:cNvPr id="16" name="Rectangle 15"/>
          <p:cNvSpPr/>
          <p:nvPr/>
        </p:nvSpPr>
        <p:spPr>
          <a:xfrm>
            <a:off x="4596384"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7824" y="2715767"/>
            <a:ext cx="2813304" cy="1042416"/>
          </a:xfrm>
          <a:prstGeom prst="rect">
            <a:avLst/>
          </a:prstGeom>
          <a:noFill/>
        </p:spPr>
        <p:txBody>
          <a:bodyPr wrap="none" lIns="0" rIns="0" tIns="0" bIns="0" anchor="ctr">
            <a:noAutofit/>
          </a:bodyPr>
          <a:lstStyle/>
          <a:p>
            <a:pPr>
              <a:spcAft>
                <a:spcPts val="100"/>
              </a:spcAft>
            </a:pPr>
            <a:r>
              <a:rPr sz="1400">
                <a:solidFill>
                  <a:srgbClr val="9CDCFE"/>
                </a:solidFill>
                <a:latin typeface="Consolas"/>
              </a:rPr>
              <a:t>mean |orig − result|</a:t>
            </a:r>
          </a:p>
          <a:p>
            <a:pPr>
              <a:spcAft>
                <a:spcPts val="100"/>
              </a:spcAft>
            </a:pPr>
            <a:r>
              <a:rPr sz="1400">
                <a:solidFill>
                  <a:srgbClr val="9CDCFE"/>
                </a:solidFill>
                <a:latin typeface="Consolas"/>
              </a:rPr>
              <a:t>over mask == 0</a:t>
            </a:r>
          </a:p>
        </p:txBody>
      </p:sp>
      <p:sp>
        <p:nvSpPr>
          <p:cNvPr id="18" name="TextBox 17"/>
          <p:cNvSpPr txBox="1"/>
          <p:nvPr/>
        </p:nvSpPr>
        <p:spPr>
          <a:xfrm>
            <a:off x="4596384"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Must be effectively zero. The Lab 04 acceptance threshold is 0.5/255. Anything above it means the edit was not contained.</a:t>
            </a:r>
          </a:p>
        </p:txBody>
      </p:sp>
      <p:sp>
        <p:nvSpPr>
          <p:cNvPr id="19" name="Rectangle 18"/>
          <p:cNvSpPr/>
          <p:nvPr/>
        </p:nvSpPr>
        <p:spPr>
          <a:xfrm>
            <a:off x="8049768"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2648" y="2112263"/>
            <a:ext cx="2996184" cy="457200"/>
          </a:xfrm>
          <a:prstGeom prst="rect">
            <a:avLst/>
          </a:prstGeom>
          <a:noFill/>
        </p:spPr>
        <p:txBody>
          <a:bodyPr wrap="square" anchor="t">
            <a:spAutoFit/>
          </a:bodyPr>
          <a:lstStyle/>
          <a:p>
            <a:pPr algn="l">
              <a:spcAft>
                <a:spcPts val="400"/>
              </a:spcAft>
            </a:pPr>
            <a:r>
              <a:rPr sz="1500" b="1">
                <a:solidFill>
                  <a:srgbClr val="7C3AED"/>
                </a:solidFill>
                <a:latin typeface="Arial"/>
              </a:rPr>
              <a:t>Subject preservation</a:t>
            </a:r>
          </a:p>
        </p:txBody>
      </p:sp>
      <p:sp>
        <p:nvSpPr>
          <p:cNvPr id="22" name="Rectangle 21"/>
          <p:cNvSpPr/>
          <p:nvPr/>
        </p:nvSpPr>
        <p:spPr>
          <a:xfrm>
            <a:off x="8232648"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4088" y="2715767"/>
            <a:ext cx="2813304" cy="1042416"/>
          </a:xfrm>
          <a:prstGeom prst="rect">
            <a:avLst/>
          </a:prstGeom>
          <a:noFill/>
        </p:spPr>
        <p:txBody>
          <a:bodyPr wrap="none" lIns="0" rIns="0" tIns="0" bIns="0" anchor="ctr">
            <a:noAutofit/>
          </a:bodyPr>
          <a:lstStyle/>
          <a:p>
            <a:pPr>
              <a:spcAft>
                <a:spcPts val="100"/>
              </a:spcAft>
            </a:pPr>
            <a:r>
              <a:rPr sz="1400">
                <a:solidFill>
                  <a:srgbClr val="9CDCFE"/>
                </a:solidFill>
                <a:latin typeface="Consolas"/>
              </a:rPr>
              <a:t>Bhattacharyya(H,S)</a:t>
            </a:r>
          </a:p>
          <a:p>
            <a:pPr>
              <a:spcAft>
                <a:spcPts val="100"/>
              </a:spcAft>
            </a:pPr>
            <a:r>
              <a:rPr sz="1400">
                <a:solidFill>
                  <a:srgbClr val="9CDCFE"/>
                </a:solidFill>
                <a:latin typeface="Consolas"/>
              </a:rPr>
              <a:t>≤ 0.15</a:t>
            </a:r>
          </a:p>
        </p:txBody>
      </p:sp>
      <p:sp>
        <p:nvSpPr>
          <p:cNvPr id="24" name="TextBox 23"/>
          <p:cNvSpPr txBox="1"/>
          <p:nvPr/>
        </p:nvSpPr>
        <p:spPr>
          <a:xfrm>
            <a:off x="8232648"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For a background swap, the subject's hue-saturation histogram must stay within 0.15 of the source. This checks colour-distribution similarity, not complete subject identity.</a:t>
            </a:r>
          </a:p>
        </p:txBody>
      </p:sp>
      <p:sp>
        <p:nvSpPr>
          <p:cNvPr id="25" name="TextBox 2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cv2.inpaint only writes inside the mask, so a non-zero outside value on the classical baseline means you compared against the wrong source image.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K4 · WHY THE LAB RUNS BOTH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Classical Repair Versus Generative Fill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701515"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1518635" cy="600891"/>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9" name="Rectangle 8"/>
          <p:cNvSpPr/>
          <p:nvPr/>
        </p:nvSpPr>
        <p:spPr>
          <a:xfrm>
            <a:off x="2478755" y="1783080"/>
            <a:ext cx="4466478"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88483" y="1783080"/>
            <a:ext cx="4283598" cy="600891"/>
          </a:xfrm>
          <a:prstGeom prst="rect">
            <a:avLst/>
          </a:prstGeom>
          <a:noFill/>
        </p:spPr>
        <p:txBody>
          <a:bodyPr wrap="square" anchor="ctr">
            <a:spAutoFit/>
          </a:bodyPr>
          <a:lstStyle/>
          <a:p>
            <a:pPr algn="l">
              <a:spcAft>
                <a:spcPts val="400"/>
              </a:spcAft>
            </a:pPr>
            <a:r>
              <a:rPr sz="1100" b="1">
                <a:solidFill>
                  <a:srgbClr val="FFFFFF"/>
                </a:solidFill>
                <a:latin typeface="Arial"/>
              </a:rPr>
              <a:t>cv2.inpaint (Telea / Navier-Stokes)</a:t>
            </a:r>
          </a:p>
        </p:txBody>
      </p:sp>
      <p:sp>
        <p:nvSpPr>
          <p:cNvPr id="11" name="Rectangle 10"/>
          <p:cNvSpPr/>
          <p:nvPr/>
        </p:nvSpPr>
        <p:spPr>
          <a:xfrm>
            <a:off x="6945233" y="1783080"/>
            <a:ext cx="4466478"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54961" y="1783080"/>
            <a:ext cx="4283598" cy="600891"/>
          </a:xfrm>
          <a:prstGeom prst="rect">
            <a:avLst/>
          </a:prstGeom>
          <a:noFill/>
        </p:spPr>
        <p:txBody>
          <a:bodyPr wrap="square" anchor="ctr">
            <a:spAutoFit/>
          </a:bodyPr>
          <a:lstStyle/>
          <a:p>
            <a:pPr algn="l">
              <a:spcAft>
                <a:spcPts val="400"/>
              </a:spcAft>
            </a:pPr>
            <a:r>
              <a:rPr sz="1100" b="1">
                <a:solidFill>
                  <a:srgbClr val="FFFFFF"/>
                </a:solidFill>
                <a:latin typeface="Arial"/>
              </a:rPr>
              <a:t>Generative inpainting</a:t>
            </a:r>
          </a:p>
        </p:txBody>
      </p:sp>
      <p:sp>
        <p:nvSpPr>
          <p:cNvPr id="13" name="Rectangle 12"/>
          <p:cNvSpPr/>
          <p:nvPr/>
        </p:nvSpPr>
        <p:spPr>
          <a:xfrm>
            <a:off x="777240" y="2383971"/>
            <a:ext cx="1701515"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383971"/>
            <a:ext cx="1518635" cy="600891"/>
          </a:xfrm>
          <a:prstGeom prst="rect">
            <a:avLst/>
          </a:prstGeom>
          <a:noFill/>
        </p:spPr>
        <p:txBody>
          <a:bodyPr wrap="square" anchor="ctr">
            <a:spAutoFit/>
          </a:bodyPr>
          <a:lstStyle/>
          <a:p>
            <a:pPr algn="l">
              <a:spcAft>
                <a:spcPts val="400"/>
              </a:spcAft>
            </a:pPr>
            <a:r>
              <a:rPr sz="1000" b="1">
                <a:solidFill>
                  <a:srgbClr val="161B26"/>
                </a:solidFill>
                <a:latin typeface="Arial"/>
              </a:rPr>
              <a:t>Mechanism</a:t>
            </a:r>
          </a:p>
        </p:txBody>
      </p:sp>
      <p:sp>
        <p:nvSpPr>
          <p:cNvPr id="15" name="Rectangle 14"/>
          <p:cNvSpPr/>
          <p:nvPr/>
        </p:nvSpPr>
        <p:spPr>
          <a:xfrm>
            <a:off x="2478755" y="2383971"/>
            <a:ext cx="446647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88483" y="2383971"/>
            <a:ext cx="4283598" cy="600891"/>
          </a:xfrm>
          <a:prstGeom prst="rect">
            <a:avLst/>
          </a:prstGeom>
          <a:noFill/>
        </p:spPr>
        <p:txBody>
          <a:bodyPr wrap="square" anchor="ctr">
            <a:spAutoFit/>
          </a:bodyPr>
          <a:lstStyle/>
          <a:p>
            <a:pPr algn="l">
              <a:spcAft>
                <a:spcPts val="400"/>
              </a:spcAft>
            </a:pPr>
            <a:r>
              <a:rPr sz="1000" b="0">
                <a:solidFill>
                  <a:srgbClr val="161B26"/>
                </a:solidFill>
                <a:latin typeface="Arial"/>
              </a:rPr>
              <a:t>Propagates surrounding texture inward from the mask boundary</a:t>
            </a:r>
          </a:p>
        </p:txBody>
      </p:sp>
      <p:sp>
        <p:nvSpPr>
          <p:cNvPr id="17" name="Rectangle 16"/>
          <p:cNvSpPr/>
          <p:nvPr/>
        </p:nvSpPr>
        <p:spPr>
          <a:xfrm>
            <a:off x="6945233" y="2383971"/>
            <a:ext cx="446647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54961" y="2383971"/>
            <a:ext cx="4283598" cy="600891"/>
          </a:xfrm>
          <a:prstGeom prst="rect">
            <a:avLst/>
          </a:prstGeom>
          <a:noFill/>
        </p:spPr>
        <p:txBody>
          <a:bodyPr wrap="square" anchor="ctr">
            <a:spAutoFit/>
          </a:bodyPr>
          <a:lstStyle/>
          <a:p>
            <a:pPr algn="l">
              <a:spcAft>
                <a:spcPts val="400"/>
              </a:spcAft>
            </a:pPr>
            <a:r>
              <a:rPr sz="1000" b="0">
                <a:solidFill>
                  <a:srgbClr val="161B26"/>
                </a:solidFill>
                <a:latin typeface="Arial"/>
              </a:rPr>
              <a:t>Samples new pixels conditioned on the surrounding context and a prompt</a:t>
            </a:r>
          </a:p>
        </p:txBody>
      </p:sp>
      <p:sp>
        <p:nvSpPr>
          <p:cNvPr id="19" name="Rectangle 18"/>
          <p:cNvSpPr/>
          <p:nvPr/>
        </p:nvSpPr>
        <p:spPr>
          <a:xfrm>
            <a:off x="777240" y="2984862"/>
            <a:ext cx="1701515"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984862"/>
            <a:ext cx="1518635" cy="600891"/>
          </a:xfrm>
          <a:prstGeom prst="rect">
            <a:avLst/>
          </a:prstGeom>
          <a:noFill/>
        </p:spPr>
        <p:txBody>
          <a:bodyPr wrap="square" anchor="ctr">
            <a:spAutoFit/>
          </a:bodyPr>
          <a:lstStyle/>
          <a:p>
            <a:pPr algn="l">
              <a:spcAft>
                <a:spcPts val="400"/>
              </a:spcAft>
            </a:pPr>
            <a:r>
              <a:rPr sz="1000" b="1">
                <a:solidFill>
                  <a:srgbClr val="161B26"/>
                </a:solidFill>
                <a:latin typeface="Arial"/>
              </a:rPr>
              <a:t>Invents content</a:t>
            </a:r>
          </a:p>
        </p:txBody>
      </p:sp>
      <p:sp>
        <p:nvSpPr>
          <p:cNvPr id="21" name="Rectangle 20"/>
          <p:cNvSpPr/>
          <p:nvPr/>
        </p:nvSpPr>
        <p:spPr>
          <a:xfrm>
            <a:off x="2478755" y="2984862"/>
            <a:ext cx="446647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88483" y="2984862"/>
            <a:ext cx="4283598" cy="600891"/>
          </a:xfrm>
          <a:prstGeom prst="rect">
            <a:avLst/>
          </a:prstGeom>
          <a:noFill/>
        </p:spPr>
        <p:txBody>
          <a:bodyPr wrap="square" anchor="ctr">
            <a:spAutoFit/>
          </a:bodyPr>
          <a:lstStyle/>
          <a:p>
            <a:pPr algn="l">
              <a:spcAft>
                <a:spcPts val="400"/>
              </a:spcAft>
            </a:pPr>
            <a:r>
              <a:rPr sz="1000" b="0">
                <a:solidFill>
                  <a:srgbClr val="161B26"/>
                </a:solidFill>
                <a:latin typeface="Arial"/>
              </a:rPr>
              <a:t>No — it can only continue what is already there</a:t>
            </a:r>
          </a:p>
        </p:txBody>
      </p:sp>
      <p:sp>
        <p:nvSpPr>
          <p:cNvPr id="23" name="Rectangle 22"/>
          <p:cNvSpPr/>
          <p:nvPr/>
        </p:nvSpPr>
        <p:spPr>
          <a:xfrm>
            <a:off x="6945233" y="2984862"/>
            <a:ext cx="446647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54961" y="2984862"/>
            <a:ext cx="4283598" cy="600891"/>
          </a:xfrm>
          <a:prstGeom prst="rect">
            <a:avLst/>
          </a:prstGeom>
          <a:noFill/>
        </p:spPr>
        <p:txBody>
          <a:bodyPr wrap="square" anchor="ctr">
            <a:spAutoFit/>
          </a:bodyPr>
          <a:lstStyle/>
          <a:p>
            <a:pPr algn="l">
              <a:spcAft>
                <a:spcPts val="400"/>
              </a:spcAft>
            </a:pPr>
            <a:r>
              <a:rPr sz="1000" b="0">
                <a:solidFill>
                  <a:srgbClr val="161B26"/>
                </a:solidFill>
                <a:latin typeface="Arial"/>
              </a:rPr>
              <a:t>Yes — it can add an object that was never in the frame</a:t>
            </a:r>
          </a:p>
        </p:txBody>
      </p:sp>
      <p:sp>
        <p:nvSpPr>
          <p:cNvPr id="25" name="Rectangle 24"/>
          <p:cNvSpPr/>
          <p:nvPr/>
        </p:nvSpPr>
        <p:spPr>
          <a:xfrm>
            <a:off x="777240" y="3585753"/>
            <a:ext cx="1701515"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585753"/>
            <a:ext cx="1518635" cy="600891"/>
          </a:xfrm>
          <a:prstGeom prst="rect">
            <a:avLst/>
          </a:prstGeom>
          <a:noFill/>
        </p:spPr>
        <p:txBody>
          <a:bodyPr wrap="square" anchor="ctr">
            <a:spAutoFit/>
          </a:bodyPr>
          <a:lstStyle/>
          <a:p>
            <a:pPr algn="l">
              <a:spcAft>
                <a:spcPts val="400"/>
              </a:spcAft>
            </a:pPr>
            <a:r>
              <a:rPr sz="1000" b="1">
                <a:solidFill>
                  <a:srgbClr val="161B26"/>
                </a:solidFill>
                <a:latin typeface="Arial"/>
              </a:rPr>
              <a:t>Determinism</a:t>
            </a:r>
          </a:p>
        </p:txBody>
      </p:sp>
      <p:sp>
        <p:nvSpPr>
          <p:cNvPr id="27" name="Rectangle 26"/>
          <p:cNvSpPr/>
          <p:nvPr/>
        </p:nvSpPr>
        <p:spPr>
          <a:xfrm>
            <a:off x="2478755" y="3585753"/>
            <a:ext cx="446647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88483" y="3585753"/>
            <a:ext cx="4283598" cy="600891"/>
          </a:xfrm>
          <a:prstGeom prst="rect">
            <a:avLst/>
          </a:prstGeom>
          <a:noFill/>
        </p:spPr>
        <p:txBody>
          <a:bodyPr wrap="square" anchor="ctr">
            <a:spAutoFit/>
          </a:bodyPr>
          <a:lstStyle/>
          <a:p>
            <a:pPr algn="l">
              <a:spcAft>
                <a:spcPts val="400"/>
              </a:spcAft>
            </a:pPr>
            <a:r>
              <a:rPr sz="1000" b="0">
                <a:solidFill>
                  <a:srgbClr val="161B26"/>
                </a:solidFill>
                <a:latin typeface="Arial"/>
              </a:rPr>
              <a:t>Fully deterministic; same input, same output</a:t>
            </a:r>
          </a:p>
        </p:txBody>
      </p:sp>
      <p:sp>
        <p:nvSpPr>
          <p:cNvPr id="29" name="Rectangle 28"/>
          <p:cNvSpPr/>
          <p:nvPr/>
        </p:nvSpPr>
        <p:spPr>
          <a:xfrm>
            <a:off x="6945233" y="3585753"/>
            <a:ext cx="446647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54961" y="3585753"/>
            <a:ext cx="4283598" cy="600891"/>
          </a:xfrm>
          <a:prstGeom prst="rect">
            <a:avLst/>
          </a:prstGeom>
          <a:noFill/>
        </p:spPr>
        <p:txBody>
          <a:bodyPr wrap="square" anchor="ctr">
            <a:spAutoFit/>
          </a:bodyPr>
          <a:lstStyle/>
          <a:p>
            <a:pPr algn="l">
              <a:spcAft>
                <a:spcPts val="400"/>
              </a:spcAft>
            </a:pPr>
            <a:r>
              <a:rPr sz="1000" b="0">
                <a:solidFill>
                  <a:srgbClr val="161B26"/>
                </a:solidFill>
                <a:latin typeface="Arial"/>
              </a:rPr>
              <a:t>Stochastic; the same prompt gives a different sample</a:t>
            </a:r>
          </a:p>
        </p:txBody>
      </p:sp>
      <p:sp>
        <p:nvSpPr>
          <p:cNvPr id="31" name="Rectangle 30"/>
          <p:cNvSpPr/>
          <p:nvPr/>
        </p:nvSpPr>
        <p:spPr>
          <a:xfrm>
            <a:off x="777240" y="4186644"/>
            <a:ext cx="1701515"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186644"/>
            <a:ext cx="1518635" cy="600891"/>
          </a:xfrm>
          <a:prstGeom prst="rect">
            <a:avLst/>
          </a:prstGeom>
          <a:noFill/>
        </p:spPr>
        <p:txBody>
          <a:bodyPr wrap="square" anchor="ctr">
            <a:spAutoFit/>
          </a:bodyPr>
          <a:lstStyle/>
          <a:p>
            <a:pPr algn="l">
              <a:spcAft>
                <a:spcPts val="400"/>
              </a:spcAft>
            </a:pPr>
            <a:r>
              <a:rPr sz="1000" b="1">
                <a:solidFill>
                  <a:srgbClr val="161B26"/>
                </a:solidFill>
                <a:latin typeface="Arial"/>
              </a:rPr>
              <a:t>Good for</a:t>
            </a:r>
          </a:p>
        </p:txBody>
      </p:sp>
      <p:sp>
        <p:nvSpPr>
          <p:cNvPr id="33" name="Rectangle 32"/>
          <p:cNvSpPr/>
          <p:nvPr/>
        </p:nvSpPr>
        <p:spPr>
          <a:xfrm>
            <a:off x="2478755" y="4186644"/>
            <a:ext cx="446647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588483" y="4186644"/>
            <a:ext cx="4283598" cy="600891"/>
          </a:xfrm>
          <a:prstGeom prst="rect">
            <a:avLst/>
          </a:prstGeom>
          <a:noFill/>
        </p:spPr>
        <p:txBody>
          <a:bodyPr wrap="square" anchor="ctr">
            <a:spAutoFit/>
          </a:bodyPr>
          <a:lstStyle/>
          <a:p>
            <a:pPr algn="l">
              <a:spcAft>
                <a:spcPts val="400"/>
              </a:spcAft>
            </a:pPr>
            <a:r>
              <a:rPr sz="1000" b="0">
                <a:solidFill>
                  <a:srgbClr val="161B26"/>
                </a:solidFill>
                <a:latin typeface="Arial"/>
              </a:rPr>
              <a:t>Small blemishes, dust, a tag on a flat backdrop</a:t>
            </a:r>
          </a:p>
        </p:txBody>
      </p:sp>
      <p:sp>
        <p:nvSpPr>
          <p:cNvPr id="35" name="Rectangle 34"/>
          <p:cNvSpPr/>
          <p:nvPr/>
        </p:nvSpPr>
        <p:spPr>
          <a:xfrm>
            <a:off x="6945233" y="4186644"/>
            <a:ext cx="446647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54961" y="4186644"/>
            <a:ext cx="4283598" cy="600891"/>
          </a:xfrm>
          <a:prstGeom prst="rect">
            <a:avLst/>
          </a:prstGeom>
          <a:noFill/>
        </p:spPr>
        <p:txBody>
          <a:bodyPr wrap="square" anchor="ctr">
            <a:spAutoFit/>
          </a:bodyPr>
          <a:lstStyle/>
          <a:p>
            <a:pPr algn="l">
              <a:spcAft>
                <a:spcPts val="400"/>
              </a:spcAft>
            </a:pPr>
            <a:r>
              <a:rPr sz="1000" b="0">
                <a:solidFill>
                  <a:srgbClr val="161B26"/>
                </a:solidFill>
                <a:latin typeface="Arial"/>
              </a:rPr>
              <a:t>Replacing an object, changing a scene, filling a large region</a:t>
            </a:r>
          </a:p>
        </p:txBody>
      </p:sp>
      <p:sp>
        <p:nvSpPr>
          <p:cNvPr id="37" name="Rectangle 36"/>
          <p:cNvSpPr/>
          <p:nvPr/>
        </p:nvSpPr>
        <p:spPr>
          <a:xfrm>
            <a:off x="777240" y="4787535"/>
            <a:ext cx="1701515"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4787535"/>
            <a:ext cx="1518635" cy="600891"/>
          </a:xfrm>
          <a:prstGeom prst="rect">
            <a:avLst/>
          </a:prstGeom>
          <a:noFill/>
        </p:spPr>
        <p:txBody>
          <a:bodyPr wrap="square" anchor="ctr">
            <a:spAutoFit/>
          </a:bodyPr>
          <a:lstStyle/>
          <a:p>
            <a:pPr algn="l">
              <a:spcAft>
                <a:spcPts val="400"/>
              </a:spcAft>
            </a:pPr>
            <a:r>
              <a:rPr sz="1000" b="1">
                <a:solidFill>
                  <a:srgbClr val="161B26"/>
                </a:solidFill>
                <a:latin typeface="Arial"/>
              </a:rPr>
              <a:t>Fails by</a:t>
            </a:r>
          </a:p>
        </p:txBody>
      </p:sp>
      <p:sp>
        <p:nvSpPr>
          <p:cNvPr id="39" name="Rectangle 38"/>
          <p:cNvSpPr/>
          <p:nvPr/>
        </p:nvSpPr>
        <p:spPr>
          <a:xfrm>
            <a:off x="2478755" y="4787535"/>
            <a:ext cx="446647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588483" y="4787535"/>
            <a:ext cx="4283598" cy="600891"/>
          </a:xfrm>
          <a:prstGeom prst="rect">
            <a:avLst/>
          </a:prstGeom>
          <a:noFill/>
        </p:spPr>
        <p:txBody>
          <a:bodyPr wrap="square" anchor="ctr">
            <a:spAutoFit/>
          </a:bodyPr>
          <a:lstStyle/>
          <a:p>
            <a:pPr algn="l">
              <a:spcAft>
                <a:spcPts val="400"/>
              </a:spcAft>
            </a:pPr>
            <a:r>
              <a:rPr sz="1000" b="0">
                <a:solidFill>
                  <a:srgbClr val="161B26"/>
                </a:solidFill>
                <a:latin typeface="Arial"/>
              </a:rPr>
              <a:t>Smearing when inpaintRadius pulls texture from too far away</a:t>
            </a:r>
          </a:p>
        </p:txBody>
      </p:sp>
      <p:sp>
        <p:nvSpPr>
          <p:cNvPr id="41" name="Rectangle 40"/>
          <p:cNvSpPr/>
          <p:nvPr/>
        </p:nvSpPr>
        <p:spPr>
          <a:xfrm>
            <a:off x="6945233" y="4787535"/>
            <a:ext cx="446647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054961" y="4787535"/>
            <a:ext cx="4283598" cy="600891"/>
          </a:xfrm>
          <a:prstGeom prst="rect">
            <a:avLst/>
          </a:prstGeom>
          <a:noFill/>
        </p:spPr>
        <p:txBody>
          <a:bodyPr wrap="square" anchor="ctr">
            <a:spAutoFit/>
          </a:bodyPr>
          <a:lstStyle/>
          <a:p>
            <a:pPr algn="l">
              <a:spcAft>
                <a:spcPts val="400"/>
              </a:spcAft>
            </a:pPr>
            <a:r>
              <a:rPr sz="1000" b="0">
                <a:solidFill>
                  <a:srgbClr val="161B26"/>
                </a:solidFill>
                <a:latin typeface="Arial"/>
              </a:rPr>
              <a:t>Producing something plausible and wrong</a:t>
            </a:r>
          </a:p>
        </p:txBody>
      </p:sp>
      <p:sp>
        <p:nvSpPr>
          <p:cNvPr id="43" name="Rectangle 42"/>
          <p:cNvSpPr/>
          <p:nvPr/>
        </p:nvSpPr>
        <p:spPr>
          <a:xfrm>
            <a:off x="777240" y="5388426"/>
            <a:ext cx="1701515"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5388426"/>
            <a:ext cx="1518635" cy="600891"/>
          </a:xfrm>
          <a:prstGeom prst="rect">
            <a:avLst/>
          </a:prstGeom>
          <a:noFill/>
        </p:spPr>
        <p:txBody>
          <a:bodyPr wrap="square" anchor="ctr">
            <a:spAutoFit/>
          </a:bodyPr>
          <a:lstStyle/>
          <a:p>
            <a:pPr algn="l">
              <a:spcAft>
                <a:spcPts val="400"/>
              </a:spcAft>
            </a:pPr>
            <a:r>
              <a:rPr sz="1000" b="1">
                <a:solidFill>
                  <a:srgbClr val="161B26"/>
                </a:solidFill>
                <a:latin typeface="Arial"/>
              </a:rPr>
              <a:t>Cost</a:t>
            </a:r>
          </a:p>
        </p:txBody>
      </p:sp>
      <p:sp>
        <p:nvSpPr>
          <p:cNvPr id="45" name="Rectangle 44"/>
          <p:cNvSpPr/>
          <p:nvPr/>
        </p:nvSpPr>
        <p:spPr>
          <a:xfrm>
            <a:off x="2478755" y="5388426"/>
            <a:ext cx="446647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588483" y="5388426"/>
            <a:ext cx="4283598" cy="600891"/>
          </a:xfrm>
          <a:prstGeom prst="rect">
            <a:avLst/>
          </a:prstGeom>
          <a:noFill/>
        </p:spPr>
        <p:txBody>
          <a:bodyPr wrap="square" anchor="ctr">
            <a:spAutoFit/>
          </a:bodyPr>
          <a:lstStyle/>
          <a:p>
            <a:pPr algn="l">
              <a:spcAft>
                <a:spcPts val="400"/>
              </a:spcAft>
            </a:pPr>
            <a:r>
              <a:rPr sz="1000" b="0">
                <a:solidFill>
                  <a:srgbClr val="161B26"/>
                </a:solidFill>
                <a:latin typeface="Arial"/>
              </a:rPr>
              <a:t>Milliseconds, on a CPU</a:t>
            </a:r>
          </a:p>
        </p:txBody>
      </p:sp>
      <p:sp>
        <p:nvSpPr>
          <p:cNvPr id="47" name="Rectangle 46"/>
          <p:cNvSpPr/>
          <p:nvPr/>
        </p:nvSpPr>
        <p:spPr>
          <a:xfrm>
            <a:off x="6945233" y="5388426"/>
            <a:ext cx="446647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054961" y="5388426"/>
            <a:ext cx="4283598" cy="600891"/>
          </a:xfrm>
          <a:prstGeom prst="rect">
            <a:avLst/>
          </a:prstGeom>
          <a:noFill/>
        </p:spPr>
        <p:txBody>
          <a:bodyPr wrap="square" anchor="ctr">
            <a:spAutoFit/>
          </a:bodyPr>
          <a:lstStyle/>
          <a:p>
            <a:pPr algn="l">
              <a:spcAft>
                <a:spcPts val="400"/>
              </a:spcAft>
            </a:pPr>
            <a:r>
              <a:rPr sz="1000" b="0">
                <a:solidFill>
                  <a:srgbClr val="161B26"/>
                </a:solidFill>
                <a:latin typeface="Arial"/>
              </a:rPr>
              <a:t>Seconds, on an accelerator, per sample</a:t>
            </a:r>
          </a:p>
        </p:txBody>
      </p:sp>
      <p:sp>
        <p:nvSpPr>
          <p:cNvPr id="49" name="TextBox 48"/>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Lab 04 runs the classical repair first so the mechanism is visible, then writes the generative specification for the same three jobs.</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500" b="1">
                <a:solidFill>
                  <a:srgbClr val="7C3AED"/>
                </a:solidFill>
                <a:latin typeface="Arial"/>
              </a:rPr>
              <a:t>A2 · THE METHOD BEHIND LAB 03</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400" b="1">
                <a:solidFill>
                  <a:srgbClr val="161B26"/>
                </a:solidFill>
                <a:latin typeface="Arial"/>
              </a:rPr>
              <a:t>Prompting is experimental design, not wording.</a:t>
            </a:r>
          </a:p>
        </p:txBody>
      </p:sp>
      <p:sp>
        <p:nvSpPr>
          <p:cNvPr id="6" name="TextBox 5"/>
          <p:cNvSpPr txBox="1"/>
          <p:nvPr/>
        </p:nvSpPr>
        <p:spPr>
          <a:xfrm>
            <a:off x="1024128" y="4480560"/>
            <a:ext cx="10058400" cy="1280160"/>
          </a:xfrm>
          <a:prstGeom prst="rect">
            <a:avLst/>
          </a:prstGeom>
          <a:noFill/>
        </p:spPr>
        <p:txBody>
          <a:bodyPr wrap="square" anchor="t">
            <a:spAutoFit/>
          </a:bodyPr>
          <a:lstStyle/>
          <a:p>
            <a:pPr algn="l">
              <a:spcAft>
                <a:spcPts val="400"/>
              </a:spcAft>
            </a:pPr>
            <a:r>
              <a:rPr sz="1700" b="0">
                <a:solidFill>
                  <a:srgbClr val="5B6372"/>
                </a:solidFill>
                <a:latin typeface="Arial"/>
              </a:rPr>
              <a:t>Hold every factor constant except the one under test, generate several samples per condition, and score the spread. Then you are measuring the prompt instead of arguing about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7C3AED"/>
                </a:solidFill>
                <a:latin typeface="Arial"/>
              </a:rPr>
              <a:t>A2 · SEPARATE THEM, THEN VARY ONE AT A TIME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Four Prompt Factors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SUBJECT</a:t>
            </a:r>
          </a:p>
          <a:p>
            <a:pPr algn="l">
              <a:spcAft>
                <a:spcPts val="200"/>
              </a:spcAft>
            </a:pPr>
            <a:r>
              <a:rPr sz="1000" b="0">
                <a:solidFill>
                  <a:srgbClr val="5B6372"/>
                </a:solidFill>
                <a:latin typeface="Arial"/>
              </a:rPr>
              <a:t>Who or what, and in what state. 'Locked' means an explicit description of colour, construction, fit and pose — not a product name.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CONTEXT</a:t>
            </a:r>
          </a:p>
          <a:p>
            <a:pPr algn="l">
              <a:spcAft>
                <a:spcPts val="200"/>
              </a:spcAft>
            </a:pPr>
            <a:r>
              <a:rPr sz="1000" b="0">
                <a:solidFill>
                  <a:srgbClr val="5B6372"/>
                </a:solidFill>
                <a:latin typeface="Arial"/>
              </a:rPr>
              <a:t>Setting, time of day, ground surface, mid-ground content. This is what a model invents most freely when you leave it out.</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STYLE</a:t>
            </a:r>
          </a:p>
          <a:p>
            <a:pPr algn="l">
              <a:spcAft>
                <a:spcPts val="200"/>
              </a:spcAft>
            </a:pPr>
            <a:r>
              <a:rPr sz="1000" b="0">
                <a:solidFill>
                  <a:srgbClr val="5B6372"/>
                </a:solidFill>
                <a:latin typeface="Arial"/>
              </a:rPr>
              <a:t>The photographic or illustrative register, plus an explicit colour and contrast rule. 'Cinematic' is a named style; it is not a locked one.</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TECHNICAL</a:t>
            </a:r>
          </a:p>
          <a:p>
            <a:pPr algn="l">
              <a:spcAft>
                <a:spcPts val="200"/>
              </a:spcAft>
            </a:pPr>
            <a:r>
              <a:rPr sz="1000" b="0">
                <a:solidFill>
                  <a:srgbClr val="5B6372"/>
                </a:solidFill>
                <a:latin typeface="Arial"/>
              </a:rPr>
              <a:t>Lens, depth of field, lighting direction, aspect ratio, output size. Explicit values, not adjectives.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NEGATIVE</a:t>
            </a:r>
          </a:p>
          <a:p>
            <a:pPr algn="l">
              <a:spcAft>
                <a:spcPts val="200"/>
              </a:spcAft>
            </a:pPr>
            <a:r>
              <a:rPr sz="1000" b="0">
                <a:solidFill>
                  <a:srgbClr val="5B6372"/>
                </a:solidFill>
                <a:latin typeface="Arial"/>
              </a:rPr>
              <a:t>What must not appear. At minimum: no rendered text or logos in frame, no additional people, no change to the product colour.</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VERSION</a:t>
            </a:r>
          </a:p>
          <a:p>
            <a:pPr algn="l">
              <a:spcAft>
                <a:spcPts val="200"/>
              </a:spcAft>
            </a:pPr>
            <a:r>
              <a:rPr sz="1000" b="0">
                <a:solidFill>
                  <a:srgbClr val="5B6372"/>
                </a:solidFill>
                <a:latin typeface="Arial"/>
              </a:rPr>
              <a:t>A prompt without a version number cannot be audited when an asset is later challenged. This is the field people forget.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fast">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A2 · WHY JSON AND NOT A PARAGRAPH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Structured Prompting — One Key Per Factor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41605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38528"/>
            <a:ext cx="6035040" cy="3849624"/>
          </a:xfrm>
          <a:prstGeom prst="rect">
            <a:avLst/>
          </a:prstGeom>
          <a:noFill/>
        </p:spPr>
        <p:txBody>
          <a:bodyPr wrap="none" lIns="0" rIns="0" tIns="0" bIns="0" anchor="t">
            <a:noAutofit/>
          </a:bodyPr>
          <a:lstStyle/>
          <a:p>
            <a:pPr>
              <a:spcAft>
                <a:spcPts val="100"/>
              </a:spcAft>
            </a:pPr>
            <a:r>
              <a:rPr sz="980">
                <a:solidFill>
                  <a:srgbClr val="9CDCFE"/>
                </a:solidFill>
                <a:latin typeface="Consolas"/>
              </a:rPr>
              <a:t>{</a:t>
            </a:r>
          </a:p>
          <a:p>
            <a:pPr>
              <a:spcAft>
                <a:spcPts val="100"/>
              </a:spcAft>
            </a:pPr>
            <a:r>
              <a:rPr sz="980">
                <a:solidFill>
                  <a:srgbClr val="9CDCFE"/>
                </a:solidFill>
                <a:latin typeface="Consolas"/>
              </a:rPr>
              <a:t>  "prompt_version": "v3",</a:t>
            </a:r>
          </a:p>
          <a:p>
            <a:pPr>
              <a:spcAft>
                <a:spcPts val="100"/>
              </a:spcAft>
            </a:pPr>
            <a:r>
              <a:rPr sz="980">
                <a:solidFill>
                  <a:srgbClr val="9CDCFE"/>
                </a:solidFill>
                <a:latin typeface="Consolas"/>
              </a:rPr>
              <a:t>  "brief_reference": "NQ-HARBOUR-LINE-AW26",</a:t>
            </a:r>
          </a:p>
          <a:p>
            <a:pPr>
              <a:spcAft>
                <a:spcPts val="100"/>
              </a:spcAft>
            </a:pPr>
            <a:r>
              <a:rPr sz="980">
                <a:solidFill>
                  <a:srgbClr val="9CDCFE"/>
                </a:solidFill>
                <a:latin typeface="Consolas"/>
              </a:rPr>
              <a:t>  "subject":   "the Harbour Line jacket: slate-blue shell, single chest seam,</a:t>
            </a:r>
          </a:p>
          <a:p>
            <a:pPr>
              <a:spcAft>
                <a:spcPts val="100"/>
              </a:spcAft>
            </a:pPr>
            <a:r>
              <a:rPr sz="980">
                <a:solidFill>
                  <a:srgbClr val="9CDCFE"/>
                </a:solidFill>
                <a:latin typeface="Consolas"/>
              </a:rPr>
              <a:t>                stand collar, worn open over a plain cream tee by an adult</a:t>
            </a:r>
          </a:p>
          <a:p>
            <a:pPr>
              <a:spcAft>
                <a:spcPts val="100"/>
              </a:spcAft>
            </a:pPr>
            <a:r>
              <a:rPr sz="980">
                <a:solidFill>
                  <a:srgbClr val="9CDCFE"/>
                </a:solidFill>
                <a:latin typeface="Consolas"/>
              </a:rPr>
              <a:t>                model, three-quarters to camera, hands at sides",</a:t>
            </a:r>
          </a:p>
          <a:p>
            <a:pPr>
              <a:spcAft>
                <a:spcPts val="100"/>
              </a:spcAft>
            </a:pPr>
            <a:r>
              <a:rPr sz="980">
                <a:solidFill>
                  <a:srgbClr val="9CDCFE"/>
                </a:solidFill>
                <a:latin typeface="Consolas"/>
              </a:rPr>
              <a:t>  "context":   "harbour boardwalk at first light; mooring bollards in the</a:t>
            </a:r>
          </a:p>
          <a:p>
            <a:pPr>
              <a:spcAft>
                <a:spcPts val="100"/>
              </a:spcAft>
            </a:pPr>
            <a:r>
              <a:rPr sz="980">
                <a:solidFill>
                  <a:srgbClr val="9CDCFE"/>
                </a:solidFill>
                <a:latin typeface="Consolas"/>
              </a:rPr>
              <a:t>                mid-ground; wet timber underfoot",</a:t>
            </a:r>
          </a:p>
          <a:p>
            <a:pPr>
              <a:spcAft>
                <a:spcPts val="100"/>
              </a:spcAft>
            </a:pPr>
            <a:r>
              <a:rPr sz="980">
                <a:solidFill>
                  <a:srgbClr val="9CDCFE"/>
                </a:solidFill>
                <a:latin typeface="Consolas"/>
              </a:rPr>
              <a:t>  "style":     "documentary product photography, restrained colour palette,</a:t>
            </a:r>
          </a:p>
          <a:p>
            <a:pPr>
              <a:spcAft>
                <a:spcPts val="100"/>
              </a:spcAft>
            </a:pPr>
            <a:r>
              <a:rPr sz="980">
                <a:solidFill>
                  <a:srgbClr val="9CDCFE"/>
                </a:solidFill>
                <a:latin typeface="Consolas"/>
              </a:rPr>
              <a:t>                natural contrast",</a:t>
            </a:r>
          </a:p>
          <a:p>
            <a:pPr>
              <a:spcAft>
                <a:spcPts val="100"/>
              </a:spcAft>
            </a:pPr>
            <a:r>
              <a:rPr sz="980">
                <a:solidFill>
                  <a:srgbClr val="9CDCFE"/>
                </a:solidFill>
                <a:latin typeface="Consolas"/>
              </a:rPr>
              <a:t>  "technical": {"lens": "35mm", "depth_of_field": "shallow",</a:t>
            </a:r>
          </a:p>
          <a:p>
            <a:pPr>
              <a:spcAft>
                <a:spcPts val="100"/>
              </a:spcAft>
            </a:pPr>
            <a:r>
              <a:rPr sz="980">
                <a:solidFill>
                  <a:srgbClr val="9CDCFE"/>
                </a:solidFill>
                <a:latin typeface="Consolas"/>
              </a:rPr>
              <a:t>                "lighting": "low-angle warm key from camera left, soft fill",</a:t>
            </a:r>
          </a:p>
          <a:p>
            <a:pPr>
              <a:spcAft>
                <a:spcPts val="100"/>
              </a:spcAft>
            </a:pPr>
            <a:r>
              <a:rPr sz="980">
                <a:solidFill>
                  <a:srgbClr val="9CDCFE"/>
                </a:solidFill>
                <a:latin typeface="Consolas"/>
              </a:rPr>
              <a:t>                "aspect_ratio": "4:5", "image_size": "2K"},</a:t>
            </a:r>
          </a:p>
          <a:p>
            <a:pPr>
              <a:spcAft>
                <a:spcPts val="100"/>
              </a:spcAft>
            </a:pPr>
            <a:r>
              <a:rPr sz="980">
                <a:solidFill>
                  <a:srgbClr val="9CDCFE"/>
                </a:solidFill>
                <a:latin typeface="Consolas"/>
              </a:rPr>
              <a:t>  "negative_constraints": ["no text or logos rendered in the image",</a:t>
            </a:r>
          </a:p>
          <a:p>
            <a:pPr>
              <a:spcAft>
                <a:spcPts val="100"/>
              </a:spcAft>
            </a:pPr>
            <a:r>
              <a:rPr sz="980">
                <a:solidFill>
                  <a:srgbClr val="9CDCFE"/>
                </a:solidFill>
                <a:latin typeface="Consolas"/>
              </a:rPr>
              <a:t>                           "no lens flare", "no additional people",</a:t>
            </a:r>
          </a:p>
          <a:p>
            <a:pPr>
              <a:spcAft>
                <a:spcPts val="100"/>
              </a:spcAft>
            </a:pPr>
            <a:r>
              <a:rPr sz="980">
                <a:solidFill>
                  <a:srgbClr val="9CDCFE"/>
                </a:solidFill>
                <a:latin typeface="Consolas"/>
              </a:rPr>
              <a:t>                           "no colour cast on the jacket shell"]</a:t>
            </a:r>
          </a:p>
          <a:p>
            <a:pPr>
              <a:spcAft>
                <a:spcPts val="100"/>
              </a:spcAft>
            </a:pPr>
            <a:r>
              <a:rPr sz="980">
                <a:solidFill>
                  <a:srgbClr val="9CDCFE"/>
                </a:solidFill>
                <a:latin typeface="Consolas"/>
              </a:rPr>
              <a:t>}</a:t>
            </a:r>
          </a:p>
        </p:txBody>
      </p:sp>
      <p:sp>
        <p:nvSpPr>
          <p:cNvPr id="9" name="Rectangle 8"/>
          <p:cNvSpPr/>
          <p:nvPr/>
        </p:nvSpPr>
        <p:spPr>
          <a:xfrm>
            <a:off x="7406640" y="1783080"/>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783080"/>
            <a:ext cx="82296" cy="9166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6096" y="1783080"/>
            <a:ext cx="3602736" cy="916686"/>
          </a:xfrm>
          <a:prstGeom prst="rect">
            <a:avLst/>
          </a:prstGeom>
          <a:noFill/>
        </p:spPr>
        <p:txBody>
          <a:bodyPr wrap="square" anchor="ctr">
            <a:spAutoFit/>
          </a:bodyPr>
          <a:lstStyle/>
          <a:p>
            <a:pPr algn="l">
              <a:spcAft>
                <a:spcPts val="200"/>
              </a:spcAft>
            </a:pPr>
            <a:r>
              <a:rPr sz="1300" b="1">
                <a:solidFill>
                  <a:srgbClr val="1F6FEB"/>
                </a:solidFill>
                <a:latin typeface="Arial"/>
              </a:rPr>
              <a:t>Change one value, not a sentence</a:t>
            </a:r>
          </a:p>
          <a:p>
            <a:pPr algn="l">
              <a:spcAft>
                <a:spcPts val="200"/>
              </a:spcAft>
            </a:pPr>
            <a:r>
              <a:rPr sz="1150" b="0">
                <a:solidFill>
                  <a:srgbClr val="161B26"/>
                </a:solidFill>
                <a:latin typeface="Arial"/>
              </a:rPr>
              <a:t>To test a tighter framing you change `lens` alone, and the other three factors are provably unchanged.</a:t>
            </a:r>
          </a:p>
        </p:txBody>
      </p:sp>
      <p:sp>
        <p:nvSpPr>
          <p:cNvPr id="12" name="Rectangle 11"/>
          <p:cNvSpPr/>
          <p:nvPr/>
        </p:nvSpPr>
        <p:spPr>
          <a:xfrm>
            <a:off x="7406640" y="2864358"/>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2864358"/>
            <a:ext cx="82296" cy="91668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2864358"/>
            <a:ext cx="3602736" cy="916686"/>
          </a:xfrm>
          <a:prstGeom prst="rect">
            <a:avLst/>
          </a:prstGeom>
          <a:noFill/>
        </p:spPr>
        <p:txBody>
          <a:bodyPr wrap="square" anchor="ctr">
            <a:spAutoFit/>
          </a:bodyPr>
          <a:lstStyle/>
          <a:p>
            <a:pPr algn="l">
              <a:spcAft>
                <a:spcPts val="200"/>
              </a:spcAft>
            </a:pPr>
            <a:r>
              <a:rPr sz="1300" b="1">
                <a:solidFill>
                  <a:srgbClr val="10B981"/>
                </a:solidFill>
                <a:latin typeface="Arial"/>
              </a:rPr>
              <a:t>It forces completeness</a:t>
            </a:r>
          </a:p>
          <a:p>
            <a:pPr algn="l">
              <a:spcAft>
                <a:spcPts val="200"/>
              </a:spcAft>
            </a:pPr>
            <a:r>
              <a:rPr sz="1150" b="0">
                <a:solidFill>
                  <a:srgbClr val="161B26"/>
                </a:solidFill>
                <a:latin typeface="Arial"/>
              </a:rPr>
              <a:t>An empty key is visible. A missing clause in a paragraph is not.</a:t>
            </a:r>
          </a:p>
        </p:txBody>
      </p:sp>
      <p:sp>
        <p:nvSpPr>
          <p:cNvPr id="15" name="Rectangle 14"/>
          <p:cNvSpPr/>
          <p:nvPr/>
        </p:nvSpPr>
        <p:spPr>
          <a:xfrm>
            <a:off x="7406640" y="3945636"/>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3945636"/>
            <a:ext cx="82296" cy="91668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6096" y="3945636"/>
            <a:ext cx="3602736" cy="916686"/>
          </a:xfrm>
          <a:prstGeom prst="rect">
            <a:avLst/>
          </a:prstGeom>
          <a:noFill/>
        </p:spPr>
        <p:txBody>
          <a:bodyPr wrap="square" anchor="ctr">
            <a:spAutoFit/>
          </a:bodyPr>
          <a:lstStyle/>
          <a:p>
            <a:pPr algn="l">
              <a:spcAft>
                <a:spcPts val="200"/>
              </a:spcAft>
            </a:pPr>
            <a:r>
              <a:rPr sz="1300" b="1">
                <a:solidFill>
                  <a:srgbClr val="7C3AED"/>
                </a:solidFill>
                <a:latin typeface="Arial"/>
              </a:rPr>
              <a:t>It versions and diffs</a:t>
            </a:r>
          </a:p>
          <a:p>
            <a:pPr algn="l">
              <a:spcAft>
                <a:spcPts val="200"/>
              </a:spcAft>
            </a:pPr>
            <a:r>
              <a:rPr sz="1150" b="0">
                <a:solidFill>
                  <a:srgbClr val="161B26"/>
                </a:solidFill>
                <a:latin typeface="Arial"/>
              </a:rPr>
              <a:t>Two prompts can be compared character-by-character, which is how you find the word that leaked between cells.</a:t>
            </a:r>
          </a:p>
        </p:txBody>
      </p:sp>
      <p:sp>
        <p:nvSpPr>
          <p:cNvPr id="18" name="Rectangle 17"/>
          <p:cNvSpPr/>
          <p:nvPr/>
        </p:nvSpPr>
        <p:spPr>
          <a:xfrm>
            <a:off x="7406640" y="5026914"/>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5026914"/>
            <a:ext cx="82296" cy="91668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5026914"/>
            <a:ext cx="3602736" cy="916686"/>
          </a:xfrm>
          <a:prstGeom prst="rect">
            <a:avLst/>
          </a:prstGeom>
          <a:noFill/>
        </p:spPr>
        <p:txBody>
          <a:bodyPr wrap="square" anchor="ctr">
            <a:spAutoFit/>
          </a:bodyPr>
          <a:lstStyle/>
          <a:p>
            <a:pPr algn="l">
              <a:spcAft>
                <a:spcPts val="200"/>
              </a:spcAft>
            </a:pPr>
            <a:r>
              <a:rPr sz="1300" b="1">
                <a:solidFill>
                  <a:srgbClr val="F59E0B"/>
                </a:solidFill>
                <a:latin typeface="Arial"/>
              </a:rPr>
              <a:t>It is auditable</a:t>
            </a:r>
          </a:p>
          <a:p>
            <a:pPr algn="l">
              <a:spcAft>
                <a:spcPts val="200"/>
              </a:spcAft>
            </a:pPr>
            <a:r>
              <a:rPr sz="1150" b="0">
                <a:solidFill>
                  <a:srgbClr val="161B26"/>
                </a:solidFill>
                <a:latin typeface="Arial"/>
              </a:rPr>
              <a:t>When an asset is challenged, the exact prompt that produced it can be produced.</a:t>
            </a:r>
          </a:p>
        </p:txBody>
      </p:sp>
      <p:sp>
        <p:nvSpPr>
          <p:cNvPr id="21" name="Rectangle 20"/>
          <p:cNvSpPr/>
          <p:nvPr/>
        </p:nvSpPr>
        <p:spPr>
          <a:xfrm>
            <a:off x="777240" y="6053328"/>
            <a:ext cx="10634472" cy="4023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6053328"/>
            <a:ext cx="10241280" cy="402336"/>
          </a:xfrm>
          <a:prstGeom prst="rect">
            <a:avLst/>
          </a:prstGeom>
          <a:noFill/>
        </p:spPr>
        <p:txBody>
          <a:bodyPr wrap="square" anchor="ctr">
            <a:spAutoFit/>
          </a:bodyPr>
          <a:lstStyle/>
          <a:p>
            <a:pPr algn="l">
              <a:spcAft>
                <a:spcPts val="400"/>
              </a:spcAft>
            </a:pPr>
            <a:r>
              <a:rPr sz="1100" b="1">
                <a:solidFill>
                  <a:srgbClr val="127A3E"/>
                </a:solidFill>
                <a:latin typeface="Arial"/>
              </a:rPr>
              <a:t>VERIFY   </a:t>
            </a:r>
            <a:r>
              <a:rPr sz="1200" b="0">
                <a:solidFill>
                  <a:srgbClr val="161B26"/>
                </a:solidFill>
                <a:latin typeface="Arial"/>
              </a:rPr>
              <a:t>Lab 03 freezes the winning prompt as out/prompt-v3.json with these exact fields, then records which generation path was used.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A2 · LAB 03, FOUR VARIANTS PER CELL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Measured — Prompt Specificity Versus Output Variance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The trend is the lesson</a:t>
            </a:r>
          </a:p>
          <a:p>
            <a:pPr algn="l">
              <a:spcAft>
                <a:spcPts val="200"/>
              </a:spcAft>
            </a:pPr>
            <a:r>
              <a:rPr sz="1100" b="0">
                <a:solidFill>
                  <a:srgbClr val="161B26"/>
                </a:solidFill>
                <a:latin typeface="Arial"/>
              </a:rPr>
              <a:t>These three selected metrics decline on the designed simulation; edge-density spread does not.</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Do not infer a causal effect</a:t>
            </a:r>
          </a:p>
          <a:p>
            <a:pPr algn="l">
              <a:spcAft>
                <a:spcPts val="200"/>
              </a:spcAft>
            </a:pPr>
            <a:r>
              <a:rPr sz="1100" b="0">
                <a:solidFill>
                  <a:srgbClr val="161B26"/>
                </a:solidFill>
                <a:latin typeface="Arial"/>
              </a:rPr>
              <a:t>Several prompt factors change progressively. This simulation is not a controlled one-factor experiment.</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Measure the subject, not the frame</a:t>
            </a:r>
          </a:p>
          <a:p>
            <a:pPr algn="l">
              <a:spcAft>
                <a:spcPts val="200"/>
              </a:spcAft>
            </a:pPr>
            <a:r>
              <a:rPr sz="1100" b="0">
                <a:solidFill>
                  <a:srgbClr val="161B26"/>
                </a:solidFill>
                <a:latin typeface="Arial"/>
              </a:rPr>
              <a:t>A backdrop gradient dominates a whole-frame histogram. Mask the subject first.</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Smooth a sparse histogram</a:t>
            </a:r>
          </a:p>
          <a:p>
            <a:pPr algn="l">
              <a:spcAft>
                <a:spcPts val="200"/>
              </a:spcAft>
            </a:pPr>
            <a:r>
              <a:rPr sz="1100" b="0">
                <a:solidFill>
                  <a:srgbClr val="161B26"/>
                </a:solidFill>
                <a:latin typeface="Arial"/>
              </a:rPr>
              <a:t>A flat-coloured product puts its mass in one bin; without smoothing every pair reads as maximally different.</a:t>
            </a:r>
          </a:p>
        </p:txBody>
      </p:sp>
      <p:sp>
        <p:nvSpPr>
          <p:cNvPr id="20" name="Rectangle 19"/>
          <p:cNvSpPr/>
          <p:nvPr/>
        </p:nvSpPr>
        <p:spPr>
          <a:xfrm>
            <a:off x="777240" y="5925312"/>
            <a:ext cx="1417320"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MEASURED</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Measured in Lab 03 with opencv-python 4.13 on the supplied simulated variant sets. The SIMULATION is designed to reproduce the characteristic spread of each condition — real model output will be noisier and the ordering is not guaranteed. Centroid spread is divided by 10 so the three series share an axis.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F59E0B"/>
                </a:solidFill>
                <a:latin typeface="Arial"/>
              </a:rPr>
              <a:t>K4, A2 · MODEL IDS CHANGE — RE-VERIFY BEFORE YOU RELY ON ONE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Current Image-Generation Models — Verified 6 September 2026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7010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582082" cy="701040"/>
          </a:xfrm>
          <a:prstGeom prst="rect">
            <a:avLst/>
          </a:prstGeom>
          <a:noFill/>
        </p:spPr>
        <p:txBody>
          <a:bodyPr wrap="square" anchor="ctr">
            <a:spAutoFit/>
          </a:bodyPr>
          <a:lstStyle/>
          <a:p>
            <a:pPr algn="l">
              <a:spcAft>
                <a:spcPts val="400"/>
              </a:spcAft>
            </a:pPr>
            <a:r>
              <a:rPr sz="1050" b="1">
                <a:solidFill>
                  <a:srgbClr val="FFFFFF"/>
                </a:solidFill>
                <a:latin typeface="Arial"/>
              </a:rPr>
              <a:t>Model ID</a:t>
            </a:r>
          </a:p>
        </p:txBody>
      </p:sp>
      <p:sp>
        <p:nvSpPr>
          <p:cNvPr id="9" name="Rectangle 8"/>
          <p:cNvSpPr/>
          <p:nvPr/>
        </p:nvSpPr>
        <p:spPr>
          <a:xfrm>
            <a:off x="3542202" y="1783080"/>
            <a:ext cx="2339583" cy="7010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1930" y="1783080"/>
            <a:ext cx="2156703" cy="701040"/>
          </a:xfrm>
          <a:prstGeom prst="rect">
            <a:avLst/>
          </a:prstGeom>
          <a:noFill/>
        </p:spPr>
        <p:txBody>
          <a:bodyPr wrap="square" anchor="ctr">
            <a:spAutoFit/>
          </a:bodyPr>
          <a:lstStyle/>
          <a:p>
            <a:pPr algn="l">
              <a:spcAft>
                <a:spcPts val="400"/>
              </a:spcAft>
            </a:pPr>
            <a:r>
              <a:rPr sz="1050" b="1">
                <a:solidFill>
                  <a:srgbClr val="FFFFFF"/>
                </a:solidFill>
                <a:latin typeface="Arial"/>
              </a:rPr>
              <a:t>Position</a:t>
            </a:r>
          </a:p>
        </p:txBody>
      </p:sp>
      <p:sp>
        <p:nvSpPr>
          <p:cNvPr id="11" name="Rectangle 10"/>
          <p:cNvSpPr/>
          <p:nvPr/>
        </p:nvSpPr>
        <p:spPr>
          <a:xfrm>
            <a:off x="5881785" y="1783080"/>
            <a:ext cx="1914204" cy="7010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91513" y="1783080"/>
            <a:ext cx="1731324" cy="701040"/>
          </a:xfrm>
          <a:prstGeom prst="rect">
            <a:avLst/>
          </a:prstGeom>
          <a:noFill/>
        </p:spPr>
        <p:txBody>
          <a:bodyPr wrap="square" anchor="ctr">
            <a:spAutoFit/>
          </a:bodyPr>
          <a:lstStyle/>
          <a:p>
            <a:pPr algn="l">
              <a:spcAft>
                <a:spcPts val="400"/>
              </a:spcAft>
            </a:pPr>
            <a:r>
              <a:rPr sz="1050" b="1">
                <a:solidFill>
                  <a:srgbClr val="FFFFFF"/>
                </a:solidFill>
                <a:latin typeface="Arial"/>
              </a:rPr>
              <a:t>Sizes</a:t>
            </a:r>
          </a:p>
        </p:txBody>
      </p:sp>
      <p:sp>
        <p:nvSpPr>
          <p:cNvPr id="13" name="Rectangle 12"/>
          <p:cNvSpPr/>
          <p:nvPr/>
        </p:nvSpPr>
        <p:spPr>
          <a:xfrm>
            <a:off x="7795989" y="1783080"/>
            <a:ext cx="3615720" cy="7010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5717" y="1783080"/>
            <a:ext cx="3432840" cy="701040"/>
          </a:xfrm>
          <a:prstGeom prst="rect">
            <a:avLst/>
          </a:prstGeom>
          <a:noFill/>
        </p:spPr>
        <p:txBody>
          <a:bodyPr wrap="square" anchor="ctr">
            <a:spAutoFit/>
          </a:bodyPr>
          <a:lstStyle/>
          <a:p>
            <a:pPr algn="l">
              <a:spcAft>
                <a:spcPts val="400"/>
              </a:spcAft>
            </a:pPr>
            <a:r>
              <a:rPr sz="1050" b="1">
                <a:solidFill>
                  <a:srgbClr val="FFFFFF"/>
                </a:solidFill>
                <a:latin typeface="Arial"/>
              </a:rPr>
              <a:t>Notes</a:t>
            </a:r>
          </a:p>
        </p:txBody>
      </p:sp>
      <p:sp>
        <p:nvSpPr>
          <p:cNvPr id="15" name="Rectangle 14"/>
          <p:cNvSpPr/>
          <p:nvPr/>
        </p:nvSpPr>
        <p:spPr>
          <a:xfrm>
            <a:off x="777240" y="2484120"/>
            <a:ext cx="2764962"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484120"/>
            <a:ext cx="2582082" cy="701040"/>
          </a:xfrm>
          <a:prstGeom prst="rect">
            <a:avLst/>
          </a:prstGeom>
          <a:noFill/>
        </p:spPr>
        <p:txBody>
          <a:bodyPr wrap="square" anchor="ctr">
            <a:spAutoFit/>
          </a:bodyPr>
          <a:lstStyle/>
          <a:p>
            <a:pPr algn="l">
              <a:spcAft>
                <a:spcPts val="400"/>
              </a:spcAft>
            </a:pPr>
            <a:r>
              <a:rPr sz="950" b="1">
                <a:solidFill>
                  <a:srgbClr val="161B26"/>
                </a:solidFill>
                <a:latin typeface="Arial"/>
              </a:rPr>
              <a:t>gemini-3.1-flash-image</a:t>
            </a:r>
          </a:p>
        </p:txBody>
      </p:sp>
      <p:sp>
        <p:nvSpPr>
          <p:cNvPr id="17" name="Rectangle 16"/>
          <p:cNvSpPr/>
          <p:nvPr/>
        </p:nvSpPr>
        <p:spPr>
          <a:xfrm>
            <a:off x="3542202" y="2484120"/>
            <a:ext cx="2339583"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1930" y="2484120"/>
            <a:ext cx="2156703" cy="701040"/>
          </a:xfrm>
          <a:prstGeom prst="rect">
            <a:avLst/>
          </a:prstGeom>
          <a:noFill/>
        </p:spPr>
        <p:txBody>
          <a:bodyPr wrap="square" anchor="ctr">
            <a:spAutoFit/>
          </a:bodyPr>
          <a:lstStyle/>
          <a:p>
            <a:pPr algn="l">
              <a:spcAft>
                <a:spcPts val="400"/>
              </a:spcAft>
            </a:pPr>
            <a:r>
              <a:rPr sz="950" b="0">
                <a:solidFill>
                  <a:srgbClr val="161B26"/>
                </a:solidFill>
                <a:latin typeface="Arial"/>
              </a:rPr>
              <a:t>Versatile generalist</a:t>
            </a:r>
          </a:p>
        </p:txBody>
      </p:sp>
      <p:sp>
        <p:nvSpPr>
          <p:cNvPr id="19" name="Rectangle 18"/>
          <p:cNvSpPr/>
          <p:nvPr/>
        </p:nvSpPr>
        <p:spPr>
          <a:xfrm>
            <a:off x="5881785" y="2484120"/>
            <a:ext cx="1914204"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91513" y="2484120"/>
            <a:ext cx="1731324" cy="701040"/>
          </a:xfrm>
          <a:prstGeom prst="rect">
            <a:avLst/>
          </a:prstGeom>
          <a:noFill/>
        </p:spPr>
        <p:txBody>
          <a:bodyPr wrap="square" anchor="ctr">
            <a:spAutoFit/>
          </a:bodyPr>
          <a:lstStyle/>
          <a:p>
            <a:pPr algn="l">
              <a:spcAft>
                <a:spcPts val="400"/>
              </a:spcAft>
            </a:pPr>
            <a:r>
              <a:rPr sz="950" b="0">
                <a:solidFill>
                  <a:srgbClr val="161B26"/>
                </a:solidFill>
                <a:latin typeface="Arial"/>
              </a:rPr>
              <a:t>0.5K / 1K / 2K / 4K</a:t>
            </a:r>
          </a:p>
        </p:txBody>
      </p:sp>
      <p:sp>
        <p:nvSpPr>
          <p:cNvPr id="21" name="Rectangle 20"/>
          <p:cNvSpPr/>
          <p:nvPr/>
        </p:nvSpPr>
        <p:spPr>
          <a:xfrm>
            <a:off x="7795989" y="2484120"/>
            <a:ext cx="3615720"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5717" y="2484120"/>
            <a:ext cx="3432840" cy="701040"/>
          </a:xfrm>
          <a:prstGeom prst="rect">
            <a:avLst/>
          </a:prstGeom>
          <a:noFill/>
        </p:spPr>
        <p:txBody>
          <a:bodyPr wrap="square" anchor="ctr">
            <a:spAutoFit/>
          </a:bodyPr>
          <a:lstStyle/>
          <a:p>
            <a:pPr algn="l">
              <a:spcAft>
                <a:spcPts val="400"/>
              </a:spcAft>
            </a:pPr>
            <a:r>
              <a:rPr sz="950" b="0">
                <a:solidFill>
                  <a:srgbClr val="161B26"/>
                </a:solidFill>
                <a:latin typeface="Arial"/>
              </a:rPr>
              <a:t>The documented workhorse for generation and editing</a:t>
            </a:r>
          </a:p>
        </p:txBody>
      </p:sp>
      <p:sp>
        <p:nvSpPr>
          <p:cNvPr id="23" name="Rectangle 22"/>
          <p:cNvSpPr/>
          <p:nvPr/>
        </p:nvSpPr>
        <p:spPr>
          <a:xfrm>
            <a:off x="777240" y="3185160"/>
            <a:ext cx="2764962"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3185160"/>
            <a:ext cx="2582082" cy="701040"/>
          </a:xfrm>
          <a:prstGeom prst="rect">
            <a:avLst/>
          </a:prstGeom>
          <a:noFill/>
        </p:spPr>
        <p:txBody>
          <a:bodyPr wrap="square" anchor="ctr">
            <a:spAutoFit/>
          </a:bodyPr>
          <a:lstStyle/>
          <a:p>
            <a:pPr algn="l">
              <a:spcAft>
                <a:spcPts val="400"/>
              </a:spcAft>
            </a:pPr>
            <a:r>
              <a:rPr sz="950" b="1">
                <a:solidFill>
                  <a:srgbClr val="161B26"/>
                </a:solidFill>
                <a:latin typeface="Arial"/>
              </a:rPr>
              <a:t>gemini-3.1-flash-lite-image</a:t>
            </a:r>
          </a:p>
        </p:txBody>
      </p:sp>
      <p:sp>
        <p:nvSpPr>
          <p:cNvPr id="25" name="Rectangle 24"/>
          <p:cNvSpPr/>
          <p:nvPr/>
        </p:nvSpPr>
        <p:spPr>
          <a:xfrm>
            <a:off x="3542202" y="3185160"/>
            <a:ext cx="2339583"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1930" y="3185160"/>
            <a:ext cx="2156703" cy="701040"/>
          </a:xfrm>
          <a:prstGeom prst="rect">
            <a:avLst/>
          </a:prstGeom>
          <a:noFill/>
        </p:spPr>
        <p:txBody>
          <a:bodyPr wrap="square" anchor="ctr">
            <a:spAutoFit/>
          </a:bodyPr>
          <a:lstStyle/>
          <a:p>
            <a:pPr algn="l">
              <a:spcAft>
                <a:spcPts val="400"/>
              </a:spcAft>
            </a:pPr>
            <a:r>
              <a:rPr sz="950" b="0">
                <a:solidFill>
                  <a:srgbClr val="161B26"/>
                </a:solidFill>
                <a:latin typeface="Arial"/>
              </a:rPr>
              <a:t>Fastest and most economical</a:t>
            </a:r>
          </a:p>
        </p:txBody>
      </p:sp>
      <p:sp>
        <p:nvSpPr>
          <p:cNvPr id="27" name="Rectangle 26"/>
          <p:cNvSpPr/>
          <p:nvPr/>
        </p:nvSpPr>
        <p:spPr>
          <a:xfrm>
            <a:off x="5881785" y="3185160"/>
            <a:ext cx="1914204"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91513" y="3185160"/>
            <a:ext cx="1731324" cy="701040"/>
          </a:xfrm>
          <a:prstGeom prst="rect">
            <a:avLst/>
          </a:prstGeom>
          <a:noFill/>
        </p:spPr>
        <p:txBody>
          <a:bodyPr wrap="square" anchor="ctr">
            <a:spAutoFit/>
          </a:bodyPr>
          <a:lstStyle/>
          <a:p>
            <a:pPr algn="l">
              <a:spcAft>
                <a:spcPts val="400"/>
              </a:spcAft>
            </a:pPr>
            <a:r>
              <a:rPr sz="950" b="0">
                <a:solidFill>
                  <a:srgbClr val="161B26"/>
                </a:solidFill>
                <a:latin typeface="Arial"/>
              </a:rPr>
              <a:t>1K only</a:t>
            </a:r>
          </a:p>
        </p:txBody>
      </p:sp>
      <p:sp>
        <p:nvSpPr>
          <p:cNvPr id="29" name="Rectangle 28"/>
          <p:cNvSpPr/>
          <p:nvPr/>
        </p:nvSpPr>
        <p:spPr>
          <a:xfrm>
            <a:off x="7795989" y="3185160"/>
            <a:ext cx="3615720"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5717" y="3185160"/>
            <a:ext cx="3432840" cy="701040"/>
          </a:xfrm>
          <a:prstGeom prst="rect">
            <a:avLst/>
          </a:prstGeom>
          <a:noFill/>
        </p:spPr>
        <p:txBody>
          <a:bodyPr wrap="square" anchor="ctr">
            <a:spAutoFit/>
          </a:bodyPr>
          <a:lstStyle/>
          <a:p>
            <a:pPr algn="l">
              <a:spcAft>
                <a:spcPts val="400"/>
              </a:spcAft>
            </a:pPr>
            <a:r>
              <a:rPr sz="950" b="0">
                <a:solidFill>
                  <a:srgbClr val="161B26"/>
                </a:solidFill>
                <a:latin typeface="Arial"/>
              </a:rPr>
              <a:t>Adds a wider aspect-ratio set including 3:2, 4:5, 21:9</a:t>
            </a:r>
          </a:p>
        </p:txBody>
      </p:sp>
      <p:sp>
        <p:nvSpPr>
          <p:cNvPr id="31" name="Rectangle 30"/>
          <p:cNvSpPr/>
          <p:nvPr/>
        </p:nvSpPr>
        <p:spPr>
          <a:xfrm>
            <a:off x="777240" y="3886200"/>
            <a:ext cx="2764962"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886200"/>
            <a:ext cx="2582082" cy="701040"/>
          </a:xfrm>
          <a:prstGeom prst="rect">
            <a:avLst/>
          </a:prstGeom>
          <a:noFill/>
        </p:spPr>
        <p:txBody>
          <a:bodyPr wrap="square" anchor="ctr">
            <a:spAutoFit/>
          </a:bodyPr>
          <a:lstStyle/>
          <a:p>
            <a:pPr algn="l">
              <a:spcAft>
                <a:spcPts val="400"/>
              </a:spcAft>
            </a:pPr>
            <a:r>
              <a:rPr sz="950" b="1">
                <a:solidFill>
                  <a:srgbClr val="161B26"/>
                </a:solidFill>
                <a:latin typeface="Arial"/>
              </a:rPr>
              <a:t>gemini-3-pro-image</a:t>
            </a:r>
          </a:p>
        </p:txBody>
      </p:sp>
      <p:sp>
        <p:nvSpPr>
          <p:cNvPr id="33" name="Rectangle 32"/>
          <p:cNvSpPr/>
          <p:nvPr/>
        </p:nvSpPr>
        <p:spPr>
          <a:xfrm>
            <a:off x="3542202" y="3886200"/>
            <a:ext cx="2339583"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1930" y="3886200"/>
            <a:ext cx="2156703" cy="701040"/>
          </a:xfrm>
          <a:prstGeom prst="rect">
            <a:avLst/>
          </a:prstGeom>
          <a:noFill/>
        </p:spPr>
        <p:txBody>
          <a:bodyPr wrap="square" anchor="ctr">
            <a:spAutoFit/>
          </a:bodyPr>
          <a:lstStyle/>
          <a:p>
            <a:pPr algn="l">
              <a:spcAft>
                <a:spcPts val="400"/>
              </a:spcAft>
            </a:pPr>
            <a:r>
              <a:rPr sz="950" b="0">
                <a:solidFill>
                  <a:srgbClr val="161B26"/>
                </a:solidFill>
                <a:latin typeface="Arial"/>
              </a:rPr>
              <a:t>Premium, complex visual tasks</a:t>
            </a:r>
          </a:p>
        </p:txBody>
      </p:sp>
      <p:sp>
        <p:nvSpPr>
          <p:cNvPr id="35" name="Rectangle 34"/>
          <p:cNvSpPr/>
          <p:nvPr/>
        </p:nvSpPr>
        <p:spPr>
          <a:xfrm>
            <a:off x="5881785" y="3886200"/>
            <a:ext cx="1914204"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91513" y="3886200"/>
            <a:ext cx="1731324" cy="701040"/>
          </a:xfrm>
          <a:prstGeom prst="rect">
            <a:avLst/>
          </a:prstGeom>
          <a:noFill/>
        </p:spPr>
        <p:txBody>
          <a:bodyPr wrap="square" anchor="ctr">
            <a:spAutoFit/>
          </a:bodyPr>
          <a:lstStyle/>
          <a:p>
            <a:pPr algn="l">
              <a:spcAft>
                <a:spcPts val="400"/>
              </a:spcAft>
            </a:pPr>
            <a:r>
              <a:rPr sz="950" b="0">
                <a:solidFill>
                  <a:srgbClr val="161B26"/>
                </a:solidFill>
                <a:latin typeface="Arial"/>
              </a:rPr>
              <a:t>1K / 2K / 4K</a:t>
            </a:r>
          </a:p>
        </p:txBody>
      </p:sp>
      <p:sp>
        <p:nvSpPr>
          <p:cNvPr id="37" name="Rectangle 36"/>
          <p:cNvSpPr/>
          <p:nvPr/>
        </p:nvSpPr>
        <p:spPr>
          <a:xfrm>
            <a:off x="7795989" y="3886200"/>
            <a:ext cx="3615720"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905717" y="3886200"/>
            <a:ext cx="3432840" cy="701040"/>
          </a:xfrm>
          <a:prstGeom prst="rect">
            <a:avLst/>
          </a:prstGeom>
          <a:noFill/>
        </p:spPr>
        <p:txBody>
          <a:bodyPr wrap="square" anchor="ctr">
            <a:spAutoFit/>
          </a:bodyPr>
          <a:lstStyle/>
          <a:p>
            <a:pPr algn="l">
              <a:spcAft>
                <a:spcPts val="400"/>
              </a:spcAft>
            </a:pPr>
            <a:r>
              <a:rPr sz="950" b="0">
                <a:solidFill>
                  <a:srgbClr val="161B26"/>
                </a:solidFill>
                <a:latin typeface="Arial"/>
              </a:rPr>
              <a:t>For work where sample quality dominates cost</a:t>
            </a:r>
          </a:p>
        </p:txBody>
      </p:sp>
      <p:sp>
        <p:nvSpPr>
          <p:cNvPr id="39" name="Rectangle 38"/>
          <p:cNvSpPr/>
          <p:nvPr/>
        </p:nvSpPr>
        <p:spPr>
          <a:xfrm>
            <a:off x="777240" y="4587240"/>
            <a:ext cx="2764962"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4587240"/>
            <a:ext cx="2582082" cy="701040"/>
          </a:xfrm>
          <a:prstGeom prst="rect">
            <a:avLst/>
          </a:prstGeom>
          <a:noFill/>
        </p:spPr>
        <p:txBody>
          <a:bodyPr wrap="square" anchor="ctr">
            <a:spAutoFit/>
          </a:bodyPr>
          <a:lstStyle/>
          <a:p>
            <a:pPr algn="l">
              <a:spcAft>
                <a:spcPts val="400"/>
              </a:spcAft>
            </a:pPr>
            <a:r>
              <a:rPr sz="950" b="1">
                <a:solidFill>
                  <a:srgbClr val="161B26"/>
                </a:solidFill>
                <a:latin typeface="Arial"/>
              </a:rPr>
              <a:t>gemini-2.5-flash-image</a:t>
            </a:r>
          </a:p>
        </p:txBody>
      </p:sp>
      <p:sp>
        <p:nvSpPr>
          <p:cNvPr id="41" name="Rectangle 40"/>
          <p:cNvSpPr/>
          <p:nvPr/>
        </p:nvSpPr>
        <p:spPr>
          <a:xfrm>
            <a:off x="3542202" y="4587240"/>
            <a:ext cx="2339583"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51930" y="4587240"/>
            <a:ext cx="2156703" cy="701040"/>
          </a:xfrm>
          <a:prstGeom prst="rect">
            <a:avLst/>
          </a:prstGeom>
          <a:noFill/>
        </p:spPr>
        <p:txBody>
          <a:bodyPr wrap="square" anchor="ctr">
            <a:spAutoFit/>
          </a:bodyPr>
          <a:lstStyle/>
          <a:p>
            <a:pPr algn="l">
              <a:spcAft>
                <a:spcPts val="400"/>
              </a:spcAft>
            </a:pPr>
            <a:r>
              <a:rPr sz="950" b="0">
                <a:solidFill>
                  <a:srgbClr val="161B26"/>
                </a:solidFill>
                <a:latin typeface="Arial"/>
              </a:rPr>
              <a:t>Legacy pioneer model</a:t>
            </a:r>
          </a:p>
        </p:txBody>
      </p:sp>
      <p:sp>
        <p:nvSpPr>
          <p:cNvPr id="43" name="Rectangle 42"/>
          <p:cNvSpPr/>
          <p:nvPr/>
        </p:nvSpPr>
        <p:spPr>
          <a:xfrm>
            <a:off x="5881785" y="4587240"/>
            <a:ext cx="1914204"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991513" y="4587240"/>
            <a:ext cx="1731324" cy="701040"/>
          </a:xfrm>
          <a:prstGeom prst="rect">
            <a:avLst/>
          </a:prstGeom>
          <a:noFill/>
        </p:spPr>
        <p:txBody>
          <a:bodyPr wrap="square" anchor="ctr">
            <a:spAutoFit/>
          </a:bodyPr>
          <a:lstStyle/>
          <a:p>
            <a:pPr algn="l">
              <a:spcAft>
                <a:spcPts val="400"/>
              </a:spcAft>
            </a:pPr>
            <a:r>
              <a:rPr sz="950" b="0">
                <a:solidFill>
                  <a:srgbClr val="161B26"/>
                </a:solidFill>
                <a:latin typeface="Arial"/>
              </a:rPr>
              <a:t>1K / 2K / 4K</a:t>
            </a:r>
          </a:p>
        </p:txBody>
      </p:sp>
      <p:sp>
        <p:nvSpPr>
          <p:cNvPr id="45" name="Rectangle 44"/>
          <p:cNvSpPr/>
          <p:nvPr/>
        </p:nvSpPr>
        <p:spPr>
          <a:xfrm>
            <a:off x="7795989" y="4587240"/>
            <a:ext cx="3615720"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905717" y="4587240"/>
            <a:ext cx="3432840" cy="701040"/>
          </a:xfrm>
          <a:prstGeom prst="rect">
            <a:avLst/>
          </a:prstGeom>
          <a:noFill/>
        </p:spPr>
        <p:txBody>
          <a:bodyPr wrap="square" anchor="ctr">
            <a:spAutoFit/>
          </a:bodyPr>
          <a:lstStyle/>
          <a:p>
            <a:pPr algn="l">
              <a:spcAft>
                <a:spcPts val="400"/>
              </a:spcAft>
            </a:pPr>
            <a:r>
              <a:rPr sz="950" b="0">
                <a:solidFill>
                  <a:srgbClr val="161B26"/>
                </a:solidFill>
                <a:latin typeface="Arial"/>
              </a:rPr>
              <a:t>Still documented; superseded by the 3.1 family</a:t>
            </a:r>
          </a:p>
        </p:txBody>
      </p:sp>
      <p:sp>
        <p:nvSpPr>
          <p:cNvPr id="47" name="Rectangle 46"/>
          <p:cNvSpPr/>
          <p:nvPr/>
        </p:nvSpPr>
        <p:spPr>
          <a:xfrm>
            <a:off x="777240" y="5288280"/>
            <a:ext cx="2764962"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6968" y="5288280"/>
            <a:ext cx="2582082" cy="701040"/>
          </a:xfrm>
          <a:prstGeom prst="rect">
            <a:avLst/>
          </a:prstGeom>
          <a:noFill/>
        </p:spPr>
        <p:txBody>
          <a:bodyPr wrap="square" anchor="ctr">
            <a:spAutoFit/>
          </a:bodyPr>
          <a:lstStyle/>
          <a:p>
            <a:pPr algn="l">
              <a:spcAft>
                <a:spcPts val="400"/>
              </a:spcAft>
            </a:pPr>
            <a:r>
              <a:rPr sz="950" b="1">
                <a:solidFill>
                  <a:srgbClr val="161B26"/>
                </a:solidFill>
                <a:latin typeface="Arial"/>
              </a:rPr>
              <a:t>imagen-4.0-generate-001</a:t>
            </a:r>
          </a:p>
        </p:txBody>
      </p:sp>
      <p:sp>
        <p:nvSpPr>
          <p:cNvPr id="49" name="Rectangle 48"/>
          <p:cNvSpPr/>
          <p:nvPr/>
        </p:nvSpPr>
        <p:spPr>
          <a:xfrm>
            <a:off x="3542202" y="5288280"/>
            <a:ext cx="2339583"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51930" y="5288280"/>
            <a:ext cx="2156703" cy="701040"/>
          </a:xfrm>
          <a:prstGeom prst="rect">
            <a:avLst/>
          </a:prstGeom>
          <a:noFill/>
        </p:spPr>
        <p:txBody>
          <a:bodyPr wrap="square" anchor="ctr">
            <a:spAutoFit/>
          </a:bodyPr>
          <a:lstStyle/>
          <a:p>
            <a:pPr algn="l">
              <a:spcAft>
                <a:spcPts val="400"/>
              </a:spcAft>
            </a:pPr>
            <a:r>
              <a:rPr sz="950" b="0">
                <a:solidFill>
                  <a:srgbClr val="161B26"/>
                </a:solidFill>
                <a:latin typeface="Arial"/>
              </a:rPr>
              <a:t>DEPRECATED</a:t>
            </a:r>
          </a:p>
        </p:txBody>
      </p:sp>
      <p:sp>
        <p:nvSpPr>
          <p:cNvPr id="51" name="Rectangle 50"/>
          <p:cNvSpPr/>
          <p:nvPr/>
        </p:nvSpPr>
        <p:spPr>
          <a:xfrm>
            <a:off x="5881785" y="5288280"/>
            <a:ext cx="1914204"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991513" y="5288280"/>
            <a:ext cx="1731324" cy="701040"/>
          </a:xfrm>
          <a:prstGeom prst="rect">
            <a:avLst/>
          </a:prstGeom>
          <a:noFill/>
        </p:spPr>
        <p:txBody>
          <a:bodyPr wrap="square" anchor="ctr">
            <a:spAutoFit/>
          </a:bodyPr>
          <a:lstStyle/>
          <a:p>
            <a:pPr algn="l">
              <a:spcAft>
                <a:spcPts val="400"/>
              </a:spcAft>
            </a:pPr>
            <a:r>
              <a:rPr sz="950" b="0">
                <a:solidFill>
                  <a:srgbClr val="161B26"/>
                </a:solidFill>
                <a:latin typeface="Arial"/>
              </a:rPr>
              <a:t>—</a:t>
            </a:r>
          </a:p>
        </p:txBody>
      </p:sp>
      <p:sp>
        <p:nvSpPr>
          <p:cNvPr id="53" name="Rectangle 52"/>
          <p:cNvSpPr/>
          <p:nvPr/>
        </p:nvSpPr>
        <p:spPr>
          <a:xfrm>
            <a:off x="7795989" y="5288280"/>
            <a:ext cx="3615720"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905717" y="5288280"/>
            <a:ext cx="3432840" cy="701040"/>
          </a:xfrm>
          <a:prstGeom prst="rect">
            <a:avLst/>
          </a:prstGeom>
          <a:noFill/>
        </p:spPr>
        <p:txBody>
          <a:bodyPr wrap="square" anchor="ctr">
            <a:spAutoFit/>
          </a:bodyPr>
          <a:lstStyle/>
          <a:p>
            <a:pPr algn="l">
              <a:spcAft>
                <a:spcPts val="400"/>
              </a:spcAft>
            </a:pPr>
            <a:r>
              <a:rPr sz="950" b="0">
                <a:solidFill>
                  <a:srgbClr val="161B26"/>
                </a:solidFill>
                <a:latin typeface="Arial"/>
              </a:rPr>
              <a:t>Documented shutdown 17 August 2026. Appears in older tutorials, including our reference ebook. Do not specify it.</a:t>
            </a:r>
          </a:p>
        </p:txBody>
      </p:sp>
      <p:sp>
        <p:nvSpPr>
          <p:cNvPr id="55" name="TextBox 54"/>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Source S20/S21: ai.google.dev/gemini-api/docs/image-generation and /imagen, verified 6 September 2026. All generated images carry a SynthID watermark. The deprecated row is kept deliberately so you recognise it in older material.</a:t>
            </a:r>
          </a:p>
        </p:txBody>
      </p:sp>
      <p:sp>
        <p:nvSpPr>
          <p:cNvPr id="56" name="TextBox 5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57" name="TextBox 5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8" name="TextBox 5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F59E0B"/>
                </a:solidFill>
                <a:latin typeface="Arial"/>
              </a:rPr>
              <a:t>A2 · OPTIONAL IN LAB 03 — THE LAB COMPLETES WITHOUT 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Current Documented Call Pattern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41605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38528"/>
            <a:ext cx="6035040" cy="3849624"/>
          </a:xfrm>
          <a:prstGeom prst="rect">
            <a:avLst/>
          </a:prstGeom>
          <a:noFill/>
        </p:spPr>
        <p:txBody>
          <a:bodyPr wrap="none" lIns="0" rIns="0" tIns="0" bIns="0" anchor="t">
            <a:noAutofit/>
          </a:bodyPr>
          <a:lstStyle/>
          <a:p>
            <a:pPr>
              <a:spcAft>
                <a:spcPts val="100"/>
              </a:spcAft>
            </a:pPr>
            <a:r>
              <a:rPr sz="1019">
                <a:solidFill>
                  <a:srgbClr val="9CDCFE"/>
                </a:solidFill>
                <a:latin typeface="Consolas"/>
              </a:rPr>
              <a:t>from google import genai</a:t>
            </a:r>
          </a:p>
          <a:p>
            <a:pPr>
              <a:spcAft>
                <a:spcPts val="100"/>
              </a:spcAft>
            </a:pPr>
            <a:r>
              <a:rPr sz="1019">
                <a:solidFill>
                  <a:srgbClr val="9CDCFE"/>
                </a:solidFill>
                <a:latin typeface="Consolas"/>
              </a:rPr>
              <a:t>import base64, json</a:t>
            </a:r>
          </a:p>
          <a:p>
            <a:pPr>
              <a:spcAft>
                <a:spcPts val="100"/>
              </a:spcAft>
            </a:pPr>
            <a:r>
              <a:rPr sz="1019">
                <a:solidFill>
                  <a:srgbClr val="9CDCFE"/>
                </a:solidFill>
                <a:latin typeface="Consolas"/>
              </a:rPr>
              <a:t> </a:t>
            </a:r>
          </a:p>
          <a:p>
            <a:pPr>
              <a:spcAft>
                <a:spcPts val="100"/>
              </a:spcAft>
            </a:pPr>
            <a:r>
              <a:rPr sz="1019">
                <a:solidFill>
                  <a:srgbClr val="9CDCFE"/>
                </a:solidFill>
                <a:latin typeface="Consolas"/>
              </a:rPr>
              <a:t>client = genai.Client()</a:t>
            </a:r>
          </a:p>
          <a:p>
            <a:pPr>
              <a:spcAft>
                <a:spcPts val="100"/>
              </a:spcAft>
            </a:pPr>
            <a:r>
              <a:rPr sz="1019">
                <a:solidFill>
                  <a:srgbClr val="9CDCFE"/>
                </a:solidFill>
                <a:latin typeface="Consolas"/>
              </a:rPr>
              <a:t>spec   = json.load(open('out/prompt-v3.json'))</a:t>
            </a:r>
          </a:p>
          <a:p>
            <a:pPr>
              <a:spcAft>
                <a:spcPts val="100"/>
              </a:spcAft>
            </a:pPr>
            <a:r>
              <a:rPr sz="1019">
                <a:solidFill>
                  <a:srgbClr val="9CDCFE"/>
                </a:solidFill>
                <a:latin typeface="Consolas"/>
              </a:rPr>
              <a:t> </a:t>
            </a:r>
          </a:p>
          <a:p>
            <a:pPr>
              <a:spcAft>
                <a:spcPts val="100"/>
              </a:spcAft>
            </a:pPr>
            <a:r>
              <a:rPr sz="1019">
                <a:solidFill>
                  <a:srgbClr val="9CDCFE"/>
                </a:solidFill>
                <a:latin typeface="Consolas"/>
              </a:rPr>
              <a:t># text to image</a:t>
            </a:r>
          </a:p>
          <a:p>
            <a:pPr>
              <a:spcAft>
                <a:spcPts val="100"/>
              </a:spcAft>
            </a:pPr>
            <a:r>
              <a:rPr sz="1019">
                <a:solidFill>
                  <a:srgbClr val="9CDCFE"/>
                </a:solidFill>
                <a:latin typeface="Consolas"/>
              </a:rPr>
              <a:t>interaction = client.interactions.create(</a:t>
            </a:r>
          </a:p>
          <a:p>
            <a:pPr>
              <a:spcAft>
                <a:spcPts val="100"/>
              </a:spcAft>
            </a:pPr>
            <a:r>
              <a:rPr sz="1019">
                <a:solidFill>
                  <a:srgbClr val="9CDCFE"/>
                </a:solidFill>
                <a:latin typeface="Consolas"/>
              </a:rPr>
              <a:t>    model='gemini-3.1-flash-image',        # NOT imagen-4.0-* (deprecated)</a:t>
            </a:r>
          </a:p>
          <a:p>
            <a:pPr>
              <a:spcAft>
                <a:spcPts val="100"/>
              </a:spcAft>
            </a:pPr>
            <a:r>
              <a:rPr sz="1019">
                <a:solidFill>
                  <a:srgbClr val="9CDCFE"/>
                </a:solidFill>
                <a:latin typeface="Consolas"/>
              </a:rPr>
              <a:t>    input=json.dumps(spec),</a:t>
            </a:r>
          </a:p>
          <a:p>
            <a:pPr>
              <a:spcAft>
                <a:spcPts val="100"/>
              </a:spcAft>
            </a:pPr>
            <a:r>
              <a:rPr sz="1019">
                <a:solidFill>
                  <a:srgbClr val="9CDCFE"/>
                </a:solidFill>
                <a:latin typeface="Consolas"/>
              </a:rPr>
              <a:t>    response_format={'type': 'image', 'aspect_ratio': '4:5'},</a:t>
            </a:r>
          </a:p>
          <a:p>
            <a:pPr>
              <a:spcAft>
                <a:spcPts val="100"/>
              </a:spcAft>
            </a:pPr>
            <a:r>
              <a:rPr sz="1019">
                <a:solidFill>
                  <a:srgbClr val="9CDCFE"/>
                </a:solidFill>
                <a:latin typeface="Consolas"/>
              </a:rPr>
              <a:t>)</a:t>
            </a:r>
          </a:p>
          <a:p>
            <a:pPr>
              <a:spcAft>
                <a:spcPts val="100"/>
              </a:spcAft>
            </a:pPr>
            <a:r>
              <a:rPr sz="1019">
                <a:solidFill>
                  <a:srgbClr val="9CDCFE"/>
                </a:solidFill>
                <a:latin typeface="Consolas"/>
              </a:rPr>
              <a:t>open('out/gen/cellD_01.png','wb').write(</a:t>
            </a:r>
          </a:p>
          <a:p>
            <a:pPr>
              <a:spcAft>
                <a:spcPts val="100"/>
              </a:spcAft>
            </a:pPr>
            <a:r>
              <a:rPr sz="1019">
                <a:solidFill>
                  <a:srgbClr val="9CDCFE"/>
                </a:solidFill>
                <a:latin typeface="Consolas"/>
              </a:rPr>
              <a:t>    base64.b64decode(interaction.output_image.data))</a:t>
            </a:r>
          </a:p>
          <a:p>
            <a:pPr>
              <a:spcAft>
                <a:spcPts val="100"/>
              </a:spcAft>
            </a:pPr>
            <a:r>
              <a:rPr sz="1019">
                <a:solidFill>
                  <a:srgbClr val="9CDCFE"/>
                </a:solidFill>
                <a:latin typeface="Consolas"/>
              </a:rPr>
              <a:t> </a:t>
            </a:r>
          </a:p>
          <a:p>
            <a:pPr>
              <a:spcAft>
                <a:spcPts val="100"/>
              </a:spcAft>
            </a:pPr>
            <a:r>
              <a:rPr sz="1019">
                <a:solidFill>
                  <a:srgbClr val="9CDCFE"/>
                </a:solidFill>
                <a:latin typeface="Consolas"/>
              </a:rPr>
              <a:t># multi-turn conversational edit — carries the previous result forward</a:t>
            </a:r>
          </a:p>
          <a:p>
            <a:pPr>
              <a:spcAft>
                <a:spcPts val="100"/>
              </a:spcAft>
            </a:pPr>
            <a:r>
              <a:rPr sz="1019">
                <a:solidFill>
                  <a:srgbClr val="9CDCFE"/>
                </a:solidFill>
                <a:latin typeface="Consolas"/>
              </a:rPr>
              <a:t>refined = client.interactions.create(</a:t>
            </a:r>
          </a:p>
          <a:p>
            <a:pPr>
              <a:spcAft>
                <a:spcPts val="100"/>
              </a:spcAft>
            </a:pPr>
            <a:r>
              <a:rPr sz="1019">
                <a:solidFill>
                  <a:srgbClr val="9CDCFE"/>
                </a:solidFill>
                <a:latin typeface="Consolas"/>
              </a:rPr>
              <a:t>    model='gemini-3.1-flash-image',</a:t>
            </a:r>
          </a:p>
          <a:p>
            <a:pPr>
              <a:spcAft>
                <a:spcPts val="100"/>
              </a:spcAft>
            </a:pPr>
            <a:r>
              <a:rPr sz="1019">
                <a:solidFill>
                  <a:srgbClr val="9CDCFE"/>
                </a:solidFill>
                <a:latin typeface="Consolas"/>
              </a:rPr>
              <a:t>    input='warm the key light slightly; change nothing else',</a:t>
            </a:r>
          </a:p>
          <a:p>
            <a:pPr>
              <a:spcAft>
                <a:spcPts val="100"/>
              </a:spcAft>
            </a:pPr>
            <a:r>
              <a:rPr sz="1019">
                <a:solidFill>
                  <a:srgbClr val="9CDCFE"/>
                </a:solidFill>
                <a:latin typeface="Consolas"/>
              </a:rPr>
              <a:t>    previous_interaction_id=interaction.id,</a:t>
            </a:r>
          </a:p>
          <a:p>
            <a:pPr>
              <a:spcAft>
                <a:spcPts val="100"/>
              </a:spcAft>
            </a:pPr>
            <a:r>
              <a:rPr sz="1019">
                <a:solidFill>
                  <a:srgbClr val="9CDCFE"/>
                </a:solidFill>
                <a:latin typeface="Consolas"/>
              </a:rPr>
              <a:t>)</a:t>
            </a:r>
          </a:p>
        </p:txBody>
      </p:sp>
      <p:sp>
        <p:nvSpPr>
          <p:cNvPr id="9" name="Rectangle 8"/>
          <p:cNvSpPr/>
          <p:nvPr/>
        </p:nvSpPr>
        <p:spPr>
          <a:xfrm>
            <a:off x="7406640" y="1783080"/>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783080"/>
            <a:ext cx="82296" cy="9166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6096" y="1783080"/>
            <a:ext cx="3602736" cy="916686"/>
          </a:xfrm>
          <a:prstGeom prst="rect">
            <a:avLst/>
          </a:prstGeom>
          <a:noFill/>
        </p:spPr>
        <p:txBody>
          <a:bodyPr wrap="square" anchor="ctr">
            <a:spAutoFit/>
          </a:bodyPr>
          <a:lstStyle/>
          <a:p>
            <a:pPr algn="l">
              <a:spcAft>
                <a:spcPts val="200"/>
              </a:spcAft>
            </a:pPr>
            <a:r>
              <a:rPr sz="1300" b="1">
                <a:solidFill>
                  <a:srgbClr val="1F6FEB"/>
                </a:solidFill>
                <a:latin typeface="Arial"/>
              </a:rPr>
              <a:t>Optional, never required</a:t>
            </a:r>
          </a:p>
          <a:p>
            <a:pPr algn="l">
              <a:spcAft>
                <a:spcPts val="200"/>
              </a:spcAft>
            </a:pPr>
            <a:r>
              <a:rPr sz="1150" b="0">
                <a:solidFill>
                  <a:srgbClr val="161B26"/>
                </a:solidFill>
                <a:latin typeface="Arial"/>
              </a:rPr>
              <a:t>Lab 03 ships a simulated variant set so the deliverable never depends on a paid or rate-limited service.</a:t>
            </a:r>
          </a:p>
        </p:txBody>
      </p:sp>
      <p:sp>
        <p:nvSpPr>
          <p:cNvPr id="12" name="Rectangle 11"/>
          <p:cNvSpPr/>
          <p:nvPr/>
        </p:nvSpPr>
        <p:spPr>
          <a:xfrm>
            <a:off x="7406640" y="2864358"/>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2864358"/>
            <a:ext cx="82296" cy="91668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2864358"/>
            <a:ext cx="3602736" cy="916686"/>
          </a:xfrm>
          <a:prstGeom prst="rect">
            <a:avLst/>
          </a:prstGeom>
          <a:noFill/>
        </p:spPr>
        <p:txBody>
          <a:bodyPr wrap="square" anchor="ctr">
            <a:spAutoFit/>
          </a:bodyPr>
          <a:lstStyle/>
          <a:p>
            <a:pPr algn="l">
              <a:spcAft>
                <a:spcPts val="200"/>
              </a:spcAft>
            </a:pPr>
            <a:r>
              <a:rPr sz="1300" b="1">
                <a:solidFill>
                  <a:srgbClr val="10B981"/>
                </a:solidFill>
                <a:latin typeface="Arial"/>
              </a:rPr>
              <a:t>previous_interaction_id</a:t>
            </a:r>
          </a:p>
          <a:p>
            <a:pPr algn="l">
              <a:spcAft>
                <a:spcPts val="200"/>
              </a:spcAft>
            </a:pPr>
            <a:r>
              <a:rPr sz="1150" b="0">
                <a:solidFill>
                  <a:srgbClr val="161B26"/>
                </a:solidFill>
                <a:latin typeface="Arial"/>
              </a:rPr>
              <a:t>This is what makes conversational editing possible — the model keeps the context.</a:t>
            </a:r>
          </a:p>
        </p:txBody>
      </p:sp>
      <p:sp>
        <p:nvSpPr>
          <p:cNvPr id="15" name="Rectangle 14"/>
          <p:cNvSpPr/>
          <p:nvPr/>
        </p:nvSpPr>
        <p:spPr>
          <a:xfrm>
            <a:off x="7406640" y="3945636"/>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3945636"/>
            <a:ext cx="82296" cy="91668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6096" y="3945636"/>
            <a:ext cx="3602736" cy="916686"/>
          </a:xfrm>
          <a:prstGeom prst="rect">
            <a:avLst/>
          </a:prstGeom>
          <a:noFill/>
        </p:spPr>
        <p:txBody>
          <a:bodyPr wrap="square" anchor="ctr">
            <a:spAutoFit/>
          </a:bodyPr>
          <a:lstStyle/>
          <a:p>
            <a:pPr algn="l">
              <a:spcAft>
                <a:spcPts val="200"/>
              </a:spcAft>
            </a:pPr>
            <a:r>
              <a:rPr sz="1300" b="1">
                <a:solidFill>
                  <a:srgbClr val="7C3AED"/>
                </a:solidFill>
                <a:latin typeface="Arial"/>
              </a:rPr>
              <a:t>SynthID on every output</a:t>
            </a:r>
          </a:p>
          <a:p>
            <a:pPr algn="l">
              <a:spcAft>
                <a:spcPts val="200"/>
              </a:spcAft>
            </a:pPr>
            <a:r>
              <a:rPr sz="1150" b="0">
                <a:solidFill>
                  <a:srgbClr val="161B26"/>
                </a:solidFill>
                <a:latin typeface="Arial"/>
              </a:rPr>
              <a:t>Record it in the provenance note alongside the model ID and prompt version.</a:t>
            </a:r>
          </a:p>
        </p:txBody>
      </p:sp>
      <p:sp>
        <p:nvSpPr>
          <p:cNvPr id="18" name="Rectangle 17"/>
          <p:cNvSpPr/>
          <p:nvPr/>
        </p:nvSpPr>
        <p:spPr>
          <a:xfrm>
            <a:off x="7406640" y="5026914"/>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5026914"/>
            <a:ext cx="82296" cy="91668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5026914"/>
            <a:ext cx="3602736" cy="916686"/>
          </a:xfrm>
          <a:prstGeom prst="rect">
            <a:avLst/>
          </a:prstGeom>
          <a:noFill/>
        </p:spPr>
        <p:txBody>
          <a:bodyPr wrap="square" anchor="ctr">
            <a:spAutoFit/>
          </a:bodyPr>
          <a:lstStyle/>
          <a:p>
            <a:pPr algn="l">
              <a:spcAft>
                <a:spcPts val="200"/>
              </a:spcAft>
            </a:pPr>
            <a:r>
              <a:rPr sz="1300" b="1">
                <a:solidFill>
                  <a:srgbClr val="F59E0B"/>
                </a:solidFill>
                <a:latin typeface="Arial"/>
              </a:rPr>
              <a:t>Record which path you took</a:t>
            </a:r>
          </a:p>
          <a:p>
            <a:pPr algn="l">
              <a:spcAft>
                <a:spcPts val="200"/>
              </a:spcAft>
            </a:pPr>
            <a:r>
              <a:rPr sz="1150" b="0">
                <a:solidFill>
                  <a:srgbClr val="161B26"/>
                </a:solidFill>
                <a:latin typeface="Arial"/>
              </a:rPr>
              <a:t>Generated or simulated. Never label a simulated stand-in as model output.</a:t>
            </a:r>
          </a:p>
        </p:txBody>
      </p:sp>
      <p:sp>
        <p:nvSpPr>
          <p:cNvPr id="21" name="Rectangle 20"/>
          <p:cNvSpPr/>
          <p:nvPr/>
        </p:nvSpPr>
        <p:spPr>
          <a:xfrm>
            <a:off x="777240" y="6053328"/>
            <a:ext cx="10634472" cy="4023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6053328"/>
            <a:ext cx="10241280" cy="402336"/>
          </a:xfrm>
          <a:prstGeom prst="rect">
            <a:avLst/>
          </a:prstGeom>
          <a:noFill/>
        </p:spPr>
        <p:txBody>
          <a:bodyPr wrap="square" anchor="ctr">
            <a:spAutoFit/>
          </a:bodyPr>
          <a:lstStyle/>
          <a:p>
            <a:pPr algn="l">
              <a:spcAft>
                <a:spcPts val="400"/>
              </a:spcAft>
            </a:pPr>
            <a:r>
              <a:rPr sz="1100" b="1">
                <a:solidFill>
                  <a:srgbClr val="127A3E"/>
                </a:solidFill>
                <a:latin typeface="Arial"/>
              </a:rPr>
              <a:t>VERIFY   </a:t>
            </a:r>
            <a:r>
              <a:rPr sz="1200" b="0">
                <a:solidFill>
                  <a:srgbClr val="161B26"/>
                </a:solidFill>
                <a:latin typeface="Arial"/>
              </a:rPr>
              <a:t>Verified against the official documentation on 6 September 2026. Re-verify before you rely on it.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K2, A2 · SOURCE S9 · MULTIMODAL GENERATIVE AI, CH.5 PP.82–83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Enterprise Practices That Make This Repeatable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A brand style guide FOR AI</a:t>
            </a:r>
          </a:p>
          <a:p>
            <a:pPr algn="l">
              <a:spcAft>
                <a:spcPts val="200"/>
              </a:spcAft>
            </a:pPr>
            <a:r>
              <a:rPr sz="1000" b="0">
                <a:solidFill>
                  <a:srgbClr val="5B6372"/>
                </a:solidFill>
                <a:latin typeface="Arial"/>
              </a:rPr>
              <a:t>The locked subject, style and technical values, written once and reused as the continuity block in every prompt.</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Integration, not a side tool</a:t>
            </a:r>
          </a:p>
          <a:p>
            <a:pPr algn="l">
              <a:spcAft>
                <a:spcPts val="200"/>
              </a:spcAft>
            </a:pPr>
            <a:r>
              <a:rPr sz="1000" b="0">
                <a:solidFill>
                  <a:srgbClr val="5B6372"/>
                </a:solidFill>
                <a:latin typeface="Arial"/>
              </a:rPr>
              <a:t>Generation sits inside the existing creative workflow, or it produces assets nobody can find.</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An explicit review gate</a:t>
            </a:r>
          </a:p>
          <a:p>
            <a:pPr algn="l">
              <a:spcAft>
                <a:spcPts val="200"/>
              </a:spcAft>
            </a:pPr>
            <a:r>
              <a:rPr sz="1000" b="0">
                <a:solidFill>
                  <a:srgbClr val="5B6372"/>
                </a:solidFill>
                <a:latin typeface="Arial"/>
              </a:rPr>
              <a:t>Named measurement, numeric threshold, and what happens on each side of it.</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Centralised asset management</a:t>
            </a:r>
          </a:p>
          <a:p>
            <a:pPr algn="l">
              <a:spcAft>
                <a:spcPts val="200"/>
              </a:spcAft>
            </a:pPr>
            <a:r>
              <a:rPr sz="1000" b="0">
                <a:solidFill>
                  <a:srgbClr val="5B6372"/>
                </a:solidFill>
                <a:latin typeface="Arial"/>
              </a:rPr>
              <a:t>One place where the asset, its prompt version, its model ID and its review record live together.</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Prompt-engineering literacy</a:t>
            </a:r>
          </a:p>
          <a:p>
            <a:pPr algn="l">
              <a:spcAft>
                <a:spcPts val="200"/>
              </a:spcAft>
            </a:pPr>
            <a:r>
              <a:rPr sz="1000" b="0">
                <a:solidFill>
                  <a:srgbClr val="5B6372"/>
                </a:solidFill>
                <a:latin typeface="Arial"/>
              </a:rPr>
              <a:t>The creatives write the prompts. Structured prompting is a skill to train, not a tool to buy.</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Provenance on every derivative</a:t>
            </a:r>
          </a:p>
          <a:p>
            <a:pPr algn="l">
              <a:spcAft>
                <a:spcPts val="200"/>
              </a:spcAft>
            </a:pPr>
            <a:r>
              <a:rPr sz="1000" b="0">
                <a:solidFill>
                  <a:srgbClr val="5B6372"/>
                </a:solidFill>
                <a:latin typeface="Arial"/>
              </a:rPr>
              <a:t>The label travels: a crop of a simulated asset is still a simulated asset.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K4 · CONTRAST ENHANCEMENT DONE PROPERLY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Histogram Equalisation and CLAHE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41605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38528"/>
            <a:ext cx="6035040" cy="3849624"/>
          </a:xfrm>
          <a:prstGeom prst="rect">
            <a:avLst/>
          </a:prstGeom>
          <a:noFill/>
        </p:spPr>
        <p:txBody>
          <a:bodyPr wrap="none" lIns="0" rIns="0" tIns="0" bIns="0" anchor="t">
            <a:noAutofit/>
          </a:bodyPr>
          <a:lstStyle/>
          <a:p>
            <a:pPr>
              <a:spcAft>
                <a:spcPts val="100"/>
              </a:spcAft>
            </a:pPr>
            <a:r>
              <a:rPr sz="940">
                <a:solidFill>
                  <a:srgbClr val="9CDCFE"/>
                </a:solidFill>
                <a:latin typeface="Consolas"/>
              </a:rPr>
              <a:t>gray = cv2.cvtColor(img, cv2.COLOR_BGR2GRAY)</a:t>
            </a:r>
          </a:p>
          <a:p>
            <a:pPr>
              <a:spcAft>
                <a:spcPts val="100"/>
              </a:spcAft>
            </a:pPr>
            <a:r>
              <a:rPr sz="940">
                <a:solidFill>
                  <a:srgbClr val="9CDCFE"/>
                </a:solidFill>
                <a:latin typeface="Consolas"/>
              </a:rPr>
              <a:t> </a:t>
            </a:r>
          </a:p>
          <a:p>
            <a:pPr>
              <a:spcAft>
                <a:spcPts val="100"/>
              </a:spcAft>
            </a:pPr>
            <a:r>
              <a:rPr sz="940">
                <a:solidFill>
                  <a:srgbClr val="9CDCFE"/>
                </a:solidFill>
                <a:latin typeface="Consolas"/>
              </a:rPr>
              <a:t># GLOBAL equalisation: remap intensities so the histogram is roughly flat</a:t>
            </a:r>
          </a:p>
          <a:p>
            <a:pPr>
              <a:spcAft>
                <a:spcPts val="100"/>
              </a:spcAft>
            </a:pPr>
            <a:r>
              <a:rPr sz="940">
                <a:solidFill>
                  <a:srgbClr val="9CDCFE"/>
                </a:solidFill>
                <a:latin typeface="Consolas"/>
              </a:rPr>
              <a:t>eq = cv2.equalizeHist(gray)          # one mapping for the whole image</a:t>
            </a:r>
          </a:p>
          <a:p>
            <a:pPr>
              <a:spcAft>
                <a:spcPts val="100"/>
              </a:spcAft>
            </a:pPr>
            <a:r>
              <a:rPr sz="940">
                <a:solidFill>
                  <a:srgbClr val="9CDCFE"/>
                </a:solidFill>
                <a:latin typeface="Consolas"/>
              </a:rPr>
              <a:t> </a:t>
            </a:r>
          </a:p>
          <a:p>
            <a:pPr>
              <a:spcAft>
                <a:spcPts val="100"/>
              </a:spcAft>
            </a:pPr>
            <a:r>
              <a:rPr sz="940">
                <a:solidFill>
                  <a:srgbClr val="9CDCFE"/>
                </a:solidFill>
                <a:latin typeface="Consolas"/>
              </a:rPr>
              <a:t># CLAHE: contrast-limited adaptive histogram equalisation</a:t>
            </a:r>
          </a:p>
          <a:p>
            <a:pPr>
              <a:spcAft>
                <a:spcPts val="100"/>
              </a:spcAft>
            </a:pPr>
            <a:r>
              <a:rPr sz="940">
                <a:solidFill>
                  <a:srgbClr val="9CDCFE"/>
                </a:solidFill>
                <a:latin typeface="Consolas"/>
              </a:rPr>
              <a:t>clahe = cv2.createCLAHE(clipLimit=2.0, tileGridSize=(8, 8))</a:t>
            </a:r>
          </a:p>
          <a:p>
            <a:pPr>
              <a:spcAft>
                <a:spcPts val="100"/>
              </a:spcAft>
            </a:pPr>
            <a:r>
              <a:rPr sz="940">
                <a:solidFill>
                  <a:srgbClr val="9CDCFE"/>
                </a:solidFill>
                <a:latin typeface="Consolas"/>
              </a:rPr>
              <a:t>loc   = clahe.apply(gray)            # a mapping PER 8x8 tile, then interpolated</a:t>
            </a:r>
          </a:p>
          <a:p>
            <a:pPr>
              <a:spcAft>
                <a:spcPts val="100"/>
              </a:spcAft>
            </a:pPr>
            <a:r>
              <a:rPr sz="940">
                <a:solidFill>
                  <a:srgbClr val="9CDCFE"/>
                </a:solidFill>
                <a:latin typeface="Consolas"/>
              </a:rPr>
              <a:t> </a:t>
            </a:r>
          </a:p>
          <a:p>
            <a:pPr>
              <a:spcAft>
                <a:spcPts val="100"/>
              </a:spcAft>
            </a:pPr>
            <a:r>
              <a:rPr sz="940">
                <a:solidFill>
                  <a:srgbClr val="9CDCFE"/>
                </a:solidFill>
                <a:latin typeface="Consolas"/>
              </a:rPr>
              <a:t># the clip limit is what stops CLAHE amplifying noise in flat regions:</a:t>
            </a:r>
          </a:p>
          <a:p>
            <a:pPr>
              <a:spcAft>
                <a:spcPts val="100"/>
              </a:spcAft>
            </a:pPr>
            <a:r>
              <a:rPr sz="940">
                <a:solidFill>
                  <a:srgbClr val="9CDCFE"/>
                </a:solidFill>
                <a:latin typeface="Consolas"/>
              </a:rPr>
              <a:t># histogram bins above the limit are clipped and redistributed before the</a:t>
            </a:r>
          </a:p>
          <a:p>
            <a:pPr>
              <a:spcAft>
                <a:spcPts val="100"/>
              </a:spcAft>
            </a:pPr>
            <a:r>
              <a:rPr sz="940">
                <a:solidFill>
                  <a:srgbClr val="9CDCFE"/>
                </a:solidFill>
                <a:latin typeface="Consolas"/>
              </a:rPr>
              <a:t># cumulative distribution is built.</a:t>
            </a:r>
          </a:p>
          <a:p>
            <a:pPr>
              <a:spcAft>
                <a:spcPts val="100"/>
              </a:spcAft>
            </a:pPr>
            <a:r>
              <a:rPr sz="940">
                <a:solidFill>
                  <a:srgbClr val="9CDCFE"/>
                </a:solidFill>
                <a:latin typeface="Consolas"/>
              </a:rPr>
              <a:t> </a:t>
            </a:r>
          </a:p>
          <a:p>
            <a:pPr>
              <a:spcAft>
                <a:spcPts val="100"/>
              </a:spcAft>
            </a:pPr>
            <a:r>
              <a:rPr sz="940">
                <a:solidFill>
                  <a:srgbClr val="9CDCFE"/>
                </a:solidFill>
                <a:latin typeface="Consolas"/>
              </a:rPr>
              <a:t># for colour, equalise LUMINANCE only — never the three BGR channels separately</a:t>
            </a:r>
          </a:p>
          <a:p>
            <a:pPr>
              <a:spcAft>
                <a:spcPts val="100"/>
              </a:spcAft>
            </a:pPr>
            <a:r>
              <a:rPr sz="940">
                <a:solidFill>
                  <a:srgbClr val="9CDCFE"/>
                </a:solidFill>
                <a:latin typeface="Consolas"/>
              </a:rPr>
              <a:t>lab      = cv2.cvtColor(img, cv2.COLOR_BGR2LAB)</a:t>
            </a:r>
          </a:p>
          <a:p>
            <a:pPr>
              <a:spcAft>
                <a:spcPts val="100"/>
              </a:spcAft>
            </a:pPr>
            <a:r>
              <a:rPr sz="940">
                <a:solidFill>
                  <a:srgbClr val="9CDCFE"/>
                </a:solidFill>
                <a:latin typeface="Consolas"/>
              </a:rPr>
              <a:t>lab[:,:,0] = clahe.apply(lab[:,:,0])</a:t>
            </a:r>
          </a:p>
          <a:p>
            <a:pPr>
              <a:spcAft>
                <a:spcPts val="100"/>
              </a:spcAft>
            </a:pPr>
            <a:r>
              <a:rPr sz="940">
                <a:solidFill>
                  <a:srgbClr val="9CDCFE"/>
                </a:solidFill>
                <a:latin typeface="Consolas"/>
              </a:rPr>
              <a:t>out      = cv2.cvtColor(lab, cv2.COLOR_LAB2BGR)</a:t>
            </a:r>
          </a:p>
        </p:txBody>
      </p:sp>
      <p:sp>
        <p:nvSpPr>
          <p:cNvPr id="9" name="Rectangle 8"/>
          <p:cNvSpPr/>
          <p:nvPr/>
        </p:nvSpPr>
        <p:spPr>
          <a:xfrm>
            <a:off x="7406640" y="1783080"/>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783080"/>
            <a:ext cx="82296" cy="9166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6096" y="1783080"/>
            <a:ext cx="3602736" cy="916686"/>
          </a:xfrm>
          <a:prstGeom prst="rect">
            <a:avLst/>
          </a:prstGeom>
          <a:noFill/>
        </p:spPr>
        <p:txBody>
          <a:bodyPr wrap="square" anchor="ctr">
            <a:spAutoFit/>
          </a:bodyPr>
          <a:lstStyle/>
          <a:p>
            <a:pPr algn="l">
              <a:spcAft>
                <a:spcPts val="200"/>
              </a:spcAft>
            </a:pPr>
            <a:r>
              <a:rPr sz="1300" b="1">
                <a:solidFill>
                  <a:srgbClr val="1F6FEB"/>
                </a:solidFill>
                <a:latin typeface="Arial"/>
              </a:rPr>
              <a:t>Global fails on uneven light</a:t>
            </a:r>
          </a:p>
          <a:p>
            <a:pPr algn="l">
              <a:spcAft>
                <a:spcPts val="200"/>
              </a:spcAft>
            </a:pPr>
            <a:r>
              <a:rPr sz="1150" b="0">
                <a:solidFill>
                  <a:srgbClr val="161B26"/>
                </a:solidFill>
                <a:latin typeface="Arial"/>
              </a:rPr>
              <a:t>One mapping cannot serve a frame that is bright on one side and dark on the other.</a:t>
            </a:r>
          </a:p>
        </p:txBody>
      </p:sp>
      <p:sp>
        <p:nvSpPr>
          <p:cNvPr id="12" name="Rectangle 11"/>
          <p:cNvSpPr/>
          <p:nvPr/>
        </p:nvSpPr>
        <p:spPr>
          <a:xfrm>
            <a:off x="7406640" y="2864358"/>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2864358"/>
            <a:ext cx="82296" cy="91668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2864358"/>
            <a:ext cx="3602736" cy="916686"/>
          </a:xfrm>
          <a:prstGeom prst="rect">
            <a:avLst/>
          </a:prstGeom>
          <a:noFill/>
        </p:spPr>
        <p:txBody>
          <a:bodyPr wrap="square" anchor="ctr">
            <a:spAutoFit/>
          </a:bodyPr>
          <a:lstStyle/>
          <a:p>
            <a:pPr algn="l">
              <a:spcAft>
                <a:spcPts val="200"/>
              </a:spcAft>
            </a:pPr>
            <a:r>
              <a:rPr sz="1300" b="1">
                <a:solidFill>
                  <a:srgbClr val="10B981"/>
                </a:solidFill>
                <a:latin typeface="Arial"/>
              </a:rPr>
              <a:t>CLAHE is local</a:t>
            </a:r>
          </a:p>
          <a:p>
            <a:pPr algn="l">
              <a:spcAft>
                <a:spcPts val="200"/>
              </a:spcAft>
            </a:pPr>
            <a:r>
              <a:rPr sz="1150" b="0">
                <a:solidFill>
                  <a:srgbClr val="161B26"/>
                </a:solidFill>
                <a:latin typeface="Arial"/>
              </a:rPr>
              <a:t>A separate mapping per tile, bilinearly interpolated so tile edges do not show.</a:t>
            </a:r>
          </a:p>
        </p:txBody>
      </p:sp>
      <p:sp>
        <p:nvSpPr>
          <p:cNvPr id="15" name="Rectangle 14"/>
          <p:cNvSpPr/>
          <p:nvPr/>
        </p:nvSpPr>
        <p:spPr>
          <a:xfrm>
            <a:off x="7406640" y="3945636"/>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3945636"/>
            <a:ext cx="82296" cy="91668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6096" y="3945636"/>
            <a:ext cx="3602736" cy="916686"/>
          </a:xfrm>
          <a:prstGeom prst="rect">
            <a:avLst/>
          </a:prstGeom>
          <a:noFill/>
        </p:spPr>
        <p:txBody>
          <a:bodyPr wrap="square" anchor="ctr">
            <a:spAutoFit/>
          </a:bodyPr>
          <a:lstStyle/>
          <a:p>
            <a:pPr algn="l">
              <a:spcAft>
                <a:spcPts val="200"/>
              </a:spcAft>
            </a:pPr>
            <a:r>
              <a:rPr sz="1300" b="1">
                <a:solidFill>
                  <a:srgbClr val="7C3AED"/>
                </a:solidFill>
                <a:latin typeface="Arial"/>
              </a:rPr>
              <a:t>clipLimit controls noise</a:t>
            </a:r>
          </a:p>
          <a:p>
            <a:pPr algn="l">
              <a:spcAft>
                <a:spcPts val="200"/>
              </a:spcAft>
            </a:pPr>
            <a:r>
              <a:rPr sz="1150" b="0">
                <a:solidFill>
                  <a:srgbClr val="161B26"/>
                </a:solidFill>
                <a:latin typeface="Arial"/>
              </a:rPr>
              <a:t>Without it, adaptive equalisation amplifies sensor noise in flat regions into visible grain.</a:t>
            </a:r>
          </a:p>
        </p:txBody>
      </p:sp>
      <p:sp>
        <p:nvSpPr>
          <p:cNvPr id="18" name="Rectangle 17"/>
          <p:cNvSpPr/>
          <p:nvPr/>
        </p:nvSpPr>
        <p:spPr>
          <a:xfrm>
            <a:off x="7406640" y="5026914"/>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5026914"/>
            <a:ext cx="82296" cy="91668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5026914"/>
            <a:ext cx="3602736" cy="916686"/>
          </a:xfrm>
          <a:prstGeom prst="rect">
            <a:avLst/>
          </a:prstGeom>
          <a:noFill/>
        </p:spPr>
        <p:txBody>
          <a:bodyPr wrap="square" anchor="ctr">
            <a:spAutoFit/>
          </a:bodyPr>
          <a:lstStyle/>
          <a:p>
            <a:pPr algn="l">
              <a:spcAft>
                <a:spcPts val="200"/>
              </a:spcAft>
            </a:pPr>
            <a:r>
              <a:rPr sz="1300" b="1">
                <a:solidFill>
                  <a:srgbClr val="F59E0B"/>
                </a:solidFill>
                <a:latin typeface="Arial"/>
              </a:rPr>
              <a:t>Equalise luminance, not colour</a:t>
            </a:r>
          </a:p>
          <a:p>
            <a:pPr algn="l">
              <a:spcAft>
                <a:spcPts val="200"/>
              </a:spcAft>
            </a:pPr>
            <a:r>
              <a:rPr sz="1150" b="0">
                <a:solidFill>
                  <a:srgbClr val="161B26"/>
                </a:solidFill>
                <a:latin typeface="Arial"/>
              </a:rPr>
              <a:t>Equalising B, G and R separately shifts hue. Convert to LAB or YCrCb and touch only the luminance channel.</a:t>
            </a:r>
          </a:p>
        </p:txBody>
      </p:sp>
      <p:sp>
        <p:nvSpPr>
          <p:cNvPr id="21" name="Rectangle 20"/>
          <p:cNvSpPr/>
          <p:nvPr/>
        </p:nvSpPr>
        <p:spPr>
          <a:xfrm>
            <a:off x="777240" y="6053328"/>
            <a:ext cx="10634472" cy="4023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6053328"/>
            <a:ext cx="10241280" cy="402336"/>
          </a:xfrm>
          <a:prstGeom prst="rect">
            <a:avLst/>
          </a:prstGeom>
          <a:noFill/>
        </p:spPr>
        <p:txBody>
          <a:bodyPr wrap="square" anchor="ctr">
            <a:spAutoFit/>
          </a:bodyPr>
          <a:lstStyle/>
          <a:p>
            <a:pPr algn="l">
              <a:spcAft>
                <a:spcPts val="400"/>
              </a:spcAft>
            </a:pPr>
            <a:r>
              <a:rPr sz="1100" b="1">
                <a:solidFill>
                  <a:srgbClr val="127A3E"/>
                </a:solidFill>
                <a:latin typeface="Arial"/>
              </a:rPr>
              <a:t>VERIFY   </a:t>
            </a:r>
            <a:r>
              <a:rPr sz="1200" b="0">
                <a:solidFill>
                  <a:srgbClr val="161B26"/>
                </a:solidFill>
                <a:latin typeface="Arial"/>
              </a:rPr>
              <a:t>Enhancement changes the image. Measure the result against the reference with PSNR and SSIM, exactly as in Lab 05 — 'it looks better' is not a deliverable.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K4 · SIX OPERATIONS THAT DECIDE WHETHER YOUR MASK IS USABLE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Morphology — Cleaning a Mask Before You Trust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EROSION</a:t>
            </a:r>
          </a:p>
          <a:p>
            <a:pPr algn="l">
              <a:spcAft>
                <a:spcPts val="200"/>
              </a:spcAft>
            </a:pPr>
            <a:r>
              <a:rPr sz="1000" b="0">
                <a:solidFill>
                  <a:srgbClr val="5B6372"/>
                </a:solidFill>
                <a:latin typeface="Arial"/>
              </a:rPr>
              <a:t>Shrinks the foreground. Removes isolated white specks and thin bridges between blobs that should be separate.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DILATION</a:t>
            </a:r>
          </a:p>
          <a:p>
            <a:pPr algn="l">
              <a:spcAft>
                <a:spcPts val="200"/>
              </a:spcAft>
            </a:pPr>
            <a:r>
              <a:rPr sz="1000" b="0">
                <a:solidFill>
                  <a:srgbClr val="5B6372"/>
                </a:solidFill>
                <a:latin typeface="Arial"/>
              </a:rPr>
              <a:t>Grows the foreground. Fills small holes and reconnects a broken outline. It is what gives an inpaint mask its blending margin.</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OPENING</a:t>
            </a:r>
          </a:p>
          <a:p>
            <a:pPr algn="l">
              <a:spcAft>
                <a:spcPts val="200"/>
              </a:spcAft>
            </a:pPr>
            <a:r>
              <a:rPr sz="1000" b="0">
                <a:solidFill>
                  <a:srgbClr val="5B6372"/>
                </a:solidFill>
                <a:latin typeface="Arial"/>
              </a:rPr>
              <a:t>Erode then dilate. Removes small objects while leaving the size of the large ones roughly unchanged.</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CLOSING</a:t>
            </a:r>
          </a:p>
          <a:p>
            <a:pPr algn="l">
              <a:spcAft>
                <a:spcPts val="200"/>
              </a:spcAft>
            </a:pPr>
            <a:r>
              <a:rPr sz="1000" b="0">
                <a:solidFill>
                  <a:srgbClr val="5B6372"/>
                </a:solidFill>
                <a:latin typeface="Arial"/>
              </a:rPr>
              <a:t>Dilate then erode. Fills small holes and gaps while leaving the overall size roughly unchanged — the usual first step on a compression-noisy mask.</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THE KERNEL DECIDES</a:t>
            </a:r>
          </a:p>
          <a:p>
            <a:pPr algn="l">
              <a:spcAft>
                <a:spcPts val="200"/>
              </a:spcAft>
            </a:pPr>
            <a:r>
              <a:rPr sz="1000" b="0">
                <a:solidFill>
                  <a:srgbClr val="5B6372"/>
                </a:solidFill>
                <a:latin typeface="Arial"/>
              </a:rPr>
              <a:t>cv2.getStructuringElement with MORPH_RECT, MORPH_ELLIPSE or MORPH_CROSS. An ellipse is the safe default for organic shapes.</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ORDER MATTERS</a:t>
            </a:r>
          </a:p>
          <a:p>
            <a:pPr algn="l">
              <a:spcAft>
                <a:spcPts val="200"/>
              </a:spcAft>
            </a:pPr>
            <a:r>
              <a:rPr sz="1000" b="0">
                <a:solidFill>
                  <a:srgbClr val="5B6372"/>
                </a:solidFill>
                <a:latin typeface="Arial"/>
              </a:rPr>
              <a:t>Close then dilate, as Lab 04 does: fill the pinholes first, then grow past the boundary. Dilating first just grows the pinholes too.</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K3, K4 · THE PRIMITIVES EVERY OVERLAY IN THIS COURSE IS BUILT FROM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Regions, Drawing and Blending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41605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38528"/>
            <a:ext cx="6035040" cy="3849624"/>
          </a:xfrm>
          <a:prstGeom prst="rect">
            <a:avLst/>
          </a:prstGeom>
          <a:noFill/>
        </p:spPr>
        <p:txBody>
          <a:bodyPr wrap="none" lIns="0" rIns="0" tIns="0" bIns="0" anchor="t">
            <a:noAutofit/>
          </a:bodyPr>
          <a:lstStyle/>
          <a:p>
            <a:pPr>
              <a:spcAft>
                <a:spcPts val="100"/>
              </a:spcAft>
            </a:pPr>
            <a:r>
              <a:rPr sz="969">
                <a:solidFill>
                  <a:srgbClr val="9CDCFE"/>
                </a:solidFill>
                <a:latin typeface="Consolas"/>
              </a:rPr>
              <a:t># a region of interest is just NumPy slicing — no copy unless you ask for one</a:t>
            </a:r>
          </a:p>
          <a:p>
            <a:pPr>
              <a:spcAft>
                <a:spcPts val="100"/>
              </a:spcAft>
            </a:pPr>
            <a:r>
              <a:rPr sz="969">
                <a:solidFill>
                  <a:srgbClr val="9CDCFE"/>
                </a:solidFill>
                <a:latin typeface="Consolas"/>
              </a:rPr>
              <a:t>roi = img[120:180, 120:180]           # [y0:y1, x0:x1]</a:t>
            </a:r>
          </a:p>
          <a:p>
            <a:pPr>
              <a:spcAft>
                <a:spcPts val="100"/>
              </a:spcAft>
            </a:pPr>
            <a:r>
              <a:rPr sz="969">
                <a:solidFill>
                  <a:srgbClr val="9CDCFE"/>
                </a:solidFill>
                <a:latin typeface="Consolas"/>
              </a:rPr>
              <a:t>img[300:360, 300:360] = roi           # paste it elsewhere</a:t>
            </a:r>
          </a:p>
          <a:p>
            <a:pPr>
              <a:spcAft>
                <a:spcPts val="100"/>
              </a:spcAft>
            </a:pPr>
            <a:r>
              <a:rPr sz="969">
                <a:solidFill>
                  <a:srgbClr val="9CDCFE"/>
                </a:solidFill>
                <a:latin typeface="Consolas"/>
              </a:rPr>
              <a:t> </a:t>
            </a:r>
          </a:p>
          <a:p>
            <a:pPr>
              <a:spcAft>
                <a:spcPts val="100"/>
              </a:spcAft>
            </a:pPr>
            <a:r>
              <a:rPr sz="969">
                <a:solidFill>
                  <a:srgbClr val="9CDCFE"/>
                </a:solidFill>
                <a:latin typeface="Consolas"/>
              </a:rPr>
              <a:t># annotate — every overlay in Lab 08 and Lab 11 is built from these</a:t>
            </a:r>
          </a:p>
          <a:p>
            <a:pPr>
              <a:spcAft>
                <a:spcPts val="100"/>
              </a:spcAft>
            </a:pPr>
            <a:r>
              <a:rPr sz="969">
                <a:solidFill>
                  <a:srgbClr val="9CDCFE"/>
                </a:solidFill>
                <a:latin typeface="Consolas"/>
              </a:rPr>
              <a:t>cv2.rectangle(img, (x, y), (x+w, y+h), (0, 200, 0), 2)</a:t>
            </a:r>
          </a:p>
          <a:p>
            <a:pPr>
              <a:spcAft>
                <a:spcPts val="100"/>
              </a:spcAft>
            </a:pPr>
            <a:r>
              <a:rPr sz="969">
                <a:solidFill>
                  <a:srgbClr val="9CDCFE"/>
                </a:solidFill>
                <a:latin typeface="Consolas"/>
              </a:rPr>
              <a:t>cv2.circle(img, (cx, cy), r, (0, 90, 255), -1)         # -1 = filled</a:t>
            </a:r>
          </a:p>
          <a:p>
            <a:pPr>
              <a:spcAft>
                <a:spcPts val="100"/>
              </a:spcAft>
            </a:pPr>
            <a:r>
              <a:rPr sz="969">
                <a:solidFill>
                  <a:srgbClr val="9CDCFE"/>
                </a:solidFill>
                <a:latin typeface="Consolas"/>
              </a:rPr>
              <a:t>cv2.line(img, (x1, y1), (x2, y2), (255, 0, 0), 3, cv2.LINE_AA)</a:t>
            </a:r>
          </a:p>
          <a:p>
            <a:pPr>
              <a:spcAft>
                <a:spcPts val="100"/>
              </a:spcAft>
            </a:pPr>
            <a:r>
              <a:rPr sz="969">
                <a:solidFill>
                  <a:srgbClr val="9CDCFE"/>
                </a:solidFill>
                <a:latin typeface="Consolas"/>
              </a:rPr>
              <a:t>cv2.putText(img, txt, (x, y), cv2.FONT_HERSHEY_SIMPLEX, 0.6,</a:t>
            </a:r>
          </a:p>
          <a:p>
            <a:pPr>
              <a:spcAft>
                <a:spcPts val="100"/>
              </a:spcAft>
            </a:pPr>
            <a:r>
              <a:rPr sz="969">
                <a:solidFill>
                  <a:srgbClr val="9CDCFE"/>
                </a:solidFill>
                <a:latin typeface="Consolas"/>
              </a:rPr>
              <a:t>            (20, 20, 20), 1, cv2.LINE_AA)</a:t>
            </a:r>
          </a:p>
          <a:p>
            <a:pPr>
              <a:spcAft>
                <a:spcPts val="100"/>
              </a:spcAft>
            </a:pPr>
            <a:r>
              <a:rPr sz="969">
                <a:solidFill>
                  <a:srgbClr val="9CDCFE"/>
                </a:solidFill>
                <a:latin typeface="Consolas"/>
              </a:rPr>
              <a:t> </a:t>
            </a:r>
          </a:p>
          <a:p>
            <a:pPr>
              <a:spcAft>
                <a:spcPts val="100"/>
              </a:spcAft>
            </a:pPr>
            <a:r>
              <a:rPr sz="969">
                <a:solidFill>
                  <a:srgbClr val="9CDCFE"/>
                </a:solidFill>
                <a:latin typeface="Consolas"/>
              </a:rPr>
              <a:t># blending — the watermark and cross-fade operation</a:t>
            </a:r>
          </a:p>
          <a:p>
            <a:pPr>
              <a:spcAft>
                <a:spcPts val="100"/>
              </a:spcAft>
            </a:pPr>
            <a:r>
              <a:rPr sz="969">
                <a:solidFill>
                  <a:srgbClr val="9CDCFE"/>
                </a:solidFill>
                <a:latin typeface="Consolas"/>
              </a:rPr>
              <a:t>#   g(x) = (1 - alpha)*f0(x) + alpha*f1(x)</a:t>
            </a:r>
          </a:p>
          <a:p>
            <a:pPr>
              <a:spcAft>
                <a:spcPts val="100"/>
              </a:spcAft>
            </a:pPr>
            <a:r>
              <a:rPr sz="969">
                <a:solidFill>
                  <a:srgbClr val="9CDCFE"/>
                </a:solidFill>
                <a:latin typeface="Consolas"/>
              </a:rPr>
              <a:t>out = cv2.addWeighted(img1, 0.7, img2, 0.3, 0)     # weights + a scalar offset</a:t>
            </a:r>
          </a:p>
          <a:p>
            <a:pPr>
              <a:spcAft>
                <a:spcPts val="100"/>
              </a:spcAft>
            </a:pPr>
            <a:r>
              <a:rPr sz="969">
                <a:solidFill>
                  <a:srgbClr val="9CDCFE"/>
                </a:solidFill>
                <a:latin typeface="Consolas"/>
              </a:rPr>
              <a:t> </a:t>
            </a:r>
          </a:p>
          <a:p>
            <a:pPr>
              <a:spcAft>
                <a:spcPts val="100"/>
              </a:spcAft>
            </a:pPr>
            <a:r>
              <a:rPr sz="969">
                <a:solidFill>
                  <a:srgbClr val="9CDCFE"/>
                </a:solidFill>
                <a:latin typeface="Consolas"/>
              </a:rPr>
              <a:t># alpha compositing with a real alpha channel (Lab 11's logo overlay)</a:t>
            </a:r>
          </a:p>
          <a:p>
            <a:pPr>
              <a:spcAft>
                <a:spcPts val="100"/>
              </a:spcAft>
            </a:pPr>
            <a:r>
              <a:rPr sz="969">
                <a:solidFill>
                  <a:srgbClr val="9CDCFE"/>
                </a:solidFill>
                <a:latin typeface="Consolas"/>
              </a:rPr>
              <a:t>a   = logo[:, :, 3:4].astype('float32') / 255.0</a:t>
            </a:r>
          </a:p>
          <a:p>
            <a:pPr>
              <a:spcAft>
                <a:spcPts val="100"/>
              </a:spcAft>
            </a:pPr>
            <a:r>
              <a:rPr sz="969">
                <a:solidFill>
                  <a:srgbClr val="9CDCFE"/>
                </a:solidFill>
                <a:latin typeface="Consolas"/>
              </a:rPr>
              <a:t>roi[:] = (a * logo[:, :, :3] + (1 - a) * roi).astype('uint8')</a:t>
            </a:r>
          </a:p>
        </p:txBody>
      </p:sp>
      <p:sp>
        <p:nvSpPr>
          <p:cNvPr id="9" name="Rectangle 8"/>
          <p:cNvSpPr/>
          <p:nvPr/>
        </p:nvSpPr>
        <p:spPr>
          <a:xfrm>
            <a:off x="7406640" y="1783080"/>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783080"/>
            <a:ext cx="82296" cy="9166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6096" y="1783080"/>
            <a:ext cx="3602736" cy="916686"/>
          </a:xfrm>
          <a:prstGeom prst="rect">
            <a:avLst/>
          </a:prstGeom>
          <a:noFill/>
        </p:spPr>
        <p:txBody>
          <a:bodyPr wrap="square" anchor="ctr">
            <a:spAutoFit/>
          </a:bodyPr>
          <a:lstStyle/>
          <a:p>
            <a:pPr algn="l">
              <a:spcAft>
                <a:spcPts val="200"/>
              </a:spcAft>
            </a:pPr>
            <a:r>
              <a:rPr sz="1300" b="1">
                <a:solidFill>
                  <a:srgbClr val="1F6FEB"/>
                </a:solidFill>
                <a:latin typeface="Arial"/>
              </a:rPr>
              <a:t>Slicing is [y, x]</a:t>
            </a:r>
          </a:p>
          <a:p>
            <a:pPr algn="l">
              <a:spcAft>
                <a:spcPts val="200"/>
              </a:spcAft>
            </a:pPr>
            <a:r>
              <a:rPr sz="1150" b="0">
                <a:solidFill>
                  <a:srgbClr val="161B26"/>
                </a:solidFill>
                <a:latin typeface="Arial"/>
              </a:rPr>
              <a:t>Rows before columns. The opposite order to the (x, y) that every drawing function takes.</a:t>
            </a:r>
          </a:p>
        </p:txBody>
      </p:sp>
      <p:sp>
        <p:nvSpPr>
          <p:cNvPr id="12" name="Rectangle 11"/>
          <p:cNvSpPr/>
          <p:nvPr/>
        </p:nvSpPr>
        <p:spPr>
          <a:xfrm>
            <a:off x="7406640" y="2864358"/>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2864358"/>
            <a:ext cx="82296" cy="91668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2864358"/>
            <a:ext cx="3602736" cy="916686"/>
          </a:xfrm>
          <a:prstGeom prst="rect">
            <a:avLst/>
          </a:prstGeom>
          <a:noFill/>
        </p:spPr>
        <p:txBody>
          <a:bodyPr wrap="square" anchor="ctr">
            <a:spAutoFit/>
          </a:bodyPr>
          <a:lstStyle/>
          <a:p>
            <a:pPr algn="l">
              <a:spcAft>
                <a:spcPts val="200"/>
              </a:spcAft>
            </a:pPr>
            <a:r>
              <a:rPr sz="1300" b="1">
                <a:solidFill>
                  <a:srgbClr val="10B981"/>
                </a:solidFill>
                <a:latin typeface="Arial"/>
              </a:rPr>
              <a:t>addWeighted is a line</a:t>
            </a:r>
          </a:p>
          <a:p>
            <a:pPr algn="l">
              <a:spcAft>
                <a:spcPts val="200"/>
              </a:spcAft>
            </a:pPr>
            <a:r>
              <a:rPr sz="1150" b="0">
                <a:solidFill>
                  <a:srgbClr val="161B26"/>
                </a:solidFill>
                <a:latin typeface="Arial"/>
              </a:rPr>
              <a:t>Two weights and an offset. Vary alpha from 0 to 1 and you have a cross-fade.</a:t>
            </a:r>
          </a:p>
        </p:txBody>
      </p:sp>
      <p:sp>
        <p:nvSpPr>
          <p:cNvPr id="15" name="Rectangle 14"/>
          <p:cNvSpPr/>
          <p:nvPr/>
        </p:nvSpPr>
        <p:spPr>
          <a:xfrm>
            <a:off x="7406640" y="3945636"/>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3945636"/>
            <a:ext cx="82296" cy="91668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6096" y="3945636"/>
            <a:ext cx="3602736" cy="916686"/>
          </a:xfrm>
          <a:prstGeom prst="rect">
            <a:avLst/>
          </a:prstGeom>
          <a:noFill/>
        </p:spPr>
        <p:txBody>
          <a:bodyPr wrap="square" anchor="ctr">
            <a:spAutoFit/>
          </a:bodyPr>
          <a:lstStyle/>
          <a:p>
            <a:pPr algn="l">
              <a:spcAft>
                <a:spcPts val="200"/>
              </a:spcAft>
            </a:pPr>
            <a:r>
              <a:rPr sz="1300" b="1">
                <a:solidFill>
                  <a:srgbClr val="7C3AED"/>
                </a:solidFill>
                <a:latin typeface="Arial"/>
              </a:rPr>
              <a:t>Alpha needs IMREAD_UNCHANGED</a:t>
            </a:r>
          </a:p>
          <a:p>
            <a:pPr algn="l">
              <a:spcAft>
                <a:spcPts val="200"/>
              </a:spcAft>
            </a:pPr>
            <a:r>
              <a:rPr sz="1150" b="0">
                <a:solidFill>
                  <a:srgbClr val="161B26"/>
                </a:solidFill>
                <a:latin typeface="Arial"/>
              </a:rPr>
              <a:t>Read a PNG without it and the alpha channel is silently dropped — that is the black box around your logo.</a:t>
            </a:r>
          </a:p>
        </p:txBody>
      </p:sp>
      <p:sp>
        <p:nvSpPr>
          <p:cNvPr id="18" name="Rectangle 17"/>
          <p:cNvSpPr/>
          <p:nvPr/>
        </p:nvSpPr>
        <p:spPr>
          <a:xfrm>
            <a:off x="7406640" y="5026914"/>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5026914"/>
            <a:ext cx="82296" cy="91668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5026914"/>
            <a:ext cx="3602736" cy="916686"/>
          </a:xfrm>
          <a:prstGeom prst="rect">
            <a:avLst/>
          </a:prstGeom>
          <a:noFill/>
        </p:spPr>
        <p:txBody>
          <a:bodyPr wrap="square" anchor="ctr">
            <a:spAutoFit/>
          </a:bodyPr>
          <a:lstStyle/>
          <a:p>
            <a:pPr algn="l">
              <a:spcAft>
                <a:spcPts val="200"/>
              </a:spcAft>
            </a:pPr>
            <a:r>
              <a:rPr sz="1300" b="1">
                <a:solidFill>
                  <a:srgbClr val="F59E0B"/>
                </a:solidFill>
                <a:latin typeface="Arial"/>
              </a:rPr>
              <a:t>LINE_AA for anything shown</a:t>
            </a:r>
          </a:p>
          <a:p>
            <a:pPr algn="l">
              <a:spcAft>
                <a:spcPts val="200"/>
              </a:spcAft>
            </a:pPr>
            <a:r>
              <a:rPr sz="1150" b="0">
                <a:solidFill>
                  <a:srgbClr val="161B26"/>
                </a:solidFill>
                <a:latin typeface="Arial"/>
              </a:rPr>
              <a:t>Anti-aliased strokes; the default is jagged and looks like a bug in a screenshot.</a:t>
            </a:r>
          </a:p>
        </p:txBody>
      </p:sp>
      <p:sp>
        <p:nvSpPr>
          <p:cNvPr id="21" name="Rectangle 20"/>
          <p:cNvSpPr/>
          <p:nvPr/>
        </p:nvSpPr>
        <p:spPr>
          <a:xfrm>
            <a:off x="777240" y="6053328"/>
            <a:ext cx="10634472" cy="4023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6053328"/>
            <a:ext cx="10241280" cy="402336"/>
          </a:xfrm>
          <a:prstGeom prst="rect">
            <a:avLst/>
          </a:prstGeom>
          <a:noFill/>
        </p:spPr>
        <p:txBody>
          <a:bodyPr wrap="square" anchor="ctr">
            <a:spAutoFit/>
          </a:bodyPr>
          <a:lstStyle/>
          <a:p>
            <a:pPr algn="l">
              <a:spcAft>
                <a:spcPts val="400"/>
              </a:spcAft>
            </a:pPr>
            <a:r>
              <a:rPr sz="1100" b="1">
                <a:solidFill>
                  <a:srgbClr val="127A3E"/>
                </a:solidFill>
                <a:latin typeface="Arial"/>
              </a:rPr>
              <a:t>VERIFY   </a:t>
            </a:r>
            <a:r>
              <a:rPr sz="1200" b="0">
                <a:solidFill>
                  <a:srgbClr val="161B26"/>
                </a:solidFill>
                <a:latin typeface="Arial"/>
              </a:rPr>
              <a:t>Lab 11 composites the logo with exactly this alpha blend and then proves the result sits inside the safe rectangle.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K4 · SOURCES S17 CH.7 P.102, S14 CH.1 P.7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Super-Resolution — and the Claim You Must Not Make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0B981"/>
                </a:solidFill>
                <a:latin typeface="Arial"/>
              </a:rPr>
              <a:t>Mechanism</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DC2626"/>
                </a:solidFill>
                <a:latin typeface="Arial"/>
              </a:rPr>
              <a:t>What you are allowed to claim</a:t>
            </a:r>
          </a:p>
        </p:txBody>
      </p:sp>
      <p:sp>
        <p:nvSpPr>
          <p:cNvPr id="13" name="TextBox 12"/>
          <p:cNvSpPr txBox="1"/>
          <p:nvPr/>
        </p:nvSpPr>
        <p:spPr>
          <a:xfrm>
            <a:off x="1005840" y="2423160"/>
            <a:ext cx="4754880" cy="3017520"/>
          </a:xfrm>
          <a:prstGeom prst="rect">
            <a:avLst/>
          </a:prstGeom>
          <a:noFill/>
        </p:spPr>
        <p:txBody>
          <a:bodyPr wrap="square">
            <a:spAutoFit/>
          </a:bodyPr>
          <a:lstStyle/>
          <a:p>
            <a:pPr>
              <a:spcAft>
                <a:spcPts val="800"/>
              </a:spcAft>
            </a:pPr>
            <a:r>
              <a:rPr sz="1300" b="1">
                <a:solidFill>
                  <a:srgbClr val="161B26"/>
                </a:solidFill>
                <a:latin typeface="Arial"/>
              </a:rPr>
              <a:t>•  What it does</a:t>
            </a:r>
          </a:p>
          <a:p>
            <a:pPr>
              <a:spcAft>
                <a:spcPts val="800"/>
              </a:spcAft>
            </a:pPr>
            <a:r>
              <a:rPr sz="1100" b="0">
                <a:solidFill>
                  <a:srgbClr val="5B6372"/>
                </a:solidFill>
                <a:latin typeface="Arial"/>
              </a:rPr>
              <a:t>–  Maps a low-resolution image to a higher-resolution one, inventing plausible detail that was not captured.</a:t>
            </a:r>
          </a:p>
          <a:p>
            <a:pPr>
              <a:spcAft>
                <a:spcPts val="800"/>
              </a:spcAft>
            </a:pPr>
            <a:r>
              <a:rPr sz="1100" b="0">
                <a:solidFill>
                  <a:srgbClr val="5B6372"/>
                </a:solidFill>
                <a:latin typeface="Arial"/>
              </a:rPr>
              <a:t>–  Trained on pairs, so it learns what detail USUALLY accompanies a given low-resolution pattern.</a:t>
            </a:r>
          </a:p>
          <a:p>
            <a:pPr>
              <a:spcAft>
                <a:spcPts val="800"/>
              </a:spcAft>
            </a:pPr>
            <a:r>
              <a:rPr sz="1100" b="0">
                <a:solidFill>
                  <a:srgbClr val="5B6372"/>
                </a:solidFill>
                <a:latin typeface="Arial"/>
              </a:rPr>
              <a:t>–  Reported alongside restoration and relighting as a distinct translational task.</a:t>
            </a:r>
          </a:p>
          <a:p>
            <a:pPr>
              <a:spcAft>
                <a:spcPts val="800"/>
              </a:spcAft>
            </a:pPr>
            <a:r>
              <a:rPr sz="1100" b="0">
                <a:solidFill>
                  <a:srgbClr val="5B6372"/>
                </a:solidFill>
                <a:latin typeface="Arial"/>
              </a:rPr>
              <a:t>–  Evaluated with PSNR and SSIM against a true high-resolution capture, plus FID and LPIPS for perceptual quality.</a:t>
            </a:r>
          </a:p>
        </p:txBody>
      </p:sp>
      <p:sp>
        <p:nvSpPr>
          <p:cNvPr id="14" name="TextBox 13"/>
          <p:cNvSpPr txBox="1"/>
          <p:nvPr/>
        </p:nvSpPr>
        <p:spPr>
          <a:xfrm>
            <a:off x="6583680" y="2423160"/>
            <a:ext cx="4617720" cy="3017520"/>
          </a:xfrm>
          <a:prstGeom prst="rect">
            <a:avLst/>
          </a:prstGeom>
          <a:noFill/>
        </p:spPr>
        <p:txBody>
          <a:bodyPr wrap="square">
            <a:spAutoFit/>
          </a:bodyPr>
          <a:lstStyle/>
          <a:p>
            <a:pPr>
              <a:spcAft>
                <a:spcPts val="800"/>
              </a:spcAft>
            </a:pPr>
            <a:r>
              <a:rPr sz="1300" b="1">
                <a:solidFill>
                  <a:srgbClr val="161B26"/>
                </a:solidFill>
                <a:latin typeface="Arial"/>
              </a:rPr>
              <a:t>•  The honest acceptance clause</a:t>
            </a:r>
          </a:p>
          <a:p>
            <a:pPr>
              <a:spcAft>
                <a:spcPts val="800"/>
              </a:spcAft>
            </a:pPr>
            <a:r>
              <a:rPr sz="1100" b="0">
                <a:solidFill>
                  <a:srgbClr val="5B6372"/>
                </a:solidFill>
                <a:latin typeface="Arial"/>
              </a:rPr>
              <a:t>–  Where a true high-resolution capture EXISTS, compute PSNR and SSIM against it.</a:t>
            </a:r>
          </a:p>
          <a:p>
            <a:pPr>
              <a:spcAft>
                <a:spcPts val="800"/>
              </a:spcAft>
            </a:pPr>
            <a:r>
              <a:rPr sz="1100" b="0">
                <a:solidFill>
                  <a:srgbClr val="5B6372"/>
                </a:solidFill>
                <a:latin typeface="Arial"/>
              </a:rPr>
              <a:t>–  Where it does not, a human reviews the output and it is labelled UPSCALED.</a:t>
            </a:r>
          </a:p>
          <a:p>
            <a:pPr>
              <a:spcAft>
                <a:spcPts val="800"/>
              </a:spcAft>
            </a:pPr>
            <a:r>
              <a:rPr sz="1100" b="0">
                <a:solidFill>
                  <a:srgbClr val="5B6372"/>
                </a:solidFill>
                <a:latin typeface="Arial"/>
              </a:rPr>
              <a:t>–  No numeric fidelity claim may be made against a reference that does not exist.</a:t>
            </a:r>
          </a:p>
          <a:p>
            <a:pPr>
              <a:spcAft>
                <a:spcPts val="800"/>
              </a:spcAft>
            </a:pPr>
            <a:r>
              <a:rPr sz="1100" b="0">
                <a:solidFill>
                  <a:srgbClr val="5B6372"/>
                </a:solidFill>
                <a:latin typeface="Arial"/>
              </a:rPr>
              <a:t>–  Scoring an upscale against its own downscaled input is a meaningless number — and it is the one people quote.</a:t>
            </a:r>
          </a:p>
        </p:txBody>
      </p:sp>
      <p:sp>
        <p:nvSpPr>
          <p:cNvPr id="15" name="TextBox 14"/>
          <p:cNvSpPr txBox="1"/>
          <p:nvPr/>
        </p:nvSpPr>
        <p:spPr>
          <a:xfrm>
            <a:off x="777240" y="5669280"/>
            <a:ext cx="10698480" cy="640080"/>
          </a:xfrm>
          <a:prstGeom prst="rect">
            <a:avLst/>
          </a:prstGeom>
          <a:noFill/>
        </p:spPr>
        <p:txBody>
          <a:bodyPr wrap="square" anchor="ctr">
            <a:spAutoFit/>
          </a:bodyPr>
          <a:lstStyle/>
          <a:p>
            <a:pPr algn="ctr">
              <a:spcAft>
                <a:spcPts val="400"/>
              </a:spcAft>
            </a:pPr>
            <a:r>
              <a:rPr sz="1250" b="0">
                <a:solidFill>
                  <a:srgbClr val="5B6372"/>
                </a:solidFill>
                <a:latin typeface="Arial"/>
              </a:rPr>
              <a:t>The same discipline applies to any restoration: state what the output is a restoration OF, and label the derivative.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fast">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K3, A2 · THE DELIVERY LADDER SPECIFICATION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Aspect Ratios — Say Pixels, Not Names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126894" cy="7010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1944014" cy="701040"/>
          </a:xfrm>
          <a:prstGeom prst="rect">
            <a:avLst/>
          </a:prstGeom>
          <a:noFill/>
        </p:spPr>
        <p:txBody>
          <a:bodyPr wrap="square" anchor="ctr">
            <a:spAutoFit/>
          </a:bodyPr>
          <a:lstStyle/>
          <a:p>
            <a:pPr algn="l">
              <a:spcAft>
                <a:spcPts val="400"/>
              </a:spcAft>
            </a:pPr>
            <a:r>
              <a:rPr sz="1100" b="1">
                <a:solidFill>
                  <a:srgbClr val="FFFFFF"/>
                </a:solidFill>
                <a:latin typeface="Arial"/>
              </a:rPr>
              <a:t>Delivery</a:t>
            </a:r>
          </a:p>
        </p:txBody>
      </p:sp>
      <p:sp>
        <p:nvSpPr>
          <p:cNvPr id="9" name="Rectangle 8"/>
          <p:cNvSpPr/>
          <p:nvPr/>
        </p:nvSpPr>
        <p:spPr>
          <a:xfrm>
            <a:off x="2904134" y="1783080"/>
            <a:ext cx="1276136" cy="7010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3862" y="1783080"/>
            <a:ext cx="1093256" cy="701040"/>
          </a:xfrm>
          <a:prstGeom prst="rect">
            <a:avLst/>
          </a:prstGeom>
          <a:noFill/>
        </p:spPr>
        <p:txBody>
          <a:bodyPr wrap="square" anchor="ctr">
            <a:spAutoFit/>
          </a:bodyPr>
          <a:lstStyle/>
          <a:p>
            <a:pPr algn="l">
              <a:spcAft>
                <a:spcPts val="400"/>
              </a:spcAft>
            </a:pPr>
            <a:r>
              <a:rPr sz="1100" b="1">
                <a:solidFill>
                  <a:srgbClr val="FFFFFF"/>
                </a:solidFill>
                <a:latin typeface="Arial"/>
              </a:rPr>
              <a:t>Ratio</a:t>
            </a:r>
          </a:p>
        </p:txBody>
      </p:sp>
      <p:sp>
        <p:nvSpPr>
          <p:cNvPr id="11" name="Rectangle 10"/>
          <p:cNvSpPr/>
          <p:nvPr/>
        </p:nvSpPr>
        <p:spPr>
          <a:xfrm>
            <a:off x="4180270" y="1783080"/>
            <a:ext cx="2126894" cy="7010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89998" y="1783080"/>
            <a:ext cx="1944014" cy="701040"/>
          </a:xfrm>
          <a:prstGeom prst="rect">
            <a:avLst/>
          </a:prstGeom>
          <a:noFill/>
        </p:spPr>
        <p:txBody>
          <a:bodyPr wrap="square" anchor="ctr">
            <a:spAutoFit/>
          </a:bodyPr>
          <a:lstStyle/>
          <a:p>
            <a:pPr algn="l">
              <a:spcAft>
                <a:spcPts val="400"/>
              </a:spcAft>
            </a:pPr>
            <a:r>
              <a:rPr sz="1100" b="1">
                <a:solidFill>
                  <a:srgbClr val="FFFFFF"/>
                </a:solidFill>
                <a:latin typeface="Arial"/>
              </a:rPr>
              <a:t>Pixels</a:t>
            </a:r>
          </a:p>
        </p:txBody>
      </p:sp>
      <p:sp>
        <p:nvSpPr>
          <p:cNvPr id="13" name="Rectangle 12"/>
          <p:cNvSpPr/>
          <p:nvPr/>
        </p:nvSpPr>
        <p:spPr>
          <a:xfrm>
            <a:off x="6307164" y="1783080"/>
            <a:ext cx="5104546" cy="7010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6892" y="1783080"/>
            <a:ext cx="4921666" cy="701040"/>
          </a:xfrm>
          <a:prstGeom prst="rect">
            <a:avLst/>
          </a:prstGeom>
          <a:noFill/>
        </p:spPr>
        <p:txBody>
          <a:bodyPr wrap="square" anchor="ctr">
            <a:spAutoFit/>
          </a:bodyPr>
          <a:lstStyle/>
          <a:p>
            <a:pPr algn="l">
              <a:spcAft>
                <a:spcPts val="400"/>
              </a:spcAft>
            </a:pPr>
            <a:r>
              <a:rPr sz="1100" b="1">
                <a:solidFill>
                  <a:srgbClr val="FFFFFF"/>
                </a:solidFill>
                <a:latin typeface="Arial"/>
              </a:rPr>
              <a:t>Why the name alone is not enough</a:t>
            </a:r>
          </a:p>
        </p:txBody>
      </p:sp>
      <p:sp>
        <p:nvSpPr>
          <p:cNvPr id="15" name="Rectangle 14"/>
          <p:cNvSpPr/>
          <p:nvPr/>
        </p:nvSpPr>
        <p:spPr>
          <a:xfrm>
            <a:off x="777240" y="2484120"/>
            <a:ext cx="2126894"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484120"/>
            <a:ext cx="1944014" cy="701040"/>
          </a:xfrm>
          <a:prstGeom prst="rect">
            <a:avLst/>
          </a:prstGeom>
          <a:noFill/>
        </p:spPr>
        <p:txBody>
          <a:bodyPr wrap="square" anchor="ctr">
            <a:spAutoFit/>
          </a:bodyPr>
          <a:lstStyle/>
          <a:p>
            <a:pPr algn="l">
              <a:spcAft>
                <a:spcPts val="400"/>
              </a:spcAft>
            </a:pPr>
            <a:r>
              <a:rPr sz="1000" b="1">
                <a:solidFill>
                  <a:srgbClr val="161B26"/>
                </a:solidFill>
                <a:latin typeface="Arial"/>
              </a:rPr>
              <a:t>Feed post</a:t>
            </a:r>
          </a:p>
        </p:txBody>
      </p:sp>
      <p:sp>
        <p:nvSpPr>
          <p:cNvPr id="17" name="Rectangle 16"/>
          <p:cNvSpPr/>
          <p:nvPr/>
        </p:nvSpPr>
        <p:spPr>
          <a:xfrm>
            <a:off x="2904134" y="2484120"/>
            <a:ext cx="1276136"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13862" y="2484120"/>
            <a:ext cx="1093256" cy="701040"/>
          </a:xfrm>
          <a:prstGeom prst="rect">
            <a:avLst/>
          </a:prstGeom>
          <a:noFill/>
        </p:spPr>
        <p:txBody>
          <a:bodyPr wrap="square" anchor="ctr">
            <a:spAutoFit/>
          </a:bodyPr>
          <a:lstStyle/>
          <a:p>
            <a:pPr algn="l">
              <a:spcAft>
                <a:spcPts val="400"/>
              </a:spcAft>
            </a:pPr>
            <a:r>
              <a:rPr sz="1000" b="0">
                <a:solidFill>
                  <a:srgbClr val="161B26"/>
                </a:solidFill>
                <a:latin typeface="Arial"/>
              </a:rPr>
              <a:t>1:1</a:t>
            </a:r>
          </a:p>
        </p:txBody>
      </p:sp>
      <p:sp>
        <p:nvSpPr>
          <p:cNvPr id="19" name="Rectangle 18"/>
          <p:cNvSpPr/>
          <p:nvPr/>
        </p:nvSpPr>
        <p:spPr>
          <a:xfrm>
            <a:off x="4180270" y="2484120"/>
            <a:ext cx="2126894"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89998" y="2484120"/>
            <a:ext cx="1944014" cy="701040"/>
          </a:xfrm>
          <a:prstGeom prst="rect">
            <a:avLst/>
          </a:prstGeom>
          <a:noFill/>
        </p:spPr>
        <p:txBody>
          <a:bodyPr wrap="square" anchor="ctr">
            <a:spAutoFit/>
          </a:bodyPr>
          <a:lstStyle/>
          <a:p>
            <a:pPr algn="l">
              <a:spcAft>
                <a:spcPts val="400"/>
              </a:spcAft>
            </a:pPr>
            <a:r>
              <a:rPr sz="1000" b="0">
                <a:solidFill>
                  <a:srgbClr val="161B26"/>
                </a:solidFill>
                <a:latin typeface="Arial"/>
              </a:rPr>
              <a:t>1080 x 1080</a:t>
            </a:r>
          </a:p>
        </p:txBody>
      </p:sp>
      <p:sp>
        <p:nvSpPr>
          <p:cNvPr id="21" name="Rectangle 20"/>
          <p:cNvSpPr/>
          <p:nvPr/>
        </p:nvSpPr>
        <p:spPr>
          <a:xfrm>
            <a:off x="6307164" y="2484120"/>
            <a:ext cx="5104546"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6892" y="2484120"/>
            <a:ext cx="4921666" cy="701040"/>
          </a:xfrm>
          <a:prstGeom prst="rect">
            <a:avLst/>
          </a:prstGeom>
          <a:noFill/>
        </p:spPr>
        <p:txBody>
          <a:bodyPr wrap="square" anchor="ctr">
            <a:spAutoFit/>
          </a:bodyPr>
          <a:lstStyle/>
          <a:p>
            <a:pPr algn="l">
              <a:spcAft>
                <a:spcPts val="400"/>
              </a:spcAft>
            </a:pPr>
            <a:r>
              <a:rPr sz="1000" b="0">
                <a:solidFill>
                  <a:srgbClr val="161B26"/>
                </a:solidFill>
                <a:latin typeface="Arial"/>
              </a:rPr>
              <a:t>Unambiguous, but state it anyway for the safe-area calculation</a:t>
            </a:r>
          </a:p>
        </p:txBody>
      </p:sp>
      <p:sp>
        <p:nvSpPr>
          <p:cNvPr id="23" name="Rectangle 22"/>
          <p:cNvSpPr/>
          <p:nvPr/>
        </p:nvSpPr>
        <p:spPr>
          <a:xfrm>
            <a:off x="777240" y="3185160"/>
            <a:ext cx="2126894"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3185160"/>
            <a:ext cx="1944014" cy="701040"/>
          </a:xfrm>
          <a:prstGeom prst="rect">
            <a:avLst/>
          </a:prstGeom>
          <a:noFill/>
        </p:spPr>
        <p:txBody>
          <a:bodyPr wrap="square" anchor="ctr">
            <a:spAutoFit/>
          </a:bodyPr>
          <a:lstStyle/>
          <a:p>
            <a:pPr algn="l">
              <a:spcAft>
                <a:spcPts val="400"/>
              </a:spcAft>
            </a:pPr>
            <a:r>
              <a:rPr sz="1000" b="1">
                <a:solidFill>
                  <a:srgbClr val="161B26"/>
                </a:solidFill>
                <a:latin typeface="Arial"/>
              </a:rPr>
              <a:t>Story / Reel</a:t>
            </a:r>
          </a:p>
        </p:txBody>
      </p:sp>
      <p:sp>
        <p:nvSpPr>
          <p:cNvPr id="25" name="Rectangle 24"/>
          <p:cNvSpPr/>
          <p:nvPr/>
        </p:nvSpPr>
        <p:spPr>
          <a:xfrm>
            <a:off x="2904134" y="3185160"/>
            <a:ext cx="1276136"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13862" y="3185160"/>
            <a:ext cx="1093256" cy="701040"/>
          </a:xfrm>
          <a:prstGeom prst="rect">
            <a:avLst/>
          </a:prstGeom>
          <a:noFill/>
        </p:spPr>
        <p:txBody>
          <a:bodyPr wrap="square" anchor="ctr">
            <a:spAutoFit/>
          </a:bodyPr>
          <a:lstStyle/>
          <a:p>
            <a:pPr algn="l">
              <a:spcAft>
                <a:spcPts val="400"/>
              </a:spcAft>
            </a:pPr>
            <a:r>
              <a:rPr sz="1000" b="0">
                <a:solidFill>
                  <a:srgbClr val="161B26"/>
                </a:solidFill>
                <a:latin typeface="Arial"/>
              </a:rPr>
              <a:t>9:16</a:t>
            </a:r>
          </a:p>
        </p:txBody>
      </p:sp>
      <p:sp>
        <p:nvSpPr>
          <p:cNvPr id="27" name="Rectangle 26"/>
          <p:cNvSpPr/>
          <p:nvPr/>
        </p:nvSpPr>
        <p:spPr>
          <a:xfrm>
            <a:off x="4180270" y="3185160"/>
            <a:ext cx="2126894"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89998" y="3185160"/>
            <a:ext cx="1944014" cy="701040"/>
          </a:xfrm>
          <a:prstGeom prst="rect">
            <a:avLst/>
          </a:prstGeom>
          <a:noFill/>
        </p:spPr>
        <p:txBody>
          <a:bodyPr wrap="square" anchor="ctr">
            <a:spAutoFit/>
          </a:bodyPr>
          <a:lstStyle/>
          <a:p>
            <a:pPr algn="l">
              <a:spcAft>
                <a:spcPts val="400"/>
              </a:spcAft>
            </a:pPr>
            <a:r>
              <a:rPr sz="1000" b="0">
                <a:solidFill>
                  <a:srgbClr val="161B26"/>
                </a:solidFill>
                <a:latin typeface="Arial"/>
              </a:rPr>
              <a:t>1080 x 1920</a:t>
            </a:r>
          </a:p>
        </p:txBody>
      </p:sp>
      <p:sp>
        <p:nvSpPr>
          <p:cNvPr id="29" name="Rectangle 28"/>
          <p:cNvSpPr/>
          <p:nvPr/>
        </p:nvSpPr>
        <p:spPr>
          <a:xfrm>
            <a:off x="6307164" y="3185160"/>
            <a:ext cx="5104546"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6892" y="3185160"/>
            <a:ext cx="4921666" cy="701040"/>
          </a:xfrm>
          <a:prstGeom prst="rect">
            <a:avLst/>
          </a:prstGeom>
          <a:noFill/>
        </p:spPr>
        <p:txBody>
          <a:bodyPr wrap="square" anchor="ctr">
            <a:spAutoFit/>
          </a:bodyPr>
          <a:lstStyle/>
          <a:p>
            <a:pPr algn="l">
              <a:spcAft>
                <a:spcPts val="400"/>
              </a:spcAft>
            </a:pPr>
            <a:r>
              <a:rPr sz="1000" b="0">
                <a:solidFill>
                  <a:srgbClr val="161B26"/>
                </a:solidFill>
                <a:latin typeface="Arial"/>
              </a:rPr>
              <a:t>9:16 is also 720x1280 and 1440x2560 — a 3x difference in caption legibility</a:t>
            </a:r>
          </a:p>
        </p:txBody>
      </p:sp>
      <p:sp>
        <p:nvSpPr>
          <p:cNvPr id="31" name="Rectangle 30"/>
          <p:cNvSpPr/>
          <p:nvPr/>
        </p:nvSpPr>
        <p:spPr>
          <a:xfrm>
            <a:off x="777240" y="3886200"/>
            <a:ext cx="2126894"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886200"/>
            <a:ext cx="1944014" cy="701040"/>
          </a:xfrm>
          <a:prstGeom prst="rect">
            <a:avLst/>
          </a:prstGeom>
          <a:noFill/>
        </p:spPr>
        <p:txBody>
          <a:bodyPr wrap="square" anchor="ctr">
            <a:spAutoFit/>
          </a:bodyPr>
          <a:lstStyle/>
          <a:p>
            <a:pPr algn="l">
              <a:spcAft>
                <a:spcPts val="400"/>
              </a:spcAft>
            </a:pPr>
            <a:r>
              <a:rPr sz="1000" b="1">
                <a:solidFill>
                  <a:srgbClr val="161B26"/>
                </a:solidFill>
                <a:latin typeface="Arial"/>
              </a:rPr>
              <a:t>Portrait post</a:t>
            </a:r>
          </a:p>
        </p:txBody>
      </p:sp>
      <p:sp>
        <p:nvSpPr>
          <p:cNvPr id="33" name="Rectangle 32"/>
          <p:cNvSpPr/>
          <p:nvPr/>
        </p:nvSpPr>
        <p:spPr>
          <a:xfrm>
            <a:off x="2904134" y="3886200"/>
            <a:ext cx="1276136"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13862" y="3886200"/>
            <a:ext cx="1093256" cy="701040"/>
          </a:xfrm>
          <a:prstGeom prst="rect">
            <a:avLst/>
          </a:prstGeom>
          <a:noFill/>
        </p:spPr>
        <p:txBody>
          <a:bodyPr wrap="square" anchor="ctr">
            <a:spAutoFit/>
          </a:bodyPr>
          <a:lstStyle/>
          <a:p>
            <a:pPr algn="l">
              <a:spcAft>
                <a:spcPts val="400"/>
              </a:spcAft>
            </a:pPr>
            <a:r>
              <a:rPr sz="1000" b="0">
                <a:solidFill>
                  <a:srgbClr val="161B26"/>
                </a:solidFill>
                <a:latin typeface="Arial"/>
              </a:rPr>
              <a:t>4:5</a:t>
            </a:r>
          </a:p>
        </p:txBody>
      </p:sp>
      <p:sp>
        <p:nvSpPr>
          <p:cNvPr id="35" name="Rectangle 34"/>
          <p:cNvSpPr/>
          <p:nvPr/>
        </p:nvSpPr>
        <p:spPr>
          <a:xfrm>
            <a:off x="4180270" y="3886200"/>
            <a:ext cx="2126894"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289998" y="3886200"/>
            <a:ext cx="1944014" cy="701040"/>
          </a:xfrm>
          <a:prstGeom prst="rect">
            <a:avLst/>
          </a:prstGeom>
          <a:noFill/>
        </p:spPr>
        <p:txBody>
          <a:bodyPr wrap="square" anchor="ctr">
            <a:spAutoFit/>
          </a:bodyPr>
          <a:lstStyle/>
          <a:p>
            <a:pPr algn="l">
              <a:spcAft>
                <a:spcPts val="400"/>
              </a:spcAft>
            </a:pPr>
            <a:r>
              <a:rPr sz="1000" b="0">
                <a:solidFill>
                  <a:srgbClr val="161B26"/>
                </a:solidFill>
                <a:latin typeface="Arial"/>
              </a:rPr>
              <a:t>1080 x 1350</a:t>
            </a:r>
          </a:p>
        </p:txBody>
      </p:sp>
      <p:sp>
        <p:nvSpPr>
          <p:cNvPr id="37" name="Rectangle 36"/>
          <p:cNvSpPr/>
          <p:nvPr/>
        </p:nvSpPr>
        <p:spPr>
          <a:xfrm>
            <a:off x="6307164" y="3886200"/>
            <a:ext cx="5104546"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16892" y="3886200"/>
            <a:ext cx="4921666" cy="701040"/>
          </a:xfrm>
          <a:prstGeom prst="rect">
            <a:avLst/>
          </a:prstGeom>
          <a:noFill/>
        </p:spPr>
        <p:txBody>
          <a:bodyPr wrap="square" anchor="ctr">
            <a:spAutoFit/>
          </a:bodyPr>
          <a:lstStyle/>
          <a:p>
            <a:pPr algn="l">
              <a:spcAft>
                <a:spcPts val="400"/>
              </a:spcAft>
            </a:pPr>
            <a:r>
              <a:rPr sz="1000" b="0">
                <a:solidFill>
                  <a:srgbClr val="161B26"/>
                </a:solidFill>
                <a:latin typeface="Arial"/>
              </a:rPr>
              <a:t>The default crop many platforms apply if you supply 1:1</a:t>
            </a:r>
          </a:p>
        </p:txBody>
      </p:sp>
      <p:sp>
        <p:nvSpPr>
          <p:cNvPr id="39" name="Rectangle 38"/>
          <p:cNvSpPr/>
          <p:nvPr/>
        </p:nvSpPr>
        <p:spPr>
          <a:xfrm>
            <a:off x="777240" y="4587240"/>
            <a:ext cx="2126894"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4587240"/>
            <a:ext cx="1944014" cy="701040"/>
          </a:xfrm>
          <a:prstGeom prst="rect">
            <a:avLst/>
          </a:prstGeom>
          <a:noFill/>
        </p:spPr>
        <p:txBody>
          <a:bodyPr wrap="square" anchor="ctr">
            <a:spAutoFit/>
          </a:bodyPr>
          <a:lstStyle/>
          <a:p>
            <a:pPr algn="l">
              <a:spcAft>
                <a:spcPts val="400"/>
              </a:spcAft>
            </a:pPr>
            <a:r>
              <a:rPr sz="1000" b="1">
                <a:solidFill>
                  <a:srgbClr val="161B26"/>
                </a:solidFill>
                <a:latin typeface="Arial"/>
              </a:rPr>
              <a:t>Hero / landscape</a:t>
            </a:r>
          </a:p>
        </p:txBody>
      </p:sp>
      <p:sp>
        <p:nvSpPr>
          <p:cNvPr id="41" name="Rectangle 40"/>
          <p:cNvSpPr/>
          <p:nvPr/>
        </p:nvSpPr>
        <p:spPr>
          <a:xfrm>
            <a:off x="2904134" y="4587240"/>
            <a:ext cx="1276136"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013862" y="4587240"/>
            <a:ext cx="1093256" cy="701040"/>
          </a:xfrm>
          <a:prstGeom prst="rect">
            <a:avLst/>
          </a:prstGeom>
          <a:noFill/>
        </p:spPr>
        <p:txBody>
          <a:bodyPr wrap="square" anchor="ctr">
            <a:spAutoFit/>
          </a:bodyPr>
          <a:lstStyle/>
          <a:p>
            <a:pPr algn="l">
              <a:spcAft>
                <a:spcPts val="400"/>
              </a:spcAft>
            </a:pPr>
            <a:r>
              <a:rPr sz="1000" b="0">
                <a:solidFill>
                  <a:srgbClr val="161B26"/>
                </a:solidFill>
                <a:latin typeface="Arial"/>
              </a:rPr>
              <a:t>16:9</a:t>
            </a:r>
          </a:p>
        </p:txBody>
      </p:sp>
      <p:sp>
        <p:nvSpPr>
          <p:cNvPr id="43" name="Rectangle 42"/>
          <p:cNvSpPr/>
          <p:nvPr/>
        </p:nvSpPr>
        <p:spPr>
          <a:xfrm>
            <a:off x="4180270" y="4587240"/>
            <a:ext cx="2126894"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289998" y="4587240"/>
            <a:ext cx="1944014" cy="701040"/>
          </a:xfrm>
          <a:prstGeom prst="rect">
            <a:avLst/>
          </a:prstGeom>
          <a:noFill/>
        </p:spPr>
        <p:txBody>
          <a:bodyPr wrap="square" anchor="ctr">
            <a:spAutoFit/>
          </a:bodyPr>
          <a:lstStyle/>
          <a:p>
            <a:pPr algn="l">
              <a:spcAft>
                <a:spcPts val="400"/>
              </a:spcAft>
            </a:pPr>
            <a:r>
              <a:rPr sz="1000" b="0">
                <a:solidFill>
                  <a:srgbClr val="161B26"/>
                </a:solidFill>
                <a:latin typeface="Arial"/>
              </a:rPr>
              <a:t>1920 x 1080</a:t>
            </a:r>
          </a:p>
        </p:txBody>
      </p:sp>
      <p:sp>
        <p:nvSpPr>
          <p:cNvPr id="45" name="Rectangle 44"/>
          <p:cNvSpPr/>
          <p:nvPr/>
        </p:nvSpPr>
        <p:spPr>
          <a:xfrm>
            <a:off x="6307164" y="4587240"/>
            <a:ext cx="5104546"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16892" y="4587240"/>
            <a:ext cx="4921666" cy="701040"/>
          </a:xfrm>
          <a:prstGeom prst="rect">
            <a:avLst/>
          </a:prstGeom>
          <a:noFill/>
        </p:spPr>
        <p:txBody>
          <a:bodyPr wrap="square" anchor="ctr">
            <a:spAutoFit/>
          </a:bodyPr>
          <a:lstStyle/>
          <a:p>
            <a:pPr algn="l">
              <a:spcAft>
                <a:spcPts val="400"/>
              </a:spcAft>
            </a:pPr>
            <a:r>
              <a:rPr sz="1000" b="0">
                <a:solidFill>
                  <a:srgbClr val="161B26"/>
                </a:solidFill>
                <a:latin typeface="Arial"/>
              </a:rPr>
              <a:t>Also 1280x720 and 3840x2160</a:t>
            </a:r>
          </a:p>
        </p:txBody>
      </p:sp>
      <p:sp>
        <p:nvSpPr>
          <p:cNvPr id="47" name="Rectangle 46"/>
          <p:cNvSpPr/>
          <p:nvPr/>
        </p:nvSpPr>
        <p:spPr>
          <a:xfrm>
            <a:off x="777240" y="5288280"/>
            <a:ext cx="2126894"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6968" y="5288280"/>
            <a:ext cx="1944014" cy="701040"/>
          </a:xfrm>
          <a:prstGeom prst="rect">
            <a:avLst/>
          </a:prstGeom>
          <a:noFill/>
        </p:spPr>
        <p:txBody>
          <a:bodyPr wrap="square" anchor="ctr">
            <a:spAutoFit/>
          </a:bodyPr>
          <a:lstStyle/>
          <a:p>
            <a:pPr algn="l">
              <a:spcAft>
                <a:spcPts val="400"/>
              </a:spcAft>
            </a:pPr>
            <a:r>
              <a:rPr sz="1000" b="1">
                <a:solidFill>
                  <a:srgbClr val="161B26"/>
                </a:solidFill>
                <a:latin typeface="Arial"/>
              </a:rPr>
              <a:t>Outpaint canvas</a:t>
            </a:r>
          </a:p>
        </p:txBody>
      </p:sp>
      <p:sp>
        <p:nvSpPr>
          <p:cNvPr id="49" name="Rectangle 48"/>
          <p:cNvSpPr/>
          <p:nvPr/>
        </p:nvSpPr>
        <p:spPr>
          <a:xfrm>
            <a:off x="2904134" y="5288280"/>
            <a:ext cx="1276136"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013862" y="5288280"/>
            <a:ext cx="1093256" cy="701040"/>
          </a:xfrm>
          <a:prstGeom prst="rect">
            <a:avLst/>
          </a:prstGeom>
          <a:noFill/>
        </p:spPr>
        <p:txBody>
          <a:bodyPr wrap="square" anchor="ctr">
            <a:spAutoFit/>
          </a:bodyPr>
          <a:lstStyle/>
          <a:p>
            <a:pPr algn="l">
              <a:spcAft>
                <a:spcPts val="400"/>
              </a:spcAft>
            </a:pPr>
            <a:r>
              <a:rPr sz="1000" b="0">
                <a:solidFill>
                  <a:srgbClr val="161B26"/>
                </a:solidFill>
                <a:latin typeface="Arial"/>
              </a:rPr>
              <a:t>~16:9</a:t>
            </a:r>
          </a:p>
        </p:txBody>
      </p:sp>
      <p:sp>
        <p:nvSpPr>
          <p:cNvPr id="51" name="Rectangle 50"/>
          <p:cNvSpPr/>
          <p:nvPr/>
        </p:nvSpPr>
        <p:spPr>
          <a:xfrm>
            <a:off x="4180270" y="5288280"/>
            <a:ext cx="2126894"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289998" y="5288280"/>
            <a:ext cx="1944014" cy="701040"/>
          </a:xfrm>
          <a:prstGeom prst="rect">
            <a:avLst/>
          </a:prstGeom>
          <a:noFill/>
        </p:spPr>
        <p:txBody>
          <a:bodyPr wrap="square" anchor="ctr">
            <a:spAutoFit/>
          </a:bodyPr>
          <a:lstStyle/>
          <a:p>
            <a:pPr algn="l">
              <a:spcAft>
                <a:spcPts val="400"/>
              </a:spcAft>
            </a:pPr>
            <a:r>
              <a:rPr sz="1000" b="0">
                <a:solidFill>
                  <a:srgbClr val="161B26"/>
                </a:solidFill>
                <a:latin typeface="Arial"/>
              </a:rPr>
              <a:t>1820 x 1024</a:t>
            </a:r>
          </a:p>
        </p:txBody>
      </p:sp>
      <p:sp>
        <p:nvSpPr>
          <p:cNvPr id="53" name="Rectangle 52"/>
          <p:cNvSpPr/>
          <p:nvPr/>
        </p:nvSpPr>
        <p:spPr>
          <a:xfrm>
            <a:off x="6307164" y="5288280"/>
            <a:ext cx="5104546"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16892" y="5288280"/>
            <a:ext cx="4921666" cy="701040"/>
          </a:xfrm>
          <a:prstGeom prst="rect">
            <a:avLst/>
          </a:prstGeom>
          <a:noFill/>
        </p:spPr>
        <p:txBody>
          <a:bodyPr wrap="square" anchor="ctr">
            <a:spAutoFit/>
          </a:bodyPr>
          <a:lstStyle/>
          <a:p>
            <a:pPr algn="l">
              <a:spcAft>
                <a:spcPts val="400"/>
              </a:spcAft>
            </a:pPr>
            <a:r>
              <a:rPr sz="1000" b="0">
                <a:solidFill>
                  <a:srgbClr val="161B26"/>
                </a:solidFill>
                <a:latin typeface="Arial"/>
              </a:rPr>
              <a:t>1.7773:1 — chosen so a 1024 source sits on whole-pixel boundaries with 398 columns each side</a:t>
            </a:r>
          </a:p>
        </p:txBody>
      </p:sp>
      <p:sp>
        <p:nvSpPr>
          <p:cNvPr id="55" name="TextBox 54"/>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Current image models document a wide aspect-ratio set including 1:1, 3:2, 2:3, 3:4, 4:3, 4:5, 5:4, 9:16, 16:9 and 21:9. Ask for the ratio AND the pixel dimensions.</a:t>
            </a:r>
          </a:p>
        </p:txBody>
      </p:sp>
      <p:sp>
        <p:nvSpPr>
          <p:cNvPr id="56" name="TextBox 5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57" name="TextBox 5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8" name="TextBox 5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DC2626"/>
                </a:solidFill>
                <a:latin typeface="Arial"/>
              </a:rPr>
              <a:t>K2, A2 · SOURCE S12 · MULTIMODAL GENERATIVE AI, CH.8 PP.140–143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Safety Controls You Will Meet on an Image API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Person generation</a:t>
            </a:r>
          </a:p>
          <a:p>
            <a:pPr algn="l">
              <a:spcAft>
                <a:spcPts val="200"/>
              </a:spcAft>
            </a:pPr>
            <a:r>
              <a:rPr sz="1000" b="0">
                <a:solidFill>
                  <a:srgbClr val="5B6372"/>
                </a:solidFill>
                <a:latin typeface="Arial"/>
              </a:rPr>
              <a:t>Documented values dont_allow, allow_adult and allow_all. Deactivating person generation removes a whole class of risk for externally accessible use cases.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Safety filter level</a:t>
            </a:r>
          </a:p>
          <a:p>
            <a:pPr algn="l">
              <a:spcAft>
                <a:spcPts val="200"/>
              </a:spcAft>
            </a:pPr>
            <a:r>
              <a:rPr sz="1000" b="0">
                <a:solidFill>
                  <a:srgbClr val="5B6372"/>
                </a:solidFill>
                <a:latin typeface="Arial"/>
              </a:rPr>
              <a:t>A threshold on the output classifier. Setting it permissively is a decision that has to be recorded, not a default to be nudged.</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Banned-word filters</a:t>
            </a:r>
          </a:p>
          <a:p>
            <a:pPr algn="l">
              <a:spcAft>
                <a:spcPts val="200"/>
              </a:spcAft>
            </a:pPr>
            <a:r>
              <a:rPr sz="1000" b="0">
                <a:solidFill>
                  <a:srgbClr val="5B6372"/>
                </a:solidFill>
                <a:latin typeface="Arial"/>
              </a:rPr>
              <a:t>One provider's primary mechanism is an extensive banned list plus community moderation — cheap, and easy to route around.</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Configurable tolerance</a:t>
            </a:r>
          </a:p>
          <a:p>
            <a:pPr algn="l">
              <a:spcAft>
                <a:spcPts val="200"/>
              </a:spcAft>
            </a:pPr>
            <a:r>
              <a:rPr sz="1000" b="0">
                <a:solidFill>
                  <a:srgbClr val="5B6372"/>
                </a:solidFill>
                <a:latin typeface="Arial"/>
              </a:rPr>
              <a:t>Another exposes a user-set safety slider, with permissively generated images forced private.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Watermarking</a:t>
            </a:r>
          </a:p>
          <a:p>
            <a:pPr algn="l">
              <a:spcAft>
                <a:spcPts val="200"/>
              </a:spcAft>
            </a:pPr>
            <a:r>
              <a:rPr sz="1000" b="0">
                <a:solidFill>
                  <a:srgbClr val="5B6372"/>
                </a:solidFill>
                <a:latin typeface="Arial"/>
              </a:rPr>
              <a:t>SynthID on current Gemini image output; C2PA Content Credentials metadata elsewhere. Different mechanisms, different failure modes.</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Red-teaming</a:t>
            </a:r>
          </a:p>
          <a:p>
            <a:pPr algn="l">
              <a:spcAft>
                <a:spcPts val="200"/>
              </a:spcAft>
            </a:pPr>
            <a:r>
              <a:rPr sz="1000" b="0">
                <a:solidFill>
                  <a:srgbClr val="5B6372"/>
                </a:solidFill>
                <a:latin typeface="Arial"/>
              </a:rPr>
              <a:t>Adversarial prompt sets probing bias, impersonation and unsafe content — and re-run after every model or guardrail change, not once at launch.</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TOPIC 02 · ELO2 · A2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Lab 02 — Image and Video Data Representation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INPUTS</a:t>
            </a:r>
          </a:p>
        </p:txBody>
      </p:sp>
      <p:sp>
        <p:nvSpPr>
          <p:cNvPr id="10" name="TextBox 9"/>
          <p:cNvSpPr txBox="1"/>
          <p:nvPr/>
        </p:nvSpPr>
        <p:spPr>
          <a:xfrm>
            <a:off x="978408"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Synthetic product flat-lay reference still, 1280x720 (deterministically rendered with OpenCV — SIMULATED classroom asset, not a photograph)</a:t>
            </a:r>
          </a:p>
        </p:txBody>
      </p:sp>
      <p:sp>
        <p:nvSpPr>
          <p:cNvPr id="11" name="Rounded Rectangle 10"/>
          <p:cNvSpPr/>
          <p:nvPr/>
        </p:nvSpPr>
        <p:spPr>
          <a:xfrm>
            <a:off x="4379976"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TECHNICAL QUESTION</a:t>
            </a:r>
          </a:p>
        </p:txBody>
      </p:sp>
      <p:sp>
        <p:nvSpPr>
          <p:cNvPr id="14" name="TextBox 13"/>
          <p:cNvSpPr txBox="1"/>
          <p:nvPr/>
        </p:nvSpPr>
        <p:spPr>
          <a:xfrm>
            <a:off x="4581144"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How do frame dimensions, channel order, FPS and compression change the payload?</a:t>
            </a:r>
          </a:p>
        </p:txBody>
      </p:sp>
      <p:sp>
        <p:nvSpPr>
          <p:cNvPr id="15" name="Rounded Rectangle 14"/>
          <p:cNvSpPr/>
          <p:nvPr/>
        </p:nvSpPr>
        <p:spPr>
          <a:xfrm>
            <a:off x="7982712"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EVIDENCE TO PRODUCE</a:t>
            </a:r>
          </a:p>
        </p:txBody>
      </p:sp>
      <p:sp>
        <p:nvSpPr>
          <p:cNvPr id="18" name="TextBox 17"/>
          <p:cNvSpPr txBox="1"/>
          <p:nvPr/>
        </p:nvSpPr>
        <p:spPr>
          <a:xfrm>
            <a:off x="8183880"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A measurement report (`out/representation-report.json`) recording shape, dtype, channel means, HSV ranges, frame count, FPS, duration and the computed uncompressed byte rate for the supplied clip.</a:t>
            </a:r>
          </a:p>
        </p:txBody>
      </p:sp>
      <p:sp>
        <p:nvSpPr>
          <p:cNvPr id="19" name="TextBox 18"/>
          <p:cNvSpPr txBox="1"/>
          <p:nvPr/>
        </p:nvSpPr>
        <p:spPr>
          <a:xfrm>
            <a:off x="777240" y="5623560"/>
            <a:ext cx="10607040" cy="685800"/>
          </a:xfrm>
          <a:prstGeom prst="rect">
            <a:avLst/>
          </a:prstGeom>
          <a:noFill/>
        </p:spPr>
        <p:txBody>
          <a:bodyPr wrap="square" anchor="t">
            <a:spAutoFit/>
          </a:bodyPr>
          <a:lstStyle/>
          <a:p>
            <a:pPr algn="l">
              <a:spcAft>
                <a:spcPts val="400"/>
              </a:spcAft>
            </a:pPr>
            <a:r>
              <a:rPr sz="1150" b="0">
                <a:solidFill>
                  <a:srgbClr val="5B6372"/>
                </a:solidFill>
                <a:latin typeface="Arial"/>
              </a:rPr>
              <a:t>LAB 02  ·  15 MIN · Python 3 · opencv-python · NumPy · offline after dependencies are installed; no paid service</a:t>
            </a:r>
          </a:p>
          <a:p>
            <a:pPr algn="l">
              <a:spcAft>
                <a:spcPts val="400"/>
              </a:spcAft>
            </a:pPr>
            <a:r>
              <a:rPr sz="1150" b="0">
                <a:solidFill>
                  <a:srgbClr val="5B6372"/>
                </a:solidFill>
                <a:latin typeface="Arial"/>
              </a:rPr>
              <a:t>Detailed procedures and prompts: Learner Guide / labs/lab-02-image-video-representation/README.md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TOPIC 02 · ELO2 · A2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Lab 03 — Prompt Experiment Matrix for Controlled Image Generation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INPUTS</a:t>
            </a:r>
          </a:p>
        </p:txBody>
      </p:sp>
      <p:sp>
        <p:nvSpPr>
          <p:cNvPr id="10" name="TextBox 9"/>
          <p:cNvSpPr txBox="1"/>
          <p:nvPr/>
        </p:nvSpPr>
        <p:spPr>
          <a:xfrm>
            <a:off x="978408"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16 supplied variant images — four cells of four variants each, deterministically rendered with OpenCV to reproduce the characteristic spread of an under-specified, partially specified, subject-locked and fully specified prompt. Every file carries a SIMULATED banner: these are classroom stand-ins for model output, NOT generative-model output.</a:t>
            </a:r>
          </a:p>
        </p:txBody>
      </p:sp>
      <p:sp>
        <p:nvSpPr>
          <p:cNvPr id="11" name="Rounded Rectangle 10"/>
          <p:cNvSpPr/>
          <p:nvPr/>
        </p:nvSpPr>
        <p:spPr>
          <a:xfrm>
            <a:off x="4379976"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TECHNICAL QUESTION</a:t>
            </a:r>
          </a:p>
        </p:txBody>
      </p:sp>
      <p:sp>
        <p:nvSpPr>
          <p:cNvPr id="14" name="TextBox 13"/>
          <p:cNvSpPr txBox="1"/>
          <p:nvPr/>
        </p:nvSpPr>
        <p:spPr>
          <a:xfrm>
            <a:off x="4581144"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How do specification changes affect measured variation across the supplied outputs?</a:t>
            </a:r>
          </a:p>
        </p:txBody>
      </p:sp>
      <p:sp>
        <p:nvSpPr>
          <p:cNvPr id="15" name="Rounded Rectangle 14"/>
          <p:cNvSpPr/>
          <p:nvPr/>
        </p:nvSpPr>
        <p:spPr>
          <a:xfrm>
            <a:off x="7982712"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EVIDENCE TO PRODUCE</a:t>
            </a:r>
          </a:p>
        </p:txBody>
      </p:sp>
      <p:sp>
        <p:nvSpPr>
          <p:cNvPr id="18" name="TextBox 17"/>
          <p:cNvSpPr txBox="1"/>
          <p:nvPr/>
        </p:nvSpPr>
        <p:spPr>
          <a:xfrm>
            <a:off x="8183880"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A completed factor-level table and four-run comparison, a versioned `prompt-v3.json` structured prompt, and `out/variance-report.csv` scoring the measured spread of each cell.</a:t>
            </a:r>
          </a:p>
        </p:txBody>
      </p:sp>
      <p:sp>
        <p:nvSpPr>
          <p:cNvPr id="19" name="TextBox 18"/>
          <p:cNvSpPr txBox="1"/>
          <p:nvPr/>
        </p:nvSpPr>
        <p:spPr>
          <a:xfrm>
            <a:off x="777240" y="5623560"/>
            <a:ext cx="10607040" cy="685800"/>
          </a:xfrm>
          <a:prstGeom prst="rect">
            <a:avLst/>
          </a:prstGeom>
          <a:noFill/>
        </p:spPr>
        <p:txBody>
          <a:bodyPr wrap="square" anchor="t">
            <a:spAutoFit/>
          </a:bodyPr>
          <a:lstStyle/>
          <a:p>
            <a:pPr algn="l">
              <a:spcAft>
                <a:spcPts val="400"/>
              </a:spcAft>
            </a:pPr>
            <a:r>
              <a:rPr sz="1150" b="0">
                <a:solidFill>
                  <a:srgbClr val="5B6372"/>
                </a:solidFill>
                <a:latin typeface="Arial"/>
              </a:rPr>
              <a:t>LAB 03  ·  15 MIN · Text editor · Python 3 · opencv-python · NumPy · OPTIONAL free-tier image model. The lab completes fully offline using the supplied simulated variant sets.</a:t>
            </a:r>
          </a:p>
          <a:p>
            <a:pPr algn="l">
              <a:spcAft>
                <a:spcPts val="400"/>
              </a:spcAft>
            </a:pPr>
            <a:r>
              <a:rPr sz="1150" b="0">
                <a:solidFill>
                  <a:srgbClr val="5B6372"/>
                </a:solidFill>
                <a:latin typeface="Arial"/>
              </a:rPr>
              <a:t>Detailed procedures and prompts: Learner Guide / labs/lab-03-prompt-experiment-matrix/README.md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TOPIC 02 · ELO2 · A2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Lab 04 — Masking, Inpainting, Outpainting and Background Swap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INPUTS</a:t>
            </a:r>
          </a:p>
        </p:txBody>
      </p:sp>
      <p:sp>
        <p:nvSpPr>
          <p:cNvPr id="10" name="TextBox 9"/>
          <p:cNvSpPr txBox="1"/>
          <p:nvPr/>
        </p:nvSpPr>
        <p:spPr>
          <a:xfrm>
            <a:off x="978408"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Synthetic 1024x1024 product shot with a subject, a plain backdrop and a stray price-tag rectangle (deterministically rendered with OpenCV — SIMULATED)</a:t>
            </a:r>
          </a:p>
        </p:txBody>
      </p:sp>
      <p:sp>
        <p:nvSpPr>
          <p:cNvPr id="11" name="Rounded Rectangle 10"/>
          <p:cNvSpPr/>
          <p:nvPr/>
        </p:nvSpPr>
        <p:spPr>
          <a:xfrm>
            <a:off x="4379976"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TECHNICAL QUESTION</a:t>
            </a:r>
          </a:p>
        </p:txBody>
      </p:sp>
      <p:sp>
        <p:nvSpPr>
          <p:cNvPr id="14" name="TextBox 13"/>
          <p:cNvSpPr txBox="1"/>
          <p:nvPr/>
        </p:nvSpPr>
        <p:spPr>
          <a:xfrm>
            <a:off x="4581144"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Which pixels changed inside and outside each edit mask?</a:t>
            </a:r>
          </a:p>
        </p:txBody>
      </p:sp>
      <p:sp>
        <p:nvSpPr>
          <p:cNvPr id="15" name="Rounded Rectangle 14"/>
          <p:cNvSpPr/>
          <p:nvPr/>
        </p:nvSpPr>
        <p:spPr>
          <a:xfrm>
            <a:off x="7982712"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EVIDENCE TO PRODUCE</a:t>
            </a:r>
          </a:p>
        </p:txBody>
      </p:sp>
      <p:sp>
        <p:nvSpPr>
          <p:cNvPr id="18" name="TextBox 17"/>
          <p:cNvSpPr txBox="1"/>
          <p:nvPr/>
        </p:nvSpPr>
        <p:spPr>
          <a:xfrm>
            <a:off x="8183880"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Three masks (`out/mask_tag.png`, `out/mask_bg.png`, `out/mask_outpaint.png`), the classical inpaint results, `out/mask-audit.csv` proving the unmasked region was preserved, and `out/edit-spec.json` specifying the generative equivalent.</a:t>
            </a:r>
          </a:p>
        </p:txBody>
      </p:sp>
      <p:sp>
        <p:nvSpPr>
          <p:cNvPr id="19" name="TextBox 18"/>
          <p:cNvSpPr txBox="1"/>
          <p:nvPr/>
        </p:nvSpPr>
        <p:spPr>
          <a:xfrm>
            <a:off x="777240" y="5623560"/>
            <a:ext cx="10607040" cy="685800"/>
          </a:xfrm>
          <a:prstGeom prst="rect">
            <a:avLst/>
          </a:prstGeom>
          <a:noFill/>
        </p:spPr>
        <p:txBody>
          <a:bodyPr wrap="square" anchor="t">
            <a:spAutoFit/>
          </a:bodyPr>
          <a:lstStyle/>
          <a:p>
            <a:pPr algn="l">
              <a:spcAft>
                <a:spcPts val="400"/>
              </a:spcAft>
            </a:pPr>
            <a:r>
              <a:rPr sz="1150" b="0">
                <a:solidFill>
                  <a:srgbClr val="5B6372"/>
                </a:solidFill>
                <a:latin typeface="Arial"/>
              </a:rPr>
              <a:t>LAB 04  ·  15 MIN · Python 3 · opencv-python · NumPy · offline with preinstalled dependencies; no paid service</a:t>
            </a:r>
          </a:p>
          <a:p>
            <a:pPr algn="l">
              <a:spcAft>
                <a:spcPts val="400"/>
              </a:spcAft>
            </a:pPr>
            <a:r>
              <a:rPr sz="1150" b="0">
                <a:solidFill>
                  <a:srgbClr val="5B6372"/>
                </a:solidFill>
                <a:latin typeface="Arial"/>
              </a:rPr>
              <a:t>Detailed procedures and prompts: Learner Guide / labs/lab-04-masking-inpainting-outpainting/README.md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TOPIC 02 · ELO2 · A2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Lab 05 — Filtering, Enhancement and Restoration Measured with PSNR and SSIM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INPUTS</a:t>
            </a:r>
          </a:p>
        </p:txBody>
      </p:sp>
      <p:sp>
        <p:nvSpPr>
          <p:cNvPr id="10" name="TextBox 9"/>
          <p:cNvSpPr txBox="1"/>
          <p:nvPr/>
        </p:nvSpPr>
        <p:spPr>
          <a:xfrm>
            <a:off x="978408"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Synthetic 800x600 clean reference frame with flat regions, hard edges, fine texture and a smooth gradient — the four content types that separate filters (deterministically rendered with OpenCV — SIMULATED)</a:t>
            </a:r>
          </a:p>
        </p:txBody>
      </p:sp>
      <p:sp>
        <p:nvSpPr>
          <p:cNvPr id="11" name="Rounded Rectangle 10"/>
          <p:cNvSpPr/>
          <p:nvPr/>
        </p:nvSpPr>
        <p:spPr>
          <a:xfrm>
            <a:off x="4379976"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TECHNICAL QUESTION</a:t>
            </a:r>
          </a:p>
        </p:txBody>
      </p:sp>
      <p:sp>
        <p:nvSpPr>
          <p:cNvPr id="14" name="TextBox 13"/>
          <p:cNvSpPr txBox="1"/>
          <p:nvPr/>
        </p:nvSpPr>
        <p:spPr>
          <a:xfrm>
            <a:off x="4581144"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Which enhancement improves the stated metric, and what visual defect remains?</a:t>
            </a:r>
          </a:p>
        </p:txBody>
      </p:sp>
      <p:sp>
        <p:nvSpPr>
          <p:cNvPr id="15" name="Rounded Rectangle 14"/>
          <p:cNvSpPr/>
          <p:nvPr/>
        </p:nvSpPr>
        <p:spPr>
          <a:xfrm>
            <a:off x="7982712"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EVIDENCE TO PRODUCE</a:t>
            </a:r>
          </a:p>
        </p:txBody>
      </p:sp>
      <p:sp>
        <p:nvSpPr>
          <p:cNvPr id="18" name="TextBox 17"/>
          <p:cNvSpPr txBox="1"/>
          <p:nvPr/>
        </p:nvSpPr>
        <p:spPr>
          <a:xfrm>
            <a:off x="8183880"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`out/enhancement-matrix.csv` scoring 5 filters against 3 degradations with PSNR and SSIM, plus a one-paragraph recommendation naming the winning filter per degradation and whether their rankings differ.</a:t>
            </a:r>
          </a:p>
        </p:txBody>
      </p:sp>
      <p:sp>
        <p:nvSpPr>
          <p:cNvPr id="19" name="TextBox 18"/>
          <p:cNvSpPr txBox="1"/>
          <p:nvPr/>
        </p:nvSpPr>
        <p:spPr>
          <a:xfrm>
            <a:off x="777240" y="5623560"/>
            <a:ext cx="10607040" cy="685800"/>
          </a:xfrm>
          <a:prstGeom prst="rect">
            <a:avLst/>
          </a:prstGeom>
          <a:noFill/>
        </p:spPr>
        <p:txBody>
          <a:bodyPr wrap="square" anchor="t">
            <a:spAutoFit/>
          </a:bodyPr>
          <a:lstStyle/>
          <a:p>
            <a:pPr algn="l">
              <a:spcAft>
                <a:spcPts val="400"/>
              </a:spcAft>
            </a:pPr>
            <a:r>
              <a:rPr sz="1150" b="0">
                <a:solidFill>
                  <a:srgbClr val="5B6372"/>
                </a:solidFill>
                <a:latin typeface="Arial"/>
              </a:rPr>
              <a:t>LAB 05  ·  15 MIN · Python 3 · opencv-python · NumPy · offline with preinstalled dependencies; no paid service</a:t>
            </a:r>
          </a:p>
          <a:p>
            <a:pPr algn="l">
              <a:spcAft>
                <a:spcPts val="400"/>
              </a:spcAft>
            </a:pPr>
            <a:r>
              <a:rPr sz="1150" b="0">
                <a:solidFill>
                  <a:srgbClr val="5B6372"/>
                </a:solidFill>
                <a:latin typeface="Arial"/>
              </a:rPr>
              <a:t>Detailed procedures and prompts: Learner Guide / labs/lab-05-filtering-enhancement-metrics/README.md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TOPIC 02 · ELO2 · K3, K4, A2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Recap — Topic 02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300" b="0">
                <a:solidFill>
                  <a:srgbClr val="161B26"/>
                </a:solidFill>
                <a:latin typeface="Arial"/>
              </a:rPr>
              <a:t>•  An image is H x W x C uint8 in BGR order; a video is frames plus a frame rate, and the uncompressed byte rate that follows drives every later architecture decision.</a:t>
            </a:r>
          </a:p>
          <a:p>
            <a:pPr>
              <a:spcAft>
                <a:spcPts val="1000"/>
              </a:spcAft>
            </a:pPr>
            <a:r>
              <a:rPr sz="1300" b="0">
                <a:solidFill>
                  <a:srgbClr val="161B26"/>
                </a:solidFill>
                <a:latin typeface="Arial"/>
              </a:rPr>
              <a:t>•  HSV separates hue from brightness, which is why a colour gate built on it survived a 40% exposure drop unchanged while a raw-channel threshold collapsed to zero.</a:t>
            </a:r>
          </a:p>
          <a:p>
            <a:pPr>
              <a:spcAft>
                <a:spcPts val="1000"/>
              </a:spcAft>
            </a:pPr>
            <a:r>
              <a:rPr sz="1300" b="0">
                <a:solidFill>
                  <a:srgbClr val="161B26"/>
                </a:solidFill>
                <a:latin typeface="Arial"/>
              </a:rPr>
              <a:t>•  Filtering is convolution with a kernel; geometric transformation is a 2x3 affine or a 3x3 perspective matrix.</a:t>
            </a:r>
          </a:p>
          <a:p>
            <a:pPr>
              <a:spcAft>
                <a:spcPts val="1000"/>
              </a:spcAft>
            </a:pPr>
            <a:r>
              <a:rPr sz="1300" b="0">
                <a:solidFill>
                  <a:srgbClr val="161B26"/>
                </a:solidFill>
                <a:latin typeface="Arial"/>
              </a:rPr>
              <a:t>•  Median dominates impulse noise and bilateral dominates Gaussian noise — measured, not asserted — and nothing recovers defocus, because deblurring is an inverse problem.</a:t>
            </a:r>
          </a:p>
          <a:p>
            <a:pPr>
              <a:spcAft>
                <a:spcPts val="1000"/>
              </a:spcAft>
            </a:pPr>
            <a:r>
              <a:rPr sz="1300" b="0">
                <a:solidFill>
                  <a:srgbClr val="161B26"/>
                </a:solidFill>
                <a:latin typeface="Arial"/>
              </a:rPr>
              <a:t>•  PSNR is a per-pixel average and SSIM is structural; when they disagree, SSIM is the one to gate a customer-facing asset on.</a:t>
            </a:r>
          </a:p>
          <a:p>
            <a:pPr>
              <a:spcAft>
                <a:spcPts val="1000"/>
              </a:spcAft>
            </a:pPr>
            <a:r>
              <a:rPr sz="1300" b="0">
                <a:solidFill>
                  <a:srgbClr val="161B26"/>
                </a:solidFill>
                <a:latin typeface="Arial"/>
              </a:rPr>
              <a:t>•  A binary mask is what makes a generative edit auditable: white is editable, black is preserved, and containment is proved by measuring inside and outside.</a:t>
            </a:r>
          </a:p>
          <a:p>
            <a:pPr>
              <a:spcAft>
                <a:spcPts val="1000"/>
              </a:spcAft>
            </a:pPr>
            <a:r>
              <a:rPr sz="1300" b="0">
                <a:solidFill>
                  <a:srgbClr val="161B26"/>
                </a:solidFill>
                <a:latin typeface="Arial"/>
              </a:rPr>
              <a:t>•  Prompting is experimental design. Lock one factor at a time, measure the spread, and freeze the winner as versioned JSON. (A2, K3, K4)</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700" b="1">
                <a:solidFill>
                  <a:srgbClr val="1F6FEB"/>
                </a:solidFill>
                <a:latin typeface="Arial"/>
              </a:rPr>
              <a:t>TOPIC 03</a:t>
            </a:r>
          </a:p>
        </p:txBody>
      </p:sp>
      <p:sp>
        <p:nvSpPr>
          <p:cNvPr id="6" name="TextBox 5"/>
          <p:cNvSpPr txBox="1"/>
          <p:nvPr/>
        </p:nvSpPr>
        <p:spPr>
          <a:xfrm>
            <a:off x="1143000" y="2743200"/>
            <a:ext cx="9144000" cy="1463040"/>
          </a:xfrm>
          <a:prstGeom prst="rect">
            <a:avLst/>
          </a:prstGeom>
          <a:noFill/>
        </p:spPr>
        <p:txBody>
          <a:bodyPr wrap="square" anchor="t">
            <a:spAutoFit/>
          </a:bodyPr>
          <a:lstStyle/>
          <a:p>
            <a:pPr algn="l">
              <a:spcAft>
                <a:spcPts val="400"/>
              </a:spcAft>
            </a:pPr>
            <a:r>
              <a:rPr sz="3000" b="1">
                <a:solidFill>
                  <a:srgbClr val="161B26"/>
                </a:solidFill>
                <a:latin typeface="Arial"/>
              </a:rPr>
              <a:t>AI-Based Visual Features, Styles and Consistency</a:t>
            </a:r>
          </a:p>
        </p:txBody>
      </p:sp>
      <p:sp>
        <p:nvSpPr>
          <p:cNvPr id="7" name="TextBox 6"/>
          <p:cNvSpPr txBox="1"/>
          <p:nvPr/>
        </p:nvSpPr>
        <p:spPr>
          <a:xfrm>
            <a:off x="1161288" y="4297680"/>
            <a:ext cx="9692640" cy="1280160"/>
          </a:xfrm>
          <a:prstGeom prst="rect">
            <a:avLst/>
          </a:prstGeom>
          <a:noFill/>
        </p:spPr>
        <p:txBody>
          <a:bodyPr wrap="square" anchor="t">
            <a:spAutoFit/>
          </a:bodyPr>
          <a:lstStyle/>
          <a:p>
            <a:pPr algn="l">
              <a:spcAft>
                <a:spcPts val="400"/>
              </a:spcAft>
            </a:pPr>
            <a:r>
              <a:rPr sz="1400" b="0">
                <a:solidFill>
                  <a:srgbClr val="5B6372"/>
                </a:solidFill>
                <a:latin typeface="Arial"/>
              </a:rPr>
              <a:t>Feature extraction and representation · local descriptors — edge, colour, texture, corner and motion · global descriptors — statistical and geometrical · measuring style and composition consistency across a campaign</a:t>
            </a:r>
          </a:p>
        </p:txBody>
      </p:sp>
      <p:sp>
        <p:nvSpPr>
          <p:cNvPr id="8" name="TextBox 7"/>
          <p:cNvSpPr txBox="1"/>
          <p:nvPr/>
        </p:nvSpPr>
        <p:spPr>
          <a:xfrm>
            <a:off x="9326880" y="640080"/>
            <a:ext cx="2377440" cy="1463040"/>
          </a:xfrm>
          <a:prstGeom prst="rect">
            <a:avLst/>
          </a:prstGeom>
          <a:noFill/>
        </p:spPr>
        <p:txBody>
          <a:bodyPr wrap="square" anchor="t">
            <a:spAutoFit/>
          </a:bodyPr>
          <a:lstStyle/>
          <a:p>
            <a:pPr algn="r">
              <a:spcAft>
                <a:spcPts val="400"/>
              </a:spcAft>
            </a:pPr>
            <a:r>
              <a:rPr sz="68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LU3 · ELO3 · K5, K6, K7, A3, A4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Key Concepts — Topic 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A feature is a repeatable, discriminative measurement</a:t>
            </a:r>
          </a:p>
          <a:p>
            <a:pPr algn="l">
              <a:spcAft>
                <a:spcPts val="200"/>
              </a:spcAft>
            </a:pPr>
            <a:r>
              <a:rPr sz="1050" b="0">
                <a:solidFill>
                  <a:srgbClr val="5B6372"/>
                </a:solidFill>
                <a:latin typeface="Arial"/>
              </a:rPr>
              <a:t>Good features are repeatable under rotation, scale and illumination change, and different enough between classes to separate them. Everything downstream inherits the quality of this choice.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Local versus global is a decision about scope</a:t>
            </a:r>
          </a:p>
          <a:p>
            <a:pPr algn="l">
              <a:spcAft>
                <a:spcPts val="200"/>
              </a:spcAft>
            </a:pPr>
            <a:r>
              <a:rPr sz="1050" b="0">
                <a:solidFill>
                  <a:srgbClr val="5B6372"/>
                </a:solidFill>
                <a:latin typeface="Arial"/>
              </a:rPr>
              <a:t>Local descriptors answer 'what is at this point' (Canny edge, ORB keypoint, optical-flow vector). Global descriptors answer 'what is this whole image like' (colour histogram, Hu moments, edge density). Consistency work needs global.</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Corner detectors differ in what they are invariant to</a:t>
            </a:r>
          </a:p>
          <a:p>
            <a:pPr algn="l">
              <a:spcAft>
                <a:spcPts val="200"/>
              </a:spcAft>
            </a:pPr>
            <a:r>
              <a:rPr sz="1050" b="0">
                <a:solidFill>
                  <a:srgbClr val="5B6372"/>
                </a:solidFill>
                <a:latin typeface="Arial"/>
              </a:rPr>
              <a:t>Harris: rotation-invariant, not scale-invariant. Shi-Tomasi: Harris with a min-eigenvalue score. FAST: segment test, very fast, no descriptor. SIFT/ORB: scale- and rotation-invariant with a matchable descriptor.</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Canny is a four-step algorithm, not a filter</a:t>
            </a:r>
          </a:p>
          <a:p>
            <a:pPr algn="l">
              <a:spcAft>
                <a:spcPts val="200"/>
              </a:spcAft>
            </a:pPr>
            <a:r>
              <a:rPr sz="1050" b="0">
                <a:solidFill>
                  <a:srgbClr val="5B6372"/>
                </a:solidFill>
                <a:latin typeface="Arial"/>
              </a:rPr>
              <a:t>Gaussian smooth -&gt; Sobel gradient magnitude and direction -&gt; non-maximum suppression -&gt; hysteresis thresholding with two thresholds. The 1:2 to 1:3 low:high ratio is the standard starting point.</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Global statistics are how you audit a brand look</a:t>
            </a:r>
          </a:p>
          <a:p>
            <a:pPr algn="l">
              <a:spcAft>
                <a:spcPts val="200"/>
              </a:spcAft>
            </a:pPr>
            <a:r>
              <a:rPr sz="1050" b="0">
                <a:solidFill>
                  <a:srgbClr val="5B6372"/>
                </a:solidFill>
                <a:latin typeface="Arial"/>
              </a:rPr>
              <a:t>Normalised HSV histograms compared with Bhattacharyya distance, mean saturation, edge density and Hu moments give a numeric style fingerprint you can threshold and put in a review gate.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Faithfulness needs a metric, not an opinion</a:t>
            </a:r>
          </a:p>
          <a:p>
            <a:pPr algn="l">
              <a:spcAft>
                <a:spcPts val="200"/>
              </a:spcAft>
            </a:pPr>
            <a:r>
              <a:rPr sz="1050" b="0">
                <a:solidFill>
                  <a:srgbClr val="5B6372"/>
                </a:solidFill>
                <a:latin typeface="Arial"/>
              </a:rPr>
              <a:t>Text-image alignment via CLIP-style cosine similarity, object/attribute recall via a detector, and masked-region consistency for edits — each catches a different way a generated asset can be wrong.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K5 · FEATURE EXTRACTION AND REPRESENTATION TECHNIQUES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What Makes a Feature Worth Extracting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REPEATABLE</a:t>
            </a:r>
          </a:p>
          <a:p>
            <a:pPr algn="l">
              <a:spcAft>
                <a:spcPts val="200"/>
              </a:spcAft>
            </a:pPr>
            <a:r>
              <a:rPr sz="1000" b="0">
                <a:solidFill>
                  <a:srgbClr val="5B6372"/>
                </a:solidFill>
                <a:latin typeface="Arial"/>
              </a:rPr>
              <a:t>The same physical point yields the same measurement under rotation, scale change and different lighting. Without this, nothing downstream can match anything.</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DISCRIMINATIVE</a:t>
            </a:r>
          </a:p>
          <a:p>
            <a:pPr algn="l">
              <a:spcAft>
                <a:spcPts val="200"/>
              </a:spcAft>
            </a:pPr>
            <a:r>
              <a:rPr sz="1000" b="0">
                <a:solidFill>
                  <a:srgbClr val="5B6372"/>
                </a:solidFill>
                <a:latin typeface="Arial"/>
              </a:rPr>
              <a:t>Different enough between classes to separate them. A feature that is identical for every object carries no information.</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LOCAL ENOUGH</a:t>
            </a:r>
          </a:p>
          <a:p>
            <a:pPr algn="l">
              <a:spcAft>
                <a:spcPts val="200"/>
              </a:spcAft>
            </a:pPr>
            <a:r>
              <a:rPr sz="1000" b="0">
                <a:solidFill>
                  <a:srgbClr val="5B6372"/>
                </a:solidFill>
                <a:latin typeface="Arial"/>
              </a:rPr>
              <a:t>Computed from a bounded neighbourhood, so partial occlusion does not destroy every feature at once.</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COMPACT</a:t>
            </a:r>
          </a:p>
          <a:p>
            <a:pPr algn="l">
              <a:spcAft>
                <a:spcPts val="200"/>
              </a:spcAft>
            </a:pPr>
            <a:r>
              <a:rPr sz="1000" b="0">
                <a:solidFill>
                  <a:srgbClr val="5B6372"/>
                </a:solidFill>
                <a:latin typeface="Arial"/>
              </a:rPr>
              <a:t>A descriptor you can store and compare cheaply. ORB is 32 bytes per keypoint; SIFT is 512. At 500 keypoints per frame that is a 16x bandwidth decision.</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EFFICIENT</a:t>
            </a:r>
          </a:p>
          <a:p>
            <a:pPr algn="l">
              <a:spcAft>
                <a:spcPts val="200"/>
              </a:spcAft>
            </a:pPr>
            <a:r>
              <a:rPr sz="1000" b="0">
                <a:solidFill>
                  <a:srgbClr val="5B6372"/>
                </a:solidFill>
                <a:latin typeface="Arial"/>
              </a:rPr>
              <a:t>Extractable inside your latency budget. FAST exists because detection had to run in real time on modest hardware.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MEANINGFUL TO THE TASK</a:t>
            </a:r>
          </a:p>
          <a:p>
            <a:pPr algn="l">
              <a:spcAft>
                <a:spcPts val="200"/>
              </a:spcAft>
            </a:pPr>
            <a:r>
              <a:rPr sz="1000" b="0">
                <a:solidFill>
                  <a:srgbClr val="5B6372"/>
                </a:solidFill>
                <a:latin typeface="Arial"/>
              </a:rPr>
              <a:t>A texture descriptor will not catch a recolour, and a colour histogram will not catch an over-sharpened delivery. Match the feature to the failure.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7C3AED"/>
                </a:solidFill>
                <a:latin typeface="Arial"/>
              </a:rPr>
              <a:t>K5, K6, K7 · PICK THE SCOPE THAT MATCHES THE QUESTION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Local Versus Global — a Decision About Scope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907438" cy="2606040"/>
          </a:xfrm>
          <a:prstGeom prst="round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907438" cy="3840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PIXEL</a:t>
            </a:r>
          </a:p>
        </p:txBody>
      </p:sp>
      <p:sp>
        <p:nvSpPr>
          <p:cNvPr id="10" name="TextBox 9"/>
          <p:cNvSpPr txBox="1"/>
          <p:nvPr/>
        </p:nvSpPr>
        <p:spPr>
          <a:xfrm>
            <a:off x="923544"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One value, or one BGR triple. Carries no context at all.</a:t>
            </a:r>
          </a:p>
        </p:txBody>
      </p:sp>
      <p:cxnSp>
        <p:nvCxnSpPr>
          <p:cNvPr id="11" name="Connector 10"/>
          <p:cNvCxnSpPr/>
          <p:nvPr/>
        </p:nvCxnSpPr>
        <p:spPr>
          <a:xfrm>
            <a:off x="2684678" y="3451860"/>
            <a:ext cx="274320" cy="0"/>
          </a:xfrm>
          <a:prstGeom prst="line">
            <a:avLst/>
          </a:prstGeom>
          <a:ln w="2222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58998" y="2148840"/>
            <a:ext cx="1907438" cy="2606040"/>
          </a:xfrm>
          <a:prstGeom prst="roundRect">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148840"/>
            <a:ext cx="1907438"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58998"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LOCAL FEATURE</a:t>
            </a:r>
          </a:p>
        </p:txBody>
      </p:sp>
      <p:sp>
        <p:nvSpPr>
          <p:cNvPr id="15" name="TextBox 14"/>
          <p:cNvSpPr txBox="1"/>
          <p:nvPr/>
        </p:nvSpPr>
        <p:spPr>
          <a:xfrm>
            <a:off x="3105302"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'What is at this point?' A Canny edge pixel, an ORB keypoint with its 32-byte descriptor, an optical-flow vector.</a:t>
            </a:r>
          </a:p>
        </p:txBody>
      </p:sp>
      <p:cxnSp>
        <p:nvCxnSpPr>
          <p:cNvPr id="16" name="Connector 15"/>
          <p:cNvCxnSpPr/>
          <p:nvPr/>
        </p:nvCxnSpPr>
        <p:spPr>
          <a:xfrm>
            <a:off x="4866436" y="3451860"/>
            <a:ext cx="274320" cy="0"/>
          </a:xfrm>
          <a:prstGeom prst="line">
            <a:avLst/>
          </a:prstGeom>
          <a:ln w="2222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40756" y="2148840"/>
            <a:ext cx="1907438" cy="2606040"/>
          </a:xfrm>
          <a:prstGeom prst="roundRect">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40756" y="2148840"/>
            <a:ext cx="1907438"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40756"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REGION FEATURE</a:t>
            </a:r>
          </a:p>
        </p:txBody>
      </p:sp>
      <p:sp>
        <p:nvSpPr>
          <p:cNvPr id="20" name="TextBox 19"/>
          <p:cNvSpPr txBox="1"/>
          <p:nvPr/>
        </p:nvSpPr>
        <p:spPr>
          <a:xfrm>
            <a:off x="5287060"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'What is in this area?' A masked histogram, a texture statistic, a connected component's shape.</a:t>
            </a:r>
          </a:p>
        </p:txBody>
      </p:sp>
      <p:cxnSp>
        <p:nvCxnSpPr>
          <p:cNvPr id="21" name="Connector 20"/>
          <p:cNvCxnSpPr/>
          <p:nvPr/>
        </p:nvCxnSpPr>
        <p:spPr>
          <a:xfrm>
            <a:off x="7048194" y="3451860"/>
            <a:ext cx="274320" cy="0"/>
          </a:xfrm>
          <a:prstGeom prst="line">
            <a:avLst/>
          </a:prstGeom>
          <a:ln w="2222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322514" y="2148840"/>
            <a:ext cx="1907438" cy="2606040"/>
          </a:xfrm>
          <a:prstGeom prst="roundRect">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22514" y="2148840"/>
            <a:ext cx="1907438"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22514"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GLOBAL DESCRIPTOR</a:t>
            </a:r>
          </a:p>
        </p:txBody>
      </p:sp>
      <p:sp>
        <p:nvSpPr>
          <p:cNvPr id="25" name="TextBox 24"/>
          <p:cNvSpPr txBox="1"/>
          <p:nvPr/>
        </p:nvSpPr>
        <p:spPr>
          <a:xfrm>
            <a:off x="7468818"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'What is this whole image like?' A normalised colour histogram, mean saturation, edge density, Hu moments.</a:t>
            </a:r>
          </a:p>
        </p:txBody>
      </p:sp>
      <p:cxnSp>
        <p:nvCxnSpPr>
          <p:cNvPr id="26" name="Connector 25"/>
          <p:cNvCxnSpPr/>
          <p:nvPr/>
        </p:nvCxnSpPr>
        <p:spPr>
          <a:xfrm>
            <a:off x="9229952" y="3451860"/>
            <a:ext cx="274320" cy="0"/>
          </a:xfrm>
          <a:prstGeom prst="line">
            <a:avLst/>
          </a:prstGeom>
          <a:ln w="2222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504272" y="2148840"/>
            <a:ext cx="1907438" cy="2606040"/>
          </a:xfrm>
          <a:prstGeom prst="round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04272" y="2148840"/>
            <a:ext cx="1907438" cy="3840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4272"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EMBEDDING</a:t>
            </a:r>
          </a:p>
        </p:txBody>
      </p:sp>
      <p:sp>
        <p:nvSpPr>
          <p:cNvPr id="30" name="TextBox 29"/>
          <p:cNvSpPr txBox="1"/>
          <p:nvPr/>
        </p:nvSpPr>
        <p:spPr>
          <a:xfrm>
            <a:off x="9650576"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'What does this image mean?' A learned vector from a CNN or a vision-language model — the space FID and CLIP scores live in.</a:t>
            </a:r>
          </a:p>
        </p:txBody>
      </p:sp>
      <p:sp>
        <p:nvSpPr>
          <p:cNvPr id="31" name="Rectangle 30"/>
          <p:cNvSpPr/>
          <p:nvPr/>
        </p:nvSpPr>
        <p:spPr>
          <a:xfrm>
            <a:off x="777240" y="5120640"/>
            <a:ext cx="10634472"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5120640"/>
            <a:ext cx="10241280" cy="914400"/>
          </a:xfrm>
          <a:prstGeom prst="rect">
            <a:avLst/>
          </a:prstGeom>
          <a:noFill/>
        </p:spPr>
        <p:txBody>
          <a:bodyPr wrap="square" anchor="ctr">
            <a:spAutoFit/>
          </a:bodyPr>
          <a:lstStyle/>
          <a:p>
            <a:pPr algn="l">
              <a:spcAft>
                <a:spcPts val="400"/>
              </a:spcAft>
            </a:pPr>
            <a:r>
              <a:rPr sz="1150" b="1">
                <a:solidFill>
                  <a:srgbClr val="127A3E"/>
                </a:solidFill>
                <a:latin typeface="Arial"/>
              </a:rPr>
              <a:t>SO WHAT   </a:t>
            </a:r>
            <a:r>
              <a:rPr sz="1300" b="0">
                <a:solidFill>
                  <a:srgbClr val="161B26"/>
                </a:solidFill>
                <a:latin typeface="Arial"/>
              </a:rPr>
              <a:t>Brand-consistency work needs GLOBAL descriptors: the question is 'does this whole asset look like the approved master?', not 'is there a corner at pixel (412, 88)?'</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K6 · LOCAL FEATURE DESCRIPTIONS — EDGE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Canny Is an Algorithm, Not a Filter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12263"/>
            <a:ext cx="2996184" cy="457200"/>
          </a:xfrm>
          <a:prstGeom prst="rect">
            <a:avLst/>
          </a:prstGeom>
          <a:noFill/>
        </p:spPr>
        <p:txBody>
          <a:bodyPr wrap="square" anchor="t">
            <a:spAutoFit/>
          </a:bodyPr>
          <a:lstStyle/>
          <a:p>
            <a:pPr algn="l">
              <a:spcAft>
                <a:spcPts val="400"/>
              </a:spcAft>
            </a:pPr>
            <a:r>
              <a:rPr sz="1500" b="1">
                <a:solidFill>
                  <a:srgbClr val="1F6FEB"/>
                </a:solidFill>
                <a:latin typeface="Arial"/>
              </a:rPr>
              <a:t>Stage 1–2</a:t>
            </a:r>
          </a:p>
        </p:txBody>
      </p:sp>
      <p:sp>
        <p:nvSpPr>
          <p:cNvPr id="10" name="Rectangle 9"/>
          <p:cNvSpPr/>
          <p:nvPr/>
        </p:nvSpPr>
        <p:spPr>
          <a:xfrm>
            <a:off x="960120" y="2715767"/>
            <a:ext cx="2996184" cy="17373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15767"/>
            <a:ext cx="2813304" cy="1737360"/>
          </a:xfrm>
          <a:prstGeom prst="rect">
            <a:avLst/>
          </a:prstGeom>
          <a:noFill/>
        </p:spPr>
        <p:txBody>
          <a:bodyPr wrap="none" lIns="0" rIns="0" tIns="0" bIns="0" anchor="ctr">
            <a:noAutofit/>
          </a:bodyPr>
          <a:lstStyle/>
          <a:p>
            <a:pPr>
              <a:spcAft>
                <a:spcPts val="100"/>
              </a:spcAft>
            </a:pPr>
            <a:r>
              <a:rPr sz="1400">
                <a:solidFill>
                  <a:srgbClr val="9CDCFE"/>
                </a:solidFill>
                <a:latin typeface="Consolas"/>
              </a:rPr>
              <a:t>Gaussian smooth</a:t>
            </a:r>
          </a:p>
          <a:p>
            <a:pPr>
              <a:spcAft>
                <a:spcPts val="100"/>
              </a:spcAft>
            </a:pPr>
            <a:r>
              <a:rPr sz="1400">
                <a:solidFill>
                  <a:srgbClr val="9CDCFE"/>
                </a:solidFill>
                <a:latin typeface="Consolas"/>
              </a:rPr>
              <a:t>then Sobel:</a:t>
            </a:r>
          </a:p>
          <a:p>
            <a:pPr>
              <a:spcAft>
                <a:spcPts val="100"/>
              </a:spcAft>
            </a:pPr>
            <a:r>
              <a:rPr sz="1400">
                <a:solidFill>
                  <a:srgbClr val="9CDCFE"/>
                </a:solidFill>
                <a:latin typeface="Consolas"/>
              </a:rPr>
              <a:t>G = √(Gx² + Gy²)</a:t>
            </a:r>
          </a:p>
          <a:p>
            <a:pPr>
              <a:spcAft>
                <a:spcPts val="100"/>
              </a:spcAft>
            </a:pPr>
            <a:r>
              <a:rPr sz="1400">
                <a:solidFill>
                  <a:srgbClr val="9CDCFE"/>
                </a:solidFill>
                <a:latin typeface="Consolas"/>
              </a:rPr>
              <a:t>θ = atan2(Gy, Gx)</a:t>
            </a:r>
          </a:p>
        </p:txBody>
      </p:sp>
      <p:sp>
        <p:nvSpPr>
          <p:cNvPr id="12" name="TextBox 11"/>
          <p:cNvSpPr txBox="1"/>
          <p:nvPr/>
        </p:nvSpPr>
        <p:spPr>
          <a:xfrm>
            <a:off x="960120" y="4562855"/>
            <a:ext cx="2996184" cy="795528"/>
          </a:xfrm>
          <a:prstGeom prst="rect">
            <a:avLst/>
          </a:prstGeom>
          <a:noFill/>
        </p:spPr>
        <p:txBody>
          <a:bodyPr wrap="square" anchor="t">
            <a:spAutoFit/>
          </a:bodyPr>
          <a:lstStyle/>
          <a:p>
            <a:pPr algn="l">
              <a:spcAft>
                <a:spcPts val="400"/>
              </a:spcAft>
            </a:pPr>
            <a:r>
              <a:rPr sz="1200" b="0">
                <a:solidFill>
                  <a:srgbClr val="5B6372"/>
                </a:solidFill>
                <a:latin typeface="Arial"/>
              </a:rPr>
              <a:t>Smooth first or you detect noise. Sobel gives both the gradient magnitude and its direction at every pixel.</a:t>
            </a:r>
          </a:p>
        </p:txBody>
      </p:sp>
      <p:sp>
        <p:nvSpPr>
          <p:cNvPr id="13" name="Rectangle 12"/>
          <p:cNvSpPr/>
          <p:nvPr/>
        </p:nvSpPr>
        <p:spPr>
          <a:xfrm>
            <a:off x="4413504"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6384" y="2112263"/>
            <a:ext cx="2996184" cy="457200"/>
          </a:xfrm>
          <a:prstGeom prst="rect">
            <a:avLst/>
          </a:prstGeom>
          <a:noFill/>
        </p:spPr>
        <p:txBody>
          <a:bodyPr wrap="square" anchor="t">
            <a:spAutoFit/>
          </a:bodyPr>
          <a:lstStyle/>
          <a:p>
            <a:pPr algn="l">
              <a:spcAft>
                <a:spcPts val="400"/>
              </a:spcAft>
            </a:pPr>
            <a:r>
              <a:rPr sz="1500" b="1">
                <a:solidFill>
                  <a:srgbClr val="10B981"/>
                </a:solidFill>
                <a:latin typeface="Arial"/>
              </a:rPr>
              <a:t>Stage 3</a:t>
            </a:r>
          </a:p>
        </p:txBody>
      </p:sp>
      <p:sp>
        <p:nvSpPr>
          <p:cNvPr id="16" name="Rectangle 15"/>
          <p:cNvSpPr/>
          <p:nvPr/>
        </p:nvSpPr>
        <p:spPr>
          <a:xfrm>
            <a:off x="4596384" y="2715767"/>
            <a:ext cx="2996184" cy="14081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7824" y="2715767"/>
            <a:ext cx="2813304" cy="1408176"/>
          </a:xfrm>
          <a:prstGeom prst="rect">
            <a:avLst/>
          </a:prstGeom>
          <a:noFill/>
        </p:spPr>
        <p:txBody>
          <a:bodyPr wrap="none" lIns="0" rIns="0" tIns="0" bIns="0" anchor="ctr">
            <a:noAutofit/>
          </a:bodyPr>
          <a:lstStyle/>
          <a:p>
            <a:pPr>
              <a:spcAft>
                <a:spcPts val="100"/>
              </a:spcAft>
            </a:pPr>
            <a:r>
              <a:rPr sz="1400">
                <a:solidFill>
                  <a:srgbClr val="9CDCFE"/>
                </a:solidFill>
                <a:latin typeface="Consolas"/>
              </a:rPr>
              <a:t>non-maximum</a:t>
            </a:r>
          </a:p>
          <a:p>
            <a:pPr>
              <a:spcAft>
                <a:spcPts val="100"/>
              </a:spcAft>
            </a:pPr>
            <a:r>
              <a:rPr sz="1400">
                <a:solidFill>
                  <a:srgbClr val="9CDCFE"/>
                </a:solidFill>
                <a:latin typeface="Consolas"/>
              </a:rPr>
              <a:t>suppression</a:t>
            </a:r>
          </a:p>
          <a:p>
            <a:pPr>
              <a:spcAft>
                <a:spcPts val="100"/>
              </a:spcAft>
            </a:pPr>
            <a:r>
              <a:rPr sz="1400">
                <a:solidFill>
                  <a:srgbClr val="9CDCFE"/>
                </a:solidFill>
                <a:latin typeface="Consolas"/>
              </a:rPr>
              <a:t>along θ</a:t>
            </a:r>
          </a:p>
        </p:txBody>
      </p:sp>
      <p:sp>
        <p:nvSpPr>
          <p:cNvPr id="18" name="TextBox 17"/>
          <p:cNvSpPr txBox="1"/>
          <p:nvPr/>
        </p:nvSpPr>
        <p:spPr>
          <a:xfrm>
            <a:off x="4596384" y="4233671"/>
            <a:ext cx="2996184" cy="1124712"/>
          </a:xfrm>
          <a:prstGeom prst="rect">
            <a:avLst/>
          </a:prstGeom>
          <a:noFill/>
        </p:spPr>
        <p:txBody>
          <a:bodyPr wrap="square" anchor="t">
            <a:spAutoFit/>
          </a:bodyPr>
          <a:lstStyle/>
          <a:p>
            <a:pPr algn="l">
              <a:spcAft>
                <a:spcPts val="400"/>
              </a:spcAft>
            </a:pPr>
            <a:r>
              <a:rPr sz="1200" b="0">
                <a:solidFill>
                  <a:srgbClr val="5B6372"/>
                </a:solidFill>
                <a:latin typeface="Arial"/>
              </a:rPr>
              <a:t>Keep a pixel only if it is the local maximum in the gradient direction. This is what turns a thick gradient ridge into a one-pixel line.</a:t>
            </a:r>
          </a:p>
        </p:txBody>
      </p:sp>
      <p:sp>
        <p:nvSpPr>
          <p:cNvPr id="19" name="Rectangle 18"/>
          <p:cNvSpPr/>
          <p:nvPr/>
        </p:nvSpPr>
        <p:spPr>
          <a:xfrm>
            <a:off x="8049768"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2648" y="2112263"/>
            <a:ext cx="2996184" cy="457200"/>
          </a:xfrm>
          <a:prstGeom prst="rect">
            <a:avLst/>
          </a:prstGeom>
          <a:noFill/>
        </p:spPr>
        <p:txBody>
          <a:bodyPr wrap="square" anchor="t">
            <a:spAutoFit/>
          </a:bodyPr>
          <a:lstStyle/>
          <a:p>
            <a:pPr algn="l">
              <a:spcAft>
                <a:spcPts val="400"/>
              </a:spcAft>
            </a:pPr>
            <a:r>
              <a:rPr sz="1500" b="1">
                <a:solidFill>
                  <a:srgbClr val="7C3AED"/>
                </a:solidFill>
                <a:latin typeface="Arial"/>
              </a:rPr>
              <a:t>Stage 4</a:t>
            </a:r>
          </a:p>
        </p:txBody>
      </p:sp>
      <p:sp>
        <p:nvSpPr>
          <p:cNvPr id="22" name="Rectangle 21"/>
          <p:cNvSpPr/>
          <p:nvPr/>
        </p:nvSpPr>
        <p:spPr>
          <a:xfrm>
            <a:off x="8232648" y="2715767"/>
            <a:ext cx="2996184" cy="17373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4088" y="2715767"/>
            <a:ext cx="2813304" cy="1737360"/>
          </a:xfrm>
          <a:prstGeom prst="rect">
            <a:avLst/>
          </a:prstGeom>
          <a:noFill/>
        </p:spPr>
        <p:txBody>
          <a:bodyPr wrap="none" lIns="0" rIns="0" tIns="0" bIns="0" anchor="ctr">
            <a:noAutofit/>
          </a:bodyPr>
          <a:lstStyle/>
          <a:p>
            <a:pPr>
              <a:spcAft>
                <a:spcPts val="100"/>
              </a:spcAft>
            </a:pPr>
            <a:r>
              <a:rPr sz="1400">
                <a:solidFill>
                  <a:srgbClr val="9CDCFE"/>
                </a:solidFill>
                <a:latin typeface="Consolas"/>
              </a:rPr>
              <a:t>hysteresis:</a:t>
            </a:r>
          </a:p>
          <a:p>
            <a:pPr>
              <a:spcAft>
                <a:spcPts val="100"/>
              </a:spcAft>
            </a:pPr>
            <a:r>
              <a:rPr sz="1400">
                <a:solidFill>
                  <a:srgbClr val="9CDCFE"/>
                </a:solidFill>
                <a:latin typeface="Consolas"/>
              </a:rPr>
              <a:t>strong  &gt; high</a:t>
            </a:r>
          </a:p>
          <a:p>
            <a:pPr>
              <a:spcAft>
                <a:spcPts val="100"/>
              </a:spcAft>
            </a:pPr>
            <a:r>
              <a:rPr sz="1400">
                <a:solidFill>
                  <a:srgbClr val="9CDCFE"/>
                </a:solidFill>
                <a:latin typeface="Consolas"/>
              </a:rPr>
              <a:t>weak    &gt; low</a:t>
            </a:r>
          </a:p>
          <a:p>
            <a:pPr>
              <a:spcAft>
                <a:spcPts val="100"/>
              </a:spcAft>
            </a:pPr>
            <a:r>
              <a:rPr sz="1400">
                <a:solidFill>
                  <a:srgbClr val="9CDCFE"/>
                </a:solidFill>
                <a:latin typeface="Consolas"/>
              </a:rPr>
              <a:t>keep weak if</a:t>
            </a:r>
          </a:p>
          <a:p>
            <a:pPr>
              <a:spcAft>
                <a:spcPts val="100"/>
              </a:spcAft>
            </a:pPr>
            <a:r>
              <a:rPr sz="1400">
                <a:solidFill>
                  <a:srgbClr val="9CDCFE"/>
                </a:solidFill>
                <a:latin typeface="Consolas"/>
              </a:rPr>
              <a:t>connected to strong</a:t>
            </a:r>
          </a:p>
        </p:txBody>
      </p:sp>
      <p:sp>
        <p:nvSpPr>
          <p:cNvPr id="24" name="TextBox 23"/>
          <p:cNvSpPr txBox="1"/>
          <p:nvPr/>
        </p:nvSpPr>
        <p:spPr>
          <a:xfrm>
            <a:off x="8232648" y="4562855"/>
            <a:ext cx="2996184" cy="795528"/>
          </a:xfrm>
          <a:prstGeom prst="rect">
            <a:avLst/>
          </a:prstGeom>
          <a:noFill/>
        </p:spPr>
        <p:txBody>
          <a:bodyPr wrap="square" anchor="t">
            <a:spAutoFit/>
          </a:bodyPr>
          <a:lstStyle/>
          <a:p>
            <a:pPr algn="l">
              <a:spcAft>
                <a:spcPts val="400"/>
              </a:spcAft>
            </a:pPr>
            <a:r>
              <a:rPr sz="1050" b="0">
                <a:solidFill>
                  <a:srgbClr val="5B6372"/>
                </a:solidFill>
                <a:latin typeface="Arial"/>
              </a:rPr>
              <a:t>Two thresholds. Pixels above `high` seed an edge; pixels above `low` continue one only if they connect to a seed. A 1:2 to 1:3 low:high ratio is the standard starting point.</a:t>
            </a:r>
          </a:p>
        </p:txBody>
      </p:sp>
      <p:sp>
        <p:nvSpPr>
          <p:cNvPr id="25" name="TextBox 2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You cannot tune Canny sensibly without knowing which stage each parameter touches. Lab 06 sweeps the ratio at a fixed high threshold and asks you to pick the one that keeps the silhouette continuous without lighting up the texture panel.</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K6, A4 · EDGE DENSITY IS A NUMBER YOU CAN THRESHOLD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Edge Detection, Measured Rather Than Eyeballed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41605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38528"/>
            <a:ext cx="6035040" cy="3849624"/>
          </a:xfrm>
          <a:prstGeom prst="rect">
            <a:avLst/>
          </a:prstGeom>
          <a:noFill/>
        </p:spPr>
        <p:txBody>
          <a:bodyPr wrap="none" lIns="0" rIns="0" tIns="0" bIns="0" anchor="t">
            <a:noAutofit/>
          </a:bodyPr>
          <a:lstStyle/>
          <a:p>
            <a:pPr>
              <a:spcAft>
                <a:spcPts val="100"/>
              </a:spcAft>
            </a:pPr>
            <a:r>
              <a:rPr sz="1010">
                <a:solidFill>
                  <a:srgbClr val="9CDCFE"/>
                </a:solidFill>
                <a:latin typeface="Consolas"/>
              </a:rPr>
              <a:t>gray = cv2.cvtColor(img, cv2.COLOR_BGR2GRAY)</a:t>
            </a:r>
          </a:p>
          <a:p>
            <a:pPr>
              <a:spcAft>
                <a:spcPts val="100"/>
              </a:spcAft>
            </a:pPr>
            <a:r>
              <a:rPr sz="1010">
                <a:solidFill>
                  <a:srgbClr val="9CDCFE"/>
                </a:solidFill>
                <a:latin typeface="Consolas"/>
              </a:rPr>
              <a:t>gray = cv2.GaussianBlur(gray, (5, 5), 1.0)      # smooth BEFORE Canny</a:t>
            </a:r>
          </a:p>
          <a:p>
            <a:pPr>
              <a:spcAft>
                <a:spcPts val="100"/>
              </a:spcAft>
            </a:pPr>
            <a:r>
              <a:rPr sz="1010">
                <a:solidFill>
                  <a:srgbClr val="9CDCFE"/>
                </a:solidFill>
                <a:latin typeface="Consolas"/>
              </a:rPr>
              <a:t> </a:t>
            </a:r>
          </a:p>
          <a:p>
            <a:pPr>
              <a:spcAft>
                <a:spcPts val="100"/>
              </a:spcAft>
            </a:pPr>
            <a:r>
              <a:rPr sz="1010">
                <a:solidFill>
                  <a:srgbClr val="9CDCFE"/>
                </a:solidFill>
                <a:latin typeface="Consolas"/>
              </a:rPr>
              <a:t>for lo, hi in [(200, 200), (100, 200), (66, 200)]:   # ratios 1:1, 1:2, 1:3</a:t>
            </a:r>
          </a:p>
          <a:p>
            <a:pPr>
              <a:spcAft>
                <a:spcPts val="100"/>
              </a:spcAft>
            </a:pPr>
            <a:r>
              <a:rPr sz="1010">
                <a:solidFill>
                  <a:srgbClr val="9CDCFE"/>
                </a:solidFill>
                <a:latin typeface="Consolas"/>
              </a:rPr>
              <a:t>    edges   = cv2.Canny(gray, lo, hi)</a:t>
            </a:r>
          </a:p>
          <a:p>
            <a:pPr>
              <a:spcAft>
                <a:spcPts val="100"/>
              </a:spcAft>
            </a:pPr>
            <a:r>
              <a:rPr sz="1010">
                <a:solidFill>
                  <a:srgbClr val="9CDCFE"/>
                </a:solidFill>
                <a:latin typeface="Consolas"/>
              </a:rPr>
              <a:t>    density = np.count_nonzero(edges) / edges.size</a:t>
            </a:r>
          </a:p>
          <a:p>
            <a:pPr>
              <a:spcAft>
                <a:spcPts val="100"/>
              </a:spcAft>
            </a:pPr>
            <a:r>
              <a:rPr sz="1010">
                <a:solidFill>
                  <a:srgbClr val="9CDCFE"/>
                </a:solidFill>
                <a:latin typeface="Consolas"/>
              </a:rPr>
              <a:t>    print(f'{lo:3d}:{hi:3d}  edge density {density:.5f}')</a:t>
            </a:r>
          </a:p>
          <a:p>
            <a:pPr>
              <a:spcAft>
                <a:spcPts val="100"/>
              </a:spcAft>
            </a:pPr>
            <a:r>
              <a:rPr sz="1010">
                <a:solidFill>
                  <a:srgbClr val="9CDCFE"/>
                </a:solidFill>
                <a:latin typeface="Consolas"/>
              </a:rPr>
              <a:t> </a:t>
            </a:r>
          </a:p>
          <a:p>
            <a:pPr>
              <a:spcAft>
                <a:spcPts val="100"/>
              </a:spcAft>
            </a:pPr>
            <a:r>
              <a:rPr sz="1010">
                <a:solidFill>
                  <a:srgbClr val="9CDCFE"/>
                </a:solidFill>
                <a:latin typeface="Consolas"/>
              </a:rPr>
              <a:t># Sobel on its own, if you want the gradient rather than the binary map</a:t>
            </a:r>
          </a:p>
          <a:p>
            <a:pPr>
              <a:spcAft>
                <a:spcPts val="100"/>
              </a:spcAft>
            </a:pPr>
            <a:r>
              <a:rPr sz="1010">
                <a:solidFill>
                  <a:srgbClr val="9CDCFE"/>
                </a:solidFill>
                <a:latin typeface="Consolas"/>
              </a:rPr>
              <a:t>gx = cv2.Sobel(gray, cv2.CV_64F, 1, 0, ksize=3)</a:t>
            </a:r>
          </a:p>
          <a:p>
            <a:pPr>
              <a:spcAft>
                <a:spcPts val="100"/>
              </a:spcAft>
            </a:pPr>
            <a:r>
              <a:rPr sz="1010">
                <a:solidFill>
                  <a:srgbClr val="9CDCFE"/>
                </a:solidFill>
                <a:latin typeface="Consolas"/>
              </a:rPr>
              <a:t>gy = cv2.Sobel(gray, cv2.CV_64F, 0, 1, ksize=3)</a:t>
            </a:r>
          </a:p>
          <a:p>
            <a:pPr>
              <a:spcAft>
                <a:spcPts val="100"/>
              </a:spcAft>
            </a:pPr>
            <a:r>
              <a:rPr sz="1010">
                <a:solidFill>
                  <a:srgbClr val="9CDCFE"/>
                </a:solidFill>
                <a:latin typeface="Consolas"/>
              </a:rPr>
              <a:t>mag, ang = cv2.cartToPolar(gx, gy, angleInDegrees=True)</a:t>
            </a:r>
          </a:p>
          <a:p>
            <a:pPr>
              <a:spcAft>
                <a:spcPts val="100"/>
              </a:spcAft>
            </a:pPr>
            <a:r>
              <a:rPr sz="1010">
                <a:solidFill>
                  <a:srgbClr val="9CDCFE"/>
                </a:solidFill>
                <a:latin typeface="Consolas"/>
              </a:rPr>
              <a:t> </a:t>
            </a:r>
          </a:p>
          <a:p>
            <a:pPr>
              <a:spcAft>
                <a:spcPts val="100"/>
              </a:spcAft>
            </a:pPr>
            <a:r>
              <a:rPr sz="1010">
                <a:solidFill>
                  <a:srgbClr val="9CDCFE"/>
                </a:solidFill>
                <a:latin typeface="Consolas"/>
              </a:rPr>
              <a:t># Laplacian — second derivative, one call, no direction information</a:t>
            </a:r>
          </a:p>
          <a:p>
            <a:pPr>
              <a:spcAft>
                <a:spcPts val="100"/>
              </a:spcAft>
            </a:pPr>
            <a:r>
              <a:rPr sz="1010">
                <a:solidFill>
                  <a:srgbClr val="9CDCFE"/>
                </a:solidFill>
                <a:latin typeface="Consolas"/>
              </a:rPr>
              <a:t>lap = cv2.Laplacian(gray, cv2.CV_64F, ksize=3)</a:t>
            </a:r>
          </a:p>
        </p:txBody>
      </p:sp>
      <p:sp>
        <p:nvSpPr>
          <p:cNvPr id="9" name="Rectangle 8"/>
          <p:cNvSpPr/>
          <p:nvPr/>
        </p:nvSpPr>
        <p:spPr>
          <a:xfrm>
            <a:off x="7406640" y="1783080"/>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783080"/>
            <a:ext cx="82296" cy="9166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6096" y="1783080"/>
            <a:ext cx="3602736" cy="916686"/>
          </a:xfrm>
          <a:prstGeom prst="rect">
            <a:avLst/>
          </a:prstGeom>
          <a:noFill/>
        </p:spPr>
        <p:txBody>
          <a:bodyPr wrap="square" anchor="ctr">
            <a:spAutoFit/>
          </a:bodyPr>
          <a:lstStyle/>
          <a:p>
            <a:pPr algn="l">
              <a:spcAft>
                <a:spcPts val="200"/>
              </a:spcAft>
            </a:pPr>
            <a:r>
              <a:rPr sz="1300" b="1">
                <a:solidFill>
                  <a:srgbClr val="1F6FEB"/>
                </a:solidFill>
                <a:latin typeface="Arial"/>
              </a:rPr>
              <a:t>Edge density is the metric</a:t>
            </a:r>
          </a:p>
          <a:p>
            <a:pPr algn="l">
              <a:spcAft>
                <a:spcPts val="200"/>
              </a:spcAft>
            </a:pPr>
            <a:r>
              <a:rPr sz="1150" b="0">
                <a:solidFill>
                  <a:srgbClr val="161B26"/>
                </a:solidFill>
                <a:latin typeface="Arial"/>
              </a:rPr>
              <a:t>Non-zero pixels divided by total pixels. It is what catches an over-smoothed or over-sharpened delivery in Lab 07.</a:t>
            </a:r>
          </a:p>
        </p:txBody>
      </p:sp>
      <p:sp>
        <p:nvSpPr>
          <p:cNvPr id="12" name="Rectangle 11"/>
          <p:cNvSpPr/>
          <p:nvPr/>
        </p:nvSpPr>
        <p:spPr>
          <a:xfrm>
            <a:off x="7406640" y="2864358"/>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2864358"/>
            <a:ext cx="82296" cy="91668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2864358"/>
            <a:ext cx="3602736" cy="916686"/>
          </a:xfrm>
          <a:prstGeom prst="rect">
            <a:avLst/>
          </a:prstGeom>
          <a:noFill/>
        </p:spPr>
        <p:txBody>
          <a:bodyPr wrap="square" anchor="ctr">
            <a:spAutoFit/>
          </a:bodyPr>
          <a:lstStyle/>
          <a:p>
            <a:pPr algn="l">
              <a:spcAft>
                <a:spcPts val="200"/>
              </a:spcAft>
            </a:pPr>
            <a:r>
              <a:rPr sz="1300" b="1">
                <a:solidFill>
                  <a:srgbClr val="10B981"/>
                </a:solidFill>
                <a:latin typeface="Arial"/>
              </a:rPr>
              <a:t>Lower low-threshold, more edges</a:t>
            </a:r>
          </a:p>
          <a:p>
            <a:pPr algn="l">
              <a:spcAft>
                <a:spcPts val="200"/>
              </a:spcAft>
            </a:pPr>
            <a:r>
              <a:rPr sz="1150" b="0">
                <a:solidFill>
                  <a:srgbClr val="161B26"/>
                </a:solidFill>
                <a:latin typeface="Arial"/>
              </a:rPr>
              <a:t>Density is non-decreasing as the low threshold falls on the same smoothed image.</a:t>
            </a:r>
          </a:p>
        </p:txBody>
      </p:sp>
      <p:sp>
        <p:nvSpPr>
          <p:cNvPr id="15" name="Rectangle 14"/>
          <p:cNvSpPr/>
          <p:nvPr/>
        </p:nvSpPr>
        <p:spPr>
          <a:xfrm>
            <a:off x="7406640" y="3945636"/>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3945636"/>
            <a:ext cx="82296" cy="91668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6096" y="3945636"/>
            <a:ext cx="3602736" cy="916686"/>
          </a:xfrm>
          <a:prstGeom prst="rect">
            <a:avLst/>
          </a:prstGeom>
          <a:noFill/>
        </p:spPr>
        <p:txBody>
          <a:bodyPr wrap="square" anchor="ctr">
            <a:spAutoFit/>
          </a:bodyPr>
          <a:lstStyle/>
          <a:p>
            <a:pPr algn="l">
              <a:spcAft>
                <a:spcPts val="200"/>
              </a:spcAft>
            </a:pPr>
            <a:r>
              <a:rPr sz="1300" b="1">
                <a:solidFill>
                  <a:srgbClr val="7C3AED"/>
                </a:solidFill>
                <a:latin typeface="Arial"/>
              </a:rPr>
              <a:t>Sobel keeps direction</a:t>
            </a:r>
          </a:p>
          <a:p>
            <a:pPr algn="l">
              <a:spcAft>
                <a:spcPts val="200"/>
              </a:spcAft>
            </a:pPr>
            <a:r>
              <a:rPr sz="1150" b="0">
                <a:solidFill>
                  <a:srgbClr val="161B26"/>
                </a:solidFill>
                <a:latin typeface="Arial"/>
              </a:rPr>
              <a:t>Canny throws the angle away. Keep Sobel when you need orientation — HOG is built on exactly this.</a:t>
            </a:r>
          </a:p>
        </p:txBody>
      </p:sp>
      <p:sp>
        <p:nvSpPr>
          <p:cNvPr id="18" name="Rectangle 17"/>
          <p:cNvSpPr/>
          <p:nvPr/>
        </p:nvSpPr>
        <p:spPr>
          <a:xfrm>
            <a:off x="7406640" y="5026914"/>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5026914"/>
            <a:ext cx="82296" cy="91668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5026914"/>
            <a:ext cx="3602736" cy="916686"/>
          </a:xfrm>
          <a:prstGeom prst="rect">
            <a:avLst/>
          </a:prstGeom>
          <a:noFill/>
        </p:spPr>
        <p:txBody>
          <a:bodyPr wrap="square" anchor="ctr">
            <a:spAutoFit/>
          </a:bodyPr>
          <a:lstStyle/>
          <a:p>
            <a:pPr algn="l">
              <a:spcAft>
                <a:spcPts val="200"/>
              </a:spcAft>
            </a:pPr>
            <a:r>
              <a:rPr sz="1300" b="1">
                <a:solidFill>
                  <a:srgbClr val="F59E0B"/>
                </a:solidFill>
                <a:latin typeface="Arial"/>
              </a:rPr>
              <a:t>Laplacian is isotropic</a:t>
            </a:r>
          </a:p>
          <a:p>
            <a:pPr algn="l">
              <a:spcAft>
                <a:spcPts val="200"/>
              </a:spcAft>
            </a:pPr>
            <a:r>
              <a:rPr sz="1150" b="0">
                <a:solidFill>
                  <a:srgbClr val="161B26"/>
                </a:solidFill>
                <a:latin typeface="Arial"/>
              </a:rPr>
              <a:t>One kernel, no direction. Cheaper, noisier, and the basis of a common focus measure.</a:t>
            </a:r>
          </a:p>
        </p:txBody>
      </p:sp>
      <p:sp>
        <p:nvSpPr>
          <p:cNvPr id="21" name="Rectangle 20"/>
          <p:cNvSpPr/>
          <p:nvPr/>
        </p:nvSpPr>
        <p:spPr>
          <a:xfrm>
            <a:off x="777240" y="6053328"/>
            <a:ext cx="10634472" cy="4023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6053328"/>
            <a:ext cx="10241280" cy="402336"/>
          </a:xfrm>
          <a:prstGeom prst="rect">
            <a:avLst/>
          </a:prstGeom>
          <a:noFill/>
        </p:spPr>
        <p:txBody>
          <a:bodyPr wrap="square" anchor="ctr">
            <a:spAutoFit/>
          </a:bodyPr>
          <a:lstStyle/>
          <a:p>
            <a:pPr algn="l">
              <a:spcAft>
                <a:spcPts val="400"/>
              </a:spcAft>
            </a:pPr>
            <a:r>
              <a:rPr sz="1100" b="1">
                <a:solidFill>
                  <a:srgbClr val="127A3E"/>
                </a:solidFill>
                <a:latin typeface="Arial"/>
              </a:rPr>
              <a:t>VERIFY   </a:t>
            </a:r>
            <a:r>
              <a:rPr sz="1200" b="0">
                <a:solidFill>
                  <a:srgbClr val="161B26"/>
                </a:solidFill>
                <a:latin typeface="Arial"/>
              </a:rPr>
              <a:t>Lab 06 writes every one of these densities into out/features-report.json so the choice of ratio is recorded, not remembered.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K6 · NAME TWO CORNER FEATURE DETECTION METHODS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Corner and Keypoint Detectors — What Each Is Invariant To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382481"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1199601" cy="600891"/>
          </a:xfrm>
          <a:prstGeom prst="rect">
            <a:avLst/>
          </a:prstGeom>
          <a:noFill/>
        </p:spPr>
        <p:txBody>
          <a:bodyPr wrap="square" anchor="ctr">
            <a:spAutoFit/>
          </a:bodyPr>
          <a:lstStyle/>
          <a:p>
            <a:pPr algn="l">
              <a:spcAft>
                <a:spcPts val="400"/>
              </a:spcAft>
            </a:pPr>
            <a:r>
              <a:rPr sz="1050" b="1">
                <a:solidFill>
                  <a:srgbClr val="FFFFFF"/>
                </a:solidFill>
                <a:latin typeface="Arial"/>
              </a:rPr>
              <a:t>Detector</a:t>
            </a:r>
          </a:p>
        </p:txBody>
      </p:sp>
      <p:sp>
        <p:nvSpPr>
          <p:cNvPr id="9" name="Rectangle 8"/>
          <p:cNvSpPr/>
          <p:nvPr/>
        </p:nvSpPr>
        <p:spPr>
          <a:xfrm>
            <a:off x="2159721" y="1783080"/>
            <a:ext cx="4253788"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69449" y="1783080"/>
            <a:ext cx="4070908" cy="600891"/>
          </a:xfrm>
          <a:prstGeom prst="rect">
            <a:avLst/>
          </a:prstGeom>
          <a:noFill/>
        </p:spPr>
        <p:txBody>
          <a:bodyPr wrap="square" anchor="ctr">
            <a:spAutoFit/>
          </a:bodyPr>
          <a:lstStyle/>
          <a:p>
            <a:pPr algn="l">
              <a:spcAft>
                <a:spcPts val="400"/>
              </a:spcAft>
            </a:pPr>
            <a:r>
              <a:rPr sz="1050" b="1">
                <a:solidFill>
                  <a:srgbClr val="FFFFFF"/>
                </a:solidFill>
                <a:latin typeface="Arial"/>
              </a:rPr>
              <a:t>Mechanism</a:t>
            </a:r>
          </a:p>
        </p:txBody>
      </p:sp>
      <p:sp>
        <p:nvSpPr>
          <p:cNvPr id="11" name="Rectangle 10"/>
          <p:cNvSpPr/>
          <p:nvPr/>
        </p:nvSpPr>
        <p:spPr>
          <a:xfrm>
            <a:off x="6413509" y="1783080"/>
            <a:ext cx="1382481"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3237" y="1783080"/>
            <a:ext cx="1199601" cy="600891"/>
          </a:xfrm>
          <a:prstGeom prst="rect">
            <a:avLst/>
          </a:prstGeom>
          <a:noFill/>
        </p:spPr>
        <p:txBody>
          <a:bodyPr wrap="square" anchor="ctr">
            <a:spAutoFit/>
          </a:bodyPr>
          <a:lstStyle/>
          <a:p>
            <a:pPr algn="l">
              <a:spcAft>
                <a:spcPts val="400"/>
              </a:spcAft>
            </a:pPr>
            <a:r>
              <a:rPr sz="1050" b="1">
                <a:solidFill>
                  <a:srgbClr val="FFFFFF"/>
                </a:solidFill>
                <a:latin typeface="Arial"/>
              </a:rPr>
              <a:t>Rotation</a:t>
            </a:r>
          </a:p>
        </p:txBody>
      </p:sp>
      <p:sp>
        <p:nvSpPr>
          <p:cNvPr id="13" name="Rectangle 12"/>
          <p:cNvSpPr/>
          <p:nvPr/>
        </p:nvSpPr>
        <p:spPr>
          <a:xfrm>
            <a:off x="7795990" y="1783080"/>
            <a:ext cx="1063447"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5718" y="1783080"/>
            <a:ext cx="880567" cy="600891"/>
          </a:xfrm>
          <a:prstGeom prst="rect">
            <a:avLst/>
          </a:prstGeom>
          <a:noFill/>
        </p:spPr>
        <p:txBody>
          <a:bodyPr wrap="square" anchor="ctr">
            <a:spAutoFit/>
          </a:bodyPr>
          <a:lstStyle/>
          <a:p>
            <a:pPr algn="l">
              <a:spcAft>
                <a:spcPts val="400"/>
              </a:spcAft>
            </a:pPr>
            <a:r>
              <a:rPr sz="1050" b="1">
                <a:solidFill>
                  <a:srgbClr val="FFFFFF"/>
                </a:solidFill>
                <a:latin typeface="Arial"/>
              </a:rPr>
              <a:t>Scale</a:t>
            </a:r>
          </a:p>
        </p:txBody>
      </p:sp>
      <p:sp>
        <p:nvSpPr>
          <p:cNvPr id="15" name="Rectangle 14"/>
          <p:cNvSpPr/>
          <p:nvPr/>
        </p:nvSpPr>
        <p:spPr>
          <a:xfrm>
            <a:off x="8859437" y="1783080"/>
            <a:ext cx="2552273"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9165" y="1783080"/>
            <a:ext cx="2369393" cy="600891"/>
          </a:xfrm>
          <a:prstGeom prst="rect">
            <a:avLst/>
          </a:prstGeom>
          <a:noFill/>
        </p:spPr>
        <p:txBody>
          <a:bodyPr wrap="square" anchor="ctr">
            <a:spAutoFit/>
          </a:bodyPr>
          <a:lstStyle/>
          <a:p>
            <a:pPr algn="l">
              <a:spcAft>
                <a:spcPts val="400"/>
              </a:spcAft>
            </a:pPr>
            <a:r>
              <a:rPr sz="1050" b="1">
                <a:solidFill>
                  <a:srgbClr val="FFFFFF"/>
                </a:solidFill>
                <a:latin typeface="Arial"/>
              </a:rPr>
              <a:t>Descriptor</a:t>
            </a:r>
          </a:p>
        </p:txBody>
      </p:sp>
      <p:sp>
        <p:nvSpPr>
          <p:cNvPr id="17" name="Rectangle 16"/>
          <p:cNvSpPr/>
          <p:nvPr/>
        </p:nvSpPr>
        <p:spPr>
          <a:xfrm>
            <a:off x="777240" y="2383971"/>
            <a:ext cx="1382481"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2383971"/>
            <a:ext cx="1199601" cy="600891"/>
          </a:xfrm>
          <a:prstGeom prst="rect">
            <a:avLst/>
          </a:prstGeom>
          <a:noFill/>
        </p:spPr>
        <p:txBody>
          <a:bodyPr wrap="square" anchor="ctr">
            <a:spAutoFit/>
          </a:bodyPr>
          <a:lstStyle/>
          <a:p>
            <a:pPr algn="l">
              <a:spcAft>
                <a:spcPts val="400"/>
              </a:spcAft>
            </a:pPr>
            <a:r>
              <a:rPr sz="950" b="1">
                <a:solidFill>
                  <a:srgbClr val="161B26"/>
                </a:solidFill>
                <a:latin typeface="Arial"/>
              </a:rPr>
              <a:t>Harris</a:t>
            </a:r>
          </a:p>
        </p:txBody>
      </p:sp>
      <p:sp>
        <p:nvSpPr>
          <p:cNvPr id="19" name="Rectangle 18"/>
          <p:cNvSpPr/>
          <p:nvPr/>
        </p:nvSpPr>
        <p:spPr>
          <a:xfrm>
            <a:off x="2159721" y="2383971"/>
            <a:ext cx="425378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69449" y="2383971"/>
            <a:ext cx="4070908" cy="600891"/>
          </a:xfrm>
          <a:prstGeom prst="rect">
            <a:avLst/>
          </a:prstGeom>
          <a:noFill/>
        </p:spPr>
        <p:txBody>
          <a:bodyPr wrap="square" anchor="ctr">
            <a:spAutoFit/>
          </a:bodyPr>
          <a:lstStyle/>
          <a:p>
            <a:pPr algn="l">
              <a:spcAft>
                <a:spcPts val="400"/>
              </a:spcAft>
            </a:pPr>
            <a:r>
              <a:rPr sz="950" b="0">
                <a:solidFill>
                  <a:srgbClr val="161B26"/>
                </a:solidFill>
                <a:latin typeface="Arial"/>
              </a:rPr>
              <a:t>Intensity variation in ALL directions, via the structure tensor</a:t>
            </a:r>
          </a:p>
        </p:txBody>
      </p:sp>
      <p:sp>
        <p:nvSpPr>
          <p:cNvPr id="21" name="Rectangle 20"/>
          <p:cNvSpPr/>
          <p:nvPr/>
        </p:nvSpPr>
        <p:spPr>
          <a:xfrm>
            <a:off x="6413509" y="2383971"/>
            <a:ext cx="1382481"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23237" y="2383971"/>
            <a:ext cx="1199601" cy="600891"/>
          </a:xfrm>
          <a:prstGeom prst="rect">
            <a:avLst/>
          </a:prstGeom>
          <a:noFill/>
        </p:spPr>
        <p:txBody>
          <a:bodyPr wrap="square" anchor="ctr">
            <a:spAutoFit/>
          </a:bodyPr>
          <a:lstStyle/>
          <a:p>
            <a:pPr algn="l">
              <a:spcAft>
                <a:spcPts val="400"/>
              </a:spcAft>
            </a:pPr>
            <a:r>
              <a:rPr sz="950" b="0">
                <a:solidFill>
                  <a:srgbClr val="161B26"/>
                </a:solidFill>
                <a:latin typeface="Arial"/>
              </a:rPr>
              <a:t>Covariant</a:t>
            </a:r>
          </a:p>
        </p:txBody>
      </p:sp>
      <p:sp>
        <p:nvSpPr>
          <p:cNvPr id="23" name="Rectangle 22"/>
          <p:cNvSpPr/>
          <p:nvPr/>
        </p:nvSpPr>
        <p:spPr>
          <a:xfrm>
            <a:off x="7795990" y="2383971"/>
            <a:ext cx="1063447"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05718" y="2383971"/>
            <a:ext cx="880567" cy="600891"/>
          </a:xfrm>
          <a:prstGeom prst="rect">
            <a:avLst/>
          </a:prstGeom>
          <a:noFill/>
        </p:spPr>
        <p:txBody>
          <a:bodyPr wrap="square" anchor="ctr">
            <a:spAutoFit/>
          </a:bodyPr>
          <a:lstStyle/>
          <a:p>
            <a:pPr algn="l">
              <a:spcAft>
                <a:spcPts val="400"/>
              </a:spcAft>
            </a:pPr>
            <a:r>
              <a:rPr sz="950" b="0">
                <a:solidFill>
                  <a:srgbClr val="161B26"/>
                </a:solidFill>
                <a:latin typeface="Arial"/>
              </a:rPr>
              <a:t>No</a:t>
            </a:r>
          </a:p>
        </p:txBody>
      </p:sp>
      <p:sp>
        <p:nvSpPr>
          <p:cNvPr id="25" name="Rectangle 24"/>
          <p:cNvSpPr/>
          <p:nvPr/>
        </p:nvSpPr>
        <p:spPr>
          <a:xfrm>
            <a:off x="8859437" y="2383971"/>
            <a:ext cx="2552273"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9165" y="2383971"/>
            <a:ext cx="2369393" cy="600891"/>
          </a:xfrm>
          <a:prstGeom prst="rect">
            <a:avLst/>
          </a:prstGeom>
          <a:noFill/>
        </p:spPr>
        <p:txBody>
          <a:bodyPr wrap="square" anchor="ctr">
            <a:spAutoFit/>
          </a:bodyPr>
          <a:lstStyle/>
          <a:p>
            <a:pPr algn="l">
              <a:spcAft>
                <a:spcPts val="400"/>
              </a:spcAft>
            </a:pPr>
            <a:r>
              <a:rPr sz="950" b="0">
                <a:solidFill>
                  <a:srgbClr val="161B26"/>
                </a:solidFill>
                <a:latin typeface="Arial"/>
              </a:rPr>
              <a:t>None — a response map</a:t>
            </a:r>
          </a:p>
        </p:txBody>
      </p:sp>
      <p:sp>
        <p:nvSpPr>
          <p:cNvPr id="27" name="Rectangle 26"/>
          <p:cNvSpPr/>
          <p:nvPr/>
        </p:nvSpPr>
        <p:spPr>
          <a:xfrm>
            <a:off x="777240" y="2984862"/>
            <a:ext cx="1382481"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6968" y="2984862"/>
            <a:ext cx="1199601" cy="600891"/>
          </a:xfrm>
          <a:prstGeom prst="rect">
            <a:avLst/>
          </a:prstGeom>
          <a:noFill/>
        </p:spPr>
        <p:txBody>
          <a:bodyPr wrap="square" anchor="ctr">
            <a:spAutoFit/>
          </a:bodyPr>
          <a:lstStyle/>
          <a:p>
            <a:pPr algn="l">
              <a:spcAft>
                <a:spcPts val="400"/>
              </a:spcAft>
            </a:pPr>
            <a:r>
              <a:rPr sz="950" b="1">
                <a:solidFill>
                  <a:srgbClr val="161B26"/>
                </a:solidFill>
                <a:latin typeface="Arial"/>
              </a:rPr>
              <a:t>Shi-Tomasi</a:t>
            </a:r>
          </a:p>
        </p:txBody>
      </p:sp>
      <p:sp>
        <p:nvSpPr>
          <p:cNvPr id="29" name="Rectangle 28"/>
          <p:cNvSpPr/>
          <p:nvPr/>
        </p:nvSpPr>
        <p:spPr>
          <a:xfrm>
            <a:off x="2159721" y="2984862"/>
            <a:ext cx="425378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269449" y="2984862"/>
            <a:ext cx="4070908" cy="600891"/>
          </a:xfrm>
          <a:prstGeom prst="rect">
            <a:avLst/>
          </a:prstGeom>
          <a:noFill/>
        </p:spPr>
        <p:txBody>
          <a:bodyPr wrap="square" anchor="ctr">
            <a:spAutoFit/>
          </a:bodyPr>
          <a:lstStyle/>
          <a:p>
            <a:pPr algn="l">
              <a:spcAft>
                <a:spcPts val="400"/>
              </a:spcAft>
            </a:pPr>
            <a:r>
              <a:rPr sz="950" b="0">
                <a:solidFill>
                  <a:srgbClr val="161B26"/>
                </a:solidFill>
                <a:latin typeface="Arial"/>
              </a:rPr>
              <a:t>Harris with a minimum-eigenvalue score and minimum spacing</a:t>
            </a:r>
          </a:p>
        </p:txBody>
      </p:sp>
      <p:sp>
        <p:nvSpPr>
          <p:cNvPr id="31" name="Rectangle 30"/>
          <p:cNvSpPr/>
          <p:nvPr/>
        </p:nvSpPr>
        <p:spPr>
          <a:xfrm>
            <a:off x="6413509" y="2984862"/>
            <a:ext cx="1382481"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23237" y="2984862"/>
            <a:ext cx="1199601" cy="600891"/>
          </a:xfrm>
          <a:prstGeom prst="rect">
            <a:avLst/>
          </a:prstGeom>
          <a:noFill/>
        </p:spPr>
        <p:txBody>
          <a:bodyPr wrap="square" anchor="ctr">
            <a:spAutoFit/>
          </a:bodyPr>
          <a:lstStyle/>
          <a:p>
            <a:pPr algn="l">
              <a:spcAft>
                <a:spcPts val="400"/>
              </a:spcAft>
            </a:pPr>
            <a:r>
              <a:rPr sz="950" b="0">
                <a:solidFill>
                  <a:srgbClr val="161B26"/>
                </a:solidFill>
                <a:latin typeface="Arial"/>
              </a:rPr>
              <a:t>Covariant</a:t>
            </a:r>
          </a:p>
        </p:txBody>
      </p:sp>
      <p:sp>
        <p:nvSpPr>
          <p:cNvPr id="33" name="Rectangle 32"/>
          <p:cNvSpPr/>
          <p:nvPr/>
        </p:nvSpPr>
        <p:spPr>
          <a:xfrm>
            <a:off x="7795990" y="2984862"/>
            <a:ext cx="1063447"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05718" y="2984862"/>
            <a:ext cx="880567" cy="600891"/>
          </a:xfrm>
          <a:prstGeom prst="rect">
            <a:avLst/>
          </a:prstGeom>
          <a:noFill/>
        </p:spPr>
        <p:txBody>
          <a:bodyPr wrap="square" anchor="ctr">
            <a:spAutoFit/>
          </a:bodyPr>
          <a:lstStyle/>
          <a:p>
            <a:pPr algn="l">
              <a:spcAft>
                <a:spcPts val="400"/>
              </a:spcAft>
            </a:pPr>
            <a:r>
              <a:rPr sz="950" b="0">
                <a:solidFill>
                  <a:srgbClr val="161B26"/>
                </a:solidFill>
                <a:latin typeface="Arial"/>
              </a:rPr>
              <a:t>No</a:t>
            </a:r>
          </a:p>
        </p:txBody>
      </p:sp>
      <p:sp>
        <p:nvSpPr>
          <p:cNvPr id="35" name="Rectangle 34"/>
          <p:cNvSpPr/>
          <p:nvPr/>
        </p:nvSpPr>
        <p:spPr>
          <a:xfrm>
            <a:off x="8859437" y="2984862"/>
            <a:ext cx="2552273"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969165" y="2984862"/>
            <a:ext cx="2369393" cy="600891"/>
          </a:xfrm>
          <a:prstGeom prst="rect">
            <a:avLst/>
          </a:prstGeom>
          <a:noFill/>
        </p:spPr>
        <p:txBody>
          <a:bodyPr wrap="square" anchor="ctr">
            <a:spAutoFit/>
          </a:bodyPr>
          <a:lstStyle/>
          <a:p>
            <a:pPr algn="l">
              <a:spcAft>
                <a:spcPts val="400"/>
              </a:spcAft>
            </a:pPr>
            <a:r>
              <a:rPr sz="950" b="0">
                <a:solidFill>
                  <a:srgbClr val="161B26"/>
                </a:solidFill>
                <a:latin typeface="Arial"/>
              </a:rPr>
              <a:t>None — a point set</a:t>
            </a:r>
          </a:p>
        </p:txBody>
      </p:sp>
      <p:sp>
        <p:nvSpPr>
          <p:cNvPr id="37" name="Rectangle 36"/>
          <p:cNvSpPr/>
          <p:nvPr/>
        </p:nvSpPr>
        <p:spPr>
          <a:xfrm>
            <a:off x="777240" y="3585753"/>
            <a:ext cx="1382481"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3585753"/>
            <a:ext cx="1199601" cy="600891"/>
          </a:xfrm>
          <a:prstGeom prst="rect">
            <a:avLst/>
          </a:prstGeom>
          <a:noFill/>
        </p:spPr>
        <p:txBody>
          <a:bodyPr wrap="square" anchor="ctr">
            <a:spAutoFit/>
          </a:bodyPr>
          <a:lstStyle/>
          <a:p>
            <a:pPr algn="l">
              <a:spcAft>
                <a:spcPts val="400"/>
              </a:spcAft>
            </a:pPr>
            <a:r>
              <a:rPr sz="950" b="1">
                <a:solidFill>
                  <a:srgbClr val="161B26"/>
                </a:solidFill>
                <a:latin typeface="Arial"/>
              </a:rPr>
              <a:t>FAST</a:t>
            </a:r>
          </a:p>
        </p:txBody>
      </p:sp>
      <p:sp>
        <p:nvSpPr>
          <p:cNvPr id="39" name="Rectangle 38"/>
          <p:cNvSpPr/>
          <p:nvPr/>
        </p:nvSpPr>
        <p:spPr>
          <a:xfrm>
            <a:off x="2159721" y="3585753"/>
            <a:ext cx="425378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269449" y="3585753"/>
            <a:ext cx="4070908" cy="600891"/>
          </a:xfrm>
          <a:prstGeom prst="rect">
            <a:avLst/>
          </a:prstGeom>
          <a:noFill/>
        </p:spPr>
        <p:txBody>
          <a:bodyPr wrap="square" anchor="ctr">
            <a:spAutoFit/>
          </a:bodyPr>
          <a:lstStyle/>
          <a:p>
            <a:pPr algn="l">
              <a:spcAft>
                <a:spcPts val="400"/>
              </a:spcAft>
            </a:pPr>
            <a:r>
              <a:rPr sz="950" b="0">
                <a:solidFill>
                  <a:srgbClr val="161B26"/>
                </a:solidFill>
                <a:latin typeface="Arial"/>
              </a:rPr>
              <a:t>Segment test on a ring of 16 pixels around the candidate</a:t>
            </a:r>
          </a:p>
        </p:txBody>
      </p:sp>
      <p:sp>
        <p:nvSpPr>
          <p:cNvPr id="41" name="Rectangle 40"/>
          <p:cNvSpPr/>
          <p:nvPr/>
        </p:nvSpPr>
        <p:spPr>
          <a:xfrm>
            <a:off x="6413509" y="3585753"/>
            <a:ext cx="1382481"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23237" y="3585753"/>
            <a:ext cx="1199601" cy="600891"/>
          </a:xfrm>
          <a:prstGeom prst="rect">
            <a:avLst/>
          </a:prstGeom>
          <a:noFill/>
        </p:spPr>
        <p:txBody>
          <a:bodyPr wrap="square" anchor="ctr">
            <a:spAutoFit/>
          </a:bodyPr>
          <a:lstStyle/>
          <a:p>
            <a:pPr algn="l">
              <a:spcAft>
                <a:spcPts val="400"/>
              </a:spcAft>
            </a:pPr>
            <a:r>
              <a:rPr sz="950" b="0">
                <a:solidFill>
                  <a:srgbClr val="161B26"/>
                </a:solidFill>
                <a:latin typeface="Arial"/>
              </a:rPr>
              <a:t>Partially</a:t>
            </a:r>
          </a:p>
        </p:txBody>
      </p:sp>
      <p:sp>
        <p:nvSpPr>
          <p:cNvPr id="43" name="Rectangle 42"/>
          <p:cNvSpPr/>
          <p:nvPr/>
        </p:nvSpPr>
        <p:spPr>
          <a:xfrm>
            <a:off x="7795990" y="3585753"/>
            <a:ext cx="1063447"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905718" y="3585753"/>
            <a:ext cx="880567" cy="600891"/>
          </a:xfrm>
          <a:prstGeom prst="rect">
            <a:avLst/>
          </a:prstGeom>
          <a:noFill/>
        </p:spPr>
        <p:txBody>
          <a:bodyPr wrap="square" anchor="ctr">
            <a:spAutoFit/>
          </a:bodyPr>
          <a:lstStyle/>
          <a:p>
            <a:pPr algn="l">
              <a:spcAft>
                <a:spcPts val="400"/>
              </a:spcAft>
            </a:pPr>
            <a:r>
              <a:rPr sz="950" b="0">
                <a:solidFill>
                  <a:srgbClr val="161B26"/>
                </a:solidFill>
                <a:latin typeface="Arial"/>
              </a:rPr>
              <a:t>No</a:t>
            </a:r>
          </a:p>
        </p:txBody>
      </p:sp>
      <p:sp>
        <p:nvSpPr>
          <p:cNvPr id="45" name="Rectangle 44"/>
          <p:cNvSpPr/>
          <p:nvPr/>
        </p:nvSpPr>
        <p:spPr>
          <a:xfrm>
            <a:off x="8859437" y="3585753"/>
            <a:ext cx="2552273"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9165" y="3585753"/>
            <a:ext cx="2369393" cy="600891"/>
          </a:xfrm>
          <a:prstGeom prst="rect">
            <a:avLst/>
          </a:prstGeom>
          <a:noFill/>
        </p:spPr>
        <p:txBody>
          <a:bodyPr wrap="square" anchor="ctr">
            <a:spAutoFit/>
          </a:bodyPr>
          <a:lstStyle/>
          <a:p>
            <a:pPr algn="l">
              <a:spcAft>
                <a:spcPts val="400"/>
              </a:spcAft>
            </a:pPr>
            <a:r>
              <a:rPr sz="950" b="0">
                <a:solidFill>
                  <a:srgbClr val="161B26"/>
                </a:solidFill>
                <a:latin typeface="Arial"/>
              </a:rPr>
              <a:t>None — detector only</a:t>
            </a:r>
          </a:p>
        </p:txBody>
      </p:sp>
      <p:sp>
        <p:nvSpPr>
          <p:cNvPr id="47" name="Rectangle 46"/>
          <p:cNvSpPr/>
          <p:nvPr/>
        </p:nvSpPr>
        <p:spPr>
          <a:xfrm>
            <a:off x="777240" y="4186644"/>
            <a:ext cx="1382481"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6968" y="4186644"/>
            <a:ext cx="1199601" cy="600891"/>
          </a:xfrm>
          <a:prstGeom prst="rect">
            <a:avLst/>
          </a:prstGeom>
          <a:noFill/>
        </p:spPr>
        <p:txBody>
          <a:bodyPr wrap="square" anchor="ctr">
            <a:spAutoFit/>
          </a:bodyPr>
          <a:lstStyle/>
          <a:p>
            <a:pPr algn="l">
              <a:spcAft>
                <a:spcPts val="400"/>
              </a:spcAft>
            </a:pPr>
            <a:r>
              <a:rPr sz="950" b="1">
                <a:solidFill>
                  <a:srgbClr val="161B26"/>
                </a:solidFill>
                <a:latin typeface="Arial"/>
              </a:rPr>
              <a:t>ORB</a:t>
            </a:r>
          </a:p>
        </p:txBody>
      </p:sp>
      <p:sp>
        <p:nvSpPr>
          <p:cNvPr id="49" name="Rectangle 48"/>
          <p:cNvSpPr/>
          <p:nvPr/>
        </p:nvSpPr>
        <p:spPr>
          <a:xfrm>
            <a:off x="2159721" y="4186644"/>
            <a:ext cx="425378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269449" y="4186644"/>
            <a:ext cx="4070908" cy="600891"/>
          </a:xfrm>
          <a:prstGeom prst="rect">
            <a:avLst/>
          </a:prstGeom>
          <a:noFill/>
        </p:spPr>
        <p:txBody>
          <a:bodyPr wrap="square" anchor="ctr">
            <a:spAutoFit/>
          </a:bodyPr>
          <a:lstStyle/>
          <a:p>
            <a:pPr algn="l">
              <a:spcAft>
                <a:spcPts val="400"/>
              </a:spcAft>
            </a:pPr>
            <a:r>
              <a:rPr sz="950" b="0">
                <a:solidFill>
                  <a:srgbClr val="161B26"/>
                </a:solidFill>
                <a:latin typeface="Arial"/>
              </a:rPr>
              <a:t>FAST keypoints + oriented BRIEF descriptor, over a scale pyramid</a:t>
            </a:r>
          </a:p>
        </p:txBody>
      </p:sp>
      <p:sp>
        <p:nvSpPr>
          <p:cNvPr id="51" name="Rectangle 50"/>
          <p:cNvSpPr/>
          <p:nvPr/>
        </p:nvSpPr>
        <p:spPr>
          <a:xfrm>
            <a:off x="6413509" y="4186644"/>
            <a:ext cx="1382481"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523237" y="4186644"/>
            <a:ext cx="1199601" cy="600891"/>
          </a:xfrm>
          <a:prstGeom prst="rect">
            <a:avLst/>
          </a:prstGeom>
          <a:noFill/>
        </p:spPr>
        <p:txBody>
          <a:bodyPr wrap="square" anchor="ctr">
            <a:spAutoFit/>
          </a:bodyPr>
          <a:lstStyle/>
          <a:p>
            <a:pPr algn="l">
              <a:spcAft>
                <a:spcPts val="400"/>
              </a:spcAft>
            </a:pPr>
            <a:r>
              <a:rPr sz="950" b="0">
                <a:solidFill>
                  <a:srgbClr val="161B26"/>
                </a:solidFill>
                <a:latin typeface="Arial"/>
              </a:rPr>
              <a:t>Yes</a:t>
            </a:r>
          </a:p>
        </p:txBody>
      </p:sp>
      <p:sp>
        <p:nvSpPr>
          <p:cNvPr id="53" name="Rectangle 52"/>
          <p:cNvSpPr/>
          <p:nvPr/>
        </p:nvSpPr>
        <p:spPr>
          <a:xfrm>
            <a:off x="7795990" y="4186644"/>
            <a:ext cx="1063447"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905718" y="4186644"/>
            <a:ext cx="880567" cy="600891"/>
          </a:xfrm>
          <a:prstGeom prst="rect">
            <a:avLst/>
          </a:prstGeom>
          <a:noFill/>
        </p:spPr>
        <p:txBody>
          <a:bodyPr wrap="square" anchor="ctr">
            <a:spAutoFit/>
          </a:bodyPr>
          <a:lstStyle/>
          <a:p>
            <a:pPr algn="l">
              <a:spcAft>
                <a:spcPts val="400"/>
              </a:spcAft>
            </a:pPr>
            <a:r>
              <a:rPr sz="950" b="0">
                <a:solidFill>
                  <a:srgbClr val="161B26"/>
                </a:solidFill>
                <a:latin typeface="Arial"/>
              </a:rPr>
              <a:t>Yes</a:t>
            </a:r>
          </a:p>
        </p:txBody>
      </p:sp>
      <p:sp>
        <p:nvSpPr>
          <p:cNvPr id="55" name="Rectangle 54"/>
          <p:cNvSpPr/>
          <p:nvPr/>
        </p:nvSpPr>
        <p:spPr>
          <a:xfrm>
            <a:off x="8859437" y="4186644"/>
            <a:ext cx="2552273"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969165" y="4186644"/>
            <a:ext cx="2369393" cy="600891"/>
          </a:xfrm>
          <a:prstGeom prst="rect">
            <a:avLst/>
          </a:prstGeom>
          <a:noFill/>
        </p:spPr>
        <p:txBody>
          <a:bodyPr wrap="square" anchor="ctr">
            <a:spAutoFit/>
          </a:bodyPr>
          <a:lstStyle/>
          <a:p>
            <a:pPr algn="l">
              <a:spcAft>
                <a:spcPts val="400"/>
              </a:spcAft>
            </a:pPr>
            <a:r>
              <a:rPr sz="950" b="0">
                <a:solidFill>
                  <a:srgbClr val="161B26"/>
                </a:solidFill>
                <a:latin typeface="Arial"/>
              </a:rPr>
              <a:t>32 bytes, binary</a:t>
            </a:r>
          </a:p>
        </p:txBody>
      </p:sp>
      <p:sp>
        <p:nvSpPr>
          <p:cNvPr id="57" name="Rectangle 56"/>
          <p:cNvSpPr/>
          <p:nvPr/>
        </p:nvSpPr>
        <p:spPr>
          <a:xfrm>
            <a:off x="777240" y="4787535"/>
            <a:ext cx="1382481"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86968" y="4787535"/>
            <a:ext cx="1199601" cy="600891"/>
          </a:xfrm>
          <a:prstGeom prst="rect">
            <a:avLst/>
          </a:prstGeom>
          <a:noFill/>
        </p:spPr>
        <p:txBody>
          <a:bodyPr wrap="square" anchor="ctr">
            <a:spAutoFit/>
          </a:bodyPr>
          <a:lstStyle/>
          <a:p>
            <a:pPr algn="l">
              <a:spcAft>
                <a:spcPts val="400"/>
              </a:spcAft>
            </a:pPr>
            <a:r>
              <a:rPr sz="950" b="1">
                <a:solidFill>
                  <a:srgbClr val="161B26"/>
                </a:solidFill>
                <a:latin typeface="Arial"/>
              </a:rPr>
              <a:t>SIFT</a:t>
            </a:r>
          </a:p>
        </p:txBody>
      </p:sp>
      <p:sp>
        <p:nvSpPr>
          <p:cNvPr id="59" name="Rectangle 58"/>
          <p:cNvSpPr/>
          <p:nvPr/>
        </p:nvSpPr>
        <p:spPr>
          <a:xfrm>
            <a:off x="2159721" y="4787535"/>
            <a:ext cx="425378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269449" y="4787535"/>
            <a:ext cx="4070908" cy="600891"/>
          </a:xfrm>
          <a:prstGeom prst="rect">
            <a:avLst/>
          </a:prstGeom>
          <a:noFill/>
        </p:spPr>
        <p:txBody>
          <a:bodyPr wrap="square" anchor="ctr">
            <a:spAutoFit/>
          </a:bodyPr>
          <a:lstStyle/>
          <a:p>
            <a:pPr algn="l">
              <a:spcAft>
                <a:spcPts val="400"/>
              </a:spcAft>
            </a:pPr>
            <a:r>
              <a:rPr sz="950" b="0">
                <a:solidFill>
                  <a:srgbClr val="161B26"/>
                </a:solidFill>
                <a:latin typeface="Arial"/>
              </a:rPr>
              <a:t>Difference-of-Gaussian extrema + gradient orientation histograms</a:t>
            </a:r>
          </a:p>
        </p:txBody>
      </p:sp>
      <p:sp>
        <p:nvSpPr>
          <p:cNvPr id="61" name="Rectangle 60"/>
          <p:cNvSpPr/>
          <p:nvPr/>
        </p:nvSpPr>
        <p:spPr>
          <a:xfrm>
            <a:off x="6413509" y="4787535"/>
            <a:ext cx="1382481"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523237" y="4787535"/>
            <a:ext cx="1199601" cy="600891"/>
          </a:xfrm>
          <a:prstGeom prst="rect">
            <a:avLst/>
          </a:prstGeom>
          <a:noFill/>
        </p:spPr>
        <p:txBody>
          <a:bodyPr wrap="square" anchor="ctr">
            <a:spAutoFit/>
          </a:bodyPr>
          <a:lstStyle/>
          <a:p>
            <a:pPr algn="l">
              <a:spcAft>
                <a:spcPts val="400"/>
              </a:spcAft>
            </a:pPr>
            <a:r>
              <a:rPr sz="950" b="0">
                <a:solidFill>
                  <a:srgbClr val="161B26"/>
                </a:solidFill>
                <a:latin typeface="Arial"/>
              </a:rPr>
              <a:t>Yes</a:t>
            </a:r>
          </a:p>
        </p:txBody>
      </p:sp>
      <p:sp>
        <p:nvSpPr>
          <p:cNvPr id="63" name="Rectangle 62"/>
          <p:cNvSpPr/>
          <p:nvPr/>
        </p:nvSpPr>
        <p:spPr>
          <a:xfrm>
            <a:off x="7795990" y="4787535"/>
            <a:ext cx="1063447"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905718" y="4787535"/>
            <a:ext cx="880567" cy="600891"/>
          </a:xfrm>
          <a:prstGeom prst="rect">
            <a:avLst/>
          </a:prstGeom>
          <a:noFill/>
        </p:spPr>
        <p:txBody>
          <a:bodyPr wrap="square" anchor="ctr">
            <a:spAutoFit/>
          </a:bodyPr>
          <a:lstStyle/>
          <a:p>
            <a:pPr algn="l">
              <a:spcAft>
                <a:spcPts val="400"/>
              </a:spcAft>
            </a:pPr>
            <a:r>
              <a:rPr sz="950" b="0">
                <a:solidFill>
                  <a:srgbClr val="161B26"/>
                </a:solidFill>
                <a:latin typeface="Arial"/>
              </a:rPr>
              <a:t>Yes</a:t>
            </a:r>
          </a:p>
        </p:txBody>
      </p:sp>
      <p:sp>
        <p:nvSpPr>
          <p:cNvPr id="65" name="Rectangle 64"/>
          <p:cNvSpPr/>
          <p:nvPr/>
        </p:nvSpPr>
        <p:spPr>
          <a:xfrm>
            <a:off x="8859437" y="4787535"/>
            <a:ext cx="2552273"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969165" y="4787535"/>
            <a:ext cx="2369393" cy="600891"/>
          </a:xfrm>
          <a:prstGeom prst="rect">
            <a:avLst/>
          </a:prstGeom>
          <a:noFill/>
        </p:spPr>
        <p:txBody>
          <a:bodyPr wrap="square" anchor="ctr">
            <a:spAutoFit/>
          </a:bodyPr>
          <a:lstStyle/>
          <a:p>
            <a:pPr algn="l">
              <a:spcAft>
                <a:spcPts val="400"/>
              </a:spcAft>
            </a:pPr>
            <a:r>
              <a:rPr sz="950" b="0">
                <a:solidFill>
                  <a:srgbClr val="161B26"/>
                </a:solidFill>
                <a:latin typeface="Arial"/>
              </a:rPr>
              <a:t>128 floats = 512 bytes</a:t>
            </a:r>
          </a:p>
        </p:txBody>
      </p:sp>
      <p:sp>
        <p:nvSpPr>
          <p:cNvPr id="67" name="Rectangle 66"/>
          <p:cNvSpPr/>
          <p:nvPr/>
        </p:nvSpPr>
        <p:spPr>
          <a:xfrm>
            <a:off x="777240" y="5388426"/>
            <a:ext cx="1382481"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86968" y="5388426"/>
            <a:ext cx="1199601" cy="600891"/>
          </a:xfrm>
          <a:prstGeom prst="rect">
            <a:avLst/>
          </a:prstGeom>
          <a:noFill/>
        </p:spPr>
        <p:txBody>
          <a:bodyPr wrap="square" anchor="ctr">
            <a:spAutoFit/>
          </a:bodyPr>
          <a:lstStyle/>
          <a:p>
            <a:pPr algn="l">
              <a:spcAft>
                <a:spcPts val="400"/>
              </a:spcAft>
            </a:pPr>
            <a:r>
              <a:rPr sz="950" b="1">
                <a:solidFill>
                  <a:srgbClr val="161B26"/>
                </a:solidFill>
                <a:latin typeface="Arial"/>
              </a:rPr>
              <a:t>SURF</a:t>
            </a:r>
          </a:p>
        </p:txBody>
      </p:sp>
      <p:sp>
        <p:nvSpPr>
          <p:cNvPr id="69" name="Rectangle 68"/>
          <p:cNvSpPr/>
          <p:nvPr/>
        </p:nvSpPr>
        <p:spPr>
          <a:xfrm>
            <a:off x="2159721" y="5388426"/>
            <a:ext cx="425378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269449" y="5388426"/>
            <a:ext cx="4070908" cy="600891"/>
          </a:xfrm>
          <a:prstGeom prst="rect">
            <a:avLst/>
          </a:prstGeom>
          <a:noFill/>
        </p:spPr>
        <p:txBody>
          <a:bodyPr wrap="square" anchor="ctr">
            <a:spAutoFit/>
          </a:bodyPr>
          <a:lstStyle/>
          <a:p>
            <a:pPr algn="l">
              <a:spcAft>
                <a:spcPts val="400"/>
              </a:spcAft>
            </a:pPr>
            <a:r>
              <a:rPr sz="950" b="0">
                <a:solidFill>
                  <a:srgbClr val="161B26"/>
                </a:solidFill>
                <a:latin typeface="Arial"/>
              </a:rPr>
              <a:t>NOT in the standard opencv-python wheel — non-free</a:t>
            </a:r>
          </a:p>
        </p:txBody>
      </p:sp>
      <p:sp>
        <p:nvSpPr>
          <p:cNvPr id="71" name="Rectangle 70"/>
          <p:cNvSpPr/>
          <p:nvPr/>
        </p:nvSpPr>
        <p:spPr>
          <a:xfrm>
            <a:off x="6413509" y="5388426"/>
            <a:ext cx="1382481"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523237" y="5388426"/>
            <a:ext cx="1199601" cy="600891"/>
          </a:xfrm>
          <a:prstGeom prst="rect">
            <a:avLst/>
          </a:prstGeom>
          <a:noFill/>
        </p:spPr>
        <p:txBody>
          <a:bodyPr wrap="square" anchor="ctr">
            <a:spAutoFit/>
          </a:bodyPr>
          <a:lstStyle/>
          <a:p>
            <a:pPr algn="l">
              <a:spcAft>
                <a:spcPts val="400"/>
              </a:spcAft>
            </a:pPr>
            <a:r>
              <a:rPr sz="950" b="0">
                <a:solidFill>
                  <a:srgbClr val="161B26"/>
                </a:solidFill>
                <a:latin typeface="Arial"/>
              </a:rPr>
              <a:t>—</a:t>
            </a:r>
          </a:p>
        </p:txBody>
      </p:sp>
      <p:sp>
        <p:nvSpPr>
          <p:cNvPr id="73" name="Rectangle 72"/>
          <p:cNvSpPr/>
          <p:nvPr/>
        </p:nvSpPr>
        <p:spPr>
          <a:xfrm>
            <a:off x="7795990" y="5388426"/>
            <a:ext cx="1063447"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905718" y="5388426"/>
            <a:ext cx="880567" cy="600891"/>
          </a:xfrm>
          <a:prstGeom prst="rect">
            <a:avLst/>
          </a:prstGeom>
          <a:noFill/>
        </p:spPr>
        <p:txBody>
          <a:bodyPr wrap="square" anchor="ctr">
            <a:spAutoFit/>
          </a:bodyPr>
          <a:lstStyle/>
          <a:p>
            <a:pPr algn="l">
              <a:spcAft>
                <a:spcPts val="400"/>
              </a:spcAft>
            </a:pPr>
            <a:r>
              <a:rPr sz="950" b="0">
                <a:solidFill>
                  <a:srgbClr val="161B26"/>
                </a:solidFill>
                <a:latin typeface="Arial"/>
              </a:rPr>
              <a:t>—</a:t>
            </a:r>
          </a:p>
        </p:txBody>
      </p:sp>
      <p:sp>
        <p:nvSpPr>
          <p:cNvPr id="75" name="Rectangle 74"/>
          <p:cNvSpPr/>
          <p:nvPr/>
        </p:nvSpPr>
        <p:spPr>
          <a:xfrm>
            <a:off x="8859437" y="5388426"/>
            <a:ext cx="2552273"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969165" y="5388426"/>
            <a:ext cx="2369393" cy="600891"/>
          </a:xfrm>
          <a:prstGeom prst="rect">
            <a:avLst/>
          </a:prstGeom>
          <a:noFill/>
        </p:spPr>
        <p:txBody>
          <a:bodyPr wrap="square" anchor="ctr">
            <a:spAutoFit/>
          </a:bodyPr>
          <a:lstStyle/>
          <a:p>
            <a:pPr algn="l">
              <a:spcAft>
                <a:spcPts val="400"/>
              </a:spcAft>
            </a:pPr>
            <a:r>
              <a:rPr sz="950" b="0">
                <a:solidFill>
                  <a:srgbClr val="161B26"/>
                </a:solidFill>
                <a:latin typeface="Arial"/>
              </a:rPr>
              <a:t>Do not specify it</a:t>
            </a:r>
          </a:p>
        </p:txBody>
      </p:sp>
      <p:sp>
        <p:nvSpPr>
          <p:cNvPr id="77" name="TextBox 76"/>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A detector without a descriptor cannot match. FAST finds points very fast and then you still need something to describe them — which is exactly what ORB adds.</a:t>
            </a:r>
          </a:p>
        </p:txBody>
      </p:sp>
      <p:sp>
        <p:nvSpPr>
          <p:cNvPr id="78" name="TextBox 7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79" name="TextBox 7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80" name="TextBox 7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K6, A4 · WHY SIFT AND ORB EXIST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Measured — Harris Under Rotation and Under Scale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Rotation: roughly held</a:t>
            </a:r>
          </a:p>
          <a:p>
            <a:pPr algn="l">
              <a:spcAft>
                <a:spcPts val="200"/>
              </a:spcAft>
            </a:pPr>
            <a:r>
              <a:rPr sz="1100" b="0">
                <a:solidFill>
                  <a:srgbClr val="161B26"/>
                </a:solidFill>
                <a:latin typeface="Arial"/>
              </a:rPr>
              <a:t>6,452 to 6,002, a 7% change. Harris is rotation-covariant in theory; interpolation and cropping account for the rest.</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Scale: 40% lost</a:t>
            </a:r>
          </a:p>
          <a:p>
            <a:pPr algn="l">
              <a:spcAft>
                <a:spcPts val="200"/>
              </a:spcAft>
            </a:pPr>
            <a:r>
              <a:rPr sz="1100" b="0">
                <a:solidFill>
                  <a:srgbClr val="161B26"/>
                </a:solidFill>
                <a:latin typeface="Arial"/>
              </a:rPr>
              <a:t>6,452 to 3,889. A fixed-window Harris has no scale pyramid, so half-size features fall out of its window.</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This is the whole argument</a:t>
            </a:r>
          </a:p>
          <a:p>
            <a:pPr algn="l">
              <a:spcAft>
                <a:spcPts val="200"/>
              </a:spcAft>
            </a:pPr>
            <a:r>
              <a:rPr sz="1100" b="0">
                <a:solidFill>
                  <a:srgbClr val="161B26"/>
                </a:solidFill>
                <a:latin typeface="Arial"/>
              </a:rPr>
              <a:t>Scale invariance is why SIFT builds a difference-of-Gaussian pyramid and why ORB inherits one.</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Count is a weak proxy</a:t>
            </a:r>
          </a:p>
          <a:p>
            <a:pPr algn="l">
              <a:spcAft>
                <a:spcPts val="200"/>
              </a:spcAft>
            </a:pPr>
            <a:r>
              <a:rPr sz="1100" b="0">
                <a:solidFill>
                  <a:srgbClr val="161B26"/>
                </a:solidFill>
                <a:latin typeface="Arial"/>
              </a:rPr>
              <a:t>Repeatability of CORRESPONDING keypoints is the proper measure. Say so when you report counts.</a:t>
            </a:r>
          </a:p>
        </p:txBody>
      </p:sp>
      <p:sp>
        <p:nvSpPr>
          <p:cNvPr id="20" name="Rectangle 19"/>
          <p:cNvSpPr/>
          <p:nvPr/>
        </p:nvSpPr>
        <p:spPr>
          <a:xfrm>
            <a:off x="777240" y="5925312"/>
            <a:ext cx="1417320"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MEASURED</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Measured in Lab 06 with opencv-python 4.13 on the supplied 900x700 synthetic master. The count is RESPONSE PIXELS above a threshold, not distinct corners, and count equality does not prove the same corners were found.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K6, A4 · MEASURED: 15 FILTERED MATCHES ACROSS A 20° ROTATION AND 0.8 SCALE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Matching a Delivery Against the Approved Master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41605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38528"/>
            <a:ext cx="6035040" cy="3849624"/>
          </a:xfrm>
          <a:prstGeom prst="rect">
            <a:avLst/>
          </a:prstGeom>
          <a:noFill/>
        </p:spPr>
        <p:txBody>
          <a:bodyPr wrap="none" lIns="0" rIns="0" tIns="0" bIns="0" anchor="t">
            <a:noAutofit/>
          </a:bodyPr>
          <a:lstStyle/>
          <a:p>
            <a:pPr>
              <a:spcAft>
                <a:spcPts val="100"/>
              </a:spcAft>
            </a:pPr>
            <a:r>
              <a:rPr sz="940">
                <a:solidFill>
                  <a:srgbClr val="9CDCFE"/>
                </a:solidFill>
                <a:latin typeface="Consolas"/>
              </a:rPr>
              <a:t>orb = cv2.ORB_create(nfeatures=500)</a:t>
            </a:r>
          </a:p>
          <a:p>
            <a:pPr>
              <a:spcAft>
                <a:spcPts val="100"/>
              </a:spcAft>
            </a:pPr>
            <a:r>
              <a:rPr sz="940">
                <a:solidFill>
                  <a:srgbClr val="9CDCFE"/>
                </a:solidFill>
                <a:latin typeface="Consolas"/>
              </a:rPr>
              <a:t>kp1, des1 = orb.detectAndCompute(master_gray,  None)   # des1.shape -&gt; (n, 32)</a:t>
            </a:r>
          </a:p>
          <a:p>
            <a:pPr>
              <a:spcAft>
                <a:spcPts val="100"/>
              </a:spcAft>
            </a:pPr>
            <a:r>
              <a:rPr sz="940">
                <a:solidFill>
                  <a:srgbClr val="9CDCFE"/>
                </a:solidFill>
                <a:latin typeface="Consolas"/>
              </a:rPr>
              <a:t>kp2, des2 = orb.detectAndCompute(variant_gray, None)</a:t>
            </a:r>
          </a:p>
          <a:p>
            <a:pPr>
              <a:spcAft>
                <a:spcPts val="100"/>
              </a:spcAft>
            </a:pPr>
            <a:r>
              <a:rPr sz="940">
                <a:solidFill>
                  <a:srgbClr val="9CDCFE"/>
                </a:solidFill>
                <a:latin typeface="Consolas"/>
              </a:rPr>
              <a:t> </a:t>
            </a:r>
          </a:p>
          <a:p>
            <a:pPr>
              <a:spcAft>
                <a:spcPts val="100"/>
              </a:spcAft>
            </a:pPr>
            <a:r>
              <a:rPr sz="940">
                <a:solidFill>
                  <a:srgbClr val="9CDCFE"/>
                </a:solidFill>
                <a:latin typeface="Consolas"/>
              </a:rPr>
              <a:t># HAMMING for a binary descriptor. L2 is for SIFT and is wrong here.</a:t>
            </a:r>
          </a:p>
          <a:p>
            <a:pPr>
              <a:spcAft>
                <a:spcPts val="100"/>
              </a:spcAft>
            </a:pPr>
            <a:r>
              <a:rPr sz="940">
                <a:solidFill>
                  <a:srgbClr val="9CDCFE"/>
                </a:solidFill>
                <a:latin typeface="Consolas"/>
              </a:rPr>
              <a:t>bf      = cv2.BFMatcher(cv2.NORM_HAMMING, crossCheck=True)</a:t>
            </a:r>
          </a:p>
          <a:p>
            <a:pPr>
              <a:spcAft>
                <a:spcPts val="100"/>
              </a:spcAft>
            </a:pPr>
            <a:r>
              <a:rPr sz="940">
                <a:solidFill>
                  <a:srgbClr val="9CDCFE"/>
                </a:solidFill>
                <a:latin typeface="Consolas"/>
              </a:rPr>
              <a:t>matches = sorted(bf.match(des1, des2), key=lambda m: m.distance)</a:t>
            </a:r>
          </a:p>
          <a:p>
            <a:pPr>
              <a:spcAft>
                <a:spcPts val="100"/>
              </a:spcAft>
            </a:pPr>
            <a:r>
              <a:rPr sz="940">
                <a:solidFill>
                  <a:srgbClr val="9CDCFE"/>
                </a:solidFill>
                <a:latin typeface="Consolas"/>
              </a:rPr>
              <a:t> </a:t>
            </a:r>
          </a:p>
          <a:p>
            <a:pPr>
              <a:spcAft>
                <a:spcPts val="100"/>
              </a:spcAft>
            </a:pPr>
            <a:r>
              <a:rPr sz="940">
                <a:solidFill>
                  <a:srgbClr val="9CDCFE"/>
                </a:solidFill>
                <a:latin typeface="Consolas"/>
              </a:rPr>
              <a:t># cross-checked matches may still contain outliers; verify geometric consistency</a:t>
            </a:r>
          </a:p>
          <a:p>
            <a:pPr>
              <a:spcAft>
                <a:spcPts val="100"/>
              </a:spcAft>
            </a:pPr>
            <a:r>
              <a:rPr sz="940">
                <a:solidFill>
                  <a:srgbClr val="9CDCFE"/>
                </a:solidFill>
                <a:latin typeface="Consolas"/>
              </a:rPr>
              <a:t>median = float(np.median([m.distance for m in matches]))</a:t>
            </a:r>
          </a:p>
          <a:p>
            <a:pPr>
              <a:spcAft>
                <a:spcPts val="100"/>
              </a:spcAft>
            </a:pPr>
            <a:r>
              <a:rPr sz="940">
                <a:solidFill>
                  <a:srgbClr val="9CDCFE"/>
                </a:solidFill>
                <a:latin typeface="Consolas"/>
              </a:rPr>
              <a:t>kept   = [m for m in matches if m.distance &lt;= 0.75 * median]</a:t>
            </a:r>
          </a:p>
          <a:p>
            <a:pPr>
              <a:spcAft>
                <a:spcPts val="100"/>
              </a:spcAft>
            </a:pPr>
            <a:r>
              <a:rPr sz="940">
                <a:solidFill>
                  <a:srgbClr val="9CDCFE"/>
                </a:solidFill>
                <a:latin typeface="Consolas"/>
              </a:rPr>
              <a:t>print(len(matches), '-&gt;', len(kept), 'after the median-distance heuristic')</a:t>
            </a:r>
          </a:p>
          <a:p>
            <a:pPr>
              <a:spcAft>
                <a:spcPts val="100"/>
              </a:spcAft>
            </a:pPr>
            <a:r>
              <a:rPr sz="940">
                <a:solidFill>
                  <a:srgbClr val="9CDCFE"/>
                </a:solidFill>
                <a:latin typeface="Consolas"/>
              </a:rPr>
              <a:t> </a:t>
            </a:r>
          </a:p>
          <a:p>
            <a:pPr>
              <a:spcAft>
                <a:spcPts val="100"/>
              </a:spcAft>
            </a:pPr>
            <a:r>
              <a:rPr sz="940">
                <a:solidFill>
                  <a:srgbClr val="9CDCFE"/>
                </a:solidFill>
                <a:latin typeface="Consolas"/>
              </a:rPr>
              <a:t>vis = cv2.drawMatches(master_gray, kp1, variant_gray, kp2, kept[:40], None,</a:t>
            </a:r>
          </a:p>
          <a:p>
            <a:pPr>
              <a:spcAft>
                <a:spcPts val="100"/>
              </a:spcAft>
            </a:pPr>
            <a:r>
              <a:rPr sz="940">
                <a:solidFill>
                  <a:srgbClr val="9CDCFE"/>
                </a:solidFill>
                <a:latin typeface="Consolas"/>
              </a:rPr>
              <a:t>                      flags=cv2.DrawMatchesFlags_NOT_DRAW_SINGLE_POINTS)</a:t>
            </a:r>
          </a:p>
        </p:txBody>
      </p:sp>
      <p:sp>
        <p:nvSpPr>
          <p:cNvPr id="9" name="Rectangle 8"/>
          <p:cNvSpPr/>
          <p:nvPr/>
        </p:nvSpPr>
        <p:spPr>
          <a:xfrm>
            <a:off x="7406640" y="1783080"/>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783080"/>
            <a:ext cx="82296" cy="9166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6096" y="1783080"/>
            <a:ext cx="3602736" cy="916686"/>
          </a:xfrm>
          <a:prstGeom prst="rect">
            <a:avLst/>
          </a:prstGeom>
          <a:noFill/>
        </p:spPr>
        <p:txBody>
          <a:bodyPr wrap="square" anchor="ctr">
            <a:spAutoFit/>
          </a:bodyPr>
          <a:lstStyle/>
          <a:p>
            <a:pPr algn="l">
              <a:spcAft>
                <a:spcPts val="200"/>
              </a:spcAft>
            </a:pPr>
            <a:r>
              <a:rPr sz="1300" b="1">
                <a:solidFill>
                  <a:srgbClr val="1F6FEB"/>
                </a:solidFill>
                <a:latin typeface="Arial"/>
              </a:rPr>
              <a:t>Match the metric to the descriptor</a:t>
            </a:r>
          </a:p>
          <a:p>
            <a:pPr algn="l">
              <a:spcAft>
                <a:spcPts val="200"/>
              </a:spcAft>
            </a:pPr>
            <a:r>
              <a:rPr sz="1150" b="0">
                <a:solidFill>
                  <a:srgbClr val="161B26"/>
                </a:solidFill>
                <a:latin typeface="Arial"/>
              </a:rPr>
              <a:t>NORM_HAMMING for ORB, BRIEF and BRISK; NORM_L2 for SIFT. Mixing them raises a type error at best.</a:t>
            </a:r>
          </a:p>
        </p:txBody>
      </p:sp>
      <p:sp>
        <p:nvSpPr>
          <p:cNvPr id="12" name="Rectangle 11"/>
          <p:cNvSpPr/>
          <p:nvPr/>
        </p:nvSpPr>
        <p:spPr>
          <a:xfrm>
            <a:off x="7406640" y="2864358"/>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2864358"/>
            <a:ext cx="82296" cy="91668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2864358"/>
            <a:ext cx="3602736" cy="916686"/>
          </a:xfrm>
          <a:prstGeom prst="rect">
            <a:avLst/>
          </a:prstGeom>
          <a:noFill/>
        </p:spPr>
        <p:txBody>
          <a:bodyPr wrap="square" anchor="ctr">
            <a:spAutoFit/>
          </a:bodyPr>
          <a:lstStyle/>
          <a:p>
            <a:pPr algn="l">
              <a:spcAft>
                <a:spcPts val="200"/>
              </a:spcAft>
            </a:pPr>
            <a:r>
              <a:rPr sz="1300" b="1">
                <a:solidFill>
                  <a:srgbClr val="10B981"/>
                </a:solidFill>
                <a:latin typeface="Arial"/>
              </a:rPr>
              <a:t>crossCheck is a cheap filter</a:t>
            </a:r>
          </a:p>
          <a:p>
            <a:pPr algn="l">
              <a:spcAft>
                <a:spcPts val="200"/>
              </a:spcAft>
            </a:pPr>
            <a:r>
              <a:rPr sz="1150" b="0">
                <a:solidFill>
                  <a:srgbClr val="161B26"/>
                </a:solidFill>
                <a:latin typeface="Arial"/>
              </a:rPr>
              <a:t>A match must be mutually best in both directions.</a:t>
            </a:r>
          </a:p>
        </p:txBody>
      </p:sp>
      <p:sp>
        <p:nvSpPr>
          <p:cNvPr id="15" name="Rectangle 14"/>
          <p:cNvSpPr/>
          <p:nvPr/>
        </p:nvSpPr>
        <p:spPr>
          <a:xfrm>
            <a:off x="7406640" y="3945636"/>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3945636"/>
            <a:ext cx="82296" cy="91668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6096" y="3945636"/>
            <a:ext cx="3602736" cy="916686"/>
          </a:xfrm>
          <a:prstGeom prst="rect">
            <a:avLst/>
          </a:prstGeom>
          <a:noFill/>
        </p:spPr>
        <p:txBody>
          <a:bodyPr wrap="square" anchor="ctr">
            <a:spAutoFit/>
          </a:bodyPr>
          <a:lstStyle/>
          <a:p>
            <a:pPr algn="l">
              <a:spcAft>
                <a:spcPts val="200"/>
              </a:spcAft>
            </a:pPr>
            <a:r>
              <a:rPr sz="1300" b="1">
                <a:solidFill>
                  <a:srgbClr val="7C3AED"/>
                </a:solidFill>
                <a:latin typeface="Arial"/>
              </a:rPr>
              <a:t>Then filter on distance</a:t>
            </a:r>
          </a:p>
          <a:p>
            <a:pPr algn="l">
              <a:spcAft>
                <a:spcPts val="200"/>
              </a:spcAft>
            </a:pPr>
            <a:r>
              <a:rPr sz="1150" b="0">
                <a:solidFill>
                  <a:srgbClr val="161B26"/>
                </a:solidFill>
                <a:latin typeface="Arial"/>
              </a:rPr>
              <a:t>At most0.75x the median; a heuristic, not the Lowe ratio test. Ten good matches beat two hundred bad ones.</a:t>
            </a:r>
          </a:p>
        </p:txBody>
      </p:sp>
      <p:sp>
        <p:nvSpPr>
          <p:cNvPr id="18" name="Rectangle 17"/>
          <p:cNvSpPr/>
          <p:nvPr/>
        </p:nvSpPr>
        <p:spPr>
          <a:xfrm>
            <a:off x="7406640" y="5026914"/>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5026914"/>
            <a:ext cx="82296" cy="91668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5026914"/>
            <a:ext cx="3602736" cy="916686"/>
          </a:xfrm>
          <a:prstGeom prst="rect">
            <a:avLst/>
          </a:prstGeom>
          <a:noFill/>
        </p:spPr>
        <p:txBody>
          <a:bodyPr wrap="square" anchor="ctr">
            <a:spAutoFit/>
          </a:bodyPr>
          <a:lstStyle/>
          <a:p>
            <a:pPr algn="l">
              <a:spcAft>
                <a:spcPts val="200"/>
              </a:spcAft>
            </a:pPr>
            <a:r>
              <a:rPr sz="1300" b="1">
                <a:solidFill>
                  <a:srgbClr val="F59E0B"/>
                </a:solidFill>
                <a:latin typeface="Arial"/>
              </a:rPr>
              <a:t>State what it cannot do</a:t>
            </a:r>
          </a:p>
          <a:p>
            <a:pPr algn="l">
              <a:spcAft>
                <a:spcPts val="200"/>
              </a:spcAft>
            </a:pPr>
            <a:r>
              <a:rPr sz="1150" b="0">
                <a:solidFill>
                  <a:srgbClr val="161B26"/>
                </a:solidFill>
                <a:latin typeface="Arial"/>
              </a:rPr>
              <a:t>ORB matching absorbs rotation and moderate scale. It does not absorb a heavy crop, a style transfer or a recolour.</a:t>
            </a:r>
          </a:p>
        </p:txBody>
      </p:sp>
      <p:sp>
        <p:nvSpPr>
          <p:cNvPr id="21" name="Rectangle 20"/>
          <p:cNvSpPr/>
          <p:nvPr/>
        </p:nvSpPr>
        <p:spPr>
          <a:xfrm>
            <a:off x="777240" y="6053328"/>
            <a:ext cx="10634472" cy="4023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6053328"/>
            <a:ext cx="10241280" cy="402336"/>
          </a:xfrm>
          <a:prstGeom prst="rect">
            <a:avLst/>
          </a:prstGeom>
          <a:noFill/>
        </p:spPr>
        <p:txBody>
          <a:bodyPr wrap="square" anchor="ctr">
            <a:spAutoFit/>
          </a:bodyPr>
          <a:lstStyle/>
          <a:p>
            <a:pPr algn="l">
              <a:spcAft>
                <a:spcPts val="400"/>
              </a:spcAft>
            </a:pPr>
            <a:r>
              <a:rPr sz="1100" b="1">
                <a:solidFill>
                  <a:srgbClr val="127A3E"/>
                </a:solidFill>
                <a:latin typeface="Arial"/>
              </a:rPr>
              <a:t>VERIFY   </a:t>
            </a:r>
            <a:r>
              <a:rPr sz="1200" b="0">
                <a:solidFill>
                  <a:srgbClr val="161B26"/>
                </a:solidFill>
                <a:latin typeface="Arial"/>
              </a:rPr>
              <a:t>Lab 06 reports both the raw and the filtered match count, and saves the drawn correspondence image as evidence.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K6 · LOCAL FEATURE DESCRIPTIONS — MOTION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Motion Is a Local Feature Too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F6FEB"/>
                </a:solidFill>
                <a:latin typeface="Arial"/>
              </a:rPr>
              <a:t>Track chosen points</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Measure every pixel</a:t>
            </a:r>
          </a:p>
        </p:txBody>
      </p:sp>
      <p:sp>
        <p:nvSpPr>
          <p:cNvPr id="13" name="TextBox 12"/>
          <p:cNvSpPr txBox="1"/>
          <p:nvPr/>
        </p:nvSpPr>
        <p:spPr>
          <a:xfrm>
            <a:off x="1005840" y="2423160"/>
            <a:ext cx="4754880" cy="3017520"/>
          </a:xfrm>
          <a:prstGeom prst="rect">
            <a:avLst/>
          </a:prstGeom>
          <a:noFill/>
        </p:spPr>
        <p:txBody>
          <a:bodyPr wrap="square">
            <a:spAutoFit/>
          </a:bodyPr>
          <a:lstStyle/>
          <a:p>
            <a:pPr>
              <a:spcAft>
                <a:spcPts val="800"/>
              </a:spcAft>
            </a:pPr>
            <a:r>
              <a:rPr sz="1300" b="1">
                <a:solidFill>
                  <a:srgbClr val="161B26"/>
                </a:solidFill>
                <a:latin typeface="Arial"/>
              </a:rPr>
              <a:t>•  Sparse optical flow</a:t>
            </a:r>
          </a:p>
          <a:p>
            <a:pPr>
              <a:spcAft>
                <a:spcPts val="800"/>
              </a:spcAft>
            </a:pPr>
            <a:r>
              <a:rPr sz="1100" b="0">
                <a:solidFill>
                  <a:srgbClr val="5B6372"/>
                </a:solidFill>
                <a:latin typeface="Arial"/>
              </a:rPr>
              <a:t>–  Lucas-Kanade: track a chosen set of keypoints from frame to frame.</a:t>
            </a:r>
          </a:p>
          <a:p>
            <a:pPr>
              <a:spcAft>
                <a:spcPts val="800"/>
              </a:spcAft>
            </a:pPr>
            <a:r>
              <a:rPr sz="1100" b="0">
                <a:solidFill>
                  <a:srgbClr val="5B6372"/>
                </a:solidFill>
                <a:latin typeface="Arial"/>
              </a:rPr>
              <a:t>–  Cheap, because you only compute at the points you care about.</a:t>
            </a:r>
          </a:p>
          <a:p>
            <a:pPr>
              <a:spcAft>
                <a:spcPts val="800"/>
              </a:spcAft>
            </a:pPr>
            <a:r>
              <a:rPr sz="1100" b="0">
                <a:solidFill>
                  <a:srgbClr val="5B6372"/>
                </a:solidFill>
                <a:latin typeface="Arial"/>
              </a:rPr>
              <a:t>–  Needs good points to start from — Shi-Tomasi is the usual choice.</a:t>
            </a:r>
          </a:p>
          <a:p>
            <a:pPr>
              <a:spcAft>
                <a:spcPts val="800"/>
              </a:spcAft>
            </a:pPr>
            <a:r>
              <a:rPr sz="1100" b="0">
                <a:solidFill>
                  <a:srgbClr val="5B6372"/>
                </a:solidFill>
                <a:latin typeface="Arial"/>
              </a:rPr>
              <a:t>–  Fails when the point leaves the frame or is occluded.</a:t>
            </a:r>
          </a:p>
        </p:txBody>
      </p:sp>
      <p:sp>
        <p:nvSpPr>
          <p:cNvPr id="14" name="TextBox 13"/>
          <p:cNvSpPr txBox="1"/>
          <p:nvPr/>
        </p:nvSpPr>
        <p:spPr>
          <a:xfrm>
            <a:off x="6583680" y="2423160"/>
            <a:ext cx="4617720" cy="3017520"/>
          </a:xfrm>
          <a:prstGeom prst="rect">
            <a:avLst/>
          </a:prstGeom>
          <a:noFill/>
        </p:spPr>
        <p:txBody>
          <a:bodyPr wrap="square">
            <a:spAutoFit/>
          </a:bodyPr>
          <a:lstStyle/>
          <a:p>
            <a:pPr>
              <a:spcAft>
                <a:spcPts val="800"/>
              </a:spcAft>
            </a:pPr>
            <a:r>
              <a:rPr sz="1300" b="1">
                <a:solidFill>
                  <a:srgbClr val="161B26"/>
                </a:solidFill>
                <a:latin typeface="Arial"/>
              </a:rPr>
              <a:t>•  Dense optical flow</a:t>
            </a:r>
          </a:p>
          <a:p>
            <a:pPr>
              <a:spcAft>
                <a:spcPts val="800"/>
              </a:spcAft>
            </a:pPr>
            <a:r>
              <a:rPr sz="1100" b="0">
                <a:solidFill>
                  <a:srgbClr val="5B6372"/>
                </a:solidFill>
                <a:latin typeface="Arial"/>
              </a:rPr>
              <a:t>–  Farnebäck: a displacement vector for EVERY pixel.</a:t>
            </a:r>
          </a:p>
          <a:p>
            <a:pPr>
              <a:spcAft>
                <a:spcPts val="800"/>
              </a:spcAft>
            </a:pPr>
            <a:r>
              <a:rPr sz="1100" b="0">
                <a:solidFill>
                  <a:srgbClr val="5B6372"/>
                </a:solidFill>
                <a:latin typeface="Arial"/>
              </a:rPr>
              <a:t>–  Returns an H x W x 2 array; convert with cv2.cartToPolar to magnitude and angle.</a:t>
            </a:r>
          </a:p>
          <a:p>
            <a:pPr>
              <a:spcAft>
                <a:spcPts val="800"/>
              </a:spcAft>
            </a:pPr>
            <a:r>
              <a:rPr sz="1100" b="0">
                <a:solidFill>
                  <a:srgbClr val="5B6372"/>
                </a:solidFill>
                <a:latin typeface="Arial"/>
              </a:rPr>
              <a:t>–  Expensive — measured at 54.2 ms per 1280x720 frame in Lab 12, the single most costly stage in the pipeline.</a:t>
            </a:r>
          </a:p>
          <a:p>
            <a:pPr>
              <a:spcAft>
                <a:spcPts val="800"/>
              </a:spcAft>
            </a:pPr>
            <a:r>
              <a:rPr sz="1100" b="0">
                <a:solidFill>
                  <a:srgbClr val="5B6372"/>
                </a:solidFill>
                <a:latin typeface="Arial"/>
              </a:rPr>
              <a:t>–  Gives you a whole-frame motion statistic, which is how Lab 10 detects a continuity break automatically.</a:t>
            </a:r>
          </a:p>
        </p:txBody>
      </p:sp>
      <p:sp>
        <p:nvSpPr>
          <p:cNvPr id="15" name="TextBox 14"/>
          <p:cNvSpPr txBox="1"/>
          <p:nvPr/>
        </p:nvSpPr>
        <p:spPr>
          <a:xfrm>
            <a:off x="777240" y="5669280"/>
            <a:ext cx="10698480" cy="640080"/>
          </a:xfrm>
          <a:prstGeom prst="rect">
            <a:avLst/>
          </a:prstGeom>
          <a:noFill/>
        </p:spPr>
        <p:txBody>
          <a:bodyPr wrap="square" anchor="ctr">
            <a:spAutoFit/>
          </a:bodyPr>
          <a:lstStyle/>
          <a:p>
            <a:pPr algn="ctr">
              <a:spcAft>
                <a:spcPts val="400"/>
              </a:spcAft>
            </a:pPr>
            <a:r>
              <a:rPr sz="1250" b="0">
                <a:solidFill>
                  <a:srgbClr val="5B6372"/>
                </a:solidFill>
                <a:latin typeface="Arial"/>
              </a:rPr>
              <a:t>Both are developed properly in Topic 04. They appear here because motion is a local feature description in the same sense that an edge or a corner is.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500" b="1">
                <a:solidFill>
                  <a:srgbClr val="7C3AED"/>
                </a:solidFill>
                <a:latin typeface="Arial"/>
              </a:rPr>
              <a:t>K7 · GLOBAL FEATURE DESCRIPTIONS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400" b="1">
                <a:solidFill>
                  <a:srgbClr val="161B26"/>
                </a:solidFill>
                <a:latin typeface="Arial"/>
              </a:rPr>
              <a:t>Global descriptors are how a brand gate stops being an opinion.</a:t>
            </a:r>
          </a:p>
        </p:txBody>
      </p:sp>
      <p:sp>
        <p:nvSpPr>
          <p:cNvPr id="6" name="TextBox 5"/>
          <p:cNvSpPr txBox="1"/>
          <p:nvPr/>
        </p:nvSpPr>
        <p:spPr>
          <a:xfrm>
            <a:off x="1024128" y="4480560"/>
            <a:ext cx="10058400" cy="1280160"/>
          </a:xfrm>
          <a:prstGeom prst="rect">
            <a:avLst/>
          </a:prstGeom>
          <a:noFill/>
        </p:spPr>
        <p:txBody>
          <a:bodyPr wrap="square" anchor="t">
            <a:spAutoFit/>
          </a:bodyPr>
          <a:lstStyle/>
          <a:p>
            <a:pPr algn="l">
              <a:spcAft>
                <a:spcPts val="400"/>
              </a:spcAft>
            </a:pPr>
            <a:r>
              <a:rPr sz="1700" b="0">
                <a:solidFill>
                  <a:srgbClr val="5B6372"/>
                </a:solidFill>
                <a:latin typeface="Arial"/>
              </a:rPr>
              <a:t>A colour histogram distance, a saturation delta, an edge-density ratio and a shape-match score turn 'it feels off-brand' into four numbers, a threshold and a named change.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fast">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K7 · STATISTICAL AND GEOMETRICAL METHODS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Four Global Descriptors and What Each Catches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339583"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156703" cy="841248"/>
          </a:xfrm>
          <a:prstGeom prst="rect">
            <a:avLst/>
          </a:prstGeom>
          <a:noFill/>
        </p:spPr>
        <p:txBody>
          <a:bodyPr wrap="square" anchor="ctr">
            <a:spAutoFit/>
          </a:bodyPr>
          <a:lstStyle/>
          <a:p>
            <a:pPr algn="l">
              <a:spcAft>
                <a:spcPts val="400"/>
              </a:spcAft>
            </a:pPr>
            <a:r>
              <a:rPr sz="1100" b="1">
                <a:solidFill>
                  <a:srgbClr val="FFFFFF"/>
                </a:solidFill>
                <a:latin typeface="Arial"/>
              </a:rPr>
              <a:t>Descriptor</a:t>
            </a:r>
          </a:p>
        </p:txBody>
      </p:sp>
      <p:sp>
        <p:nvSpPr>
          <p:cNvPr id="9" name="Rectangle 8"/>
          <p:cNvSpPr/>
          <p:nvPr/>
        </p:nvSpPr>
        <p:spPr>
          <a:xfrm>
            <a:off x="3116823" y="1783080"/>
            <a:ext cx="4041099"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26551" y="1783080"/>
            <a:ext cx="3858219" cy="841248"/>
          </a:xfrm>
          <a:prstGeom prst="rect">
            <a:avLst/>
          </a:prstGeom>
          <a:noFill/>
        </p:spPr>
        <p:txBody>
          <a:bodyPr wrap="square" anchor="ctr">
            <a:spAutoFit/>
          </a:bodyPr>
          <a:lstStyle/>
          <a:p>
            <a:pPr algn="l">
              <a:spcAft>
                <a:spcPts val="400"/>
              </a:spcAft>
            </a:pPr>
            <a:r>
              <a:rPr sz="1100" b="1">
                <a:solidFill>
                  <a:srgbClr val="FFFFFF"/>
                </a:solidFill>
                <a:latin typeface="Arial"/>
              </a:rPr>
              <a:t>Computed as</a:t>
            </a:r>
          </a:p>
        </p:txBody>
      </p:sp>
      <p:sp>
        <p:nvSpPr>
          <p:cNvPr id="11" name="Rectangle 10"/>
          <p:cNvSpPr/>
          <p:nvPr/>
        </p:nvSpPr>
        <p:spPr>
          <a:xfrm>
            <a:off x="7157922" y="1783080"/>
            <a:ext cx="2764962"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67650" y="1783080"/>
            <a:ext cx="2582082" cy="841248"/>
          </a:xfrm>
          <a:prstGeom prst="rect">
            <a:avLst/>
          </a:prstGeom>
          <a:noFill/>
        </p:spPr>
        <p:txBody>
          <a:bodyPr wrap="square" anchor="ctr">
            <a:spAutoFit/>
          </a:bodyPr>
          <a:lstStyle/>
          <a:p>
            <a:pPr algn="l">
              <a:spcAft>
                <a:spcPts val="400"/>
              </a:spcAft>
            </a:pPr>
            <a:r>
              <a:rPr sz="1100" b="1">
                <a:solidFill>
                  <a:srgbClr val="FFFFFF"/>
                </a:solidFill>
                <a:latin typeface="Arial"/>
              </a:rPr>
              <a:t>Catches</a:t>
            </a:r>
          </a:p>
        </p:txBody>
      </p:sp>
      <p:sp>
        <p:nvSpPr>
          <p:cNvPr id="13" name="Rectangle 12"/>
          <p:cNvSpPr/>
          <p:nvPr/>
        </p:nvSpPr>
        <p:spPr>
          <a:xfrm>
            <a:off x="9922884" y="1783080"/>
            <a:ext cx="1488826"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32612" y="1783080"/>
            <a:ext cx="1305946" cy="841248"/>
          </a:xfrm>
          <a:prstGeom prst="rect">
            <a:avLst/>
          </a:prstGeom>
          <a:noFill/>
        </p:spPr>
        <p:txBody>
          <a:bodyPr wrap="square" anchor="ctr">
            <a:spAutoFit/>
          </a:bodyPr>
          <a:lstStyle/>
          <a:p>
            <a:pPr algn="l">
              <a:spcAft>
                <a:spcPts val="400"/>
              </a:spcAft>
            </a:pPr>
            <a:r>
              <a:rPr sz="1100" b="1">
                <a:solidFill>
                  <a:srgbClr val="FFFFFF"/>
                </a:solidFill>
                <a:latin typeface="Arial"/>
              </a:rPr>
              <a:t>Good direction</a:t>
            </a:r>
          </a:p>
        </p:txBody>
      </p:sp>
      <p:sp>
        <p:nvSpPr>
          <p:cNvPr id="15" name="Rectangle 14"/>
          <p:cNvSpPr/>
          <p:nvPr/>
        </p:nvSpPr>
        <p:spPr>
          <a:xfrm>
            <a:off x="777240" y="2624328"/>
            <a:ext cx="2339583"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624328"/>
            <a:ext cx="2156703" cy="841248"/>
          </a:xfrm>
          <a:prstGeom prst="rect">
            <a:avLst/>
          </a:prstGeom>
          <a:noFill/>
        </p:spPr>
        <p:txBody>
          <a:bodyPr wrap="square" anchor="ctr">
            <a:spAutoFit/>
          </a:bodyPr>
          <a:lstStyle/>
          <a:p>
            <a:pPr algn="l">
              <a:spcAft>
                <a:spcPts val="400"/>
              </a:spcAft>
            </a:pPr>
            <a:r>
              <a:rPr sz="1000" b="1">
                <a:solidFill>
                  <a:srgbClr val="161B26"/>
                </a:solidFill>
                <a:latin typeface="Arial"/>
              </a:rPr>
              <a:t>Hue-saturation histogram</a:t>
            </a:r>
          </a:p>
        </p:txBody>
      </p:sp>
      <p:sp>
        <p:nvSpPr>
          <p:cNvPr id="17" name="Rectangle 16"/>
          <p:cNvSpPr/>
          <p:nvPr/>
        </p:nvSpPr>
        <p:spPr>
          <a:xfrm>
            <a:off x="3116823" y="2624328"/>
            <a:ext cx="4041099"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26551" y="2624328"/>
            <a:ext cx="3858219" cy="841248"/>
          </a:xfrm>
          <a:prstGeom prst="rect">
            <a:avLst/>
          </a:prstGeom>
          <a:noFill/>
        </p:spPr>
        <p:txBody>
          <a:bodyPr wrap="square" anchor="ctr">
            <a:spAutoFit/>
          </a:bodyPr>
          <a:lstStyle/>
          <a:p>
            <a:pPr algn="l">
              <a:spcAft>
                <a:spcPts val="400"/>
              </a:spcAft>
            </a:pPr>
            <a:r>
              <a:rPr sz="1000" b="0">
                <a:solidFill>
                  <a:srgbClr val="161B26"/>
                </a:solidFill>
                <a:latin typeface="Arial"/>
              </a:rPr>
              <a:t>2-D normalised histogram, 30 x 32 bins, compared with Bhattacharyya distance</a:t>
            </a:r>
          </a:p>
        </p:txBody>
      </p:sp>
      <p:sp>
        <p:nvSpPr>
          <p:cNvPr id="19" name="Rectangle 18"/>
          <p:cNvSpPr/>
          <p:nvPr/>
        </p:nvSpPr>
        <p:spPr>
          <a:xfrm>
            <a:off x="7157922" y="2624328"/>
            <a:ext cx="2764962"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67650" y="2624328"/>
            <a:ext cx="2582082" cy="841248"/>
          </a:xfrm>
          <a:prstGeom prst="rect">
            <a:avLst/>
          </a:prstGeom>
          <a:noFill/>
        </p:spPr>
        <p:txBody>
          <a:bodyPr wrap="square" anchor="ctr">
            <a:spAutoFit/>
          </a:bodyPr>
          <a:lstStyle/>
          <a:p>
            <a:pPr algn="l">
              <a:spcAft>
                <a:spcPts val="400"/>
              </a:spcAft>
            </a:pPr>
            <a:r>
              <a:rPr sz="1000" b="0">
                <a:solidFill>
                  <a:srgbClr val="161B26"/>
                </a:solidFill>
                <a:latin typeface="Arial"/>
              </a:rPr>
              <a:t>Recolour, palette drift</a:t>
            </a:r>
          </a:p>
        </p:txBody>
      </p:sp>
      <p:sp>
        <p:nvSpPr>
          <p:cNvPr id="21" name="Rectangle 20"/>
          <p:cNvSpPr/>
          <p:nvPr/>
        </p:nvSpPr>
        <p:spPr>
          <a:xfrm>
            <a:off x="9922884" y="2624328"/>
            <a:ext cx="1488826"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32612" y="2624328"/>
            <a:ext cx="1305946" cy="841248"/>
          </a:xfrm>
          <a:prstGeom prst="rect">
            <a:avLst/>
          </a:prstGeom>
          <a:noFill/>
        </p:spPr>
        <p:txBody>
          <a:bodyPr wrap="square" anchor="ctr">
            <a:spAutoFit/>
          </a:bodyPr>
          <a:lstStyle/>
          <a:p>
            <a:pPr algn="l">
              <a:spcAft>
                <a:spcPts val="400"/>
              </a:spcAft>
            </a:pPr>
            <a:r>
              <a:rPr sz="1000" b="0">
                <a:solidFill>
                  <a:srgbClr val="161B26"/>
                </a:solidFill>
                <a:latin typeface="Arial"/>
              </a:rPr>
              <a:t>Low</a:t>
            </a:r>
          </a:p>
        </p:txBody>
      </p:sp>
      <p:sp>
        <p:nvSpPr>
          <p:cNvPr id="23" name="Rectangle 22"/>
          <p:cNvSpPr/>
          <p:nvPr/>
        </p:nvSpPr>
        <p:spPr>
          <a:xfrm>
            <a:off x="777240" y="3465576"/>
            <a:ext cx="2339583"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3465576"/>
            <a:ext cx="2156703" cy="841248"/>
          </a:xfrm>
          <a:prstGeom prst="rect">
            <a:avLst/>
          </a:prstGeom>
          <a:noFill/>
        </p:spPr>
        <p:txBody>
          <a:bodyPr wrap="square" anchor="ctr">
            <a:spAutoFit/>
          </a:bodyPr>
          <a:lstStyle/>
          <a:p>
            <a:pPr algn="l">
              <a:spcAft>
                <a:spcPts val="400"/>
              </a:spcAft>
            </a:pPr>
            <a:r>
              <a:rPr sz="1000" b="1">
                <a:solidFill>
                  <a:srgbClr val="161B26"/>
                </a:solidFill>
                <a:latin typeface="Arial"/>
              </a:rPr>
              <a:t>Mean saturation</a:t>
            </a:r>
          </a:p>
        </p:txBody>
      </p:sp>
      <p:sp>
        <p:nvSpPr>
          <p:cNvPr id="25" name="Rectangle 24"/>
          <p:cNvSpPr/>
          <p:nvPr/>
        </p:nvSpPr>
        <p:spPr>
          <a:xfrm>
            <a:off x="3116823" y="3465576"/>
            <a:ext cx="4041099"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26551" y="3465576"/>
            <a:ext cx="3858219" cy="841248"/>
          </a:xfrm>
          <a:prstGeom prst="rect">
            <a:avLst/>
          </a:prstGeom>
          <a:noFill/>
        </p:spPr>
        <p:txBody>
          <a:bodyPr wrap="square" anchor="ctr">
            <a:spAutoFit/>
          </a:bodyPr>
          <a:lstStyle/>
          <a:p>
            <a:pPr algn="l">
              <a:spcAft>
                <a:spcPts val="400"/>
              </a:spcAft>
            </a:pPr>
            <a:r>
              <a:rPr sz="1000" b="0">
                <a:solidFill>
                  <a:srgbClr val="161B26"/>
                </a:solidFill>
                <a:latin typeface="Arial"/>
              </a:rPr>
              <a:t>Mean of the S channel over the subject mask</a:t>
            </a:r>
          </a:p>
        </p:txBody>
      </p:sp>
      <p:sp>
        <p:nvSpPr>
          <p:cNvPr id="27" name="Rectangle 26"/>
          <p:cNvSpPr/>
          <p:nvPr/>
        </p:nvSpPr>
        <p:spPr>
          <a:xfrm>
            <a:off x="7157922" y="3465576"/>
            <a:ext cx="2764962"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67650" y="3465576"/>
            <a:ext cx="2582082" cy="841248"/>
          </a:xfrm>
          <a:prstGeom prst="rect">
            <a:avLst/>
          </a:prstGeom>
          <a:noFill/>
        </p:spPr>
        <p:txBody>
          <a:bodyPr wrap="square" anchor="ctr">
            <a:spAutoFit/>
          </a:bodyPr>
          <a:lstStyle/>
          <a:p>
            <a:pPr algn="l">
              <a:spcAft>
                <a:spcPts val="400"/>
              </a:spcAft>
            </a:pPr>
            <a:r>
              <a:rPr sz="1000" b="0">
                <a:solidFill>
                  <a:srgbClr val="161B26"/>
                </a:solidFill>
                <a:latin typeface="Arial"/>
              </a:rPr>
              <a:t>A desaturated or oversaturated treatment</a:t>
            </a:r>
          </a:p>
        </p:txBody>
      </p:sp>
      <p:sp>
        <p:nvSpPr>
          <p:cNvPr id="29" name="Rectangle 28"/>
          <p:cNvSpPr/>
          <p:nvPr/>
        </p:nvSpPr>
        <p:spPr>
          <a:xfrm>
            <a:off x="9922884" y="3465576"/>
            <a:ext cx="1488826"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32612" y="3465576"/>
            <a:ext cx="1305946" cy="841248"/>
          </a:xfrm>
          <a:prstGeom prst="rect">
            <a:avLst/>
          </a:prstGeom>
          <a:noFill/>
        </p:spPr>
        <p:txBody>
          <a:bodyPr wrap="square" anchor="ctr">
            <a:spAutoFit/>
          </a:bodyPr>
          <a:lstStyle/>
          <a:p>
            <a:pPr algn="l">
              <a:spcAft>
                <a:spcPts val="400"/>
              </a:spcAft>
            </a:pPr>
            <a:r>
              <a:rPr sz="1000" b="0">
                <a:solidFill>
                  <a:srgbClr val="161B26"/>
                </a:solidFill>
                <a:latin typeface="Arial"/>
              </a:rPr>
              <a:t>Close to the master</a:t>
            </a:r>
          </a:p>
        </p:txBody>
      </p:sp>
      <p:sp>
        <p:nvSpPr>
          <p:cNvPr id="31" name="Rectangle 30"/>
          <p:cNvSpPr/>
          <p:nvPr/>
        </p:nvSpPr>
        <p:spPr>
          <a:xfrm>
            <a:off x="777240" y="4306824"/>
            <a:ext cx="2339583"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306824"/>
            <a:ext cx="2156703" cy="841248"/>
          </a:xfrm>
          <a:prstGeom prst="rect">
            <a:avLst/>
          </a:prstGeom>
          <a:noFill/>
        </p:spPr>
        <p:txBody>
          <a:bodyPr wrap="square" anchor="ctr">
            <a:spAutoFit/>
          </a:bodyPr>
          <a:lstStyle/>
          <a:p>
            <a:pPr algn="l">
              <a:spcAft>
                <a:spcPts val="400"/>
              </a:spcAft>
            </a:pPr>
            <a:r>
              <a:rPr sz="1000" b="1">
                <a:solidFill>
                  <a:srgbClr val="161B26"/>
                </a:solidFill>
                <a:latin typeface="Arial"/>
              </a:rPr>
              <a:t>Edge density ratio</a:t>
            </a:r>
          </a:p>
        </p:txBody>
      </p:sp>
      <p:sp>
        <p:nvSpPr>
          <p:cNvPr id="33" name="Rectangle 32"/>
          <p:cNvSpPr/>
          <p:nvPr/>
        </p:nvSpPr>
        <p:spPr>
          <a:xfrm>
            <a:off x="3116823" y="4306824"/>
            <a:ext cx="4041099"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26551" y="4306824"/>
            <a:ext cx="3858219" cy="841248"/>
          </a:xfrm>
          <a:prstGeom prst="rect">
            <a:avLst/>
          </a:prstGeom>
          <a:noFill/>
        </p:spPr>
        <p:txBody>
          <a:bodyPr wrap="square" anchor="ctr">
            <a:spAutoFit/>
          </a:bodyPr>
          <a:lstStyle/>
          <a:p>
            <a:pPr algn="l">
              <a:spcAft>
                <a:spcPts val="400"/>
              </a:spcAft>
            </a:pPr>
            <a:r>
              <a:rPr sz="1000" b="0">
                <a:solidFill>
                  <a:srgbClr val="161B26"/>
                </a:solidFill>
                <a:latin typeface="Arial"/>
              </a:rPr>
              <a:t>Canny non-zero fraction, divided by the master's</a:t>
            </a:r>
          </a:p>
        </p:txBody>
      </p:sp>
      <p:sp>
        <p:nvSpPr>
          <p:cNvPr id="35" name="Rectangle 34"/>
          <p:cNvSpPr/>
          <p:nvPr/>
        </p:nvSpPr>
        <p:spPr>
          <a:xfrm>
            <a:off x="7157922" y="4306824"/>
            <a:ext cx="2764962"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67650" y="4306824"/>
            <a:ext cx="2582082" cy="841248"/>
          </a:xfrm>
          <a:prstGeom prst="rect">
            <a:avLst/>
          </a:prstGeom>
          <a:noFill/>
        </p:spPr>
        <p:txBody>
          <a:bodyPr wrap="square" anchor="ctr">
            <a:spAutoFit/>
          </a:bodyPr>
          <a:lstStyle/>
          <a:p>
            <a:pPr algn="l">
              <a:spcAft>
                <a:spcPts val="400"/>
              </a:spcAft>
            </a:pPr>
            <a:r>
              <a:rPr sz="1000" b="0">
                <a:solidFill>
                  <a:srgbClr val="161B26"/>
                </a:solidFill>
                <a:latin typeface="Arial"/>
              </a:rPr>
              <a:t>Over-sharpening, over-smoothing</a:t>
            </a:r>
          </a:p>
        </p:txBody>
      </p:sp>
      <p:sp>
        <p:nvSpPr>
          <p:cNvPr id="37" name="Rectangle 36"/>
          <p:cNvSpPr/>
          <p:nvPr/>
        </p:nvSpPr>
        <p:spPr>
          <a:xfrm>
            <a:off x="9922884" y="4306824"/>
            <a:ext cx="1488826"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32612" y="4306824"/>
            <a:ext cx="1305946" cy="841248"/>
          </a:xfrm>
          <a:prstGeom prst="rect">
            <a:avLst/>
          </a:prstGeom>
          <a:noFill/>
        </p:spPr>
        <p:txBody>
          <a:bodyPr wrap="square" anchor="ctr">
            <a:spAutoFit/>
          </a:bodyPr>
          <a:lstStyle/>
          <a:p>
            <a:pPr algn="l">
              <a:spcAft>
                <a:spcPts val="400"/>
              </a:spcAft>
            </a:pPr>
            <a:r>
              <a:rPr sz="1000" b="0">
                <a:solidFill>
                  <a:srgbClr val="161B26"/>
                </a:solidFill>
                <a:latin typeface="Arial"/>
              </a:rPr>
              <a:t>Near 1</a:t>
            </a:r>
          </a:p>
        </p:txBody>
      </p:sp>
      <p:sp>
        <p:nvSpPr>
          <p:cNvPr id="39" name="Rectangle 38"/>
          <p:cNvSpPr/>
          <p:nvPr/>
        </p:nvSpPr>
        <p:spPr>
          <a:xfrm>
            <a:off x="777240" y="5148072"/>
            <a:ext cx="2339583"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5148072"/>
            <a:ext cx="2156703" cy="841248"/>
          </a:xfrm>
          <a:prstGeom prst="rect">
            <a:avLst/>
          </a:prstGeom>
          <a:noFill/>
        </p:spPr>
        <p:txBody>
          <a:bodyPr wrap="square" anchor="ctr">
            <a:spAutoFit/>
          </a:bodyPr>
          <a:lstStyle/>
          <a:p>
            <a:pPr algn="l">
              <a:spcAft>
                <a:spcPts val="400"/>
              </a:spcAft>
            </a:pPr>
            <a:r>
              <a:rPr sz="1000" b="1">
                <a:solidFill>
                  <a:srgbClr val="161B26"/>
                </a:solidFill>
                <a:latin typeface="Arial"/>
              </a:rPr>
              <a:t>Hu moments / matchShapes</a:t>
            </a:r>
          </a:p>
        </p:txBody>
      </p:sp>
      <p:sp>
        <p:nvSpPr>
          <p:cNvPr id="41" name="Rectangle 40"/>
          <p:cNvSpPr/>
          <p:nvPr/>
        </p:nvSpPr>
        <p:spPr>
          <a:xfrm>
            <a:off x="3116823" y="5148072"/>
            <a:ext cx="4041099"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26551" y="5148072"/>
            <a:ext cx="3858219" cy="841248"/>
          </a:xfrm>
          <a:prstGeom prst="rect">
            <a:avLst/>
          </a:prstGeom>
          <a:noFill/>
        </p:spPr>
        <p:txBody>
          <a:bodyPr wrap="square" anchor="ctr">
            <a:spAutoFit/>
          </a:bodyPr>
          <a:lstStyle/>
          <a:p>
            <a:pPr algn="l">
              <a:spcAft>
                <a:spcPts val="400"/>
              </a:spcAft>
            </a:pPr>
            <a:r>
              <a:rPr sz="1000" b="0">
                <a:solidFill>
                  <a:srgbClr val="161B26"/>
                </a:solidFill>
                <a:latin typeface="Arial"/>
              </a:rPr>
              <a:t>Seven values from normalised central moments; compared with CONTOURS_MATCH_I1</a:t>
            </a:r>
          </a:p>
        </p:txBody>
      </p:sp>
      <p:sp>
        <p:nvSpPr>
          <p:cNvPr id="43" name="Rectangle 42"/>
          <p:cNvSpPr/>
          <p:nvPr/>
        </p:nvSpPr>
        <p:spPr>
          <a:xfrm>
            <a:off x="7157922" y="5148072"/>
            <a:ext cx="2764962"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67650" y="5148072"/>
            <a:ext cx="2582082" cy="841248"/>
          </a:xfrm>
          <a:prstGeom prst="rect">
            <a:avLst/>
          </a:prstGeom>
          <a:noFill/>
        </p:spPr>
        <p:txBody>
          <a:bodyPr wrap="square" anchor="ctr">
            <a:spAutoFit/>
          </a:bodyPr>
          <a:lstStyle/>
          <a:p>
            <a:pPr algn="l">
              <a:spcAft>
                <a:spcPts val="400"/>
              </a:spcAft>
            </a:pPr>
            <a:r>
              <a:rPr sz="1000" b="0">
                <a:solidFill>
                  <a:srgbClr val="161B26"/>
                </a:solidFill>
                <a:latin typeface="Arial"/>
              </a:rPr>
              <a:t>Silhouette or crop change</a:t>
            </a:r>
          </a:p>
        </p:txBody>
      </p:sp>
      <p:sp>
        <p:nvSpPr>
          <p:cNvPr id="45" name="Rectangle 44"/>
          <p:cNvSpPr/>
          <p:nvPr/>
        </p:nvSpPr>
        <p:spPr>
          <a:xfrm>
            <a:off x="9922884" y="5148072"/>
            <a:ext cx="1488826"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032612" y="5148072"/>
            <a:ext cx="1305946" cy="841248"/>
          </a:xfrm>
          <a:prstGeom prst="rect">
            <a:avLst/>
          </a:prstGeom>
          <a:noFill/>
        </p:spPr>
        <p:txBody>
          <a:bodyPr wrap="square" anchor="ctr">
            <a:spAutoFit/>
          </a:bodyPr>
          <a:lstStyle/>
          <a:p>
            <a:pPr algn="l">
              <a:spcAft>
                <a:spcPts val="400"/>
              </a:spcAft>
            </a:pPr>
            <a:r>
              <a:rPr sz="1000" b="0">
                <a:solidFill>
                  <a:srgbClr val="161B26"/>
                </a:solidFill>
                <a:latin typeface="Arial"/>
              </a:rPr>
              <a:t>Low</a:t>
            </a:r>
          </a:p>
        </p:txBody>
      </p:sp>
      <p:sp>
        <p:nvSpPr>
          <p:cNvPr id="47" name="TextBox 46"/>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Hu moments are invariant to translation, scale and rotation, so they describe SHAPE independently of where the shape sits in the frame. Take −sign(h)·log₁₀|h| before reading them: the raw values span many orders of magnitude.</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K7, A3 · ANALYSE GLOBAL FEATURE DESCRIPTIONS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Comparing Histograms — Know Which Way Is Good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41605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38528"/>
            <a:ext cx="6035040" cy="3849624"/>
          </a:xfrm>
          <a:prstGeom prst="rect">
            <a:avLst/>
          </a:prstGeom>
          <a:noFill/>
        </p:spPr>
        <p:txBody>
          <a:bodyPr wrap="none" lIns="0" rIns="0" tIns="0" bIns="0" anchor="t">
            <a:noAutofit/>
          </a:bodyPr>
          <a:lstStyle/>
          <a:p>
            <a:pPr>
              <a:spcAft>
                <a:spcPts val="100"/>
              </a:spcAft>
            </a:pPr>
            <a:r>
              <a:rPr sz="990">
                <a:solidFill>
                  <a:srgbClr val="9CDCFE"/>
                </a:solidFill>
                <a:latin typeface="Consolas"/>
              </a:rPr>
              <a:t>def hs_hist(img, mask):</a:t>
            </a:r>
          </a:p>
          <a:p>
            <a:pPr>
              <a:spcAft>
                <a:spcPts val="100"/>
              </a:spcAft>
            </a:pPr>
            <a:r>
              <a:rPr sz="990">
                <a:solidFill>
                  <a:srgbClr val="9CDCFE"/>
                </a:solidFill>
                <a:latin typeface="Consolas"/>
              </a:rPr>
              <a:t>    hsv  = cv2.cvtColor(img, cv2.COLOR_BGR2HSV)</a:t>
            </a:r>
          </a:p>
          <a:p>
            <a:pPr>
              <a:spcAft>
                <a:spcPts val="100"/>
              </a:spcAft>
            </a:pPr>
            <a:r>
              <a:rPr sz="990">
                <a:solidFill>
                  <a:srgbClr val="9CDCFE"/>
                </a:solidFill>
                <a:latin typeface="Consolas"/>
              </a:rPr>
              <a:t>    hist = cv2.calcHist([hsv], [0, 1], mask, [30, 32], [0, 180, 0, 256])</a:t>
            </a:r>
          </a:p>
          <a:p>
            <a:pPr>
              <a:spcAft>
                <a:spcPts val="100"/>
              </a:spcAft>
            </a:pPr>
            <a:r>
              <a:rPr sz="990">
                <a:solidFill>
                  <a:srgbClr val="9CDCFE"/>
                </a:solidFill>
                <a:latin typeface="Consolas"/>
              </a:rPr>
              <a:t>    hist = cv2.GaussianBlur(hist, (0, 0), 2.0)   # smooth a SPARSE histogram</a:t>
            </a:r>
          </a:p>
          <a:p>
            <a:pPr>
              <a:spcAft>
                <a:spcPts val="100"/>
              </a:spcAft>
            </a:pPr>
            <a:r>
              <a:rPr sz="990">
                <a:solidFill>
                  <a:srgbClr val="9CDCFE"/>
                </a:solidFill>
                <a:latin typeface="Consolas"/>
              </a:rPr>
              <a:t>    cv2.normalize(hist, hist, 0, 1, cv2.NORM_MINMAX)</a:t>
            </a:r>
          </a:p>
          <a:p>
            <a:pPr>
              <a:spcAft>
                <a:spcPts val="100"/>
              </a:spcAft>
            </a:pPr>
            <a:r>
              <a:rPr sz="990">
                <a:solidFill>
                  <a:srgbClr val="9CDCFE"/>
                </a:solidFill>
                <a:latin typeface="Consolas"/>
              </a:rPr>
              <a:t>    return hist</a:t>
            </a:r>
          </a:p>
          <a:p>
            <a:pPr>
              <a:spcAft>
                <a:spcPts val="100"/>
              </a:spcAft>
            </a:pPr>
            <a:r>
              <a:rPr sz="990">
                <a:solidFill>
                  <a:srgbClr val="9CDCFE"/>
                </a:solidFill>
                <a:latin typeface="Consolas"/>
              </a:rPr>
              <a:t> </a:t>
            </a:r>
          </a:p>
          <a:p>
            <a:pPr>
              <a:spcAft>
                <a:spcPts val="100"/>
              </a:spcAft>
            </a:pPr>
            <a:r>
              <a:rPr sz="990">
                <a:solidFill>
                  <a:srgbClr val="9CDCFE"/>
                </a:solidFill>
                <a:latin typeface="Consolas"/>
              </a:rPr>
              <a:t>h = hs_hist(master, subject_mask(master))</a:t>
            </a:r>
          </a:p>
          <a:p>
            <a:pPr>
              <a:spcAft>
                <a:spcPts val="100"/>
              </a:spcAft>
            </a:pPr>
            <a:r>
              <a:rPr sz="990">
                <a:solidFill>
                  <a:srgbClr val="9CDCFE"/>
                </a:solidFill>
                <a:latin typeface="Consolas"/>
              </a:rPr>
              <a:t>for name, m in [('CORREL',        cv2.HISTCMP_CORREL),        # self = 1.0</a:t>
            </a:r>
          </a:p>
          <a:p>
            <a:pPr>
              <a:spcAft>
                <a:spcPts val="100"/>
              </a:spcAft>
            </a:pPr>
            <a:r>
              <a:rPr sz="990">
                <a:solidFill>
                  <a:srgbClr val="9CDCFE"/>
                </a:solidFill>
                <a:latin typeface="Consolas"/>
              </a:rPr>
              <a:t>                ('CHISQR',        cv2.HISTCMP_CHISQR),        # self = 0.0</a:t>
            </a:r>
          </a:p>
          <a:p>
            <a:pPr>
              <a:spcAft>
                <a:spcPts val="100"/>
              </a:spcAft>
            </a:pPr>
            <a:r>
              <a:rPr sz="990">
                <a:solidFill>
                  <a:srgbClr val="9CDCFE"/>
                </a:solidFill>
                <a:latin typeface="Consolas"/>
              </a:rPr>
              <a:t>                ('INTERSECT',     cv2.HISTCMP_INTERSECT),     # self = sum</a:t>
            </a:r>
          </a:p>
          <a:p>
            <a:pPr>
              <a:spcAft>
                <a:spcPts val="100"/>
              </a:spcAft>
            </a:pPr>
            <a:r>
              <a:rPr sz="990">
                <a:solidFill>
                  <a:srgbClr val="9CDCFE"/>
                </a:solidFill>
                <a:latin typeface="Consolas"/>
              </a:rPr>
              <a:t>                ('BHATTACHARYYA', cv2.HISTCMP_BHATTACHARYYA)]:# self = 0.0</a:t>
            </a:r>
          </a:p>
          <a:p>
            <a:pPr>
              <a:spcAft>
                <a:spcPts val="100"/>
              </a:spcAft>
            </a:pPr>
            <a:r>
              <a:rPr sz="990">
                <a:solidFill>
                  <a:srgbClr val="9CDCFE"/>
                </a:solidFill>
                <a:latin typeface="Consolas"/>
              </a:rPr>
              <a:t>    print(name, cv2.compareHist(h, h, m))</a:t>
            </a:r>
          </a:p>
          <a:p>
            <a:pPr>
              <a:spcAft>
                <a:spcPts val="100"/>
              </a:spcAft>
            </a:pPr>
            <a:r>
              <a:rPr sz="990">
                <a:solidFill>
                  <a:srgbClr val="9CDCFE"/>
                </a:solidFill>
                <a:latin typeface="Consolas"/>
              </a:rPr>
              <a:t> </a:t>
            </a:r>
          </a:p>
          <a:p>
            <a:pPr>
              <a:spcAft>
                <a:spcPts val="100"/>
              </a:spcAft>
            </a:pPr>
            <a:r>
              <a:rPr sz="990">
                <a:solidFill>
                  <a:srgbClr val="9CDCFE"/>
                </a:solidFill>
                <a:latin typeface="Consolas"/>
              </a:rPr>
              <a:t># BHATTACHARYYA is the gate: bounded in [0,1], 0 is identical, well behaved</a:t>
            </a:r>
          </a:p>
        </p:txBody>
      </p:sp>
      <p:sp>
        <p:nvSpPr>
          <p:cNvPr id="9" name="Rectangle 8"/>
          <p:cNvSpPr/>
          <p:nvPr/>
        </p:nvSpPr>
        <p:spPr>
          <a:xfrm>
            <a:off x="7406640" y="1783080"/>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783080"/>
            <a:ext cx="82296" cy="9166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6096" y="1783080"/>
            <a:ext cx="3602736" cy="916686"/>
          </a:xfrm>
          <a:prstGeom prst="rect">
            <a:avLst/>
          </a:prstGeom>
          <a:noFill/>
        </p:spPr>
        <p:txBody>
          <a:bodyPr wrap="square" anchor="ctr">
            <a:spAutoFit/>
          </a:bodyPr>
          <a:lstStyle/>
          <a:p>
            <a:pPr algn="l">
              <a:spcAft>
                <a:spcPts val="200"/>
              </a:spcAft>
            </a:pPr>
            <a:r>
              <a:rPr sz="1300" b="1">
                <a:solidFill>
                  <a:srgbClr val="1F6FEB"/>
                </a:solidFill>
                <a:latin typeface="Arial"/>
              </a:rPr>
              <a:t>Compare with itself first</a:t>
            </a:r>
          </a:p>
          <a:p>
            <a:pPr algn="l">
              <a:spcAft>
                <a:spcPts val="200"/>
              </a:spcAft>
            </a:pPr>
            <a:r>
              <a:rPr sz="1150" b="0">
                <a:solidFill>
                  <a:srgbClr val="161B26"/>
                </a:solidFill>
                <a:latin typeface="Arial"/>
              </a:rPr>
              <a:t>Knowing which direction 'good' points in for each method is what prevents an inverted gate shipping.</a:t>
            </a:r>
          </a:p>
        </p:txBody>
      </p:sp>
      <p:sp>
        <p:nvSpPr>
          <p:cNvPr id="12" name="Rectangle 11"/>
          <p:cNvSpPr/>
          <p:nvPr/>
        </p:nvSpPr>
        <p:spPr>
          <a:xfrm>
            <a:off x="7406640" y="2864358"/>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2864358"/>
            <a:ext cx="82296" cy="91668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2864358"/>
            <a:ext cx="3602736" cy="916686"/>
          </a:xfrm>
          <a:prstGeom prst="rect">
            <a:avLst/>
          </a:prstGeom>
          <a:noFill/>
        </p:spPr>
        <p:txBody>
          <a:bodyPr wrap="square" anchor="ctr">
            <a:spAutoFit/>
          </a:bodyPr>
          <a:lstStyle/>
          <a:p>
            <a:pPr algn="l">
              <a:spcAft>
                <a:spcPts val="200"/>
              </a:spcAft>
            </a:pPr>
            <a:r>
              <a:rPr sz="1300" b="1">
                <a:solidFill>
                  <a:srgbClr val="10B981"/>
                </a:solidFill>
                <a:latin typeface="Arial"/>
              </a:rPr>
              <a:t>Mask the subject</a:t>
            </a:r>
          </a:p>
          <a:p>
            <a:pPr algn="l">
              <a:spcAft>
                <a:spcPts val="200"/>
              </a:spcAft>
            </a:pPr>
            <a:r>
              <a:rPr sz="1150" b="0">
                <a:solidFill>
                  <a:srgbClr val="161B26"/>
                </a:solidFill>
                <a:latin typeface="Arial"/>
              </a:rPr>
              <a:t>A backdrop gradient dominates a whole-frame histogram and the number then describes the background.</a:t>
            </a:r>
          </a:p>
        </p:txBody>
      </p:sp>
      <p:sp>
        <p:nvSpPr>
          <p:cNvPr id="15" name="Rectangle 14"/>
          <p:cNvSpPr/>
          <p:nvPr/>
        </p:nvSpPr>
        <p:spPr>
          <a:xfrm>
            <a:off x="7406640" y="3945636"/>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3945636"/>
            <a:ext cx="82296" cy="91668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6096" y="3945636"/>
            <a:ext cx="3602736" cy="916686"/>
          </a:xfrm>
          <a:prstGeom prst="rect">
            <a:avLst/>
          </a:prstGeom>
          <a:noFill/>
        </p:spPr>
        <p:txBody>
          <a:bodyPr wrap="square" anchor="ctr">
            <a:spAutoFit/>
          </a:bodyPr>
          <a:lstStyle/>
          <a:p>
            <a:pPr algn="l">
              <a:spcAft>
                <a:spcPts val="200"/>
              </a:spcAft>
            </a:pPr>
            <a:r>
              <a:rPr sz="1300" b="1">
                <a:solidFill>
                  <a:srgbClr val="7C3AED"/>
                </a:solidFill>
                <a:latin typeface="Arial"/>
              </a:rPr>
              <a:t>Smooth a sparse histogram</a:t>
            </a:r>
          </a:p>
          <a:p>
            <a:pPr algn="l">
              <a:spcAft>
                <a:spcPts val="200"/>
              </a:spcAft>
            </a:pPr>
            <a:r>
              <a:rPr sz="1150" b="0">
                <a:solidFill>
                  <a:srgbClr val="161B26"/>
                </a:solidFill>
                <a:latin typeface="Arial"/>
              </a:rPr>
              <a:t>A flat-coloured product puts its mass in one bin; without smoothing, a 3-degree hue shift and a 60-degree one both read as 'completely different'.</a:t>
            </a:r>
          </a:p>
        </p:txBody>
      </p:sp>
      <p:sp>
        <p:nvSpPr>
          <p:cNvPr id="18" name="Rectangle 17"/>
          <p:cNvSpPr/>
          <p:nvPr/>
        </p:nvSpPr>
        <p:spPr>
          <a:xfrm>
            <a:off x="7406640" y="5026914"/>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5026914"/>
            <a:ext cx="82296" cy="91668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5026914"/>
            <a:ext cx="3602736" cy="916686"/>
          </a:xfrm>
          <a:prstGeom prst="rect">
            <a:avLst/>
          </a:prstGeom>
          <a:noFill/>
        </p:spPr>
        <p:txBody>
          <a:bodyPr wrap="square" anchor="ctr">
            <a:spAutoFit/>
          </a:bodyPr>
          <a:lstStyle/>
          <a:p>
            <a:pPr algn="l">
              <a:spcAft>
                <a:spcPts val="200"/>
              </a:spcAft>
            </a:pPr>
            <a:r>
              <a:rPr sz="1300" b="1">
                <a:solidFill>
                  <a:srgbClr val="F59E0B"/>
                </a:solidFill>
                <a:latin typeface="Arial"/>
              </a:rPr>
              <a:t>Normalise both sides</a:t>
            </a:r>
          </a:p>
          <a:p>
            <a:pPr algn="l">
              <a:spcAft>
                <a:spcPts val="200"/>
              </a:spcAft>
            </a:pPr>
            <a:r>
              <a:rPr sz="1150" b="0">
                <a:solidFill>
                  <a:srgbClr val="161B26"/>
                </a:solidFill>
                <a:latin typeface="Arial"/>
              </a:rPr>
              <a:t>Comparing a normalised histogram against an un-normalised one makes every asset an outlier.</a:t>
            </a:r>
          </a:p>
        </p:txBody>
      </p:sp>
      <p:sp>
        <p:nvSpPr>
          <p:cNvPr id="21" name="Rectangle 20"/>
          <p:cNvSpPr/>
          <p:nvPr/>
        </p:nvSpPr>
        <p:spPr>
          <a:xfrm>
            <a:off x="777240" y="6053328"/>
            <a:ext cx="10634472" cy="4023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6053328"/>
            <a:ext cx="10241280" cy="402336"/>
          </a:xfrm>
          <a:prstGeom prst="rect">
            <a:avLst/>
          </a:prstGeom>
          <a:noFill/>
        </p:spPr>
        <p:txBody>
          <a:bodyPr wrap="square" anchor="ctr">
            <a:spAutoFit/>
          </a:bodyPr>
          <a:lstStyle/>
          <a:p>
            <a:pPr algn="l">
              <a:spcAft>
                <a:spcPts val="400"/>
              </a:spcAft>
            </a:pPr>
            <a:r>
              <a:rPr sz="1100" b="1">
                <a:solidFill>
                  <a:srgbClr val="127A3E"/>
                </a:solidFill>
                <a:latin typeface="Arial"/>
              </a:rPr>
              <a:t>VERIFY   </a:t>
            </a:r>
            <a:r>
              <a:rPr sz="1200" b="0">
                <a:solidFill>
                  <a:srgbClr val="161B26"/>
                </a:solidFill>
                <a:latin typeface="Arial"/>
              </a:rPr>
              <a:t>Lab 07 asks you to print all four self-comparison values before you use any of them as a gate.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fast">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K7, A3 · LAB 07 · THREE PLANTED OUTLIERS, THREE MECHANISMS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Measured — Auditing 12 Deliveries Against the Approved Master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asset_04 — recoloured</a:t>
            </a:r>
          </a:p>
          <a:p>
            <a:pPr algn="l">
              <a:spcAft>
                <a:spcPts val="200"/>
              </a:spcAft>
            </a:pPr>
            <a:r>
              <a:rPr sz="1100" b="0">
                <a:solidFill>
                  <a:srgbClr val="161B26"/>
                </a:solidFill>
                <a:latin typeface="Arial"/>
              </a:rPr>
              <a:t>0.594, driven by the hue-saturation histogram (0.514) and a 16-point saturation delta.</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asset_08 — over-sharpened</a:t>
            </a:r>
          </a:p>
          <a:p>
            <a:pPr algn="l">
              <a:spcAft>
                <a:spcPts val="200"/>
              </a:spcAft>
            </a:pPr>
            <a:r>
              <a:rPr sz="1100" b="0">
                <a:solidFill>
                  <a:srgbClr val="161B26"/>
                </a:solidFill>
                <a:latin typeface="Arial"/>
              </a:rPr>
              <a:t>0.406, driven by an edge-density ratio of 1.35 against the master.</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asset_11 — logo misplaced</a:t>
            </a:r>
          </a:p>
          <a:p>
            <a:pPr algn="l">
              <a:spcAft>
                <a:spcPts val="200"/>
              </a:spcAft>
            </a:pPr>
            <a:r>
              <a:rPr sz="1100" b="0">
                <a:solidFill>
                  <a:srgbClr val="161B26"/>
                </a:solidFill>
                <a:latin typeface="Arial"/>
              </a:rPr>
              <a:t>Passes every descriptor at 0.054, and is caught only by the template-matching placement gate.</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The margin matters</a:t>
            </a:r>
          </a:p>
          <a:p>
            <a:pPr algn="l">
              <a:spcAft>
                <a:spcPts val="200"/>
              </a:spcAft>
            </a:pPr>
            <a:r>
              <a:rPr sz="1100" b="0">
                <a:solidFill>
                  <a:srgbClr val="161B26"/>
                </a:solidFill>
                <a:latin typeface="Arial"/>
              </a:rPr>
              <a:t>The next asset sits at 0.110 — a 3.7x gap below the lowest rejection. A gate with no margin is a coin toss.</a:t>
            </a:r>
          </a:p>
        </p:txBody>
      </p:sp>
      <p:sp>
        <p:nvSpPr>
          <p:cNvPr id="20" name="Rectangle 19"/>
          <p:cNvSpPr/>
          <p:nvPr/>
        </p:nvSpPr>
        <p:spPr>
          <a:xfrm>
            <a:off x="777240" y="5925312"/>
            <a:ext cx="1417320"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MEASURED</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Measured in Lab 07 with opencv-python 4.13 on the supplied 12-asset synthetic campaign set. The combined score is a weighted, normalised sum of the four global descriptors; the weights and normalisation constants are in data/consistency-thresholds.json.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K7 · WHAT IS THE TEMPLATE MATCHING TECHNIQUE?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Template Matching — Present, and in the Right Place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41605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38528"/>
            <a:ext cx="6035040" cy="3849624"/>
          </a:xfrm>
          <a:prstGeom prst="rect">
            <a:avLst/>
          </a:prstGeom>
          <a:noFill/>
        </p:spPr>
        <p:txBody>
          <a:bodyPr wrap="none" lIns="0" rIns="0" tIns="0" bIns="0" anchor="t">
            <a:noAutofit/>
          </a:bodyPr>
          <a:lstStyle/>
          <a:p>
            <a:pPr>
              <a:spcAft>
                <a:spcPts val="100"/>
              </a:spcAft>
            </a:pPr>
            <a:r>
              <a:rPr sz="900">
                <a:solidFill>
                  <a:srgbClr val="9CDCFE"/>
                </a:solidFill>
                <a:latin typeface="Consolas"/>
              </a:rPr>
              <a:t>tpl = cv2.cvtColor(cv2.imread('reference/nq-logo-template.png'), cv2.COLOR_BGR2GRAY)</a:t>
            </a:r>
          </a:p>
          <a:p>
            <a:pPr>
              <a:spcAft>
                <a:spcPts val="100"/>
              </a:spcAft>
            </a:pPr>
            <a:r>
              <a:rPr sz="900">
                <a:solidFill>
                  <a:srgbClr val="9CDCFE"/>
                </a:solidFill>
                <a:latin typeface="Consolas"/>
              </a:rPr>
              <a:t>res = cv2.matchTemplate(asset_gray, tpl, cv2.TM_CCOEFF_NORMED)</a:t>
            </a:r>
          </a:p>
          <a:p>
            <a:pPr>
              <a:spcAft>
                <a:spcPts val="100"/>
              </a:spcAft>
            </a:pPr>
            <a:r>
              <a:rPr sz="900">
                <a:solidFill>
                  <a:srgbClr val="9CDCFE"/>
                </a:solidFill>
                <a:latin typeface="Consolas"/>
              </a:rPr>
              <a:t> </a:t>
            </a:r>
          </a:p>
          <a:p>
            <a:pPr>
              <a:spcAft>
                <a:spcPts val="100"/>
              </a:spcAft>
            </a:pPr>
            <a:r>
              <a:rPr sz="900">
                <a:solidFill>
                  <a:srgbClr val="9CDCFE"/>
                </a:solidFill>
                <a:latin typeface="Consolas"/>
              </a:rPr>
              <a:t># the result is a RESPONSE MAP, not a box: every position gets a score</a:t>
            </a:r>
          </a:p>
          <a:p>
            <a:pPr>
              <a:spcAft>
                <a:spcPts val="100"/>
              </a:spcAft>
            </a:pPr>
            <a:r>
              <a:rPr sz="900">
                <a:solidFill>
                  <a:srgbClr val="9CDCFE"/>
                </a:solidFill>
                <a:latin typeface="Consolas"/>
              </a:rPr>
              <a:t>minv, maxv, minloc, maxloc = cv2.minMaxLoc(res)</a:t>
            </a:r>
          </a:p>
          <a:p>
            <a:pPr>
              <a:spcAft>
                <a:spcPts val="100"/>
              </a:spcAft>
            </a:pPr>
            <a:r>
              <a:rPr sz="900">
                <a:solidFill>
                  <a:srgbClr val="9CDCFE"/>
                </a:solidFill>
                <a:latin typeface="Consolas"/>
              </a:rPr>
              <a:t> </a:t>
            </a:r>
          </a:p>
          <a:p>
            <a:pPr>
              <a:spcAft>
                <a:spcPts val="100"/>
              </a:spcAft>
            </a:pPr>
            <a:r>
              <a:rPr sz="900">
                <a:solidFill>
                  <a:srgbClr val="9CDCFE"/>
                </a:solidFill>
                <a:latin typeface="Consolas"/>
              </a:rPr>
              <a:t>#   TM_SQDIFF and TM_SQDIFF_NORMED  -&gt;  take minLoc  (LOW is best)</a:t>
            </a:r>
          </a:p>
          <a:p>
            <a:pPr>
              <a:spcAft>
                <a:spcPts val="100"/>
              </a:spcAft>
            </a:pPr>
            <a:r>
              <a:rPr sz="900">
                <a:solidFill>
                  <a:srgbClr val="9CDCFE"/>
                </a:solidFill>
                <a:latin typeface="Consolas"/>
              </a:rPr>
              <a:t>#   everything else                 -&gt;  take maxLoc  (HIGH is best)</a:t>
            </a:r>
          </a:p>
          <a:p>
            <a:pPr>
              <a:spcAft>
                <a:spcPts val="100"/>
              </a:spcAft>
            </a:pPr>
            <a:r>
              <a:rPr sz="900">
                <a:solidFill>
                  <a:srgbClr val="9CDCFE"/>
                </a:solidFill>
                <a:latin typeface="Consolas"/>
              </a:rPr>
              <a:t> </a:t>
            </a:r>
          </a:p>
          <a:p>
            <a:pPr>
              <a:spcAft>
                <a:spcPts val="100"/>
              </a:spcAft>
            </a:pPr>
            <a:r>
              <a:rPr sz="900">
                <a:solidFill>
                  <a:srgbClr val="9CDCFE"/>
                </a:solidFill>
                <a:latin typeface="Consolas"/>
              </a:rPr>
              <a:t>score_pass = maxv &gt;= 0.70</a:t>
            </a:r>
          </a:p>
          <a:p>
            <a:pPr>
              <a:spcAft>
                <a:spcPts val="100"/>
              </a:spcAft>
            </a:pPr>
            <a:r>
              <a:rPr sz="900">
                <a:solidFill>
                  <a:srgbClr val="9CDCFE"/>
                </a:solidFill>
                <a:latin typeface="Consolas"/>
              </a:rPr>
              <a:t>box        = {'x': [620, 880], 'y': [20, 140]}      # required placement</a:t>
            </a:r>
          </a:p>
          <a:p>
            <a:pPr>
              <a:spcAft>
                <a:spcPts val="100"/>
              </a:spcAft>
            </a:pPr>
            <a:r>
              <a:rPr sz="900">
                <a:solidFill>
                  <a:srgbClr val="9CDCFE"/>
                </a:solidFill>
                <a:latin typeface="Consolas"/>
              </a:rPr>
              <a:t>place_pass = (box['x'][0] &lt;= maxloc[0] &lt;= box['x'][1] and</a:t>
            </a:r>
          </a:p>
          <a:p>
            <a:pPr>
              <a:spcAft>
                <a:spcPts val="100"/>
              </a:spcAft>
            </a:pPr>
            <a:r>
              <a:rPr sz="900">
                <a:solidFill>
                  <a:srgbClr val="9CDCFE"/>
                </a:solidFill>
                <a:latin typeface="Consolas"/>
              </a:rPr>
              <a:t>              box['y'][0] &lt;= maxloc[1] &lt;= box['y'][1])</a:t>
            </a:r>
          </a:p>
          <a:p>
            <a:pPr>
              <a:spcAft>
                <a:spcPts val="100"/>
              </a:spcAft>
            </a:pPr>
            <a:r>
              <a:rPr sz="900">
                <a:solidFill>
                  <a:srgbClr val="9CDCFE"/>
                </a:solidFill>
                <a:latin typeface="Consolas"/>
              </a:rPr>
              <a:t> </a:t>
            </a:r>
          </a:p>
          <a:p>
            <a:pPr>
              <a:spcAft>
                <a:spcPts val="100"/>
              </a:spcAft>
            </a:pPr>
            <a:r>
              <a:rPr sz="900">
                <a:solidFill>
                  <a:srgbClr val="9CDCFE"/>
                </a:solidFill>
                <a:latin typeface="Consolas"/>
              </a:rPr>
              <a:t>verdict = 'ACCEPT' if (score_pass and place_pass) else 'REJECT'</a:t>
            </a:r>
          </a:p>
        </p:txBody>
      </p:sp>
      <p:sp>
        <p:nvSpPr>
          <p:cNvPr id="9" name="Rectangle 8"/>
          <p:cNvSpPr/>
          <p:nvPr/>
        </p:nvSpPr>
        <p:spPr>
          <a:xfrm>
            <a:off x="7406640" y="1783080"/>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783080"/>
            <a:ext cx="82296" cy="9166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6096" y="1783080"/>
            <a:ext cx="3602736" cy="916686"/>
          </a:xfrm>
          <a:prstGeom prst="rect">
            <a:avLst/>
          </a:prstGeom>
          <a:noFill/>
        </p:spPr>
        <p:txBody>
          <a:bodyPr wrap="square" anchor="ctr">
            <a:spAutoFit/>
          </a:bodyPr>
          <a:lstStyle/>
          <a:p>
            <a:pPr algn="l">
              <a:spcAft>
                <a:spcPts val="200"/>
              </a:spcAft>
            </a:pPr>
            <a:r>
              <a:rPr sz="1300" b="1">
                <a:solidFill>
                  <a:srgbClr val="1F6FEB"/>
                </a:solidFill>
                <a:latin typeface="Arial"/>
              </a:rPr>
              <a:t>It slides a patch and scores</a:t>
            </a:r>
          </a:p>
          <a:p>
            <a:pPr algn="l">
              <a:spcAft>
                <a:spcPts val="200"/>
              </a:spcAft>
            </a:pPr>
            <a:r>
              <a:rPr sz="1150" b="0">
                <a:solidFill>
                  <a:srgbClr val="161B26"/>
                </a:solidFill>
                <a:latin typeface="Arial"/>
              </a:rPr>
              <a:t>A similarity value at every position. The peak is your best candidate.</a:t>
            </a:r>
          </a:p>
        </p:txBody>
      </p:sp>
      <p:sp>
        <p:nvSpPr>
          <p:cNvPr id="12" name="Rectangle 11"/>
          <p:cNvSpPr/>
          <p:nvPr/>
        </p:nvSpPr>
        <p:spPr>
          <a:xfrm>
            <a:off x="7406640" y="2864358"/>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2864358"/>
            <a:ext cx="82296" cy="91668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2864358"/>
            <a:ext cx="3602736" cy="916686"/>
          </a:xfrm>
          <a:prstGeom prst="rect">
            <a:avLst/>
          </a:prstGeom>
          <a:noFill/>
        </p:spPr>
        <p:txBody>
          <a:bodyPr wrap="square" anchor="ctr">
            <a:spAutoFit/>
          </a:bodyPr>
          <a:lstStyle/>
          <a:p>
            <a:pPr algn="l">
              <a:spcAft>
                <a:spcPts val="200"/>
              </a:spcAft>
            </a:pPr>
            <a:r>
              <a:rPr sz="1300" b="1">
                <a:solidFill>
                  <a:srgbClr val="10B981"/>
                </a:solidFill>
                <a:latin typeface="Arial"/>
              </a:rPr>
              <a:t>Two methods invert</a:t>
            </a:r>
          </a:p>
          <a:p>
            <a:pPr algn="l">
              <a:spcAft>
                <a:spcPts val="200"/>
              </a:spcAft>
            </a:pPr>
            <a:r>
              <a:rPr sz="1150" b="0">
                <a:solidFill>
                  <a:srgbClr val="161B26"/>
                </a:solidFill>
                <a:latin typeface="Arial"/>
              </a:rPr>
              <a:t>SQDIFF and SQDIFF_NORMED use minLoc. Getting this backwards puts your detection in the opposite corner of the frame.</a:t>
            </a:r>
          </a:p>
        </p:txBody>
      </p:sp>
      <p:sp>
        <p:nvSpPr>
          <p:cNvPr id="15" name="Rectangle 14"/>
          <p:cNvSpPr/>
          <p:nvPr/>
        </p:nvSpPr>
        <p:spPr>
          <a:xfrm>
            <a:off x="7406640" y="3945636"/>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3945636"/>
            <a:ext cx="82296" cy="91668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6096" y="3945636"/>
            <a:ext cx="3602736" cy="916686"/>
          </a:xfrm>
          <a:prstGeom prst="rect">
            <a:avLst/>
          </a:prstGeom>
          <a:noFill/>
        </p:spPr>
        <p:txBody>
          <a:bodyPr wrap="square" anchor="ctr">
            <a:spAutoFit/>
          </a:bodyPr>
          <a:lstStyle/>
          <a:p>
            <a:pPr algn="l">
              <a:spcAft>
                <a:spcPts val="200"/>
              </a:spcAft>
            </a:pPr>
            <a:r>
              <a:rPr sz="1300" b="1">
                <a:solidFill>
                  <a:srgbClr val="7C3AED"/>
                </a:solidFill>
                <a:latin typeface="Arial"/>
              </a:rPr>
              <a:t>Score AND placement</a:t>
            </a:r>
          </a:p>
          <a:p>
            <a:pPr algn="l">
              <a:spcAft>
                <a:spcPts val="200"/>
              </a:spcAft>
            </a:pPr>
            <a:r>
              <a:rPr sz="1150" b="0">
                <a:solidFill>
                  <a:srgbClr val="161B26"/>
                </a:solidFill>
                <a:latin typeface="Arial"/>
              </a:rPr>
              <a:t>asset_11 passes on score and fails on placement. Presence is not correctness.</a:t>
            </a:r>
          </a:p>
        </p:txBody>
      </p:sp>
      <p:sp>
        <p:nvSpPr>
          <p:cNvPr id="18" name="Rectangle 17"/>
          <p:cNvSpPr/>
          <p:nvPr/>
        </p:nvSpPr>
        <p:spPr>
          <a:xfrm>
            <a:off x="7406640" y="5026914"/>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5026914"/>
            <a:ext cx="82296" cy="91668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5026914"/>
            <a:ext cx="3602736" cy="916686"/>
          </a:xfrm>
          <a:prstGeom prst="rect">
            <a:avLst/>
          </a:prstGeom>
          <a:noFill/>
        </p:spPr>
        <p:txBody>
          <a:bodyPr wrap="square" anchor="ctr">
            <a:spAutoFit/>
          </a:bodyPr>
          <a:lstStyle/>
          <a:p>
            <a:pPr algn="l">
              <a:spcAft>
                <a:spcPts val="200"/>
              </a:spcAft>
            </a:pPr>
            <a:r>
              <a:rPr sz="1300" b="1">
                <a:solidFill>
                  <a:srgbClr val="F59E0B"/>
                </a:solidFill>
                <a:latin typeface="Arial"/>
              </a:rPr>
              <a:t>State the limits</a:t>
            </a:r>
          </a:p>
          <a:p>
            <a:pPr algn="l">
              <a:spcAft>
                <a:spcPts val="200"/>
              </a:spcAft>
            </a:pPr>
            <a:r>
              <a:rPr sz="1150" b="0">
                <a:solidFill>
                  <a:srgbClr val="161B26"/>
                </a:solidFill>
                <a:latin typeface="Arial"/>
              </a:rPr>
              <a:t>Not scale invariant, not rotation invariant, and it degrades under illumination change unless you use a normalised method.</a:t>
            </a:r>
          </a:p>
        </p:txBody>
      </p:sp>
      <p:sp>
        <p:nvSpPr>
          <p:cNvPr id="21" name="Rectangle 20"/>
          <p:cNvSpPr/>
          <p:nvPr/>
        </p:nvSpPr>
        <p:spPr>
          <a:xfrm>
            <a:off x="777240" y="6053328"/>
            <a:ext cx="10634472" cy="4023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6053328"/>
            <a:ext cx="10241280" cy="402336"/>
          </a:xfrm>
          <a:prstGeom prst="rect">
            <a:avLst/>
          </a:prstGeom>
          <a:noFill/>
        </p:spPr>
        <p:txBody>
          <a:bodyPr wrap="square" anchor="ctr">
            <a:spAutoFit/>
          </a:bodyPr>
          <a:lstStyle/>
          <a:p>
            <a:pPr algn="l">
              <a:spcAft>
                <a:spcPts val="400"/>
              </a:spcAft>
            </a:pPr>
            <a:r>
              <a:rPr sz="1100" b="1">
                <a:solidFill>
                  <a:srgbClr val="127A3E"/>
                </a:solidFill>
                <a:latin typeface="Arial"/>
              </a:rPr>
              <a:t>VERIFY   </a:t>
            </a:r>
            <a:r>
              <a:rPr sz="1200" b="0">
                <a:solidFill>
                  <a:srgbClr val="161B26"/>
                </a:solidFill>
                <a:latin typeface="Arial"/>
              </a:rPr>
              <a:t>When the score fails but the logo is visibly present, re-test with ORB matching before rejecting — that escalation is written into the gate.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K7, A3 · SOURCES S9, S17, S22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Consistency in a Generative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The continuity block</a:t>
            </a:r>
          </a:p>
          <a:p>
            <a:pPr algn="l">
              <a:spcAft>
                <a:spcPts val="200"/>
              </a:spcAft>
            </a:pPr>
            <a:r>
              <a:rPr sz="1000" b="0">
                <a:solidFill>
                  <a:srgbClr val="5B6372"/>
                </a:solidFill>
                <a:latin typeface="Arial"/>
              </a:rPr>
              <a:t>Write the locked subject, wardrobe, lighting and lens ONCE, then paste it byte-for-byte into every prompt. Retyping is how drift enters.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Reference images</a:t>
            </a:r>
          </a:p>
          <a:p>
            <a:pPr algn="l">
              <a:spcAft>
                <a:spcPts val="200"/>
              </a:spcAft>
            </a:pPr>
            <a:r>
              <a:rPr sz="1000" b="0">
                <a:solidFill>
                  <a:srgbClr val="5B6372"/>
                </a:solidFill>
                <a:latin typeface="Arial"/>
              </a:rPr>
              <a:t>Current video models accept up to three reference images to guide content. That is a documented mechanism, not a hope.</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Image-to-video from a fixed frame</a:t>
            </a:r>
          </a:p>
          <a:p>
            <a:pPr algn="l">
              <a:spcAft>
                <a:spcPts val="200"/>
              </a:spcAft>
            </a:pPr>
            <a:r>
              <a:rPr sz="1000" b="0">
                <a:solidFill>
                  <a:srgbClr val="5B6372"/>
                </a:solidFill>
                <a:latin typeface="Arial"/>
              </a:rPr>
              <a:t>Starting every shot from the same conditioning frame is the strongest continuity lever available.</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Natively multimodal models</a:t>
            </a:r>
          </a:p>
          <a:p>
            <a:pPr algn="l">
              <a:spcAft>
                <a:spcPts val="200"/>
              </a:spcAft>
            </a:pPr>
            <a:r>
              <a:rPr sz="1000" b="0">
                <a:solidFill>
                  <a:srgbClr val="5B6372"/>
                </a:solidFill>
                <a:latin typeface="Arial"/>
              </a:rPr>
              <a:t>Reasoning over text and image in one model is what makes holding a character or product across several images tractable at all.</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Retrieval conditioning</a:t>
            </a:r>
          </a:p>
          <a:p>
            <a:pPr algn="l">
              <a:spcAft>
                <a:spcPts val="200"/>
              </a:spcAft>
            </a:pPr>
            <a:r>
              <a:rPr sz="1000" b="0">
                <a:solidFill>
                  <a:srgbClr val="5B6372"/>
                </a:solidFill>
                <a:latin typeface="Arial"/>
              </a:rPr>
              <a:t>Cross-attention to exemplar images gives style control without growing the model — a documented scaling strategy.</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Then measure it anyway</a:t>
            </a:r>
          </a:p>
          <a:p>
            <a:pPr algn="l">
              <a:spcAft>
                <a:spcPts val="200"/>
              </a:spcAft>
            </a:pPr>
            <a:r>
              <a:rPr sz="1000" b="0">
                <a:solidFill>
                  <a:srgbClr val="5B6372"/>
                </a:solidFill>
                <a:latin typeface="Arial"/>
              </a:rPr>
              <a:t>Every one of the above improves the odds. None of them guarantees the result, so the descriptor gate still runs.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fast">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K7 · SOURCE S17 · AI-GENERATED IMAGE AND VIDEO SYNTHESIS, CH.7 PP.96–98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Evaluation Axes for Generated Visual Media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126894"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1944014" cy="600891"/>
          </a:xfrm>
          <a:prstGeom prst="rect">
            <a:avLst/>
          </a:prstGeom>
          <a:noFill/>
        </p:spPr>
        <p:txBody>
          <a:bodyPr wrap="square" anchor="ctr">
            <a:spAutoFit/>
          </a:bodyPr>
          <a:lstStyle/>
          <a:p>
            <a:pPr algn="l">
              <a:spcAft>
                <a:spcPts val="400"/>
              </a:spcAft>
            </a:pPr>
            <a:r>
              <a:rPr sz="1000" b="1">
                <a:solidFill>
                  <a:srgbClr val="FFFFFF"/>
                </a:solidFill>
                <a:latin typeface="Arial"/>
              </a:rPr>
              <a:t>Axis</a:t>
            </a:r>
          </a:p>
        </p:txBody>
      </p:sp>
      <p:sp>
        <p:nvSpPr>
          <p:cNvPr id="9" name="Rectangle 8"/>
          <p:cNvSpPr/>
          <p:nvPr/>
        </p:nvSpPr>
        <p:spPr>
          <a:xfrm>
            <a:off x="2904134" y="1783080"/>
            <a:ext cx="3615720"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3862" y="1783080"/>
            <a:ext cx="3432840" cy="600891"/>
          </a:xfrm>
          <a:prstGeom prst="rect">
            <a:avLst/>
          </a:prstGeom>
          <a:noFill/>
        </p:spPr>
        <p:txBody>
          <a:bodyPr wrap="square" anchor="ctr">
            <a:spAutoFit/>
          </a:bodyPr>
          <a:lstStyle/>
          <a:p>
            <a:pPr algn="l">
              <a:spcAft>
                <a:spcPts val="400"/>
              </a:spcAft>
            </a:pPr>
            <a:r>
              <a:rPr sz="1000" b="1">
                <a:solidFill>
                  <a:srgbClr val="FFFFFF"/>
                </a:solidFill>
                <a:latin typeface="Arial"/>
              </a:rPr>
              <a:t>Metrics</a:t>
            </a:r>
          </a:p>
        </p:txBody>
      </p:sp>
      <p:sp>
        <p:nvSpPr>
          <p:cNvPr id="11" name="Rectangle 10"/>
          <p:cNvSpPr/>
          <p:nvPr/>
        </p:nvSpPr>
        <p:spPr>
          <a:xfrm>
            <a:off x="6519854" y="1783080"/>
            <a:ext cx="4891857"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582" y="1783080"/>
            <a:ext cx="4708977" cy="600891"/>
          </a:xfrm>
          <a:prstGeom prst="rect">
            <a:avLst/>
          </a:prstGeom>
          <a:noFill/>
        </p:spPr>
        <p:txBody>
          <a:bodyPr wrap="square" anchor="ctr">
            <a:spAutoFit/>
          </a:bodyPr>
          <a:lstStyle/>
          <a:p>
            <a:pPr algn="l">
              <a:spcAft>
                <a:spcPts val="400"/>
              </a:spcAft>
            </a:pPr>
            <a:r>
              <a:rPr sz="1000" b="1">
                <a:solidFill>
                  <a:srgbClr val="FFFFFF"/>
                </a:solidFill>
                <a:latin typeface="Arial"/>
              </a:rPr>
              <a:t>The pitfall to state</a:t>
            </a:r>
          </a:p>
        </p:txBody>
      </p:sp>
      <p:sp>
        <p:nvSpPr>
          <p:cNvPr id="13" name="Rectangle 12"/>
          <p:cNvSpPr/>
          <p:nvPr/>
        </p:nvSpPr>
        <p:spPr>
          <a:xfrm>
            <a:off x="777240" y="2383971"/>
            <a:ext cx="2126894"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383971"/>
            <a:ext cx="1944014" cy="600891"/>
          </a:xfrm>
          <a:prstGeom prst="rect">
            <a:avLst/>
          </a:prstGeom>
          <a:noFill/>
        </p:spPr>
        <p:txBody>
          <a:bodyPr wrap="square" anchor="ctr">
            <a:spAutoFit/>
          </a:bodyPr>
          <a:lstStyle/>
          <a:p>
            <a:pPr algn="l">
              <a:spcAft>
                <a:spcPts val="400"/>
              </a:spcAft>
            </a:pPr>
            <a:r>
              <a:rPr sz="900" b="1">
                <a:solidFill>
                  <a:srgbClr val="161B26"/>
                </a:solidFill>
                <a:latin typeface="Arial"/>
              </a:rPr>
              <a:t>Fidelity and diversity</a:t>
            </a:r>
          </a:p>
        </p:txBody>
      </p:sp>
      <p:sp>
        <p:nvSpPr>
          <p:cNvPr id="15" name="Rectangle 14"/>
          <p:cNvSpPr/>
          <p:nvPr/>
        </p:nvSpPr>
        <p:spPr>
          <a:xfrm>
            <a:off x="2904134" y="2383971"/>
            <a:ext cx="3615720"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13862" y="2383971"/>
            <a:ext cx="3432840" cy="600891"/>
          </a:xfrm>
          <a:prstGeom prst="rect">
            <a:avLst/>
          </a:prstGeom>
          <a:noFill/>
        </p:spPr>
        <p:txBody>
          <a:bodyPr wrap="square" anchor="ctr">
            <a:spAutoFit/>
          </a:bodyPr>
          <a:lstStyle/>
          <a:p>
            <a:pPr algn="l">
              <a:spcAft>
                <a:spcPts val="400"/>
              </a:spcAft>
            </a:pPr>
            <a:r>
              <a:rPr sz="900" b="0">
                <a:solidFill>
                  <a:srgbClr val="161B26"/>
                </a:solidFill>
                <a:latin typeface="Arial"/>
              </a:rPr>
              <a:t>FID, KID, precision/recall for generators</a:t>
            </a:r>
          </a:p>
        </p:txBody>
      </p:sp>
      <p:sp>
        <p:nvSpPr>
          <p:cNvPr id="17" name="Rectangle 16"/>
          <p:cNvSpPr/>
          <p:nvPr/>
        </p:nvSpPr>
        <p:spPr>
          <a:xfrm>
            <a:off x="6519854" y="2383971"/>
            <a:ext cx="4891857"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582" y="2383971"/>
            <a:ext cx="4708977" cy="600891"/>
          </a:xfrm>
          <a:prstGeom prst="rect">
            <a:avLst/>
          </a:prstGeom>
          <a:noFill/>
        </p:spPr>
        <p:txBody>
          <a:bodyPr wrap="square" anchor="ctr">
            <a:spAutoFit/>
          </a:bodyPr>
          <a:lstStyle/>
          <a:p>
            <a:pPr algn="l">
              <a:spcAft>
                <a:spcPts val="400"/>
              </a:spcAft>
            </a:pPr>
            <a:r>
              <a:rPr sz="900" b="0">
                <a:solidFill>
                  <a:srgbClr val="161B26"/>
                </a:solidFill>
                <a:latin typeface="Arial"/>
              </a:rPr>
              <a:t>FID is encoder-dependent and sensitive to sample size; it can miss mode dropping that precision/recall catches</a:t>
            </a:r>
          </a:p>
        </p:txBody>
      </p:sp>
      <p:sp>
        <p:nvSpPr>
          <p:cNvPr id="19" name="Rectangle 18"/>
          <p:cNvSpPr/>
          <p:nvPr/>
        </p:nvSpPr>
        <p:spPr>
          <a:xfrm>
            <a:off x="777240" y="2984862"/>
            <a:ext cx="2126894"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984862"/>
            <a:ext cx="1944014" cy="600891"/>
          </a:xfrm>
          <a:prstGeom prst="rect">
            <a:avLst/>
          </a:prstGeom>
          <a:noFill/>
        </p:spPr>
        <p:txBody>
          <a:bodyPr wrap="square" anchor="ctr">
            <a:spAutoFit/>
          </a:bodyPr>
          <a:lstStyle/>
          <a:p>
            <a:pPr algn="l">
              <a:spcAft>
                <a:spcPts val="400"/>
              </a:spcAft>
            </a:pPr>
            <a:r>
              <a:rPr sz="900" b="1">
                <a:solidFill>
                  <a:srgbClr val="161B26"/>
                </a:solidFill>
                <a:latin typeface="Arial"/>
              </a:rPr>
              <a:t>Text-image faithfulness</a:t>
            </a:r>
          </a:p>
        </p:txBody>
      </p:sp>
      <p:sp>
        <p:nvSpPr>
          <p:cNvPr id="21" name="Rectangle 20"/>
          <p:cNvSpPr/>
          <p:nvPr/>
        </p:nvSpPr>
        <p:spPr>
          <a:xfrm>
            <a:off x="2904134" y="2984862"/>
            <a:ext cx="3615720"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13862" y="2984862"/>
            <a:ext cx="3432840" cy="600891"/>
          </a:xfrm>
          <a:prstGeom prst="rect">
            <a:avLst/>
          </a:prstGeom>
          <a:noFill/>
        </p:spPr>
        <p:txBody>
          <a:bodyPr wrap="square" anchor="ctr">
            <a:spAutoFit/>
          </a:bodyPr>
          <a:lstStyle/>
          <a:p>
            <a:pPr algn="l">
              <a:spcAft>
                <a:spcPts val="400"/>
              </a:spcAft>
            </a:pPr>
            <a:r>
              <a:rPr sz="900" b="0">
                <a:solidFill>
                  <a:srgbClr val="161B26"/>
                </a:solidFill>
                <a:latin typeface="Arial"/>
              </a:rPr>
              <a:t>CLIP-based cosine similarity; object and attribute recall from a detector</a:t>
            </a:r>
          </a:p>
        </p:txBody>
      </p:sp>
      <p:sp>
        <p:nvSpPr>
          <p:cNvPr id="23" name="Rectangle 22"/>
          <p:cNvSpPr/>
          <p:nvPr/>
        </p:nvSpPr>
        <p:spPr>
          <a:xfrm>
            <a:off x="6519854" y="2984862"/>
            <a:ext cx="4891857"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29582" y="2984862"/>
            <a:ext cx="4708977" cy="600891"/>
          </a:xfrm>
          <a:prstGeom prst="rect">
            <a:avLst/>
          </a:prstGeom>
          <a:noFill/>
        </p:spPr>
        <p:txBody>
          <a:bodyPr wrap="square" anchor="ctr">
            <a:spAutoFit/>
          </a:bodyPr>
          <a:lstStyle/>
          <a:p>
            <a:pPr algn="l">
              <a:spcAft>
                <a:spcPts val="400"/>
              </a:spcAft>
            </a:pPr>
            <a:r>
              <a:rPr sz="900" b="0">
                <a:solidFill>
                  <a:srgbClr val="161B26"/>
                </a:solidFill>
                <a:latin typeface="Arial"/>
              </a:rPr>
              <a:t>Compositional and grounding errors — 'a red cube on a blue sphere' scores well with the objects swapped</a:t>
            </a:r>
          </a:p>
        </p:txBody>
      </p:sp>
      <p:sp>
        <p:nvSpPr>
          <p:cNvPr id="25" name="Rectangle 24"/>
          <p:cNvSpPr/>
          <p:nvPr/>
        </p:nvSpPr>
        <p:spPr>
          <a:xfrm>
            <a:off x="777240" y="3585753"/>
            <a:ext cx="2126894"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585753"/>
            <a:ext cx="1944014" cy="600891"/>
          </a:xfrm>
          <a:prstGeom prst="rect">
            <a:avLst/>
          </a:prstGeom>
          <a:noFill/>
        </p:spPr>
        <p:txBody>
          <a:bodyPr wrap="square" anchor="ctr">
            <a:spAutoFit/>
          </a:bodyPr>
          <a:lstStyle/>
          <a:p>
            <a:pPr algn="l">
              <a:spcAft>
                <a:spcPts val="400"/>
              </a:spcAft>
            </a:pPr>
            <a:r>
              <a:rPr sz="900" b="1">
                <a:solidFill>
                  <a:srgbClr val="161B26"/>
                </a:solidFill>
                <a:latin typeface="Arial"/>
              </a:rPr>
              <a:t>Editing fidelity</a:t>
            </a:r>
          </a:p>
        </p:txBody>
      </p:sp>
      <p:sp>
        <p:nvSpPr>
          <p:cNvPr id="27" name="Rectangle 26"/>
          <p:cNvSpPr/>
          <p:nvPr/>
        </p:nvSpPr>
        <p:spPr>
          <a:xfrm>
            <a:off x="2904134" y="3585753"/>
            <a:ext cx="3615720"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013862" y="3585753"/>
            <a:ext cx="3432840" cy="600891"/>
          </a:xfrm>
          <a:prstGeom prst="rect">
            <a:avLst/>
          </a:prstGeom>
          <a:noFill/>
        </p:spPr>
        <p:txBody>
          <a:bodyPr wrap="square" anchor="ctr">
            <a:spAutoFit/>
          </a:bodyPr>
          <a:lstStyle/>
          <a:p>
            <a:pPr algn="l">
              <a:spcAft>
                <a:spcPts val="400"/>
              </a:spcAft>
            </a:pPr>
            <a:r>
              <a:rPr sz="900" b="0">
                <a:solidFill>
                  <a:srgbClr val="161B26"/>
                </a:solidFill>
                <a:latin typeface="Arial"/>
              </a:rPr>
              <a:t>Masked-region consistency; identity preservation</a:t>
            </a:r>
          </a:p>
        </p:txBody>
      </p:sp>
      <p:sp>
        <p:nvSpPr>
          <p:cNvPr id="29" name="Rectangle 28"/>
          <p:cNvSpPr/>
          <p:nvPr/>
        </p:nvSpPr>
        <p:spPr>
          <a:xfrm>
            <a:off x="6519854" y="3585753"/>
            <a:ext cx="4891857"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29582" y="3585753"/>
            <a:ext cx="4708977" cy="600891"/>
          </a:xfrm>
          <a:prstGeom prst="rect">
            <a:avLst/>
          </a:prstGeom>
          <a:noFill/>
        </p:spPr>
        <p:txBody>
          <a:bodyPr wrap="square" anchor="ctr">
            <a:spAutoFit/>
          </a:bodyPr>
          <a:lstStyle/>
          <a:p>
            <a:pPr algn="l">
              <a:spcAft>
                <a:spcPts val="400"/>
              </a:spcAft>
            </a:pPr>
            <a:r>
              <a:rPr sz="900" b="0">
                <a:solidFill>
                  <a:srgbClr val="161B26"/>
                </a:solidFill>
                <a:latin typeface="Arial"/>
              </a:rPr>
              <a:t>Sensitive to local artefacts, and blind to whether the edit was the right edit</a:t>
            </a:r>
          </a:p>
        </p:txBody>
      </p:sp>
      <p:sp>
        <p:nvSpPr>
          <p:cNvPr id="31" name="Rectangle 30"/>
          <p:cNvSpPr/>
          <p:nvPr/>
        </p:nvSpPr>
        <p:spPr>
          <a:xfrm>
            <a:off x="777240" y="4186644"/>
            <a:ext cx="2126894"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186644"/>
            <a:ext cx="1944014" cy="600891"/>
          </a:xfrm>
          <a:prstGeom prst="rect">
            <a:avLst/>
          </a:prstGeom>
          <a:noFill/>
        </p:spPr>
        <p:txBody>
          <a:bodyPr wrap="square" anchor="ctr">
            <a:spAutoFit/>
          </a:bodyPr>
          <a:lstStyle/>
          <a:p>
            <a:pPr algn="l">
              <a:spcAft>
                <a:spcPts val="400"/>
              </a:spcAft>
            </a:pPr>
            <a:r>
              <a:rPr sz="900" b="1">
                <a:solidFill>
                  <a:srgbClr val="161B26"/>
                </a:solidFill>
                <a:latin typeface="Arial"/>
              </a:rPr>
              <a:t>Video quality</a:t>
            </a:r>
          </a:p>
        </p:txBody>
      </p:sp>
      <p:sp>
        <p:nvSpPr>
          <p:cNvPr id="33" name="Rectangle 32"/>
          <p:cNvSpPr/>
          <p:nvPr/>
        </p:nvSpPr>
        <p:spPr>
          <a:xfrm>
            <a:off x="2904134" y="4186644"/>
            <a:ext cx="3615720"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13862" y="4186644"/>
            <a:ext cx="3432840" cy="600891"/>
          </a:xfrm>
          <a:prstGeom prst="rect">
            <a:avLst/>
          </a:prstGeom>
          <a:noFill/>
        </p:spPr>
        <p:txBody>
          <a:bodyPr wrap="square" anchor="ctr">
            <a:spAutoFit/>
          </a:bodyPr>
          <a:lstStyle/>
          <a:p>
            <a:pPr algn="l">
              <a:spcAft>
                <a:spcPts val="400"/>
              </a:spcAft>
            </a:pPr>
            <a:r>
              <a:rPr sz="900" b="0">
                <a:solidFill>
                  <a:srgbClr val="161B26"/>
                </a:solidFill>
                <a:latin typeface="Arial"/>
              </a:rPr>
              <a:t>FVD, optical-flow agreement</a:t>
            </a:r>
          </a:p>
        </p:txBody>
      </p:sp>
      <p:sp>
        <p:nvSpPr>
          <p:cNvPr id="35" name="Rectangle 34"/>
          <p:cNvSpPr/>
          <p:nvPr/>
        </p:nvSpPr>
        <p:spPr>
          <a:xfrm>
            <a:off x="6519854" y="4186644"/>
            <a:ext cx="4891857"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29582" y="4186644"/>
            <a:ext cx="4708977" cy="600891"/>
          </a:xfrm>
          <a:prstGeom prst="rect">
            <a:avLst/>
          </a:prstGeom>
          <a:noFill/>
        </p:spPr>
        <p:txBody>
          <a:bodyPr wrap="square" anchor="ctr">
            <a:spAutoFit/>
          </a:bodyPr>
          <a:lstStyle/>
          <a:p>
            <a:pPr algn="l">
              <a:spcAft>
                <a:spcPts val="400"/>
              </a:spcAft>
            </a:pPr>
            <a:r>
              <a:rPr sz="900" b="0">
                <a:solidFill>
                  <a:srgbClr val="161B26"/>
                </a:solidFill>
                <a:latin typeface="Arial"/>
              </a:rPr>
              <a:t>Temporal drift and motion artefacts that no per-frame score can see</a:t>
            </a:r>
          </a:p>
        </p:txBody>
      </p:sp>
      <p:sp>
        <p:nvSpPr>
          <p:cNvPr id="37" name="Rectangle 36"/>
          <p:cNvSpPr/>
          <p:nvPr/>
        </p:nvSpPr>
        <p:spPr>
          <a:xfrm>
            <a:off x="777240" y="4787535"/>
            <a:ext cx="2126894"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4787535"/>
            <a:ext cx="1944014" cy="600891"/>
          </a:xfrm>
          <a:prstGeom prst="rect">
            <a:avLst/>
          </a:prstGeom>
          <a:noFill/>
        </p:spPr>
        <p:txBody>
          <a:bodyPr wrap="square" anchor="ctr">
            <a:spAutoFit/>
          </a:bodyPr>
          <a:lstStyle/>
          <a:p>
            <a:pPr algn="l">
              <a:spcAft>
                <a:spcPts val="400"/>
              </a:spcAft>
            </a:pPr>
            <a:r>
              <a:rPr sz="900" b="1">
                <a:solidFill>
                  <a:srgbClr val="161B26"/>
                </a:solidFill>
                <a:latin typeface="Arial"/>
              </a:rPr>
              <a:t>Robustness</a:t>
            </a:r>
          </a:p>
        </p:txBody>
      </p:sp>
      <p:sp>
        <p:nvSpPr>
          <p:cNvPr id="39" name="Rectangle 38"/>
          <p:cNvSpPr/>
          <p:nvPr/>
        </p:nvSpPr>
        <p:spPr>
          <a:xfrm>
            <a:off x="2904134" y="4787535"/>
            <a:ext cx="3615720"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013862" y="4787535"/>
            <a:ext cx="3432840" cy="600891"/>
          </a:xfrm>
          <a:prstGeom prst="rect">
            <a:avLst/>
          </a:prstGeom>
          <a:noFill/>
        </p:spPr>
        <p:txBody>
          <a:bodyPr wrap="square" anchor="ctr">
            <a:spAutoFit/>
          </a:bodyPr>
          <a:lstStyle/>
          <a:p>
            <a:pPr algn="l">
              <a:spcAft>
                <a:spcPts val="400"/>
              </a:spcAft>
            </a:pPr>
            <a:r>
              <a:rPr sz="900" b="0">
                <a:solidFill>
                  <a:srgbClr val="161B26"/>
                </a:solidFill>
                <a:latin typeface="Arial"/>
              </a:rPr>
              <a:t>Corruption suites, adversarial tests, calibration error</a:t>
            </a:r>
          </a:p>
        </p:txBody>
      </p:sp>
      <p:sp>
        <p:nvSpPr>
          <p:cNvPr id="41" name="Rectangle 40"/>
          <p:cNvSpPr/>
          <p:nvPr/>
        </p:nvSpPr>
        <p:spPr>
          <a:xfrm>
            <a:off x="6519854" y="4787535"/>
            <a:ext cx="4891857"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29582" y="4787535"/>
            <a:ext cx="4708977" cy="600891"/>
          </a:xfrm>
          <a:prstGeom prst="rect">
            <a:avLst/>
          </a:prstGeom>
          <a:noFill/>
        </p:spPr>
        <p:txBody>
          <a:bodyPr wrap="square" anchor="ctr">
            <a:spAutoFit/>
          </a:bodyPr>
          <a:lstStyle/>
          <a:p>
            <a:pPr algn="l">
              <a:spcAft>
                <a:spcPts val="400"/>
              </a:spcAft>
            </a:pPr>
            <a:r>
              <a:rPr sz="900" b="0">
                <a:solidFill>
                  <a:srgbClr val="161B26"/>
                </a:solidFill>
                <a:latin typeface="Arial"/>
              </a:rPr>
              <a:t>Report performance ACROSS distribution shifts, not on one clean set</a:t>
            </a:r>
          </a:p>
        </p:txBody>
      </p:sp>
      <p:sp>
        <p:nvSpPr>
          <p:cNvPr id="43" name="Rectangle 42"/>
          <p:cNvSpPr/>
          <p:nvPr/>
        </p:nvSpPr>
        <p:spPr>
          <a:xfrm>
            <a:off x="777240" y="5388426"/>
            <a:ext cx="2126894"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5388426"/>
            <a:ext cx="1944014" cy="600891"/>
          </a:xfrm>
          <a:prstGeom prst="rect">
            <a:avLst/>
          </a:prstGeom>
          <a:noFill/>
        </p:spPr>
        <p:txBody>
          <a:bodyPr wrap="square" anchor="ctr">
            <a:spAutoFit/>
          </a:bodyPr>
          <a:lstStyle/>
          <a:p>
            <a:pPr algn="l">
              <a:spcAft>
                <a:spcPts val="400"/>
              </a:spcAft>
            </a:pPr>
            <a:r>
              <a:rPr sz="900" b="1">
                <a:solidFill>
                  <a:srgbClr val="161B26"/>
                </a:solidFill>
                <a:latin typeface="Arial"/>
              </a:rPr>
              <a:t>Provenance</a:t>
            </a:r>
          </a:p>
        </p:txBody>
      </p:sp>
      <p:sp>
        <p:nvSpPr>
          <p:cNvPr id="45" name="Rectangle 44"/>
          <p:cNvSpPr/>
          <p:nvPr/>
        </p:nvSpPr>
        <p:spPr>
          <a:xfrm>
            <a:off x="2904134" y="5388426"/>
            <a:ext cx="3615720"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013862" y="5388426"/>
            <a:ext cx="3432840" cy="600891"/>
          </a:xfrm>
          <a:prstGeom prst="rect">
            <a:avLst/>
          </a:prstGeom>
          <a:noFill/>
        </p:spPr>
        <p:txBody>
          <a:bodyPr wrap="square" anchor="ctr">
            <a:spAutoFit/>
          </a:bodyPr>
          <a:lstStyle/>
          <a:p>
            <a:pPr algn="l">
              <a:spcAft>
                <a:spcPts val="400"/>
              </a:spcAft>
            </a:pPr>
            <a:r>
              <a:rPr sz="900" b="0">
                <a:solidFill>
                  <a:srgbClr val="161B26"/>
                </a:solidFill>
                <a:latin typeface="Arial"/>
              </a:rPr>
              <a:t>Watermark detectability under common edits</a:t>
            </a:r>
          </a:p>
        </p:txBody>
      </p:sp>
      <p:sp>
        <p:nvSpPr>
          <p:cNvPr id="47" name="Rectangle 46"/>
          <p:cNvSpPr/>
          <p:nvPr/>
        </p:nvSpPr>
        <p:spPr>
          <a:xfrm>
            <a:off x="6519854" y="5388426"/>
            <a:ext cx="4891857"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629582" y="5388426"/>
            <a:ext cx="4708977" cy="600891"/>
          </a:xfrm>
          <a:prstGeom prst="rect">
            <a:avLst/>
          </a:prstGeom>
          <a:noFill/>
        </p:spPr>
        <p:txBody>
          <a:bodyPr wrap="square" anchor="ctr">
            <a:spAutoFit/>
          </a:bodyPr>
          <a:lstStyle/>
          <a:p>
            <a:pPr algn="l">
              <a:spcAft>
                <a:spcPts val="400"/>
              </a:spcAft>
            </a:pPr>
            <a:r>
              <a:rPr sz="900" b="0">
                <a:solidFill>
                  <a:srgbClr val="161B26"/>
                </a:solidFill>
                <a:latin typeface="Arial"/>
              </a:rPr>
              <a:t>Test under compression, resizing and cropping — not on the pristine file</a:t>
            </a:r>
          </a:p>
        </p:txBody>
      </p:sp>
      <p:sp>
        <p:nvSpPr>
          <p:cNvPr id="49" name="TextBox 48"/>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Reproduced as an evaluation checklist. The third column is the part people omit — a metric quoted without its pitfall is a claim, not evidence.</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fast">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7C3AED"/>
                </a:solidFill>
                <a:latin typeface="Arial"/>
              </a:rPr>
              <a:t>K7 · YOU WILL NOT COMPUTE THESE HERE — YOU WILL CITE THEM CORRECTLY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Two Distributional Metrics, Briefly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12263"/>
            <a:ext cx="2996184" cy="457200"/>
          </a:xfrm>
          <a:prstGeom prst="rect">
            <a:avLst/>
          </a:prstGeom>
          <a:noFill/>
        </p:spPr>
        <p:txBody>
          <a:bodyPr wrap="square" anchor="t">
            <a:spAutoFit/>
          </a:bodyPr>
          <a:lstStyle/>
          <a:p>
            <a:pPr algn="l">
              <a:spcAft>
                <a:spcPts val="400"/>
              </a:spcAft>
            </a:pPr>
            <a:r>
              <a:rPr sz="1500" b="1">
                <a:solidFill>
                  <a:srgbClr val="1F6FEB"/>
                </a:solidFill>
                <a:latin typeface="Arial"/>
              </a:rPr>
              <a:t>FID</a:t>
            </a:r>
          </a:p>
        </p:txBody>
      </p:sp>
      <p:sp>
        <p:nvSpPr>
          <p:cNvPr id="10" name="Rectangle 9"/>
          <p:cNvSpPr/>
          <p:nvPr/>
        </p:nvSpPr>
        <p:spPr>
          <a:xfrm>
            <a:off x="960120" y="2715767"/>
            <a:ext cx="2996184" cy="14081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15767"/>
            <a:ext cx="2813304" cy="1408176"/>
          </a:xfrm>
          <a:prstGeom prst="rect">
            <a:avLst/>
          </a:prstGeom>
          <a:noFill/>
        </p:spPr>
        <p:txBody>
          <a:bodyPr wrap="none" lIns="0" rIns="0" tIns="0" bIns="0" anchor="ctr">
            <a:noAutofit/>
          </a:bodyPr>
          <a:lstStyle/>
          <a:p>
            <a:pPr>
              <a:spcAft>
                <a:spcPts val="100"/>
              </a:spcAft>
            </a:pPr>
            <a:r>
              <a:rPr sz="1400">
                <a:solidFill>
                  <a:srgbClr val="9CDCFE"/>
                </a:solidFill>
                <a:latin typeface="Consolas"/>
              </a:rPr>
              <a:t>‖μᵣ − μ_g‖²</a:t>
            </a:r>
          </a:p>
          <a:p>
            <a:pPr>
              <a:spcAft>
                <a:spcPts val="100"/>
              </a:spcAft>
            </a:pPr>
            <a:r>
              <a:rPr sz="1400">
                <a:solidFill>
                  <a:srgbClr val="9CDCFE"/>
                </a:solidFill>
                <a:latin typeface="Consolas"/>
              </a:rPr>
              <a:t>+ Tr(Σᵣ + Σ_g</a:t>
            </a:r>
          </a:p>
          <a:p>
            <a:pPr>
              <a:spcAft>
                <a:spcPts val="100"/>
              </a:spcAft>
            </a:pPr>
            <a:r>
              <a:rPr sz="1400">
                <a:solidFill>
                  <a:srgbClr val="9CDCFE"/>
                </a:solidFill>
                <a:latin typeface="Consolas"/>
              </a:rPr>
              <a:t>− 2(ΣᵣΣ_gΣᵣ)^½)</a:t>
            </a:r>
          </a:p>
        </p:txBody>
      </p:sp>
      <p:sp>
        <p:nvSpPr>
          <p:cNvPr id="12" name="TextBox 11"/>
          <p:cNvSpPr txBox="1"/>
          <p:nvPr/>
        </p:nvSpPr>
        <p:spPr>
          <a:xfrm>
            <a:off x="960120" y="4233671"/>
            <a:ext cx="2996184" cy="1124712"/>
          </a:xfrm>
          <a:prstGeom prst="rect">
            <a:avLst/>
          </a:prstGeom>
          <a:noFill/>
        </p:spPr>
        <p:txBody>
          <a:bodyPr wrap="square" anchor="t">
            <a:spAutoFit/>
          </a:bodyPr>
          <a:lstStyle/>
          <a:p>
            <a:pPr algn="l">
              <a:spcAft>
                <a:spcPts val="400"/>
              </a:spcAft>
            </a:pPr>
            <a:r>
              <a:rPr sz="1200" b="0">
                <a:solidFill>
                  <a:srgbClr val="5B6372"/>
                </a:solidFill>
                <a:latin typeface="Arial"/>
              </a:rPr>
              <a:t>Fits a Gaussian to real and to generated features from a fixed image encoder, then measures between them — an approximation of a 2-Wasserstein distance in feature space. Encoder-dependent.</a:t>
            </a:r>
          </a:p>
        </p:txBody>
      </p:sp>
      <p:sp>
        <p:nvSpPr>
          <p:cNvPr id="13" name="Rectangle 12"/>
          <p:cNvSpPr/>
          <p:nvPr/>
        </p:nvSpPr>
        <p:spPr>
          <a:xfrm>
            <a:off x="4413504"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6384" y="2112263"/>
            <a:ext cx="2996184" cy="457200"/>
          </a:xfrm>
          <a:prstGeom prst="rect">
            <a:avLst/>
          </a:prstGeom>
          <a:noFill/>
        </p:spPr>
        <p:txBody>
          <a:bodyPr wrap="square" anchor="t">
            <a:spAutoFit/>
          </a:bodyPr>
          <a:lstStyle/>
          <a:p>
            <a:pPr algn="l">
              <a:spcAft>
                <a:spcPts val="400"/>
              </a:spcAft>
            </a:pPr>
            <a:r>
              <a:rPr sz="1500" b="1">
                <a:solidFill>
                  <a:srgbClr val="10B981"/>
                </a:solidFill>
                <a:latin typeface="Arial"/>
              </a:rPr>
              <a:t>KID</a:t>
            </a:r>
          </a:p>
        </p:txBody>
      </p:sp>
      <p:sp>
        <p:nvSpPr>
          <p:cNvPr id="16" name="Rectangle 15"/>
          <p:cNvSpPr/>
          <p:nvPr/>
        </p:nvSpPr>
        <p:spPr>
          <a:xfrm>
            <a:off x="4596384"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7824" y="2715767"/>
            <a:ext cx="2813304" cy="1042416"/>
          </a:xfrm>
          <a:prstGeom prst="rect">
            <a:avLst/>
          </a:prstGeom>
          <a:noFill/>
        </p:spPr>
        <p:txBody>
          <a:bodyPr wrap="none" lIns="0" rIns="0" tIns="0" bIns="0" anchor="ctr">
            <a:noAutofit/>
          </a:bodyPr>
          <a:lstStyle/>
          <a:p>
            <a:pPr>
              <a:spcAft>
                <a:spcPts val="100"/>
              </a:spcAft>
            </a:pPr>
            <a:r>
              <a:rPr sz="1400">
                <a:solidFill>
                  <a:srgbClr val="9CDCFE"/>
                </a:solidFill>
                <a:latin typeface="Consolas"/>
              </a:rPr>
              <a:t>MMD² with a</a:t>
            </a:r>
          </a:p>
          <a:p>
            <a:pPr>
              <a:spcAft>
                <a:spcPts val="100"/>
              </a:spcAft>
            </a:pPr>
            <a:r>
              <a:rPr sz="1400">
                <a:solidFill>
                  <a:srgbClr val="9CDCFE"/>
                </a:solidFill>
                <a:latin typeface="Consolas"/>
              </a:rPr>
              <a:t>polynomial kernel</a:t>
            </a:r>
          </a:p>
        </p:txBody>
      </p:sp>
      <p:sp>
        <p:nvSpPr>
          <p:cNvPr id="18" name="TextBox 17"/>
          <p:cNvSpPr txBox="1"/>
          <p:nvPr/>
        </p:nvSpPr>
        <p:spPr>
          <a:xfrm>
            <a:off x="4596384"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Maximum mean discrepancy in the same feature space. Unbiased at finite sample sizes, which is exactly where FID is least trustworthy.</a:t>
            </a:r>
          </a:p>
        </p:txBody>
      </p:sp>
      <p:sp>
        <p:nvSpPr>
          <p:cNvPr id="19" name="Rectangle 18"/>
          <p:cNvSpPr/>
          <p:nvPr/>
        </p:nvSpPr>
        <p:spPr>
          <a:xfrm>
            <a:off x="8049768"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2648" y="2112263"/>
            <a:ext cx="2996184" cy="457200"/>
          </a:xfrm>
          <a:prstGeom prst="rect">
            <a:avLst/>
          </a:prstGeom>
          <a:noFill/>
        </p:spPr>
        <p:txBody>
          <a:bodyPr wrap="square" anchor="t">
            <a:spAutoFit/>
          </a:bodyPr>
          <a:lstStyle/>
          <a:p>
            <a:pPr algn="l">
              <a:spcAft>
                <a:spcPts val="400"/>
              </a:spcAft>
            </a:pPr>
            <a:r>
              <a:rPr sz="1500" b="1">
                <a:solidFill>
                  <a:srgbClr val="7C3AED"/>
                </a:solidFill>
                <a:latin typeface="Arial"/>
              </a:rPr>
              <a:t>LPIPS</a:t>
            </a:r>
          </a:p>
        </p:txBody>
      </p:sp>
      <p:sp>
        <p:nvSpPr>
          <p:cNvPr id="22" name="Rectangle 21"/>
          <p:cNvSpPr/>
          <p:nvPr/>
        </p:nvSpPr>
        <p:spPr>
          <a:xfrm>
            <a:off x="8232648" y="2715767"/>
            <a:ext cx="2996184" cy="14081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4088" y="2715767"/>
            <a:ext cx="2813304" cy="1408176"/>
          </a:xfrm>
          <a:prstGeom prst="rect">
            <a:avLst/>
          </a:prstGeom>
          <a:noFill/>
        </p:spPr>
        <p:txBody>
          <a:bodyPr wrap="none" lIns="0" rIns="0" tIns="0" bIns="0" anchor="ctr">
            <a:noAutofit/>
          </a:bodyPr>
          <a:lstStyle/>
          <a:p>
            <a:pPr>
              <a:spcAft>
                <a:spcPts val="100"/>
              </a:spcAft>
            </a:pPr>
            <a:r>
              <a:rPr sz="1400">
                <a:solidFill>
                  <a:srgbClr val="9CDCFE"/>
                </a:solidFill>
                <a:latin typeface="Consolas"/>
              </a:rPr>
              <a:t>learned perceptual</a:t>
            </a:r>
          </a:p>
          <a:p>
            <a:pPr>
              <a:spcAft>
                <a:spcPts val="100"/>
              </a:spcAft>
            </a:pPr>
            <a:r>
              <a:rPr sz="1400">
                <a:solidFill>
                  <a:srgbClr val="9CDCFE"/>
                </a:solidFill>
                <a:latin typeface="Consolas"/>
              </a:rPr>
              <a:t>distance between</a:t>
            </a:r>
          </a:p>
          <a:p>
            <a:pPr>
              <a:spcAft>
                <a:spcPts val="100"/>
              </a:spcAft>
            </a:pPr>
            <a:r>
              <a:rPr sz="1400">
                <a:solidFill>
                  <a:srgbClr val="9CDCFE"/>
                </a:solidFill>
                <a:latin typeface="Consolas"/>
              </a:rPr>
              <a:t>deep features</a:t>
            </a:r>
          </a:p>
        </p:txBody>
      </p:sp>
      <p:sp>
        <p:nvSpPr>
          <p:cNvPr id="24" name="TextBox 23"/>
          <p:cNvSpPr txBox="1"/>
          <p:nvPr/>
        </p:nvSpPr>
        <p:spPr>
          <a:xfrm>
            <a:off x="8232648" y="4233671"/>
            <a:ext cx="2996184" cy="1124712"/>
          </a:xfrm>
          <a:prstGeom prst="rect">
            <a:avLst/>
          </a:prstGeom>
          <a:noFill/>
        </p:spPr>
        <p:txBody>
          <a:bodyPr wrap="square" anchor="t">
            <a:spAutoFit/>
          </a:bodyPr>
          <a:lstStyle/>
          <a:p>
            <a:pPr algn="l">
              <a:spcAft>
                <a:spcPts val="400"/>
              </a:spcAft>
            </a:pPr>
            <a:r>
              <a:rPr sz="1200" b="0">
                <a:solidFill>
                  <a:srgbClr val="5B6372"/>
                </a:solidFill>
                <a:latin typeface="Arial"/>
              </a:rPr>
              <a:t>A pairwise perceptual distance for two specific images, where FID and KID compare two whole distributions. Different question, different tool.</a:t>
            </a:r>
          </a:p>
        </p:txBody>
      </p:sp>
      <p:sp>
        <p:nvSpPr>
          <p:cNvPr id="25" name="TextBox 2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Source S17 · Ch.7 pp.96–97. Lab 05 and Lab 07 use PSNR, SSIM and histogram distances because those run offline on a laptop. Know which metric answers which question, and never quote a single FID as if it settled the matter.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fast">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K7 · GEOMETRICAL METHODS FOR GLOBAL DESCRIPTION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Contours — Geometry You Can Measure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41605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38528"/>
            <a:ext cx="6035040" cy="3849624"/>
          </a:xfrm>
          <a:prstGeom prst="rect">
            <a:avLst/>
          </a:prstGeom>
          <a:noFill/>
        </p:spPr>
        <p:txBody>
          <a:bodyPr wrap="none" lIns="0" rIns="0" tIns="0" bIns="0" anchor="t">
            <a:noAutofit/>
          </a:bodyPr>
          <a:lstStyle/>
          <a:p>
            <a:pPr>
              <a:spcAft>
                <a:spcPts val="100"/>
              </a:spcAft>
            </a:pPr>
            <a:r>
              <a:rPr sz="990">
                <a:solidFill>
                  <a:srgbClr val="9CDCFE"/>
                </a:solidFill>
                <a:latin typeface="Consolas"/>
              </a:rPr>
              <a:t>_, binimg = cv2.threshold(gray, 0, 255, cv2.THRESH_BINARY + cv2.THRESH_OTSU)</a:t>
            </a:r>
          </a:p>
          <a:p>
            <a:pPr>
              <a:spcAft>
                <a:spcPts val="100"/>
              </a:spcAft>
            </a:pPr>
            <a:r>
              <a:rPr sz="990">
                <a:solidFill>
                  <a:srgbClr val="9CDCFE"/>
                </a:solidFill>
                <a:latin typeface="Consolas"/>
              </a:rPr>
              <a:t>contours, hierarchy = cv2.findContours(binimg, cv2.RETR_EXTERNAL,</a:t>
            </a:r>
          </a:p>
          <a:p>
            <a:pPr>
              <a:spcAft>
                <a:spcPts val="100"/>
              </a:spcAft>
            </a:pPr>
            <a:r>
              <a:rPr sz="990">
                <a:solidFill>
                  <a:srgbClr val="9CDCFE"/>
                </a:solidFill>
                <a:latin typeface="Consolas"/>
              </a:rPr>
              <a:t>                                       cv2.CHAIN_APPROX_SIMPLE)</a:t>
            </a:r>
          </a:p>
          <a:p>
            <a:pPr>
              <a:spcAft>
                <a:spcPts val="100"/>
              </a:spcAft>
            </a:pPr>
            <a:r>
              <a:rPr sz="990">
                <a:solidFill>
                  <a:srgbClr val="9CDCFE"/>
                </a:solidFill>
                <a:latin typeface="Consolas"/>
              </a:rPr>
              <a:t>c = max(contours, key=cv2.contourArea)      # the subject</a:t>
            </a:r>
          </a:p>
          <a:p>
            <a:pPr>
              <a:spcAft>
                <a:spcPts val="100"/>
              </a:spcAft>
            </a:pPr>
            <a:r>
              <a:rPr sz="990">
                <a:solidFill>
                  <a:srgbClr val="9CDCFE"/>
                </a:solidFill>
                <a:latin typeface="Consolas"/>
              </a:rPr>
              <a:t> </a:t>
            </a:r>
          </a:p>
          <a:p>
            <a:pPr>
              <a:spcAft>
                <a:spcPts val="100"/>
              </a:spcAft>
            </a:pPr>
            <a:r>
              <a:rPr sz="990">
                <a:solidFill>
                  <a:srgbClr val="9CDCFE"/>
                </a:solidFill>
                <a:latin typeface="Consolas"/>
              </a:rPr>
              <a:t>area  = cv2.contourArea(c)</a:t>
            </a:r>
          </a:p>
          <a:p>
            <a:pPr>
              <a:spcAft>
                <a:spcPts val="100"/>
              </a:spcAft>
            </a:pPr>
            <a:r>
              <a:rPr sz="990">
                <a:solidFill>
                  <a:srgbClr val="9CDCFE"/>
                </a:solidFill>
                <a:latin typeface="Consolas"/>
              </a:rPr>
              <a:t>per   = cv2.arcLength(c, closed=True)</a:t>
            </a:r>
          </a:p>
          <a:p>
            <a:pPr>
              <a:spcAft>
                <a:spcPts val="100"/>
              </a:spcAft>
            </a:pPr>
            <a:r>
              <a:rPr sz="990">
                <a:solidFill>
                  <a:srgbClr val="9CDCFE"/>
                </a:solidFill>
                <a:latin typeface="Consolas"/>
              </a:rPr>
              <a:t>circ  = 4 * np.pi * area / (per ** 2)        # 1.0 = a perfect circle</a:t>
            </a:r>
          </a:p>
          <a:p>
            <a:pPr>
              <a:spcAft>
                <a:spcPts val="100"/>
              </a:spcAft>
            </a:pPr>
            <a:r>
              <a:rPr sz="990">
                <a:solidFill>
                  <a:srgbClr val="9CDCFE"/>
                </a:solidFill>
                <a:latin typeface="Consolas"/>
              </a:rPr>
              <a:t>x, y, w, h = cv2.boundingRect(c)</a:t>
            </a:r>
          </a:p>
          <a:p>
            <a:pPr>
              <a:spcAft>
                <a:spcPts val="100"/>
              </a:spcAft>
            </a:pPr>
            <a:r>
              <a:rPr sz="990">
                <a:solidFill>
                  <a:srgbClr val="9CDCFE"/>
                </a:solidFill>
                <a:latin typeface="Consolas"/>
              </a:rPr>
              <a:t>extent = area / float(w * h)                 # how much of its box it fills</a:t>
            </a:r>
          </a:p>
          <a:p>
            <a:pPr>
              <a:spcAft>
                <a:spcPts val="100"/>
              </a:spcAft>
            </a:pPr>
            <a:r>
              <a:rPr sz="990">
                <a:solidFill>
                  <a:srgbClr val="9CDCFE"/>
                </a:solidFill>
                <a:latin typeface="Consolas"/>
              </a:rPr>
              <a:t>hull   = cv2.convexHull(c)</a:t>
            </a:r>
          </a:p>
          <a:p>
            <a:pPr>
              <a:spcAft>
                <a:spcPts val="100"/>
              </a:spcAft>
            </a:pPr>
            <a:r>
              <a:rPr sz="990">
                <a:solidFill>
                  <a:srgbClr val="9CDCFE"/>
                </a:solidFill>
                <a:latin typeface="Consolas"/>
              </a:rPr>
              <a:t>solid  = area / float(cv2.contourArea(hull)) # convexity</a:t>
            </a:r>
          </a:p>
          <a:p>
            <a:pPr>
              <a:spcAft>
                <a:spcPts val="100"/>
              </a:spcAft>
            </a:pPr>
            <a:r>
              <a:rPr sz="990">
                <a:solidFill>
                  <a:srgbClr val="9CDCFE"/>
                </a:solidFill>
                <a:latin typeface="Consolas"/>
              </a:rPr>
              <a:t> </a:t>
            </a:r>
          </a:p>
          <a:p>
            <a:pPr>
              <a:spcAft>
                <a:spcPts val="100"/>
              </a:spcAft>
            </a:pPr>
            <a:r>
              <a:rPr sz="990">
                <a:solidFill>
                  <a:srgbClr val="9CDCFE"/>
                </a:solidFill>
                <a:latin typeface="Consolas"/>
              </a:rPr>
              <a:t>hu = cv2.HuMoments(cv2.moments(binimg)).flatten()</a:t>
            </a:r>
          </a:p>
          <a:p>
            <a:pPr>
              <a:spcAft>
                <a:spcPts val="100"/>
              </a:spcAft>
            </a:pPr>
            <a:r>
              <a:rPr sz="990">
                <a:solidFill>
                  <a:srgbClr val="9CDCFE"/>
                </a:solidFill>
                <a:latin typeface="Consolas"/>
              </a:rPr>
              <a:t>log_hu = [-np.sign(v) * np.log10(abs(v)) for v in hu]   # readable form</a:t>
            </a:r>
          </a:p>
        </p:txBody>
      </p:sp>
      <p:sp>
        <p:nvSpPr>
          <p:cNvPr id="9" name="Rectangle 8"/>
          <p:cNvSpPr/>
          <p:nvPr/>
        </p:nvSpPr>
        <p:spPr>
          <a:xfrm>
            <a:off x="7406640" y="1783080"/>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783080"/>
            <a:ext cx="82296" cy="9166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6096" y="1783080"/>
            <a:ext cx="3602736" cy="916686"/>
          </a:xfrm>
          <a:prstGeom prst="rect">
            <a:avLst/>
          </a:prstGeom>
          <a:noFill/>
        </p:spPr>
        <p:txBody>
          <a:bodyPr wrap="square" anchor="ctr">
            <a:spAutoFit/>
          </a:bodyPr>
          <a:lstStyle/>
          <a:p>
            <a:pPr algn="l">
              <a:spcAft>
                <a:spcPts val="200"/>
              </a:spcAft>
            </a:pPr>
            <a:r>
              <a:rPr sz="1300" b="1">
                <a:solidFill>
                  <a:srgbClr val="1F6FEB"/>
                </a:solidFill>
                <a:latin typeface="Arial"/>
              </a:rPr>
              <a:t>RETR_EXTERNAL for outlines</a:t>
            </a:r>
          </a:p>
          <a:p>
            <a:pPr algn="l">
              <a:spcAft>
                <a:spcPts val="200"/>
              </a:spcAft>
            </a:pPr>
            <a:r>
              <a:rPr sz="1150" b="0">
                <a:solidFill>
                  <a:srgbClr val="161B26"/>
                </a:solidFill>
                <a:latin typeface="Arial"/>
              </a:rPr>
              <a:t>Outer contours only. RETR_TREE when you need the hole structure as well.</a:t>
            </a:r>
          </a:p>
        </p:txBody>
      </p:sp>
      <p:sp>
        <p:nvSpPr>
          <p:cNvPr id="12" name="Rectangle 11"/>
          <p:cNvSpPr/>
          <p:nvPr/>
        </p:nvSpPr>
        <p:spPr>
          <a:xfrm>
            <a:off x="7406640" y="2864358"/>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2864358"/>
            <a:ext cx="82296" cy="91668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2864358"/>
            <a:ext cx="3602736" cy="916686"/>
          </a:xfrm>
          <a:prstGeom prst="rect">
            <a:avLst/>
          </a:prstGeom>
          <a:noFill/>
        </p:spPr>
        <p:txBody>
          <a:bodyPr wrap="square" anchor="ctr">
            <a:spAutoFit/>
          </a:bodyPr>
          <a:lstStyle/>
          <a:p>
            <a:pPr algn="l">
              <a:spcAft>
                <a:spcPts val="200"/>
              </a:spcAft>
            </a:pPr>
            <a:r>
              <a:rPr sz="1300" b="1">
                <a:solidFill>
                  <a:srgbClr val="10B981"/>
                </a:solidFill>
                <a:latin typeface="Arial"/>
              </a:rPr>
              <a:t>Circularity is shape-only</a:t>
            </a:r>
          </a:p>
          <a:p>
            <a:pPr algn="l">
              <a:spcAft>
                <a:spcPts val="200"/>
              </a:spcAft>
            </a:pPr>
            <a:r>
              <a:rPr sz="1150" b="0">
                <a:solidFill>
                  <a:srgbClr val="161B26"/>
                </a:solidFill>
                <a:latin typeface="Arial"/>
              </a:rPr>
              <a:t>4πA/P² is dimensionless, so it does not change with size.</a:t>
            </a:r>
          </a:p>
        </p:txBody>
      </p:sp>
      <p:sp>
        <p:nvSpPr>
          <p:cNvPr id="15" name="Rectangle 14"/>
          <p:cNvSpPr/>
          <p:nvPr/>
        </p:nvSpPr>
        <p:spPr>
          <a:xfrm>
            <a:off x="7406640" y="3945636"/>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3945636"/>
            <a:ext cx="82296" cy="91668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6096" y="3945636"/>
            <a:ext cx="3602736" cy="916686"/>
          </a:xfrm>
          <a:prstGeom prst="rect">
            <a:avLst/>
          </a:prstGeom>
          <a:noFill/>
        </p:spPr>
        <p:txBody>
          <a:bodyPr wrap="square" anchor="ctr">
            <a:spAutoFit/>
          </a:bodyPr>
          <a:lstStyle/>
          <a:p>
            <a:pPr algn="l">
              <a:spcAft>
                <a:spcPts val="200"/>
              </a:spcAft>
            </a:pPr>
            <a:r>
              <a:rPr sz="1300" b="1">
                <a:solidFill>
                  <a:srgbClr val="7C3AED"/>
                </a:solidFill>
                <a:latin typeface="Arial"/>
              </a:rPr>
              <a:t>Extent and solidity</a:t>
            </a:r>
          </a:p>
          <a:p>
            <a:pPr algn="l">
              <a:spcAft>
                <a:spcPts val="200"/>
              </a:spcAft>
            </a:pPr>
            <a:r>
              <a:rPr sz="1150" b="0">
                <a:solidFill>
                  <a:srgbClr val="161B26"/>
                </a:solidFill>
                <a:latin typeface="Arial"/>
              </a:rPr>
              <a:t>How much of its bounding box and of its convex hull the shape fills — cheap descriptors that separate a jacket from a bollard.</a:t>
            </a:r>
          </a:p>
        </p:txBody>
      </p:sp>
      <p:sp>
        <p:nvSpPr>
          <p:cNvPr id="18" name="Rectangle 17"/>
          <p:cNvSpPr/>
          <p:nvPr/>
        </p:nvSpPr>
        <p:spPr>
          <a:xfrm>
            <a:off x="7406640" y="5026914"/>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5026914"/>
            <a:ext cx="82296" cy="91668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5026914"/>
            <a:ext cx="3602736" cy="916686"/>
          </a:xfrm>
          <a:prstGeom prst="rect">
            <a:avLst/>
          </a:prstGeom>
          <a:noFill/>
        </p:spPr>
        <p:txBody>
          <a:bodyPr wrap="square" anchor="ctr">
            <a:spAutoFit/>
          </a:bodyPr>
          <a:lstStyle/>
          <a:p>
            <a:pPr algn="l">
              <a:spcAft>
                <a:spcPts val="200"/>
              </a:spcAft>
            </a:pPr>
            <a:r>
              <a:rPr sz="1300" b="1">
                <a:solidFill>
                  <a:srgbClr val="F59E0B"/>
                </a:solidFill>
                <a:latin typeface="Arial"/>
              </a:rPr>
              <a:t>Take log of Hu</a:t>
            </a:r>
          </a:p>
          <a:p>
            <a:pPr algn="l">
              <a:spcAft>
                <a:spcPts val="200"/>
              </a:spcAft>
            </a:pPr>
            <a:r>
              <a:rPr sz="1150" b="0">
                <a:solidFill>
                  <a:srgbClr val="161B26"/>
                </a:solidFill>
                <a:latin typeface="Arial"/>
              </a:rPr>
              <a:t>Raw Hu values span many orders of magnitude. −sign(h)·log₁₀|h| is the standard readable form.</a:t>
            </a:r>
          </a:p>
        </p:txBody>
      </p:sp>
      <p:sp>
        <p:nvSpPr>
          <p:cNvPr id="21" name="Rectangle 20"/>
          <p:cNvSpPr/>
          <p:nvPr/>
        </p:nvSpPr>
        <p:spPr>
          <a:xfrm>
            <a:off x="777240" y="6053328"/>
            <a:ext cx="10634472" cy="4023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6053328"/>
            <a:ext cx="10241280" cy="402336"/>
          </a:xfrm>
          <a:prstGeom prst="rect">
            <a:avLst/>
          </a:prstGeom>
          <a:noFill/>
        </p:spPr>
        <p:txBody>
          <a:bodyPr wrap="square" anchor="ctr">
            <a:spAutoFit/>
          </a:bodyPr>
          <a:lstStyle/>
          <a:p>
            <a:pPr algn="l">
              <a:spcAft>
                <a:spcPts val="400"/>
              </a:spcAft>
            </a:pPr>
            <a:r>
              <a:rPr sz="1100" b="1">
                <a:solidFill>
                  <a:srgbClr val="127A3E"/>
                </a:solidFill>
                <a:latin typeface="Arial"/>
              </a:rPr>
              <a:t>VERIFY   </a:t>
            </a:r>
            <a:r>
              <a:rPr sz="1200" b="0">
                <a:solidFill>
                  <a:srgbClr val="161B26"/>
                </a:solidFill>
                <a:latin typeface="Arial"/>
              </a:rPr>
              <a:t>Lab 07 uses matchShapes with CONTOURS_MATCH_I1, which is built on exactly these moments, to detect a silhouette or crop change.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fast">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K6, K7 · LOCAL FEATURE DESCRIPTIONS — TEXTURE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Texture — the Descriptor Family That Catches Material Change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Why texture at all</a:t>
            </a:r>
          </a:p>
          <a:p>
            <a:pPr algn="l">
              <a:spcAft>
                <a:spcPts val="200"/>
              </a:spcAft>
            </a:pPr>
            <a:r>
              <a:rPr sz="1000" b="0">
                <a:solidFill>
                  <a:srgbClr val="5B6372"/>
                </a:solidFill>
                <a:latin typeface="Arial"/>
              </a:rPr>
              <a:t>Colour catches a recolour and edges catch a sharpen. Neither catches 'the fabric now looks like plastic'.</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Statistical measures</a:t>
            </a:r>
          </a:p>
          <a:p>
            <a:pPr algn="l">
              <a:spcAft>
                <a:spcPts val="200"/>
              </a:spcAft>
            </a:pPr>
            <a:r>
              <a:rPr sz="1000" b="0">
                <a:solidFill>
                  <a:srgbClr val="5B6372"/>
                </a:solidFill>
                <a:latin typeface="Arial"/>
              </a:rPr>
              <a:t>Local mean, standard deviation, entropy and skewness over a window. Cheap, and they separate flat from busy.</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Local binary patterns</a:t>
            </a:r>
          </a:p>
          <a:p>
            <a:pPr algn="l">
              <a:spcAft>
                <a:spcPts val="200"/>
              </a:spcAft>
            </a:pPr>
            <a:r>
              <a:rPr sz="1000" b="0">
                <a:solidFill>
                  <a:srgbClr val="5B6372"/>
                </a:solidFill>
                <a:latin typeface="Arial"/>
              </a:rPr>
              <a:t>Threshold each neighbour against the centre and read the ring as a binary number. Compact and largely illumination-invariant.</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Gradient statistics</a:t>
            </a:r>
          </a:p>
          <a:p>
            <a:pPr algn="l">
              <a:spcAft>
                <a:spcPts val="200"/>
              </a:spcAft>
            </a:pPr>
            <a:r>
              <a:rPr sz="1000" b="0">
                <a:solidFill>
                  <a:srgbClr val="5B6372"/>
                </a:solidFill>
                <a:latin typeface="Arial"/>
              </a:rPr>
              <a:t>Histograms of oriented gradients — the same construction HOG detection uses, applied as a texture description rather than a detector.</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Frequency measures</a:t>
            </a:r>
          </a:p>
          <a:p>
            <a:pPr algn="l">
              <a:spcAft>
                <a:spcPts val="200"/>
              </a:spcAft>
            </a:pPr>
            <a:r>
              <a:rPr sz="1000" b="0">
                <a:solidFill>
                  <a:srgbClr val="5B6372"/>
                </a:solidFill>
                <a:latin typeface="Arial"/>
              </a:rPr>
              <a:t>The variance of a Laplacian response is the classic focus measure: it collapses on a defocused frame.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Where this course uses it</a:t>
            </a:r>
          </a:p>
          <a:p>
            <a:pPr algn="l">
              <a:spcAft>
                <a:spcPts val="200"/>
              </a:spcAft>
            </a:pPr>
            <a:r>
              <a:rPr sz="1000" b="0">
                <a:solidFill>
                  <a:srgbClr val="5B6372"/>
                </a:solidFill>
                <a:latin typeface="Arial"/>
              </a:rPr>
              <a:t>Edge density stands in for texture in the Lab 07 gate. It is a proxy — say so when you report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7C3AED"/>
                </a:solidFill>
                <a:latin typeface="Arial"/>
              </a:rPr>
              <a:t>K7, A3 · SOURCE S17 · CH.7 P.97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Text-Image Faithfulness, and Where It Breaks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12263"/>
            <a:ext cx="2996184" cy="457200"/>
          </a:xfrm>
          <a:prstGeom prst="rect">
            <a:avLst/>
          </a:prstGeom>
          <a:noFill/>
        </p:spPr>
        <p:txBody>
          <a:bodyPr wrap="square" anchor="t">
            <a:spAutoFit/>
          </a:bodyPr>
          <a:lstStyle/>
          <a:p>
            <a:pPr algn="l">
              <a:spcAft>
                <a:spcPts val="400"/>
              </a:spcAft>
            </a:pPr>
            <a:r>
              <a:rPr sz="1500" b="1">
                <a:solidFill>
                  <a:srgbClr val="1F6FEB"/>
                </a:solidFill>
                <a:latin typeface="Arial"/>
              </a:rPr>
              <a:t>CLIP-style score</a:t>
            </a:r>
          </a:p>
        </p:txBody>
      </p:sp>
      <p:sp>
        <p:nvSpPr>
          <p:cNvPr id="10" name="Rectangle 9"/>
          <p:cNvSpPr/>
          <p:nvPr/>
        </p:nvSpPr>
        <p:spPr>
          <a:xfrm>
            <a:off x="960120"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15767"/>
            <a:ext cx="2813304" cy="1042416"/>
          </a:xfrm>
          <a:prstGeom prst="rect">
            <a:avLst/>
          </a:prstGeom>
          <a:noFill/>
        </p:spPr>
        <p:txBody>
          <a:bodyPr wrap="none" lIns="0" rIns="0" tIns="0" bIns="0" anchor="ctr">
            <a:noAutofit/>
          </a:bodyPr>
          <a:lstStyle/>
          <a:p>
            <a:pPr>
              <a:spcAft>
                <a:spcPts val="100"/>
              </a:spcAft>
            </a:pPr>
            <a:r>
              <a:rPr sz="1400">
                <a:solidFill>
                  <a:srgbClr val="9CDCFE"/>
                </a:solidFill>
                <a:latin typeface="Consolas"/>
              </a:rPr>
              <a:t>cos(E_text(t),</a:t>
            </a:r>
          </a:p>
          <a:p>
            <a:pPr>
              <a:spcAft>
                <a:spcPts val="100"/>
              </a:spcAft>
            </a:pPr>
            <a:r>
              <a:rPr sz="1400">
                <a:solidFill>
                  <a:srgbClr val="9CDCFE"/>
                </a:solidFill>
                <a:latin typeface="Consolas"/>
              </a:rPr>
              <a:t>    E_image(x))</a:t>
            </a:r>
          </a:p>
        </p:txBody>
      </p:sp>
      <p:sp>
        <p:nvSpPr>
          <p:cNvPr id="12" name="TextBox 11"/>
          <p:cNvSpPr txBox="1"/>
          <p:nvPr/>
        </p:nvSpPr>
        <p:spPr>
          <a:xfrm>
            <a:off x="960120"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Embed the prompt and the image into a shared space with a vision-language model, then take the cosine similarity. Higher means the image better matches the text.</a:t>
            </a:r>
          </a:p>
        </p:txBody>
      </p:sp>
      <p:sp>
        <p:nvSpPr>
          <p:cNvPr id="13" name="Rectangle 12"/>
          <p:cNvSpPr/>
          <p:nvPr/>
        </p:nvSpPr>
        <p:spPr>
          <a:xfrm>
            <a:off x="4413504"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6384" y="2112263"/>
            <a:ext cx="2996184" cy="457200"/>
          </a:xfrm>
          <a:prstGeom prst="rect">
            <a:avLst/>
          </a:prstGeom>
          <a:noFill/>
        </p:spPr>
        <p:txBody>
          <a:bodyPr wrap="square" anchor="t">
            <a:spAutoFit/>
          </a:bodyPr>
          <a:lstStyle/>
          <a:p>
            <a:pPr algn="l">
              <a:spcAft>
                <a:spcPts val="400"/>
              </a:spcAft>
            </a:pPr>
            <a:r>
              <a:rPr sz="1500" b="1">
                <a:solidFill>
                  <a:srgbClr val="10B981"/>
                </a:solidFill>
                <a:latin typeface="Arial"/>
              </a:rPr>
              <a:t>The compositional gap</a:t>
            </a:r>
          </a:p>
        </p:txBody>
      </p:sp>
      <p:sp>
        <p:nvSpPr>
          <p:cNvPr id="16" name="Rectangle 15"/>
          <p:cNvSpPr/>
          <p:nvPr/>
        </p:nvSpPr>
        <p:spPr>
          <a:xfrm>
            <a:off x="4596384"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7824" y="2715767"/>
            <a:ext cx="2813304" cy="1042416"/>
          </a:xfrm>
          <a:prstGeom prst="rect">
            <a:avLst/>
          </a:prstGeom>
          <a:noFill/>
        </p:spPr>
        <p:txBody>
          <a:bodyPr wrap="none" lIns="0" rIns="0" tIns="0" bIns="0" anchor="ctr">
            <a:noAutofit/>
          </a:bodyPr>
          <a:lstStyle/>
          <a:p>
            <a:pPr>
              <a:spcAft>
                <a:spcPts val="100"/>
              </a:spcAft>
            </a:pPr>
            <a:r>
              <a:rPr sz="1400">
                <a:solidFill>
                  <a:srgbClr val="9CDCFE"/>
                </a:solidFill>
                <a:latin typeface="Consolas"/>
              </a:rPr>
              <a:t>'a red cube on</a:t>
            </a:r>
          </a:p>
          <a:p>
            <a:pPr>
              <a:spcAft>
                <a:spcPts val="100"/>
              </a:spcAft>
            </a:pPr>
            <a:r>
              <a:rPr sz="1400">
                <a:solidFill>
                  <a:srgbClr val="9CDCFE"/>
                </a:solidFill>
                <a:latin typeface="Consolas"/>
              </a:rPr>
              <a:t>a blue sphere'</a:t>
            </a:r>
          </a:p>
        </p:txBody>
      </p:sp>
      <p:sp>
        <p:nvSpPr>
          <p:cNvPr id="18" name="TextBox 17"/>
          <p:cNvSpPr txBox="1"/>
          <p:nvPr/>
        </p:nvSpPr>
        <p:spPr>
          <a:xfrm>
            <a:off x="4596384"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A high similarity score does not guarantee the RELATIONSHIP is right. Swap the colours and the score barely moves — the objects and attributes are all present.</a:t>
            </a:r>
          </a:p>
        </p:txBody>
      </p:sp>
      <p:sp>
        <p:nvSpPr>
          <p:cNvPr id="19" name="Rectangle 18"/>
          <p:cNvSpPr/>
          <p:nvPr/>
        </p:nvSpPr>
        <p:spPr>
          <a:xfrm>
            <a:off x="8049768"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2648" y="2112263"/>
            <a:ext cx="2996184" cy="457200"/>
          </a:xfrm>
          <a:prstGeom prst="rect">
            <a:avLst/>
          </a:prstGeom>
          <a:noFill/>
        </p:spPr>
        <p:txBody>
          <a:bodyPr wrap="square" anchor="t">
            <a:spAutoFit/>
          </a:bodyPr>
          <a:lstStyle/>
          <a:p>
            <a:pPr algn="l">
              <a:spcAft>
                <a:spcPts val="400"/>
              </a:spcAft>
            </a:pPr>
            <a:r>
              <a:rPr sz="1500" b="1">
                <a:solidFill>
                  <a:srgbClr val="7C3AED"/>
                </a:solidFill>
                <a:latin typeface="Arial"/>
              </a:rPr>
              <a:t>The fix</a:t>
            </a:r>
          </a:p>
        </p:txBody>
      </p:sp>
      <p:sp>
        <p:nvSpPr>
          <p:cNvPr id="22" name="Rectangle 21"/>
          <p:cNvSpPr/>
          <p:nvPr/>
        </p:nvSpPr>
        <p:spPr>
          <a:xfrm>
            <a:off x="8232648" y="2715767"/>
            <a:ext cx="2996184" cy="14081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4088" y="2715767"/>
            <a:ext cx="2813304" cy="1408176"/>
          </a:xfrm>
          <a:prstGeom prst="rect">
            <a:avLst/>
          </a:prstGeom>
          <a:noFill/>
        </p:spPr>
        <p:txBody>
          <a:bodyPr wrap="none" lIns="0" rIns="0" tIns="0" bIns="0" anchor="ctr">
            <a:noAutofit/>
          </a:bodyPr>
          <a:lstStyle/>
          <a:p>
            <a:pPr>
              <a:spcAft>
                <a:spcPts val="100"/>
              </a:spcAft>
            </a:pPr>
            <a:r>
              <a:rPr sz="1400">
                <a:solidFill>
                  <a:srgbClr val="9CDCFE"/>
                </a:solidFill>
                <a:latin typeface="Consolas"/>
              </a:rPr>
              <a:t>object recall</a:t>
            </a:r>
          </a:p>
          <a:p>
            <a:pPr>
              <a:spcAft>
                <a:spcPts val="100"/>
              </a:spcAft>
            </a:pPr>
            <a:r>
              <a:rPr sz="1400">
                <a:solidFill>
                  <a:srgbClr val="9CDCFE"/>
                </a:solidFill>
                <a:latin typeface="Consolas"/>
              </a:rPr>
              <a:t>via a detector</a:t>
            </a:r>
          </a:p>
          <a:p>
            <a:pPr>
              <a:spcAft>
                <a:spcPts val="100"/>
              </a:spcAft>
            </a:pPr>
            <a:r>
              <a:rPr sz="1400">
                <a:solidFill>
                  <a:srgbClr val="9CDCFE"/>
                </a:solidFill>
                <a:latin typeface="Consolas"/>
              </a:rPr>
              <a:t>+ attribute recall</a:t>
            </a:r>
          </a:p>
        </p:txBody>
      </p:sp>
      <p:sp>
        <p:nvSpPr>
          <p:cNvPr id="24" name="TextBox 23"/>
          <p:cNvSpPr txBox="1"/>
          <p:nvPr/>
        </p:nvSpPr>
        <p:spPr>
          <a:xfrm>
            <a:off x="8232648" y="4233671"/>
            <a:ext cx="2996184" cy="1124712"/>
          </a:xfrm>
          <a:prstGeom prst="rect">
            <a:avLst/>
          </a:prstGeom>
          <a:noFill/>
        </p:spPr>
        <p:txBody>
          <a:bodyPr wrap="square" anchor="t">
            <a:spAutoFit/>
          </a:bodyPr>
          <a:lstStyle/>
          <a:p>
            <a:pPr algn="l">
              <a:spcAft>
                <a:spcPts val="400"/>
              </a:spcAft>
            </a:pPr>
            <a:r>
              <a:rPr sz="1200" b="0">
                <a:solidFill>
                  <a:srgbClr val="5B6372"/>
                </a:solidFill>
                <a:latin typeface="Arial"/>
              </a:rPr>
              <a:t>Count the objects a detector finds and check their attributes, rather than trusting one similarity number. Two measurements, two different failure modes.</a:t>
            </a:r>
          </a:p>
        </p:txBody>
      </p:sp>
      <p:sp>
        <p:nvSpPr>
          <p:cNvPr id="25" name="TextBox 2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This is the same discipline as everywhere else in the course: one metric answers one question. Faithfulness needs at least two.</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K6, A4 · DESIGN AND IMPLEMENT FEATURE EXTRACTION METHODS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Feature Matching Beyond QC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0B981"/>
                </a:solidFill>
                <a:latin typeface="Arial"/>
              </a:rPr>
              <a:t>Real uses</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DC2626"/>
                </a:solidFill>
                <a:latin typeface="Arial"/>
              </a:rPr>
              <a:t>Honest limits</a:t>
            </a:r>
          </a:p>
        </p:txBody>
      </p:sp>
      <p:sp>
        <p:nvSpPr>
          <p:cNvPr id="13" name="TextBox 12"/>
          <p:cNvSpPr txBox="1"/>
          <p:nvPr/>
        </p:nvSpPr>
        <p:spPr>
          <a:xfrm>
            <a:off x="1005840" y="2423160"/>
            <a:ext cx="4754880" cy="3017520"/>
          </a:xfrm>
          <a:prstGeom prst="rect">
            <a:avLst/>
          </a:prstGeom>
          <a:noFill/>
        </p:spPr>
        <p:txBody>
          <a:bodyPr wrap="square">
            <a:spAutoFit/>
          </a:bodyPr>
          <a:lstStyle/>
          <a:p>
            <a:pPr>
              <a:spcAft>
                <a:spcPts val="800"/>
              </a:spcAft>
            </a:pPr>
            <a:r>
              <a:rPr sz="1300" b="1">
                <a:solidFill>
                  <a:srgbClr val="161B26"/>
                </a:solidFill>
                <a:latin typeface="Arial"/>
              </a:rPr>
              <a:t>•  Where matching earns its keep</a:t>
            </a:r>
          </a:p>
          <a:p>
            <a:pPr>
              <a:spcAft>
                <a:spcPts val="800"/>
              </a:spcAft>
            </a:pPr>
            <a:r>
              <a:rPr sz="1100" b="0">
                <a:solidFill>
                  <a:srgbClr val="5B6372"/>
                </a:solidFill>
                <a:latin typeface="Arial"/>
              </a:rPr>
              <a:t>–  Panorama stitching: match keypoints between overlapping frames, fit a homography, warp and blend.</a:t>
            </a:r>
          </a:p>
          <a:p>
            <a:pPr>
              <a:spcAft>
                <a:spcPts val="800"/>
              </a:spcAft>
            </a:pPr>
            <a:r>
              <a:rPr sz="1100" b="0">
                <a:solidFill>
                  <a:srgbClr val="5B6372"/>
                </a:solidFill>
                <a:latin typeface="Arial"/>
              </a:rPr>
              <a:t>–  Document rectification: four correspondences give the perspective transform that flattens a photographed page.</a:t>
            </a:r>
          </a:p>
          <a:p>
            <a:pPr>
              <a:spcAft>
                <a:spcPts val="800"/>
              </a:spcAft>
            </a:pPr>
            <a:r>
              <a:rPr sz="1100" b="0">
                <a:solidFill>
                  <a:srgbClr val="5B6372"/>
                </a:solidFill>
                <a:latin typeface="Arial"/>
              </a:rPr>
              <a:t>–  Duplicate and near-duplicate detection across an asset library.</a:t>
            </a:r>
          </a:p>
          <a:p>
            <a:pPr>
              <a:spcAft>
                <a:spcPts val="800"/>
              </a:spcAft>
            </a:pPr>
            <a:r>
              <a:rPr sz="1100" b="0">
                <a:solidFill>
                  <a:srgbClr val="5B6372"/>
                </a:solidFill>
                <a:latin typeface="Arial"/>
              </a:rPr>
              <a:t>–  Verifying a delivery IS a variant of the approved master, not a different shoot.</a:t>
            </a:r>
          </a:p>
        </p:txBody>
      </p:sp>
      <p:sp>
        <p:nvSpPr>
          <p:cNvPr id="14" name="TextBox 13"/>
          <p:cNvSpPr txBox="1"/>
          <p:nvPr/>
        </p:nvSpPr>
        <p:spPr>
          <a:xfrm>
            <a:off x="6583680" y="2423160"/>
            <a:ext cx="4617720" cy="3017520"/>
          </a:xfrm>
          <a:prstGeom prst="rect">
            <a:avLst/>
          </a:prstGeom>
          <a:noFill/>
        </p:spPr>
        <p:txBody>
          <a:bodyPr wrap="square">
            <a:spAutoFit/>
          </a:bodyPr>
          <a:lstStyle/>
          <a:p>
            <a:pPr>
              <a:spcAft>
                <a:spcPts val="800"/>
              </a:spcAft>
            </a:pPr>
            <a:r>
              <a:rPr sz="1300" b="1">
                <a:solidFill>
                  <a:srgbClr val="161B26"/>
                </a:solidFill>
                <a:latin typeface="Arial"/>
              </a:rPr>
              <a:t>•  What it will not do for you</a:t>
            </a:r>
          </a:p>
          <a:p>
            <a:pPr>
              <a:spcAft>
                <a:spcPts val="800"/>
              </a:spcAft>
            </a:pPr>
            <a:r>
              <a:rPr sz="1100" b="0">
                <a:solidFill>
                  <a:srgbClr val="5B6372"/>
                </a:solidFill>
                <a:latin typeface="Arial"/>
              </a:rPr>
              <a:t>–  It will not survive a style transfer or a recolour — the descriptors change.</a:t>
            </a:r>
          </a:p>
          <a:p>
            <a:pPr>
              <a:spcAft>
                <a:spcPts val="800"/>
              </a:spcAft>
            </a:pPr>
            <a:r>
              <a:rPr sz="1100" b="0">
                <a:solidFill>
                  <a:srgbClr val="5B6372"/>
                </a:solidFill>
                <a:latin typeface="Arial"/>
              </a:rPr>
              <a:t>–  It will not survive a heavy crop that removes the matched region.</a:t>
            </a:r>
          </a:p>
          <a:p>
            <a:pPr>
              <a:spcAft>
                <a:spcPts val="800"/>
              </a:spcAft>
            </a:pPr>
            <a:r>
              <a:rPr sz="1100" b="0">
                <a:solidFill>
                  <a:srgbClr val="5B6372"/>
                </a:solidFill>
                <a:latin typeface="Arial"/>
              </a:rPr>
              <a:t>–  It will not tell you the image is on-message, legally cleared or well-composed.</a:t>
            </a:r>
          </a:p>
          <a:p>
            <a:pPr>
              <a:spcAft>
                <a:spcPts val="800"/>
              </a:spcAft>
            </a:pPr>
            <a:r>
              <a:rPr sz="1100" b="0">
                <a:solidFill>
                  <a:srgbClr val="5B6372"/>
                </a:solidFill>
                <a:latin typeface="Arial"/>
              </a:rPr>
              <a:t>–  State the limits in the gate specification, or someone will assume it detects everything.</a:t>
            </a:r>
          </a:p>
        </p:txBody>
      </p:sp>
      <p:sp>
        <p:nvSpPr>
          <p:cNvPr id="15" name="TextBox 14"/>
          <p:cNvSpPr txBox="1"/>
          <p:nvPr/>
        </p:nvSpPr>
        <p:spPr>
          <a:xfrm>
            <a:off x="777240" y="5669280"/>
            <a:ext cx="10698480" cy="640080"/>
          </a:xfrm>
          <a:prstGeom prst="rect">
            <a:avLst/>
          </a:prstGeom>
          <a:noFill/>
        </p:spPr>
        <p:txBody>
          <a:bodyPr wrap="square" anchor="ctr">
            <a:spAutoFit/>
          </a:bodyPr>
          <a:lstStyle/>
          <a:p>
            <a:pPr algn="ctr">
              <a:spcAft>
                <a:spcPts val="400"/>
              </a:spcAft>
            </a:pPr>
            <a:r>
              <a:rPr sz="1250" b="0">
                <a:solidFill>
                  <a:srgbClr val="5B6372"/>
                </a:solidFill>
                <a:latin typeface="Arial"/>
              </a:rPr>
              <a:t>cv2.findHomography with RANSAC is the standard next step after matching: it fits the transform while rejecting the outliers your ratio filter missed.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fast">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A3 · ANALYSE GLOBAL FEATURE DESCRIPTIONS — THE DELIVERABLE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Turning Four Numbers Into a Review Gate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Normalise before you weight</a:t>
            </a:r>
          </a:p>
          <a:p>
            <a:pPr algn="l">
              <a:spcAft>
                <a:spcPts val="200"/>
              </a:spcAft>
            </a:pPr>
            <a:r>
              <a:rPr sz="1000" b="0">
                <a:solidFill>
                  <a:srgbClr val="5B6372"/>
                </a:solidFill>
                <a:latin typeface="Arial"/>
              </a:rPr>
              <a:t>You cannot add a Bhattacharyya distance to a saturation difference in raw units. Divide each by a stated 'worst' value and clip to [0,1].</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Weight by what matters</a:t>
            </a:r>
          </a:p>
          <a:p>
            <a:pPr algn="l">
              <a:spcAft>
                <a:spcPts val="200"/>
              </a:spcAft>
            </a:pPr>
            <a:r>
              <a:rPr sz="1000" b="0">
                <a:solidFill>
                  <a:srgbClr val="5B6372"/>
                </a:solidFill>
                <a:latin typeface="Arial"/>
              </a:rPr>
              <a:t>Lab 07 weights the histogram at 0.40 and the other three at 0.20 each, because palette drift is the failure the client actually complains about.</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Set the threshold with margin</a:t>
            </a:r>
          </a:p>
          <a:p>
            <a:pPr algn="l">
              <a:spcAft>
                <a:spcPts val="200"/>
              </a:spcAft>
            </a:pPr>
            <a:r>
              <a:rPr sz="1000" b="0">
                <a:solidFill>
                  <a:srgbClr val="5B6372"/>
                </a:solidFill>
                <a:latin typeface="Arial"/>
              </a:rPr>
              <a:t>0.35, with the lowest rejection at 0.406 and the highest acceptance at 0.110. A gate with no margin is a coin toss.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Report the WORST descriptor</a:t>
            </a:r>
          </a:p>
          <a:p>
            <a:pPr algn="l">
              <a:spcAft>
                <a:spcPts val="200"/>
              </a:spcAft>
            </a:pPr>
            <a:r>
              <a:rPr sz="1000" b="0">
                <a:solidFill>
                  <a:srgbClr val="5B6372"/>
                </a:solidFill>
                <a:latin typeface="Arial"/>
              </a:rPr>
              <a:t>Not just the combined score. 'Rejected, edge-density ratio 1.35 against a 1.0 reference' is actionable; a combined score is not.</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Escalate, do not just reject</a:t>
            </a:r>
          </a:p>
          <a:p>
            <a:pPr algn="l">
              <a:spcAft>
                <a:spcPts val="200"/>
              </a:spcAft>
            </a:pPr>
            <a:r>
              <a:rPr sz="1000" b="0">
                <a:solidFill>
                  <a:srgbClr val="5B6372"/>
                </a:solidFill>
                <a:latin typeface="Arial"/>
              </a:rPr>
              <a:t>If the logo score fails but the logo is visibly present, re-test with ORB before rejecting. Write the escalation into the gate.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State what it does NOT assess</a:t>
            </a:r>
          </a:p>
          <a:p>
            <a:pPr algn="l">
              <a:spcAft>
                <a:spcPts val="200"/>
              </a:spcAft>
            </a:pPr>
            <a:r>
              <a:rPr sz="1000" b="0">
                <a:solidFill>
                  <a:srgbClr val="5B6372"/>
                </a:solidFill>
                <a:latin typeface="Arial"/>
              </a:rPr>
              <a:t>Copy, legal claims, whether the asset is on-message. Visual consistency only.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fast">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TOPIC 03 · ELO3 · A4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Lab 06 — Local Features: Colour Segmentation, Canny Edges and Corner Keypoints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INPUTS</a:t>
            </a:r>
          </a:p>
        </p:txBody>
      </p:sp>
      <p:sp>
        <p:nvSpPr>
          <p:cNvPr id="10" name="TextBox 9"/>
          <p:cNvSpPr txBox="1"/>
          <p:nvPr/>
        </p:nvSpPr>
        <p:spPr>
          <a:xfrm>
            <a:off x="978408"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Synthetic 900x700 campaign asset containing the slate-blue brand block, a hard-edged product silhouette, a fine-texture panel and a chequered calibration corner (deterministically rendered with OpenCV — SIMULATED)</a:t>
            </a:r>
          </a:p>
        </p:txBody>
      </p:sp>
      <p:sp>
        <p:nvSpPr>
          <p:cNvPr id="11" name="Rounded Rectangle 10"/>
          <p:cNvSpPr/>
          <p:nvPr/>
        </p:nvSpPr>
        <p:spPr>
          <a:xfrm>
            <a:off x="4379976"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TECHNICAL QUESTION</a:t>
            </a:r>
          </a:p>
        </p:txBody>
      </p:sp>
      <p:sp>
        <p:nvSpPr>
          <p:cNvPr id="14" name="TextBox 13"/>
          <p:cNvSpPr txBox="1"/>
          <p:nvPr/>
        </p:nvSpPr>
        <p:spPr>
          <a:xfrm>
            <a:off x="4581144"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Which feature measurements survive the supplied lighting, rotation and scale changes?</a:t>
            </a:r>
          </a:p>
        </p:txBody>
      </p:sp>
      <p:sp>
        <p:nvSpPr>
          <p:cNvPr id="15" name="Rounded Rectangle 14"/>
          <p:cNvSpPr/>
          <p:nvPr/>
        </p:nvSpPr>
        <p:spPr>
          <a:xfrm>
            <a:off x="7982712"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EVIDENCE TO PRODUCE</a:t>
            </a:r>
          </a:p>
        </p:txBody>
      </p:sp>
      <p:sp>
        <p:nvSpPr>
          <p:cNvPr id="18" name="TextBox 17"/>
          <p:cNvSpPr txBox="1"/>
          <p:nvPr/>
        </p:nvSpPr>
        <p:spPr>
          <a:xfrm>
            <a:off x="8183880"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`out/features-report.json` with the HSV segmentation coverage, the Canny threshold sweep, response/count measurements for five detectors, and an ORB match count between the asset and its rotated copy.</a:t>
            </a:r>
          </a:p>
        </p:txBody>
      </p:sp>
      <p:sp>
        <p:nvSpPr>
          <p:cNvPr id="19" name="TextBox 18"/>
          <p:cNvSpPr txBox="1"/>
          <p:nvPr/>
        </p:nvSpPr>
        <p:spPr>
          <a:xfrm>
            <a:off x="777240" y="5623560"/>
            <a:ext cx="10607040" cy="685800"/>
          </a:xfrm>
          <a:prstGeom prst="rect">
            <a:avLst/>
          </a:prstGeom>
          <a:noFill/>
        </p:spPr>
        <p:txBody>
          <a:bodyPr wrap="square" anchor="t">
            <a:spAutoFit/>
          </a:bodyPr>
          <a:lstStyle/>
          <a:p>
            <a:pPr algn="l">
              <a:spcAft>
                <a:spcPts val="400"/>
              </a:spcAft>
            </a:pPr>
            <a:r>
              <a:rPr sz="1150" b="0">
                <a:solidFill>
                  <a:srgbClr val="5B6372"/>
                </a:solidFill>
                <a:latin typeface="Arial"/>
              </a:rPr>
              <a:t>LAB 06  ·  30 MIN · Python 3 · opencv-python · NumPy · no network, no paid service</a:t>
            </a:r>
          </a:p>
          <a:p>
            <a:pPr algn="l">
              <a:spcAft>
                <a:spcPts val="400"/>
              </a:spcAft>
            </a:pPr>
            <a:r>
              <a:rPr sz="1150" b="0">
                <a:solidFill>
                  <a:srgbClr val="5B6372"/>
                </a:solidFill>
                <a:latin typeface="Arial"/>
              </a:rPr>
              <a:t>Detailed procedures and prompts: Learner Guide / labs/lab-06-local-features-edges-keypoints/README.md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fast">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TOPIC 03 · ELO3 · A3, A4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Lab 07 — Global Descriptors, Template Matching and Brand-Consistency Scoring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INPUTS</a:t>
            </a:r>
          </a:p>
        </p:txBody>
      </p:sp>
      <p:sp>
        <p:nvSpPr>
          <p:cNvPr id="10" name="TextBox 9"/>
          <p:cNvSpPr txBox="1"/>
          <p:nvPr/>
        </p:nvSpPr>
        <p:spPr>
          <a:xfrm>
            <a:off x="978408"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The approved campaign master, 900x700 (deterministically rendered — SIMULATED)</a:t>
            </a:r>
          </a:p>
        </p:txBody>
      </p:sp>
      <p:sp>
        <p:nvSpPr>
          <p:cNvPr id="11" name="Rounded Rectangle 10"/>
          <p:cNvSpPr/>
          <p:nvPr/>
        </p:nvSpPr>
        <p:spPr>
          <a:xfrm>
            <a:off x="4379976"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TECHNICAL QUESTION</a:t>
            </a:r>
          </a:p>
        </p:txBody>
      </p:sp>
      <p:sp>
        <p:nvSpPr>
          <p:cNvPr id="14" name="TextBox 13"/>
          <p:cNvSpPr txBox="1"/>
          <p:nvPr/>
        </p:nvSpPr>
        <p:spPr>
          <a:xfrm>
            <a:off x="4581144"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Which descriptor or logo gate identifies each deliberately altered asset?</a:t>
            </a:r>
          </a:p>
        </p:txBody>
      </p:sp>
      <p:sp>
        <p:nvSpPr>
          <p:cNvPr id="15" name="Rounded Rectangle 14"/>
          <p:cNvSpPr/>
          <p:nvPr/>
        </p:nvSpPr>
        <p:spPr>
          <a:xfrm>
            <a:off x="7982712"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EVIDENCE TO PRODUCE</a:t>
            </a:r>
          </a:p>
        </p:txBody>
      </p:sp>
      <p:sp>
        <p:nvSpPr>
          <p:cNvPr id="18" name="TextBox 17"/>
          <p:cNvSpPr txBox="1"/>
          <p:nvPr/>
        </p:nvSpPr>
        <p:spPr>
          <a:xfrm>
            <a:off x="8183880"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`out/consistency-scores.csv` ranking all 12 assets against the master with four global descriptors and a combined score, plus `out/logo-placement.csv` from template matching, and a reviewed list of fixture deviations with the descriptor or logo gate that flagged each, including any misses.</a:t>
            </a:r>
          </a:p>
        </p:txBody>
      </p:sp>
      <p:sp>
        <p:nvSpPr>
          <p:cNvPr id="19" name="TextBox 18"/>
          <p:cNvSpPr txBox="1"/>
          <p:nvPr/>
        </p:nvSpPr>
        <p:spPr>
          <a:xfrm>
            <a:off x="777240" y="5623560"/>
            <a:ext cx="10607040" cy="685800"/>
          </a:xfrm>
          <a:prstGeom prst="rect">
            <a:avLst/>
          </a:prstGeom>
          <a:noFill/>
        </p:spPr>
        <p:txBody>
          <a:bodyPr wrap="square" anchor="t">
            <a:spAutoFit/>
          </a:bodyPr>
          <a:lstStyle/>
          <a:p>
            <a:pPr algn="l">
              <a:spcAft>
                <a:spcPts val="400"/>
              </a:spcAft>
            </a:pPr>
            <a:r>
              <a:rPr sz="1150" b="0">
                <a:solidFill>
                  <a:srgbClr val="5B6372"/>
                </a:solidFill>
                <a:latin typeface="Arial"/>
              </a:rPr>
              <a:t>LAB 07  ·  30 MIN · Python 3 · opencv-python · NumPy · no network, no paid service</a:t>
            </a:r>
          </a:p>
          <a:p>
            <a:pPr algn="l">
              <a:spcAft>
                <a:spcPts val="400"/>
              </a:spcAft>
            </a:pPr>
            <a:r>
              <a:rPr sz="1150" b="0">
                <a:solidFill>
                  <a:srgbClr val="5B6372"/>
                </a:solidFill>
                <a:latin typeface="Arial"/>
              </a:rPr>
              <a:t>Detailed procedures and prompts: Learner Guide / labs/lab-07-global-descriptors-consistency/README.md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fast">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TOPIC 03 · ELO3 · K5, K6, K7, A3, A4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Recap — Topic 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300" b="0">
                <a:solidFill>
                  <a:srgbClr val="161B26"/>
                </a:solidFill>
                <a:latin typeface="Arial"/>
              </a:rPr>
              <a:t>•  A good feature is repeatable, discriminative, local enough, compact, efficient, and matched to the failure you are trying to catch.</a:t>
            </a:r>
          </a:p>
          <a:p>
            <a:pPr>
              <a:spcAft>
                <a:spcPts val="1000"/>
              </a:spcAft>
            </a:pPr>
            <a:r>
              <a:rPr sz="1300" b="0">
                <a:solidFill>
                  <a:srgbClr val="161B26"/>
                </a:solidFill>
                <a:latin typeface="Arial"/>
              </a:rPr>
              <a:t>•  Local descriptors answer 'what is at this point'; global descriptors answer 'what is this whole image like'. Brand-consistency work needs global.</a:t>
            </a:r>
          </a:p>
          <a:p>
            <a:pPr>
              <a:spcAft>
                <a:spcPts val="1000"/>
              </a:spcAft>
            </a:pPr>
            <a:r>
              <a:rPr sz="1300" b="0">
                <a:solidFill>
                  <a:srgbClr val="161B26"/>
                </a:solidFill>
                <a:latin typeface="Arial"/>
              </a:rPr>
              <a:t>•  Canny is four stages — smooth, gradient, non-maximum suppression, hysteresis — and you cannot tune it without knowing which stage each parameter touches.</a:t>
            </a:r>
          </a:p>
          <a:p>
            <a:pPr>
              <a:spcAft>
                <a:spcPts val="1000"/>
              </a:spcAft>
            </a:pPr>
            <a:r>
              <a:rPr sz="1300" b="0">
                <a:solidFill>
                  <a:srgbClr val="161B26"/>
                </a:solidFill>
                <a:latin typeface="Arial"/>
              </a:rPr>
              <a:t>•  Harris is rotation-covariant and not scale-invariant; measured, its response fell 40% at half scale. That is why SIFT and ORB build scale pyramids.</a:t>
            </a:r>
          </a:p>
          <a:p>
            <a:pPr>
              <a:spcAft>
                <a:spcPts val="1000"/>
              </a:spcAft>
            </a:pPr>
            <a:r>
              <a:rPr sz="1300" b="0">
                <a:solidFill>
                  <a:srgbClr val="161B26"/>
                </a:solidFill>
                <a:latin typeface="Arial"/>
              </a:rPr>
              <a:t>•  ORB is 32 bytes per keypoint and SIFT is 512 — a 16x storage and bandwidth decision that returns in Topic 05.</a:t>
            </a:r>
          </a:p>
          <a:p>
            <a:pPr>
              <a:spcAft>
                <a:spcPts val="1000"/>
              </a:spcAft>
            </a:pPr>
            <a:r>
              <a:rPr sz="1300" b="0">
                <a:solidFill>
                  <a:srgbClr val="161B26"/>
                </a:solidFill>
                <a:latin typeface="Arial"/>
              </a:rPr>
              <a:t>•  Four global descriptors caught three planted outliers in a 12-asset campaign by three different mechanisms, with a 3.7x margin below the lowest rejection.</a:t>
            </a:r>
          </a:p>
          <a:p>
            <a:pPr>
              <a:spcAft>
                <a:spcPts val="1000"/>
              </a:spcAft>
            </a:pPr>
            <a:r>
              <a:rPr sz="1300" b="0">
                <a:solidFill>
                  <a:srgbClr val="161B26"/>
                </a:solidFill>
                <a:latin typeface="Arial"/>
              </a:rPr>
              <a:t>•  Template matching answers 'is it present and in the right place', and it is neither scale- nor rotation-invariant — state that limit whenever you use it. (A3, A4, K5, K6, K7)</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fast">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700" b="1">
                <a:solidFill>
                  <a:srgbClr val="1F6FEB"/>
                </a:solidFill>
                <a:latin typeface="Arial"/>
              </a:rPr>
              <a:t>TOPIC 04</a:t>
            </a:r>
          </a:p>
        </p:txBody>
      </p:sp>
      <p:sp>
        <p:nvSpPr>
          <p:cNvPr id="6" name="TextBox 5"/>
          <p:cNvSpPr txBox="1"/>
          <p:nvPr/>
        </p:nvSpPr>
        <p:spPr>
          <a:xfrm>
            <a:off x="1143000" y="2743200"/>
            <a:ext cx="9144000" cy="1463040"/>
          </a:xfrm>
          <a:prstGeom prst="rect">
            <a:avLst/>
          </a:prstGeom>
          <a:noFill/>
        </p:spPr>
        <p:txBody>
          <a:bodyPr wrap="square" anchor="t">
            <a:spAutoFit/>
          </a:bodyPr>
          <a:lstStyle/>
          <a:p>
            <a:pPr algn="l">
              <a:spcAft>
                <a:spcPts val="400"/>
              </a:spcAft>
            </a:pPr>
            <a:r>
              <a:rPr sz="3000" b="1">
                <a:solidFill>
                  <a:srgbClr val="161B26"/>
                </a:solidFill>
                <a:latin typeface="Arial"/>
              </a:rPr>
              <a:t>Generative AI Video Creation, Animation and Editing</a:t>
            </a:r>
          </a:p>
        </p:txBody>
      </p:sp>
      <p:sp>
        <p:nvSpPr>
          <p:cNvPr id="7" name="TextBox 6"/>
          <p:cNvSpPr txBox="1"/>
          <p:nvPr/>
        </p:nvSpPr>
        <p:spPr>
          <a:xfrm>
            <a:off x="1161288" y="4297680"/>
            <a:ext cx="9692640" cy="1280160"/>
          </a:xfrm>
          <a:prstGeom prst="rect">
            <a:avLst/>
          </a:prstGeom>
          <a:noFill/>
        </p:spPr>
        <p:txBody>
          <a:bodyPr wrap="square" anchor="t">
            <a:spAutoFit/>
          </a:bodyPr>
          <a:lstStyle/>
          <a:p>
            <a:pPr algn="l">
              <a:spcAft>
                <a:spcPts val="400"/>
              </a:spcAft>
            </a:pPr>
            <a:r>
              <a:rPr sz="1400" b="0">
                <a:solidFill>
                  <a:srgbClr val="5B6372"/>
                </a:solidFill>
                <a:latin typeface="Arial"/>
              </a:rPr>
              <a:t>Deep learning concepts · object segmentation, detection and recognition · detector evaluation with IoU and precision/recall · storyboard-to-prompt workflow · temporal coherence, tracking, activity and event discovery · captions and export profiles</a:t>
            </a:r>
          </a:p>
        </p:txBody>
      </p:sp>
      <p:sp>
        <p:nvSpPr>
          <p:cNvPr id="8" name="TextBox 7"/>
          <p:cNvSpPr txBox="1"/>
          <p:nvPr/>
        </p:nvSpPr>
        <p:spPr>
          <a:xfrm>
            <a:off x="9326880" y="640080"/>
            <a:ext cx="2377440" cy="1463040"/>
          </a:xfrm>
          <a:prstGeom prst="rect">
            <a:avLst/>
          </a:prstGeom>
          <a:noFill/>
        </p:spPr>
        <p:txBody>
          <a:bodyPr wrap="square" anchor="t">
            <a:spAutoFit/>
          </a:bodyPr>
          <a:lstStyle/>
          <a:p>
            <a:pPr algn="r">
              <a:spcAft>
                <a:spcPts val="400"/>
              </a:spcAft>
            </a:pPr>
            <a:r>
              <a:rPr sz="68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fast">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LU4 + LU5 · ELO4 + ELO5 · K8, K9, K10, A5, A6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Key Concepts — Topic 04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Classification, detection and segmentation differ by output shape</a:t>
            </a:r>
          </a:p>
          <a:p>
            <a:pPr algn="l">
              <a:spcAft>
                <a:spcPts val="200"/>
              </a:spcAft>
            </a:pPr>
            <a:r>
              <a:rPr sz="1050" b="0">
                <a:solidFill>
                  <a:srgbClr val="5B6372"/>
                </a:solidFill>
                <a:latin typeface="Arial"/>
              </a:rPr>
              <a:t>Classification returns one label per image; detection returns a list of boxes with labels and scores; segmentation returns a label per pixel. The evaluation metric changes with the output shape.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Viola-Jones is a real machine-learning detector</a:t>
            </a:r>
          </a:p>
          <a:p>
            <a:pPr algn="l">
              <a:spcAft>
                <a:spcPts val="200"/>
              </a:spcAft>
            </a:pPr>
            <a:r>
              <a:rPr sz="1050" b="0">
                <a:solidFill>
                  <a:srgbClr val="5B6372"/>
                </a:solidFill>
                <a:latin typeface="Arial"/>
              </a:rPr>
              <a:t>Haar-like rectangle features + integral image + AdaBoost feature selection + a cascade of stages that rejects background windows early. It ships inside OpenCV, so it runs with no downloaded weights.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IoU is the contract between a prediction and the truth</a:t>
            </a:r>
          </a:p>
          <a:p>
            <a:pPr algn="l">
              <a:spcAft>
                <a:spcPts val="200"/>
              </a:spcAft>
            </a:pPr>
            <a:r>
              <a:rPr sz="1000" b="0">
                <a:solidFill>
                  <a:srgbClr val="5B6372"/>
                </a:solidFill>
                <a:latin typeface="Arial"/>
              </a:rPr>
              <a:t>IoU = area(intersection) / area(union). At a stated confidence threshold, match detections one-to-one to ground truth with the correct class and an agreed IoU threshold, for example &gt;=0.5. Duplicates/unmatched predictions are false positives; unmatched ground-truth objects are false negatives.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Video adds temporal coherence to spatial coherence</a:t>
            </a:r>
          </a:p>
          <a:p>
            <a:pPr algn="l">
              <a:spcAft>
                <a:spcPts val="200"/>
              </a:spcAft>
            </a:pPr>
            <a:r>
              <a:rPr sz="1050" b="0">
                <a:solidFill>
                  <a:srgbClr val="5B6372"/>
                </a:solidFill>
                <a:latin typeface="Arial"/>
              </a:rPr>
              <a:t>Each frame must look right AND be consistent with its neighbours. Flicker, identity drift and warping backgrounds are temporal failures that a per-frame quality score cannot see.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3-D U-Nets and Diffusion Transformers buy that coherence</a:t>
            </a:r>
          </a:p>
          <a:p>
            <a:pPr algn="l">
              <a:spcAft>
                <a:spcPts val="200"/>
              </a:spcAft>
            </a:pPr>
            <a:r>
              <a:rPr sz="1050" b="0">
                <a:solidFill>
                  <a:srgbClr val="5B6372"/>
                </a:solidFill>
                <a:latin typeface="Arial"/>
              </a:rPr>
              <a:t>Extending the 2-D U-Net to 3-D adds the time axis so the model learns spatiotemporal features; treating video as a sequence of spatiotemporal patches lets a transformer model long-range dependencies across many seconds.</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Motion analysis is how you verify continuity numerically</a:t>
            </a:r>
          </a:p>
          <a:p>
            <a:pPr algn="l">
              <a:spcAft>
                <a:spcPts val="200"/>
              </a:spcAft>
            </a:pPr>
            <a:r>
              <a:rPr sz="1050" b="0">
                <a:solidFill>
                  <a:srgbClr val="5B6372"/>
                </a:solidFill>
                <a:latin typeface="Arial"/>
              </a:rPr>
              <a:t>Background subtraction isolates the moving foreground; mean shift and CAMShift climb the back-projected histogram to track it; Farneback optical flow gives a dense displacement field. Centroid jitter and scale drift then become numbers.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fast">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K9 · OBJECT SEGMENTATION, DETECTION AND RECOGNITION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Three Tasks, Three Output Shapes, Three Metrics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2926080" cy="548640"/>
          </a:xfrm>
          <a:prstGeom prst="rect">
            <a:avLst/>
          </a:prstGeom>
          <a:noFill/>
        </p:spPr>
        <p:txBody>
          <a:bodyPr wrap="square" anchor="t">
            <a:spAutoFit/>
          </a:bodyPr>
          <a:lstStyle/>
          <a:p>
            <a:pPr algn="l">
              <a:spcAft>
                <a:spcPts val="400"/>
              </a:spcAft>
            </a:pPr>
            <a:r>
              <a:rPr sz="1700" b="1">
                <a:solidFill>
                  <a:srgbClr val="1F6FEB"/>
                </a:solidFill>
                <a:latin typeface="Arial"/>
              </a:rPr>
              <a:t>Classification</a:t>
            </a:r>
          </a:p>
        </p:txBody>
      </p:sp>
      <p:sp>
        <p:nvSpPr>
          <p:cNvPr id="10" name="TextBox 9"/>
          <p:cNvSpPr txBox="1"/>
          <p:nvPr/>
        </p:nvSpPr>
        <p:spPr>
          <a:xfrm>
            <a:off x="1005840" y="2651760"/>
            <a:ext cx="2926080" cy="3200400"/>
          </a:xfrm>
          <a:prstGeom prst="rect">
            <a:avLst/>
          </a:prstGeom>
          <a:noFill/>
        </p:spPr>
        <p:txBody>
          <a:bodyPr wrap="square">
            <a:spAutoFit/>
          </a:bodyPr>
          <a:lstStyle/>
          <a:p>
            <a:pPr>
              <a:spcAft>
                <a:spcPts val="800"/>
              </a:spcAft>
            </a:pPr>
            <a:r>
              <a:rPr sz="1300" b="0">
                <a:solidFill>
                  <a:srgbClr val="161B26"/>
                </a:solidFill>
                <a:latin typeface="Arial"/>
              </a:rPr>
              <a:t>•  Output: one label per image.</a:t>
            </a:r>
          </a:p>
          <a:p>
            <a:pPr>
              <a:spcAft>
                <a:spcPts val="800"/>
              </a:spcAft>
            </a:pPr>
            <a:r>
              <a:rPr sz="1300" b="0">
                <a:solidFill>
                  <a:srgbClr val="161B26"/>
                </a:solidFill>
                <a:latin typeface="Arial"/>
              </a:rPr>
              <a:t>•  'This frame contains a person.'</a:t>
            </a:r>
          </a:p>
          <a:p>
            <a:pPr>
              <a:spcAft>
                <a:spcPts val="800"/>
              </a:spcAft>
            </a:pPr>
            <a:r>
              <a:rPr sz="1300" b="0">
                <a:solidFill>
                  <a:srgbClr val="161B26"/>
                </a:solidFill>
                <a:latin typeface="Arial"/>
              </a:rPr>
              <a:t>•  Metric: accuracy, precision, recall, F1.</a:t>
            </a:r>
          </a:p>
          <a:p>
            <a:pPr>
              <a:spcAft>
                <a:spcPts val="800"/>
              </a:spcAft>
            </a:pPr>
            <a:r>
              <a:rPr sz="1300" b="0">
                <a:solidFill>
                  <a:srgbClr val="161B26"/>
                </a:solidFill>
                <a:latin typeface="Arial"/>
              </a:rPr>
              <a:t>•  Cheapest to label and to evaluate.</a:t>
            </a:r>
          </a:p>
          <a:p>
            <a:pPr>
              <a:spcAft>
                <a:spcPts val="800"/>
              </a:spcAft>
            </a:pPr>
            <a:r>
              <a:rPr sz="1300" b="0">
                <a:solidFill>
                  <a:srgbClr val="161B26"/>
                </a:solidFill>
                <a:latin typeface="Arial"/>
              </a:rPr>
              <a:t>•  Says nothing about where or how many.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1993392"/>
            <a:ext cx="2926080" cy="548640"/>
          </a:xfrm>
          <a:prstGeom prst="rect">
            <a:avLst/>
          </a:prstGeom>
          <a:noFill/>
        </p:spPr>
        <p:txBody>
          <a:bodyPr wrap="square" anchor="t">
            <a:spAutoFit/>
          </a:bodyPr>
          <a:lstStyle/>
          <a:p>
            <a:pPr algn="l">
              <a:spcAft>
                <a:spcPts val="400"/>
              </a:spcAft>
            </a:pPr>
            <a:r>
              <a:rPr sz="1700" b="1">
                <a:solidFill>
                  <a:srgbClr val="10B981"/>
                </a:solidFill>
                <a:latin typeface="Arial"/>
              </a:rPr>
              <a:t>Detection</a:t>
            </a:r>
          </a:p>
        </p:txBody>
      </p:sp>
      <p:sp>
        <p:nvSpPr>
          <p:cNvPr id="14" name="TextBox 13"/>
          <p:cNvSpPr txBox="1"/>
          <p:nvPr/>
        </p:nvSpPr>
        <p:spPr>
          <a:xfrm>
            <a:off x="4800600" y="2651760"/>
            <a:ext cx="2926080" cy="3200400"/>
          </a:xfrm>
          <a:prstGeom prst="rect">
            <a:avLst/>
          </a:prstGeom>
          <a:noFill/>
        </p:spPr>
        <p:txBody>
          <a:bodyPr wrap="square">
            <a:spAutoFit/>
          </a:bodyPr>
          <a:lstStyle/>
          <a:p>
            <a:pPr>
              <a:spcAft>
                <a:spcPts val="800"/>
              </a:spcAft>
            </a:pPr>
            <a:r>
              <a:rPr sz="1300" b="0">
                <a:solidFill>
                  <a:srgbClr val="161B26"/>
                </a:solidFill>
                <a:latin typeface="Arial"/>
              </a:rPr>
              <a:t>•  Output: a list of boxes, each with a label and a score.</a:t>
            </a:r>
          </a:p>
          <a:p>
            <a:pPr>
              <a:spcAft>
                <a:spcPts val="800"/>
              </a:spcAft>
            </a:pPr>
            <a:r>
              <a:rPr sz="1300" b="0">
                <a:solidFill>
                  <a:srgbClr val="161B26"/>
                </a:solidFill>
                <a:latin typeface="Arial"/>
              </a:rPr>
              <a:t>•  'Two people, at these coordinates.'</a:t>
            </a:r>
          </a:p>
          <a:p>
            <a:pPr>
              <a:spcAft>
                <a:spcPts val="800"/>
              </a:spcAft>
            </a:pPr>
            <a:r>
              <a:rPr sz="1300" b="0">
                <a:solidFill>
                  <a:srgbClr val="161B26"/>
                </a:solidFill>
                <a:latin typeface="Arial"/>
              </a:rPr>
              <a:t>•  Metric: IoU, then precision/recall/mAP.</a:t>
            </a:r>
          </a:p>
          <a:p>
            <a:pPr>
              <a:spcAft>
                <a:spcPts val="800"/>
              </a:spcAft>
            </a:pPr>
            <a:r>
              <a:rPr sz="1300" b="0">
                <a:solidFill>
                  <a:srgbClr val="161B26"/>
                </a:solidFill>
                <a:latin typeface="Arial"/>
              </a:rPr>
              <a:t>•  Needs a matching rule between prediction and truth.</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1993392"/>
            <a:ext cx="2926080" cy="548640"/>
          </a:xfrm>
          <a:prstGeom prst="rect">
            <a:avLst/>
          </a:prstGeom>
          <a:noFill/>
        </p:spPr>
        <p:txBody>
          <a:bodyPr wrap="square" anchor="t">
            <a:spAutoFit/>
          </a:bodyPr>
          <a:lstStyle/>
          <a:p>
            <a:pPr algn="l">
              <a:spcAft>
                <a:spcPts val="400"/>
              </a:spcAft>
            </a:pPr>
            <a:r>
              <a:rPr sz="1700" b="1">
                <a:solidFill>
                  <a:srgbClr val="7C3AED"/>
                </a:solidFill>
                <a:latin typeface="Arial"/>
              </a:rPr>
              <a:t>Segmentation</a:t>
            </a:r>
          </a:p>
        </p:txBody>
      </p:sp>
      <p:sp>
        <p:nvSpPr>
          <p:cNvPr id="18" name="TextBox 17"/>
          <p:cNvSpPr txBox="1"/>
          <p:nvPr/>
        </p:nvSpPr>
        <p:spPr>
          <a:xfrm>
            <a:off x="8595360" y="2651760"/>
            <a:ext cx="2926080" cy="3200400"/>
          </a:xfrm>
          <a:prstGeom prst="rect">
            <a:avLst/>
          </a:prstGeom>
          <a:noFill/>
        </p:spPr>
        <p:txBody>
          <a:bodyPr wrap="square">
            <a:spAutoFit/>
          </a:bodyPr>
          <a:lstStyle/>
          <a:p>
            <a:pPr>
              <a:spcAft>
                <a:spcPts val="800"/>
              </a:spcAft>
            </a:pPr>
            <a:r>
              <a:rPr sz="1300" b="0">
                <a:solidFill>
                  <a:srgbClr val="161B26"/>
                </a:solidFill>
                <a:latin typeface="Arial"/>
              </a:rPr>
              <a:t>•  Output: a label per PIXEL.</a:t>
            </a:r>
          </a:p>
          <a:p>
            <a:pPr>
              <a:spcAft>
                <a:spcPts val="800"/>
              </a:spcAft>
            </a:pPr>
            <a:r>
              <a:rPr sz="1300" b="0">
                <a:solidFill>
                  <a:srgbClr val="161B26"/>
                </a:solidFill>
                <a:latin typeface="Arial"/>
              </a:rPr>
              <a:t>•  'These pixels are person, those are shelf.'</a:t>
            </a:r>
          </a:p>
          <a:p>
            <a:pPr>
              <a:spcAft>
                <a:spcPts val="800"/>
              </a:spcAft>
            </a:pPr>
            <a:r>
              <a:rPr sz="1300" b="0">
                <a:solidFill>
                  <a:srgbClr val="161B26"/>
                </a:solidFill>
                <a:latin typeface="Arial"/>
              </a:rPr>
              <a:t>•  Metric: IoU per class, mean IoU, Dice.</a:t>
            </a:r>
          </a:p>
          <a:p>
            <a:pPr>
              <a:spcAft>
                <a:spcPts val="800"/>
              </a:spcAft>
            </a:pPr>
            <a:r>
              <a:rPr sz="1300" b="0">
                <a:solidFill>
                  <a:srgbClr val="161B26"/>
                </a:solidFill>
                <a:latin typeface="Arial"/>
              </a:rPr>
              <a:t>•  Most expensive to label; what masked editing consumes.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fast">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7C3AED"/>
                </a:solidFill>
                <a:latin typeface="Arial"/>
              </a:rPr>
              <a:t>K8, K9 · IT SHIPS INSIDE opencv-python — NO WEIGHTS TO DOWNLOAD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Viola-Jones — a Real Machine-Learning Detector, Built Into OpenCV</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10512"/>
            <a:ext cx="7315200" cy="877824"/>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2331720" cy="8778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1810512"/>
            <a:ext cx="2103120" cy="877824"/>
          </a:xfrm>
          <a:prstGeom prst="rect">
            <a:avLst/>
          </a:prstGeom>
          <a:noFill/>
        </p:spPr>
        <p:txBody>
          <a:bodyPr wrap="square" anchor="ctr">
            <a:spAutoFit/>
          </a:bodyPr>
          <a:lstStyle/>
          <a:p>
            <a:pPr algn="l">
              <a:spcAft>
                <a:spcPts val="400"/>
              </a:spcAft>
            </a:pPr>
            <a:r>
              <a:rPr sz="1250" b="1">
                <a:solidFill>
                  <a:srgbClr val="FFFFFF"/>
                </a:solidFill>
                <a:latin typeface="Arial"/>
              </a:rPr>
              <a:t>HAAR-LIKE FEATURES</a:t>
            </a:r>
          </a:p>
        </p:txBody>
      </p:sp>
      <p:sp>
        <p:nvSpPr>
          <p:cNvPr id="10" name="TextBox 9"/>
          <p:cNvSpPr txBox="1"/>
          <p:nvPr/>
        </p:nvSpPr>
        <p:spPr>
          <a:xfrm>
            <a:off x="3291840" y="1810512"/>
            <a:ext cx="4617720" cy="877824"/>
          </a:xfrm>
          <a:prstGeom prst="rect">
            <a:avLst/>
          </a:prstGeom>
          <a:noFill/>
        </p:spPr>
        <p:txBody>
          <a:bodyPr wrap="square" anchor="ctr">
            <a:spAutoFit/>
          </a:bodyPr>
          <a:lstStyle/>
          <a:p>
            <a:pPr algn="l">
              <a:spcAft>
                <a:spcPts val="400"/>
              </a:spcAft>
            </a:pPr>
            <a:r>
              <a:rPr sz="1200" b="0">
                <a:solidFill>
                  <a:srgbClr val="161B26"/>
                </a:solidFill>
                <a:latin typeface="Arial"/>
              </a:rPr>
              <a:t>Differences of summed rectangle intensities: an eye band is darker than the cheeks below it, a nose bridge is brighter than its sides.</a:t>
            </a:r>
          </a:p>
        </p:txBody>
      </p:sp>
      <p:cxnSp>
        <p:nvCxnSpPr>
          <p:cNvPr id="11" name="Connector 10"/>
          <p:cNvCxnSpPr/>
          <p:nvPr/>
        </p:nvCxnSpPr>
        <p:spPr>
          <a:xfrm>
            <a:off x="4434840" y="2688336"/>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77240" y="2889504"/>
            <a:ext cx="7315200" cy="877824"/>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89504"/>
            <a:ext cx="2331720" cy="8778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889504"/>
            <a:ext cx="2103120" cy="877824"/>
          </a:xfrm>
          <a:prstGeom prst="rect">
            <a:avLst/>
          </a:prstGeom>
          <a:noFill/>
        </p:spPr>
        <p:txBody>
          <a:bodyPr wrap="square" anchor="ctr">
            <a:spAutoFit/>
          </a:bodyPr>
          <a:lstStyle/>
          <a:p>
            <a:pPr algn="l">
              <a:spcAft>
                <a:spcPts val="400"/>
              </a:spcAft>
            </a:pPr>
            <a:r>
              <a:rPr sz="1250" b="1">
                <a:solidFill>
                  <a:srgbClr val="FFFFFF"/>
                </a:solidFill>
                <a:latin typeface="Arial"/>
              </a:rPr>
              <a:t>INTEGRAL IMAGE</a:t>
            </a:r>
          </a:p>
        </p:txBody>
      </p:sp>
      <p:sp>
        <p:nvSpPr>
          <p:cNvPr id="15" name="TextBox 14"/>
          <p:cNvSpPr txBox="1"/>
          <p:nvPr/>
        </p:nvSpPr>
        <p:spPr>
          <a:xfrm>
            <a:off x="3291840" y="2889504"/>
            <a:ext cx="4617720" cy="877824"/>
          </a:xfrm>
          <a:prstGeom prst="rect">
            <a:avLst/>
          </a:prstGeom>
          <a:noFill/>
        </p:spPr>
        <p:txBody>
          <a:bodyPr wrap="square" anchor="ctr">
            <a:spAutoFit/>
          </a:bodyPr>
          <a:lstStyle/>
          <a:p>
            <a:pPr algn="l">
              <a:spcAft>
                <a:spcPts val="400"/>
              </a:spcAft>
            </a:pPr>
            <a:r>
              <a:rPr sz="1200" b="0">
                <a:solidFill>
                  <a:srgbClr val="161B26"/>
                </a:solidFill>
                <a:latin typeface="Arial"/>
              </a:rPr>
              <a:t>Precompute a running sum so ANY rectangle total is four lookups regardless of its size. This is what makes tens of thousands of features affordable.</a:t>
            </a:r>
          </a:p>
        </p:txBody>
      </p:sp>
      <p:cxnSp>
        <p:nvCxnSpPr>
          <p:cNvPr id="16" name="Connector 15"/>
          <p:cNvCxnSpPr/>
          <p:nvPr/>
        </p:nvCxnSpPr>
        <p:spPr>
          <a:xfrm>
            <a:off x="4434840" y="3767328"/>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77240" y="3968496"/>
            <a:ext cx="7315200" cy="877824"/>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968496"/>
            <a:ext cx="2331720" cy="8778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3544" y="3968496"/>
            <a:ext cx="2103120" cy="877824"/>
          </a:xfrm>
          <a:prstGeom prst="rect">
            <a:avLst/>
          </a:prstGeom>
          <a:noFill/>
        </p:spPr>
        <p:txBody>
          <a:bodyPr wrap="square" anchor="ctr">
            <a:spAutoFit/>
          </a:bodyPr>
          <a:lstStyle/>
          <a:p>
            <a:pPr algn="l">
              <a:spcAft>
                <a:spcPts val="400"/>
              </a:spcAft>
            </a:pPr>
            <a:r>
              <a:rPr sz="1250" b="1">
                <a:solidFill>
                  <a:srgbClr val="FFFFFF"/>
                </a:solidFill>
                <a:latin typeface="Arial"/>
              </a:rPr>
              <a:t>ADABOOST</a:t>
            </a:r>
          </a:p>
        </p:txBody>
      </p:sp>
      <p:sp>
        <p:nvSpPr>
          <p:cNvPr id="20" name="TextBox 19"/>
          <p:cNvSpPr txBox="1"/>
          <p:nvPr/>
        </p:nvSpPr>
        <p:spPr>
          <a:xfrm>
            <a:off x="3291840" y="3968496"/>
            <a:ext cx="4617720" cy="877824"/>
          </a:xfrm>
          <a:prstGeom prst="rect">
            <a:avLst/>
          </a:prstGeom>
          <a:noFill/>
        </p:spPr>
        <p:txBody>
          <a:bodyPr wrap="square" anchor="ctr">
            <a:spAutoFit/>
          </a:bodyPr>
          <a:lstStyle/>
          <a:p>
            <a:pPr algn="l">
              <a:spcAft>
                <a:spcPts val="400"/>
              </a:spcAft>
            </a:pPr>
            <a:r>
              <a:rPr sz="1200" b="0">
                <a:solidFill>
                  <a:srgbClr val="161B26"/>
                </a:solidFill>
                <a:latin typeface="Arial"/>
              </a:rPr>
              <a:t>Train weak classifiers on single features and keep only the small subset that actually discriminates, weighting the hard examples more each round.</a:t>
            </a:r>
          </a:p>
        </p:txBody>
      </p:sp>
      <p:cxnSp>
        <p:nvCxnSpPr>
          <p:cNvPr id="21" name="Connector 20"/>
          <p:cNvCxnSpPr/>
          <p:nvPr/>
        </p:nvCxnSpPr>
        <p:spPr>
          <a:xfrm>
            <a:off x="4434840" y="4846320"/>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 y="5047488"/>
            <a:ext cx="7315200" cy="877824"/>
          </a:xfrm>
          <a:prstGeom prst="roundRect">
            <a:avLst/>
          </a:prstGeom>
          <a:solidFill>
            <a:srgbClr val="F5F8FC"/>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047488"/>
            <a:ext cx="2331720" cy="8778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 y="5047488"/>
            <a:ext cx="2103120" cy="877824"/>
          </a:xfrm>
          <a:prstGeom prst="rect">
            <a:avLst/>
          </a:prstGeom>
          <a:noFill/>
        </p:spPr>
        <p:txBody>
          <a:bodyPr wrap="square" anchor="ctr">
            <a:spAutoFit/>
          </a:bodyPr>
          <a:lstStyle/>
          <a:p>
            <a:pPr algn="l">
              <a:spcAft>
                <a:spcPts val="400"/>
              </a:spcAft>
            </a:pPr>
            <a:r>
              <a:rPr sz="1250" b="1">
                <a:solidFill>
                  <a:srgbClr val="FFFFFF"/>
                </a:solidFill>
                <a:latin typeface="Arial"/>
              </a:rPr>
              <a:t>CASCADE OF STAGES</a:t>
            </a:r>
          </a:p>
        </p:txBody>
      </p:sp>
      <p:sp>
        <p:nvSpPr>
          <p:cNvPr id="25" name="TextBox 24"/>
          <p:cNvSpPr txBox="1"/>
          <p:nvPr/>
        </p:nvSpPr>
        <p:spPr>
          <a:xfrm>
            <a:off x="3291840" y="5047488"/>
            <a:ext cx="4617720" cy="877824"/>
          </a:xfrm>
          <a:prstGeom prst="rect">
            <a:avLst/>
          </a:prstGeom>
          <a:noFill/>
        </p:spPr>
        <p:txBody>
          <a:bodyPr wrap="square" anchor="ctr">
            <a:spAutoFit/>
          </a:bodyPr>
          <a:lstStyle/>
          <a:p>
            <a:pPr algn="l">
              <a:spcAft>
                <a:spcPts val="400"/>
              </a:spcAft>
            </a:pPr>
            <a:r>
              <a:rPr sz="1200" b="0">
                <a:solidFill>
                  <a:srgbClr val="161B26"/>
                </a:solidFill>
                <a:latin typeface="Arial"/>
              </a:rPr>
              <a:t>Apply the features in stages. A window failing any stage is rejected immediately, so most background is discarded in the first few stages.</a:t>
            </a:r>
          </a:p>
        </p:txBody>
      </p:sp>
      <p:sp>
        <p:nvSpPr>
          <p:cNvPr id="26" name="Rectangle 25"/>
          <p:cNvSpPr/>
          <p:nvPr/>
        </p:nvSpPr>
        <p:spPr>
          <a:xfrm>
            <a:off x="8366760" y="1810512"/>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366760" y="1810512"/>
            <a:ext cx="82296" cy="9052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67928" y="1810512"/>
            <a:ext cx="2679192" cy="905256"/>
          </a:xfrm>
          <a:prstGeom prst="rect">
            <a:avLst/>
          </a:prstGeom>
          <a:noFill/>
        </p:spPr>
        <p:txBody>
          <a:bodyPr wrap="square" anchor="ctr">
            <a:spAutoFit/>
          </a:bodyPr>
          <a:lstStyle/>
          <a:p>
            <a:pPr algn="l">
              <a:spcAft>
                <a:spcPts val="200"/>
              </a:spcAft>
            </a:pPr>
            <a:r>
              <a:rPr sz="1200" b="1">
                <a:solidFill>
                  <a:srgbClr val="1F6FEB"/>
                </a:solidFill>
                <a:latin typeface="Arial"/>
              </a:rPr>
              <a:t>Why it still matters</a:t>
            </a:r>
          </a:p>
          <a:p>
            <a:pPr algn="l">
              <a:spcAft>
                <a:spcPts val="200"/>
              </a:spcAft>
            </a:pPr>
            <a:r>
              <a:rPr sz="1100" b="0">
                <a:solidFill>
                  <a:srgbClr val="161B26"/>
                </a:solidFill>
                <a:latin typeface="Arial"/>
              </a:rPr>
              <a:t>It runs on a CPU, offline, with no model file. That is why this course can teach detection without a download.</a:t>
            </a:r>
          </a:p>
        </p:txBody>
      </p:sp>
      <p:sp>
        <p:nvSpPr>
          <p:cNvPr id="29" name="Rectangle 28"/>
          <p:cNvSpPr/>
          <p:nvPr/>
        </p:nvSpPr>
        <p:spPr>
          <a:xfrm>
            <a:off x="8366760" y="2880360"/>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66760" y="2880360"/>
            <a:ext cx="82296" cy="9052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67928" y="2880360"/>
            <a:ext cx="2679192" cy="905256"/>
          </a:xfrm>
          <a:prstGeom prst="rect">
            <a:avLst/>
          </a:prstGeom>
          <a:noFill/>
        </p:spPr>
        <p:txBody>
          <a:bodyPr wrap="square" anchor="ctr">
            <a:spAutoFit/>
          </a:bodyPr>
          <a:lstStyle/>
          <a:p>
            <a:pPr algn="l">
              <a:spcAft>
                <a:spcPts val="200"/>
              </a:spcAft>
            </a:pPr>
            <a:r>
              <a:rPr sz="1200" b="1">
                <a:solidFill>
                  <a:srgbClr val="10B981"/>
                </a:solidFill>
                <a:latin typeface="Arial"/>
              </a:rPr>
              <a:t>What it is not</a:t>
            </a:r>
          </a:p>
          <a:p>
            <a:pPr algn="l">
              <a:spcAft>
                <a:spcPts val="200"/>
              </a:spcAft>
            </a:pPr>
            <a:r>
              <a:rPr sz="1100" b="0">
                <a:solidFill>
                  <a:srgbClr val="161B26"/>
                </a:solidFill>
                <a:latin typeface="Arial"/>
              </a:rPr>
              <a:t>It is not deep learning. It is boosted feature selection over hand-designed features.</a:t>
            </a:r>
          </a:p>
        </p:txBody>
      </p:sp>
      <p:sp>
        <p:nvSpPr>
          <p:cNvPr id="32" name="Rectangle 31"/>
          <p:cNvSpPr/>
          <p:nvPr/>
        </p:nvSpPr>
        <p:spPr>
          <a:xfrm>
            <a:off x="8366760" y="3950208"/>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366760" y="3950208"/>
            <a:ext cx="82296" cy="9052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67928" y="3950208"/>
            <a:ext cx="2679192" cy="905256"/>
          </a:xfrm>
          <a:prstGeom prst="rect">
            <a:avLst/>
          </a:prstGeom>
          <a:noFill/>
        </p:spPr>
        <p:txBody>
          <a:bodyPr wrap="square" anchor="ctr">
            <a:spAutoFit/>
          </a:bodyPr>
          <a:lstStyle/>
          <a:p>
            <a:pPr algn="l">
              <a:spcAft>
                <a:spcPts val="200"/>
              </a:spcAft>
            </a:pPr>
            <a:r>
              <a:rPr sz="1200" b="1">
                <a:solidFill>
                  <a:srgbClr val="7C3AED"/>
                </a:solidFill>
                <a:latin typeface="Arial"/>
              </a:rPr>
              <a:t>Two parameters</a:t>
            </a:r>
          </a:p>
          <a:p>
            <a:pPr algn="l">
              <a:spcAft>
                <a:spcPts val="200"/>
              </a:spcAft>
            </a:pPr>
            <a:r>
              <a:rPr sz="1100" b="0">
                <a:solidFill>
                  <a:srgbClr val="161B26"/>
                </a:solidFill>
                <a:latin typeface="Arial"/>
              </a:rPr>
              <a:t>scaleFactor steps the image pyramid; minNeighbors sets how many overlapping hits are required.</a:t>
            </a:r>
          </a:p>
        </p:txBody>
      </p:sp>
      <p:sp>
        <p:nvSpPr>
          <p:cNvPr id="35" name="Rectangle 34"/>
          <p:cNvSpPr/>
          <p:nvPr/>
        </p:nvSpPr>
        <p:spPr>
          <a:xfrm>
            <a:off x="8366760" y="5020056"/>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366760" y="5020056"/>
            <a:ext cx="82296" cy="9052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67928" y="5020056"/>
            <a:ext cx="2679192" cy="905256"/>
          </a:xfrm>
          <a:prstGeom prst="rect">
            <a:avLst/>
          </a:prstGeom>
          <a:noFill/>
        </p:spPr>
        <p:txBody>
          <a:bodyPr wrap="square" anchor="ctr">
            <a:spAutoFit/>
          </a:bodyPr>
          <a:lstStyle/>
          <a:p>
            <a:pPr algn="l">
              <a:spcAft>
                <a:spcPts val="200"/>
              </a:spcAft>
            </a:pPr>
            <a:r>
              <a:rPr sz="1200" b="1">
                <a:solidFill>
                  <a:srgbClr val="F59E0B"/>
                </a:solidFill>
                <a:latin typeface="Arial"/>
              </a:rPr>
              <a:t>Cascade scores</a:t>
            </a:r>
          </a:p>
          <a:p>
            <a:pPr algn="l">
              <a:spcAft>
                <a:spcPts val="200"/>
              </a:spcAft>
            </a:pPr>
            <a:r>
              <a:rPr sz="1100" b="0">
                <a:solidFill>
                  <a:srgbClr val="161B26"/>
                </a:solidFill>
                <a:latin typeface="Arial"/>
              </a:rPr>
              <a:t>detectMultiScale3 can return levelWeights; they are ranking scores, not calibrated probabilities.</a:t>
            </a:r>
          </a:p>
        </p:txBody>
      </p:sp>
      <p:sp>
        <p:nvSpPr>
          <p:cNvPr id="38" name="TextBox 37"/>
          <p:cNvSpPr txBox="1"/>
          <p:nvPr/>
        </p:nvSpPr>
        <p:spPr>
          <a:xfrm>
            <a:off x="777240" y="5989320"/>
            <a:ext cx="10634472" cy="457200"/>
          </a:xfrm>
          <a:prstGeom prst="rect">
            <a:avLst/>
          </a:prstGeom>
          <a:noFill/>
        </p:spPr>
        <p:txBody>
          <a:bodyPr wrap="square" anchor="ctr">
            <a:spAutoFit/>
          </a:bodyPr>
          <a:lstStyle/>
          <a:p>
            <a:pPr algn="ctr">
              <a:spcAft>
                <a:spcPts val="400"/>
              </a:spcAft>
            </a:pPr>
            <a:r>
              <a:rPr sz="1250" b="0">
                <a:solidFill>
                  <a:srgbClr val="5B6372"/>
                </a:solidFill>
                <a:latin typeface="Arial"/>
              </a:rPr>
              <a:t>cv2.data.haarcascades points inside the installed package and holds the trained frontal-face and eye cascade XML files.</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fast">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K9, A5 · TWO DIFFERENT FEATURE FAMILIES, BOTH IN THE BASE WHEEL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Running Both Built-In Detectors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41605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38528"/>
            <a:ext cx="6035040" cy="3849624"/>
          </a:xfrm>
          <a:prstGeom prst="rect">
            <a:avLst/>
          </a:prstGeom>
          <a:noFill/>
        </p:spPr>
        <p:txBody>
          <a:bodyPr wrap="none" lIns="0" rIns="0" tIns="0" bIns="0" anchor="t">
            <a:noAutofit/>
          </a:bodyPr>
          <a:lstStyle/>
          <a:p>
            <a:pPr>
              <a:spcAft>
                <a:spcPts val="100"/>
              </a:spcAft>
            </a:pPr>
            <a:r>
              <a:rPr sz="950">
                <a:solidFill>
                  <a:srgbClr val="9CDCFE"/>
                </a:solidFill>
                <a:latin typeface="Consolas"/>
              </a:rPr>
              <a:t># 1 — Viola-Jones cascade (intensity-difference features)</a:t>
            </a:r>
          </a:p>
          <a:p>
            <a:pPr>
              <a:spcAft>
                <a:spcPts val="100"/>
              </a:spcAft>
            </a:pPr>
            <a:r>
              <a:rPr sz="950">
                <a:solidFill>
                  <a:srgbClr val="9CDCFE"/>
                </a:solidFill>
                <a:latin typeface="Consolas"/>
              </a:rPr>
              <a:t>cas   = cv2.CascadeClassifier(cv2.data.haarcascades +</a:t>
            </a:r>
          </a:p>
          <a:p>
            <a:pPr>
              <a:spcAft>
                <a:spcPts val="100"/>
              </a:spcAft>
            </a:pPr>
            <a:r>
              <a:rPr sz="950">
                <a:solidFill>
                  <a:srgbClr val="9CDCFE"/>
                </a:solidFill>
                <a:latin typeface="Consolas"/>
              </a:rPr>
              <a:t>                              'haarcascade_frontalface_default.xml')</a:t>
            </a:r>
          </a:p>
          <a:p>
            <a:pPr>
              <a:spcAft>
                <a:spcPts val="100"/>
              </a:spcAft>
            </a:pPr>
            <a:r>
              <a:rPr sz="950">
                <a:solidFill>
                  <a:srgbClr val="9CDCFE"/>
                </a:solidFill>
                <a:latin typeface="Consolas"/>
              </a:rPr>
              <a:t>gray  = cv2.cvtColor(img, cv2.COLOR_BGR2GRAY)      # MUST be grayscale</a:t>
            </a:r>
          </a:p>
          <a:p>
            <a:pPr>
              <a:spcAft>
                <a:spcPts val="100"/>
              </a:spcAft>
            </a:pPr>
            <a:r>
              <a:rPr sz="950">
                <a:solidFill>
                  <a:srgbClr val="9CDCFE"/>
                </a:solidFill>
                <a:latin typeface="Consolas"/>
              </a:rPr>
              <a:t>faces = cas.detectMultiScale(gray, scaleFactor=1.05,</a:t>
            </a:r>
          </a:p>
          <a:p>
            <a:pPr>
              <a:spcAft>
                <a:spcPts val="100"/>
              </a:spcAft>
            </a:pPr>
            <a:r>
              <a:rPr sz="950">
                <a:solidFill>
                  <a:srgbClr val="9CDCFE"/>
                </a:solidFill>
                <a:latin typeface="Consolas"/>
              </a:rPr>
              <a:t>                             minNeighbors=2, minSize=(24, 24))</a:t>
            </a:r>
          </a:p>
          <a:p>
            <a:pPr>
              <a:spcAft>
                <a:spcPts val="100"/>
              </a:spcAft>
            </a:pPr>
            <a:r>
              <a:rPr sz="950">
                <a:solidFill>
                  <a:srgbClr val="9CDCFE"/>
                </a:solidFill>
                <a:latin typeface="Consolas"/>
              </a:rPr>
              <a:t> </a:t>
            </a:r>
          </a:p>
          <a:p>
            <a:pPr>
              <a:spcAft>
                <a:spcPts val="100"/>
              </a:spcAft>
            </a:pPr>
            <a:r>
              <a:rPr sz="950">
                <a:solidFill>
                  <a:srgbClr val="9CDCFE"/>
                </a:solidFill>
                <a:latin typeface="Consolas"/>
              </a:rPr>
              <a:t># 2 — HOG + linear SVM (gradient-statistics features)</a:t>
            </a:r>
          </a:p>
          <a:p>
            <a:pPr>
              <a:spcAft>
                <a:spcPts val="100"/>
              </a:spcAft>
            </a:pPr>
            <a:r>
              <a:rPr sz="950">
                <a:solidFill>
                  <a:srgbClr val="9CDCFE"/>
                </a:solidFill>
                <a:latin typeface="Consolas"/>
              </a:rPr>
              <a:t>hog = cv2.HOGDescriptor()</a:t>
            </a:r>
          </a:p>
          <a:p>
            <a:pPr>
              <a:spcAft>
                <a:spcPts val="100"/>
              </a:spcAft>
            </a:pPr>
            <a:r>
              <a:rPr sz="950">
                <a:solidFill>
                  <a:srgbClr val="9CDCFE"/>
                </a:solidFill>
                <a:latin typeface="Consolas"/>
              </a:rPr>
              <a:t>hog.setSVMDetector(cv2.HOGDescriptor_getDefaultPeopleDetector())</a:t>
            </a:r>
          </a:p>
          <a:p>
            <a:pPr>
              <a:spcAft>
                <a:spcPts val="100"/>
              </a:spcAft>
            </a:pPr>
            <a:r>
              <a:rPr sz="950">
                <a:solidFill>
                  <a:srgbClr val="9CDCFE"/>
                </a:solidFill>
                <a:latin typeface="Consolas"/>
              </a:rPr>
              <a:t>boxes, weights = hog.detectMultiScale(img, winStride=(8, 8),</a:t>
            </a:r>
          </a:p>
          <a:p>
            <a:pPr>
              <a:spcAft>
                <a:spcPts val="100"/>
              </a:spcAft>
            </a:pPr>
            <a:r>
              <a:rPr sz="950">
                <a:solidFill>
                  <a:srgbClr val="9CDCFE"/>
                </a:solidFill>
                <a:latin typeface="Consolas"/>
              </a:rPr>
              <a:t>                                      padding=(8, 8), scale=1.05)</a:t>
            </a:r>
          </a:p>
          <a:p>
            <a:pPr>
              <a:spcAft>
                <a:spcPts val="100"/>
              </a:spcAft>
            </a:pPr>
            <a:r>
              <a:rPr sz="950">
                <a:solidFill>
                  <a:srgbClr val="9CDCFE"/>
                </a:solidFill>
                <a:latin typeface="Consolas"/>
              </a:rPr>
              <a:t> </a:t>
            </a:r>
          </a:p>
          <a:p>
            <a:pPr>
              <a:spcAft>
                <a:spcPts val="100"/>
              </a:spcAft>
            </a:pPr>
            <a:r>
              <a:rPr sz="950">
                <a:solidFill>
                  <a:srgbClr val="9CDCFE"/>
                </a:solidFill>
                <a:latin typeface="Consolas"/>
              </a:rPr>
              <a:t># optional dataset-specific HOG box adjustment; evaluate raw and adjusted boxes</a:t>
            </a:r>
          </a:p>
          <a:p>
            <a:pPr>
              <a:spcAft>
                <a:spcPts val="100"/>
              </a:spcAft>
            </a:pPr>
            <a:r>
              <a:rPr sz="950">
                <a:solidFill>
                  <a:srgbClr val="9CDCFE"/>
                </a:solidFill>
                <a:latin typeface="Consolas"/>
              </a:rPr>
              <a:t>x, y, w, h = boxes[0]</a:t>
            </a:r>
          </a:p>
          <a:p>
            <a:pPr>
              <a:spcAft>
                <a:spcPts val="100"/>
              </a:spcAft>
            </a:pPr>
            <a:r>
              <a:rPr sz="950">
                <a:solidFill>
                  <a:srgbClr val="9CDCFE"/>
                </a:solidFill>
                <a:latin typeface="Consolas"/>
              </a:rPr>
              <a:t>pw, ph     = int(0.15 * w), int(0.05 * h)</a:t>
            </a:r>
          </a:p>
          <a:p>
            <a:pPr>
              <a:spcAft>
                <a:spcPts val="100"/>
              </a:spcAft>
            </a:pPr>
            <a:r>
              <a:rPr sz="950">
                <a:solidFill>
                  <a:srgbClr val="9CDCFE"/>
                </a:solidFill>
                <a:latin typeface="Consolas"/>
              </a:rPr>
              <a:t>corrected  = [x + pw, y + ph, w - 2*pw, h - 2*ph]</a:t>
            </a:r>
          </a:p>
        </p:txBody>
      </p:sp>
      <p:sp>
        <p:nvSpPr>
          <p:cNvPr id="9" name="Rectangle 8"/>
          <p:cNvSpPr/>
          <p:nvPr/>
        </p:nvSpPr>
        <p:spPr>
          <a:xfrm>
            <a:off x="7406640" y="1783080"/>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783080"/>
            <a:ext cx="82296" cy="9166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6096" y="1783080"/>
            <a:ext cx="3602736" cy="916686"/>
          </a:xfrm>
          <a:prstGeom prst="rect">
            <a:avLst/>
          </a:prstGeom>
          <a:noFill/>
        </p:spPr>
        <p:txBody>
          <a:bodyPr wrap="square" anchor="ctr">
            <a:spAutoFit/>
          </a:bodyPr>
          <a:lstStyle/>
          <a:p>
            <a:pPr algn="l">
              <a:spcAft>
                <a:spcPts val="200"/>
              </a:spcAft>
            </a:pPr>
            <a:r>
              <a:rPr sz="1300" b="1">
                <a:solidFill>
                  <a:srgbClr val="1F6FEB"/>
                </a:solidFill>
                <a:latin typeface="Arial"/>
              </a:rPr>
              <a:t>Cascade: intensity differences</a:t>
            </a:r>
          </a:p>
          <a:p>
            <a:pPr algn="l">
              <a:spcAft>
                <a:spcPts val="200"/>
              </a:spcAft>
            </a:pPr>
            <a:r>
              <a:rPr sz="1150" b="0">
                <a:solidFill>
                  <a:srgbClr val="161B26"/>
                </a:solidFill>
                <a:latin typeface="Arial"/>
              </a:rPr>
              <a:t>Rectangle sums via an integral image, selected by AdaBoost, applied in stages.</a:t>
            </a:r>
          </a:p>
        </p:txBody>
      </p:sp>
      <p:sp>
        <p:nvSpPr>
          <p:cNvPr id="12" name="Rectangle 11"/>
          <p:cNvSpPr/>
          <p:nvPr/>
        </p:nvSpPr>
        <p:spPr>
          <a:xfrm>
            <a:off x="7406640" y="2864358"/>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2864358"/>
            <a:ext cx="82296" cy="91668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2864358"/>
            <a:ext cx="3602736" cy="916686"/>
          </a:xfrm>
          <a:prstGeom prst="rect">
            <a:avLst/>
          </a:prstGeom>
          <a:noFill/>
        </p:spPr>
        <p:txBody>
          <a:bodyPr wrap="square" anchor="ctr">
            <a:spAutoFit/>
          </a:bodyPr>
          <a:lstStyle/>
          <a:p>
            <a:pPr algn="l">
              <a:spcAft>
                <a:spcPts val="200"/>
              </a:spcAft>
            </a:pPr>
            <a:r>
              <a:rPr sz="1300" b="1">
                <a:solidFill>
                  <a:srgbClr val="10B981"/>
                </a:solidFill>
                <a:latin typeface="Arial"/>
              </a:rPr>
              <a:t>HOG: gradient statistics</a:t>
            </a:r>
          </a:p>
          <a:p>
            <a:pPr algn="l">
              <a:spcAft>
                <a:spcPts val="200"/>
              </a:spcAft>
            </a:pPr>
            <a:r>
              <a:rPr sz="1150" b="0">
                <a:solidFill>
                  <a:srgbClr val="161B26"/>
                </a:solidFill>
                <a:latin typeface="Arial"/>
              </a:rPr>
              <a:t>Cell histograms of oriented gradients, block-normalised, classified by a linear SVM at many scales.</a:t>
            </a:r>
          </a:p>
        </p:txBody>
      </p:sp>
      <p:sp>
        <p:nvSpPr>
          <p:cNvPr id="15" name="Rectangle 14"/>
          <p:cNvSpPr/>
          <p:nvPr/>
        </p:nvSpPr>
        <p:spPr>
          <a:xfrm>
            <a:off x="7406640" y="3945636"/>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3945636"/>
            <a:ext cx="82296" cy="91668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6096" y="3945636"/>
            <a:ext cx="3602736" cy="916686"/>
          </a:xfrm>
          <a:prstGeom prst="rect">
            <a:avLst/>
          </a:prstGeom>
          <a:noFill/>
        </p:spPr>
        <p:txBody>
          <a:bodyPr wrap="square" anchor="ctr">
            <a:spAutoFit/>
          </a:bodyPr>
          <a:lstStyle/>
          <a:p>
            <a:pPr algn="l">
              <a:spcAft>
                <a:spcPts val="200"/>
              </a:spcAft>
            </a:pPr>
            <a:r>
              <a:rPr sz="1300" b="1">
                <a:solidFill>
                  <a:srgbClr val="7C3AED"/>
                </a:solidFill>
                <a:latin typeface="Arial"/>
              </a:rPr>
              <a:t>HOG returns weights</a:t>
            </a:r>
          </a:p>
          <a:p>
            <a:pPr algn="l">
              <a:spcAft>
                <a:spcPts val="200"/>
              </a:spcAft>
            </a:pPr>
            <a:r>
              <a:rPr sz="1150" b="0">
                <a:solidFill>
                  <a:srgbClr val="161B26"/>
                </a:solidFill>
                <a:latin typeface="Arial"/>
              </a:rPr>
              <a:t>Those SVM decision values are what you sweep to build a real precision-recall curve.</a:t>
            </a:r>
          </a:p>
        </p:txBody>
      </p:sp>
      <p:sp>
        <p:nvSpPr>
          <p:cNvPr id="18" name="Rectangle 17"/>
          <p:cNvSpPr/>
          <p:nvPr/>
        </p:nvSpPr>
        <p:spPr>
          <a:xfrm>
            <a:off x="7406640" y="5026914"/>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5026914"/>
            <a:ext cx="82296" cy="91668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5026914"/>
            <a:ext cx="3602736" cy="916686"/>
          </a:xfrm>
          <a:prstGeom prst="rect">
            <a:avLst/>
          </a:prstGeom>
          <a:noFill/>
        </p:spPr>
        <p:txBody>
          <a:bodyPr wrap="square" anchor="ctr">
            <a:spAutoFit/>
          </a:bodyPr>
          <a:lstStyle/>
          <a:p>
            <a:pPr algn="l">
              <a:spcAft>
                <a:spcPts val="200"/>
              </a:spcAft>
            </a:pPr>
            <a:r>
              <a:rPr sz="1300" b="1">
                <a:solidFill>
                  <a:srgbClr val="F59E0B"/>
                </a:solidFill>
                <a:latin typeface="Arial"/>
              </a:rPr>
              <a:t>Declare post-processing</a:t>
            </a:r>
          </a:p>
          <a:p>
            <a:pPr algn="l">
              <a:spcAft>
                <a:spcPts val="200"/>
              </a:spcAft>
            </a:pPr>
            <a:r>
              <a:rPr sz="1150" b="0">
                <a:solidFill>
                  <a:srgbClr val="161B26"/>
                </a:solidFill>
                <a:latin typeface="Arial"/>
              </a:rPr>
              <a:t>This fixture uses15%/5% box shrink. Compare raw and adjusted boxes; it is not universally beneficial.</a:t>
            </a:r>
          </a:p>
        </p:txBody>
      </p:sp>
      <p:sp>
        <p:nvSpPr>
          <p:cNvPr id="21" name="Rectangle 20"/>
          <p:cNvSpPr/>
          <p:nvPr/>
        </p:nvSpPr>
        <p:spPr>
          <a:xfrm>
            <a:off x="777240" y="6053328"/>
            <a:ext cx="10634472" cy="4023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6053328"/>
            <a:ext cx="10241280" cy="402336"/>
          </a:xfrm>
          <a:prstGeom prst="rect">
            <a:avLst/>
          </a:prstGeom>
          <a:noFill/>
        </p:spPr>
        <p:txBody>
          <a:bodyPr wrap="square" anchor="ctr">
            <a:spAutoFit/>
          </a:bodyPr>
          <a:lstStyle/>
          <a:p>
            <a:pPr algn="l">
              <a:spcAft>
                <a:spcPts val="400"/>
              </a:spcAft>
            </a:pPr>
            <a:r>
              <a:rPr sz="1100" b="1">
                <a:solidFill>
                  <a:srgbClr val="127A3E"/>
                </a:solidFill>
                <a:latin typeface="Arial"/>
              </a:rPr>
              <a:t>VERIFY   </a:t>
            </a:r>
            <a:r>
              <a:rPr sz="1200" b="0">
                <a:solidFill>
                  <a:srgbClr val="161B26"/>
                </a:solidFill>
                <a:latin typeface="Arial"/>
              </a:rPr>
              <a:t>Both detectors are evaluated in Lab 08 against exact ground truth that was generated WITH the frames, so every box is exact rather than annotated.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fast">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K9, A5 · IMPLEMENT IT, DO NOT IMPORT 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IoU — the Contract Between a Prediction and the Truth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12263"/>
            <a:ext cx="2996184" cy="457200"/>
          </a:xfrm>
          <a:prstGeom prst="rect">
            <a:avLst/>
          </a:prstGeom>
          <a:noFill/>
        </p:spPr>
        <p:txBody>
          <a:bodyPr wrap="square" anchor="t">
            <a:spAutoFit/>
          </a:bodyPr>
          <a:lstStyle/>
          <a:p>
            <a:pPr algn="l">
              <a:spcAft>
                <a:spcPts val="400"/>
              </a:spcAft>
            </a:pPr>
            <a:r>
              <a:rPr sz="1500" b="1">
                <a:solidFill>
                  <a:srgbClr val="1F6FEB"/>
                </a:solidFill>
                <a:latin typeface="Arial"/>
              </a:rPr>
              <a:t>Definition</a:t>
            </a:r>
          </a:p>
        </p:txBody>
      </p:sp>
      <p:sp>
        <p:nvSpPr>
          <p:cNvPr id="10" name="Rectangle 9"/>
          <p:cNvSpPr/>
          <p:nvPr/>
        </p:nvSpPr>
        <p:spPr>
          <a:xfrm>
            <a:off x="960120" y="2715767"/>
            <a:ext cx="2996184" cy="14081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15767"/>
            <a:ext cx="2813304" cy="1408176"/>
          </a:xfrm>
          <a:prstGeom prst="rect">
            <a:avLst/>
          </a:prstGeom>
          <a:noFill/>
        </p:spPr>
        <p:txBody>
          <a:bodyPr wrap="none" lIns="0" rIns="0" tIns="0" bIns="0" anchor="ctr">
            <a:noAutofit/>
          </a:bodyPr>
          <a:lstStyle/>
          <a:p>
            <a:pPr>
              <a:spcAft>
                <a:spcPts val="100"/>
              </a:spcAft>
            </a:pPr>
            <a:r>
              <a:rPr sz="1400">
                <a:solidFill>
                  <a:srgbClr val="9CDCFE"/>
                </a:solidFill>
                <a:latin typeface="Consolas"/>
              </a:rPr>
              <a:t>IoU = area(A ∩ B)</a:t>
            </a:r>
          </a:p>
          <a:p>
            <a:pPr>
              <a:spcAft>
                <a:spcPts val="100"/>
              </a:spcAft>
            </a:pPr>
            <a:r>
              <a:rPr sz="1400">
                <a:solidFill>
                  <a:srgbClr val="9CDCFE"/>
                </a:solidFill>
                <a:latin typeface="Consolas"/>
              </a:rPr>
              <a:t>      ─────────────</a:t>
            </a:r>
          </a:p>
          <a:p>
            <a:pPr>
              <a:spcAft>
                <a:spcPts val="100"/>
              </a:spcAft>
            </a:pPr>
            <a:r>
              <a:rPr sz="1400">
                <a:solidFill>
                  <a:srgbClr val="9CDCFE"/>
                </a:solidFill>
                <a:latin typeface="Consolas"/>
              </a:rPr>
              <a:t>      area(A ∪ B)</a:t>
            </a:r>
          </a:p>
        </p:txBody>
      </p:sp>
      <p:sp>
        <p:nvSpPr>
          <p:cNvPr id="12" name="TextBox 11"/>
          <p:cNvSpPr txBox="1"/>
          <p:nvPr/>
        </p:nvSpPr>
        <p:spPr>
          <a:xfrm>
            <a:off x="960120" y="4233671"/>
            <a:ext cx="2996184" cy="1124712"/>
          </a:xfrm>
          <a:prstGeom prst="rect">
            <a:avLst/>
          </a:prstGeom>
          <a:noFill/>
        </p:spPr>
        <p:txBody>
          <a:bodyPr wrap="square" anchor="t">
            <a:spAutoFit/>
          </a:bodyPr>
          <a:lstStyle/>
          <a:p>
            <a:pPr algn="l">
              <a:spcAft>
                <a:spcPts val="400"/>
              </a:spcAft>
            </a:pPr>
            <a:r>
              <a:rPr sz="1200" b="0">
                <a:solidFill>
                  <a:srgbClr val="5B6372"/>
                </a:solidFill>
                <a:latin typeface="Arial"/>
              </a:rPr>
              <a:t>Intersection over union. 1.0 is a perfect box; 0.0 is no overlap at all. Everything in detection evaluation hangs off this one ratio.</a:t>
            </a:r>
          </a:p>
        </p:txBody>
      </p:sp>
      <p:sp>
        <p:nvSpPr>
          <p:cNvPr id="13" name="Rectangle 12"/>
          <p:cNvSpPr/>
          <p:nvPr/>
        </p:nvSpPr>
        <p:spPr>
          <a:xfrm>
            <a:off x="4413504"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6384" y="2112263"/>
            <a:ext cx="2996184" cy="457200"/>
          </a:xfrm>
          <a:prstGeom prst="rect">
            <a:avLst/>
          </a:prstGeom>
          <a:noFill/>
        </p:spPr>
        <p:txBody>
          <a:bodyPr wrap="square" anchor="t">
            <a:spAutoFit/>
          </a:bodyPr>
          <a:lstStyle/>
          <a:p>
            <a:pPr algn="l">
              <a:spcAft>
                <a:spcPts val="400"/>
              </a:spcAft>
            </a:pPr>
            <a:r>
              <a:rPr sz="1500" b="1">
                <a:solidFill>
                  <a:srgbClr val="10B981"/>
                </a:solidFill>
                <a:latin typeface="Arial"/>
              </a:rPr>
              <a:t>Worked by hand</a:t>
            </a:r>
          </a:p>
        </p:txBody>
      </p:sp>
      <p:sp>
        <p:nvSpPr>
          <p:cNvPr id="16" name="Rectangle 15"/>
          <p:cNvSpPr/>
          <p:nvPr/>
        </p:nvSpPr>
        <p:spPr>
          <a:xfrm>
            <a:off x="4596384" y="2715767"/>
            <a:ext cx="2996184" cy="17373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7824" y="2715767"/>
            <a:ext cx="2813304" cy="1737360"/>
          </a:xfrm>
          <a:prstGeom prst="rect">
            <a:avLst/>
          </a:prstGeom>
          <a:noFill/>
        </p:spPr>
        <p:txBody>
          <a:bodyPr wrap="none" lIns="0" rIns="0" tIns="0" bIns="0" anchor="ctr">
            <a:noAutofit/>
          </a:bodyPr>
          <a:lstStyle/>
          <a:p>
            <a:pPr>
              <a:spcAft>
                <a:spcPts val="100"/>
              </a:spcAft>
            </a:pPr>
            <a:r>
              <a:rPr sz="1400">
                <a:solidFill>
                  <a:srgbClr val="9CDCFE"/>
                </a:solidFill>
                <a:latin typeface="Consolas"/>
              </a:rPr>
              <a:t>A=[0,0,100,100]</a:t>
            </a:r>
          </a:p>
          <a:p>
            <a:pPr>
              <a:spcAft>
                <a:spcPts val="100"/>
              </a:spcAft>
            </a:pPr>
            <a:r>
              <a:rPr sz="1400">
                <a:solidFill>
                  <a:srgbClr val="9CDCFE"/>
                </a:solidFill>
                <a:latin typeface="Consolas"/>
              </a:rPr>
              <a:t>B=[50,0,100,100]</a:t>
            </a:r>
          </a:p>
          <a:p>
            <a:pPr>
              <a:spcAft>
                <a:spcPts val="100"/>
              </a:spcAft>
            </a:pPr>
            <a:r>
              <a:rPr sz="1400">
                <a:solidFill>
                  <a:srgbClr val="9CDCFE"/>
                </a:solidFill>
                <a:latin typeface="Consolas"/>
              </a:rPr>
              <a:t>∩ = 50×100 = 5000</a:t>
            </a:r>
          </a:p>
          <a:p>
            <a:pPr>
              <a:spcAft>
                <a:spcPts val="100"/>
              </a:spcAft>
            </a:pPr>
            <a:r>
              <a:rPr sz="1400">
                <a:solidFill>
                  <a:srgbClr val="9CDCFE"/>
                </a:solidFill>
                <a:latin typeface="Consolas"/>
              </a:rPr>
              <a:t>∪ = 20000−5000</a:t>
            </a:r>
          </a:p>
          <a:p>
            <a:pPr>
              <a:spcAft>
                <a:spcPts val="100"/>
              </a:spcAft>
            </a:pPr>
            <a:r>
              <a:rPr sz="1400">
                <a:solidFill>
                  <a:srgbClr val="9CDCFE"/>
                </a:solidFill>
                <a:latin typeface="Consolas"/>
              </a:rPr>
              <a:t>  = 15000</a:t>
            </a:r>
          </a:p>
          <a:p>
            <a:pPr>
              <a:spcAft>
                <a:spcPts val="100"/>
              </a:spcAft>
            </a:pPr>
            <a:r>
              <a:rPr sz="1400">
                <a:solidFill>
                  <a:srgbClr val="9CDCFE"/>
                </a:solidFill>
                <a:latin typeface="Consolas"/>
              </a:rPr>
              <a:t>IoU = 0.333</a:t>
            </a:r>
          </a:p>
        </p:txBody>
      </p:sp>
      <p:sp>
        <p:nvSpPr>
          <p:cNvPr id="18" name="TextBox 17"/>
          <p:cNvSpPr txBox="1"/>
          <p:nvPr/>
        </p:nvSpPr>
        <p:spPr>
          <a:xfrm>
            <a:off x="4596384" y="4562855"/>
            <a:ext cx="2996184" cy="795528"/>
          </a:xfrm>
          <a:prstGeom prst="rect">
            <a:avLst/>
          </a:prstGeom>
          <a:noFill/>
        </p:spPr>
        <p:txBody>
          <a:bodyPr wrap="square" anchor="t">
            <a:spAutoFit/>
          </a:bodyPr>
          <a:lstStyle/>
          <a:p>
            <a:pPr algn="l">
              <a:spcAft>
                <a:spcPts val="400"/>
              </a:spcAft>
            </a:pPr>
            <a:r>
              <a:rPr sz="1200" b="0">
                <a:solidFill>
                  <a:srgbClr val="5B6372"/>
                </a:solidFill>
                <a:latin typeface="Arial"/>
              </a:rPr>
              <a:t>Two boxes overlapping on half their width. Compute it once by hand — Lab 08's script asserts exactly this value as a self-test before it evaluates anything.</a:t>
            </a:r>
          </a:p>
        </p:txBody>
      </p:sp>
      <p:sp>
        <p:nvSpPr>
          <p:cNvPr id="19" name="Rectangle 18"/>
          <p:cNvSpPr/>
          <p:nvPr/>
        </p:nvSpPr>
        <p:spPr>
          <a:xfrm>
            <a:off x="8049768"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2648" y="2112263"/>
            <a:ext cx="2996184" cy="457200"/>
          </a:xfrm>
          <a:prstGeom prst="rect">
            <a:avLst/>
          </a:prstGeom>
          <a:noFill/>
        </p:spPr>
        <p:txBody>
          <a:bodyPr wrap="square" anchor="t">
            <a:spAutoFit/>
          </a:bodyPr>
          <a:lstStyle/>
          <a:p>
            <a:pPr algn="l">
              <a:spcAft>
                <a:spcPts val="400"/>
              </a:spcAft>
            </a:pPr>
            <a:r>
              <a:rPr sz="1500" b="1">
                <a:solidFill>
                  <a:srgbClr val="7C3AED"/>
                </a:solidFill>
                <a:latin typeface="Arial"/>
              </a:rPr>
              <a:t>The matching rule</a:t>
            </a:r>
          </a:p>
        </p:txBody>
      </p:sp>
      <p:sp>
        <p:nvSpPr>
          <p:cNvPr id="22" name="Rectangle 21"/>
          <p:cNvSpPr/>
          <p:nvPr/>
        </p:nvSpPr>
        <p:spPr>
          <a:xfrm>
            <a:off x="8232648" y="2715767"/>
            <a:ext cx="2996184" cy="17373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4088" y="2715767"/>
            <a:ext cx="2813304" cy="1737360"/>
          </a:xfrm>
          <a:prstGeom prst="rect">
            <a:avLst/>
          </a:prstGeom>
          <a:noFill/>
        </p:spPr>
        <p:txBody>
          <a:bodyPr wrap="none" lIns="0" rIns="0" tIns="0" bIns="0" anchor="ctr">
            <a:noAutofit/>
          </a:bodyPr>
          <a:lstStyle/>
          <a:p>
            <a:pPr>
              <a:spcAft>
                <a:spcPts val="100"/>
              </a:spcAft>
            </a:pPr>
            <a:r>
              <a:rPr sz="1400">
                <a:solidFill>
                  <a:srgbClr val="9CDCFE"/>
                </a:solidFill>
                <a:latin typeface="Consolas"/>
              </a:rPr>
              <a:t>greedy, by score</a:t>
            </a:r>
          </a:p>
          <a:p>
            <a:pPr>
              <a:spcAft>
                <a:spcPts val="100"/>
              </a:spcAft>
            </a:pPr>
            <a:r>
              <a:rPr sz="1400">
                <a:solidFill>
                  <a:srgbClr val="9CDCFE"/>
                </a:solidFill>
                <a:latin typeface="Consolas"/>
              </a:rPr>
              <a:t>same class only</a:t>
            </a:r>
          </a:p>
          <a:p>
            <a:pPr>
              <a:spcAft>
                <a:spcPts val="100"/>
              </a:spcAft>
            </a:pPr>
            <a:r>
              <a:rPr sz="1400">
                <a:solidFill>
                  <a:srgbClr val="9CDCFE"/>
                </a:solidFill>
                <a:latin typeface="Consolas"/>
              </a:rPr>
              <a:t>each truth box</a:t>
            </a:r>
          </a:p>
          <a:p>
            <a:pPr>
              <a:spcAft>
                <a:spcPts val="100"/>
              </a:spcAft>
            </a:pPr>
            <a:r>
              <a:rPr sz="1400">
                <a:solidFill>
                  <a:srgbClr val="9CDCFE"/>
                </a:solidFill>
                <a:latin typeface="Consolas"/>
              </a:rPr>
              <a:t>used at most ONCE</a:t>
            </a:r>
          </a:p>
        </p:txBody>
      </p:sp>
      <p:sp>
        <p:nvSpPr>
          <p:cNvPr id="24" name="TextBox 23"/>
          <p:cNvSpPr txBox="1"/>
          <p:nvPr/>
        </p:nvSpPr>
        <p:spPr>
          <a:xfrm>
            <a:off x="8232648" y="4562855"/>
            <a:ext cx="2996184" cy="795528"/>
          </a:xfrm>
          <a:prstGeom prst="rect">
            <a:avLst/>
          </a:prstGeom>
          <a:noFill/>
        </p:spPr>
        <p:txBody>
          <a:bodyPr wrap="square" anchor="t">
            <a:spAutoFit/>
          </a:bodyPr>
          <a:lstStyle/>
          <a:p>
            <a:pPr algn="l">
              <a:spcAft>
                <a:spcPts val="400"/>
              </a:spcAft>
            </a:pPr>
            <a:r>
              <a:rPr sz="1200" b="0">
                <a:solidFill>
                  <a:srgbClr val="5B6372"/>
                </a:solidFill>
                <a:latin typeface="Arial"/>
              </a:rPr>
              <a:t>That last clause is what stops a detector scoring well by emitting the same box ten times.</a:t>
            </a:r>
          </a:p>
        </p:txBody>
      </p:sp>
      <p:sp>
        <p:nvSpPr>
          <p:cNvPr id="25" name="TextBox 2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A prediction that matches an unused ground-truth box above the threshold is a true positive; an unmatched prediction is a false positive; an unmatched ground-truth box is a false negative.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fast">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K9, A5 · WRITE THE THREE FORMULAS, NOT JUST THE NUMBERS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Precision, Recall and F1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12263"/>
            <a:ext cx="2996184" cy="457200"/>
          </a:xfrm>
          <a:prstGeom prst="rect">
            <a:avLst/>
          </a:prstGeom>
          <a:noFill/>
        </p:spPr>
        <p:txBody>
          <a:bodyPr wrap="square" anchor="t">
            <a:spAutoFit/>
          </a:bodyPr>
          <a:lstStyle/>
          <a:p>
            <a:pPr algn="l">
              <a:spcAft>
                <a:spcPts val="400"/>
              </a:spcAft>
            </a:pPr>
            <a:r>
              <a:rPr sz="1500" b="1">
                <a:solidFill>
                  <a:srgbClr val="1F6FEB"/>
                </a:solidFill>
                <a:latin typeface="Arial"/>
              </a:rPr>
              <a:t>Precision</a:t>
            </a:r>
          </a:p>
        </p:txBody>
      </p:sp>
      <p:sp>
        <p:nvSpPr>
          <p:cNvPr id="10" name="Rectangle 9"/>
          <p:cNvSpPr/>
          <p:nvPr/>
        </p:nvSpPr>
        <p:spPr>
          <a:xfrm>
            <a:off x="960120" y="2715767"/>
            <a:ext cx="2996184" cy="14081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15767"/>
            <a:ext cx="2813304" cy="1408176"/>
          </a:xfrm>
          <a:prstGeom prst="rect">
            <a:avLst/>
          </a:prstGeom>
          <a:noFill/>
        </p:spPr>
        <p:txBody>
          <a:bodyPr wrap="none" lIns="0" rIns="0" tIns="0" bIns="0" anchor="ctr">
            <a:noAutofit/>
          </a:bodyPr>
          <a:lstStyle/>
          <a:p>
            <a:pPr>
              <a:spcAft>
                <a:spcPts val="100"/>
              </a:spcAft>
            </a:pPr>
            <a:r>
              <a:rPr sz="1400">
                <a:solidFill>
                  <a:srgbClr val="9CDCFE"/>
                </a:solidFill>
                <a:latin typeface="Consolas"/>
              </a:rPr>
              <a:t>TP</a:t>
            </a:r>
          </a:p>
          <a:p>
            <a:pPr>
              <a:spcAft>
                <a:spcPts val="100"/>
              </a:spcAft>
            </a:pPr>
            <a:r>
              <a:rPr sz="1400">
                <a:solidFill>
                  <a:srgbClr val="9CDCFE"/>
                </a:solidFill>
                <a:latin typeface="Consolas"/>
              </a:rPr>
              <a:t>────────</a:t>
            </a:r>
          </a:p>
          <a:p>
            <a:pPr>
              <a:spcAft>
                <a:spcPts val="100"/>
              </a:spcAft>
            </a:pPr>
            <a:r>
              <a:rPr sz="1400">
                <a:solidFill>
                  <a:srgbClr val="9CDCFE"/>
                </a:solidFill>
                <a:latin typeface="Consolas"/>
              </a:rPr>
              <a:t>TP + FP</a:t>
            </a:r>
          </a:p>
        </p:txBody>
      </p:sp>
      <p:sp>
        <p:nvSpPr>
          <p:cNvPr id="12" name="TextBox 11"/>
          <p:cNvSpPr txBox="1"/>
          <p:nvPr/>
        </p:nvSpPr>
        <p:spPr>
          <a:xfrm>
            <a:off x="960120" y="4233671"/>
            <a:ext cx="2996184" cy="1124712"/>
          </a:xfrm>
          <a:prstGeom prst="rect">
            <a:avLst/>
          </a:prstGeom>
          <a:noFill/>
        </p:spPr>
        <p:txBody>
          <a:bodyPr wrap="square" anchor="t">
            <a:spAutoFit/>
          </a:bodyPr>
          <a:lstStyle/>
          <a:p>
            <a:pPr algn="l">
              <a:spcAft>
                <a:spcPts val="400"/>
              </a:spcAft>
            </a:pPr>
            <a:r>
              <a:rPr sz="1200" b="0">
                <a:solidFill>
                  <a:srgbClr val="5B6372"/>
                </a:solidFill>
                <a:latin typeface="Arial"/>
              </a:rPr>
              <a:t>Of everything the detector flagged, what fraction was real? Low precision means a reviewer wades through noise.</a:t>
            </a:r>
          </a:p>
        </p:txBody>
      </p:sp>
      <p:sp>
        <p:nvSpPr>
          <p:cNvPr id="13" name="Rectangle 12"/>
          <p:cNvSpPr/>
          <p:nvPr/>
        </p:nvSpPr>
        <p:spPr>
          <a:xfrm>
            <a:off x="4413504"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6384" y="2112263"/>
            <a:ext cx="2996184" cy="457200"/>
          </a:xfrm>
          <a:prstGeom prst="rect">
            <a:avLst/>
          </a:prstGeom>
          <a:noFill/>
        </p:spPr>
        <p:txBody>
          <a:bodyPr wrap="square" anchor="t">
            <a:spAutoFit/>
          </a:bodyPr>
          <a:lstStyle/>
          <a:p>
            <a:pPr algn="l">
              <a:spcAft>
                <a:spcPts val="400"/>
              </a:spcAft>
            </a:pPr>
            <a:r>
              <a:rPr sz="1500" b="1">
                <a:solidFill>
                  <a:srgbClr val="10B981"/>
                </a:solidFill>
                <a:latin typeface="Arial"/>
              </a:rPr>
              <a:t>Recall</a:t>
            </a:r>
          </a:p>
        </p:txBody>
      </p:sp>
      <p:sp>
        <p:nvSpPr>
          <p:cNvPr id="16" name="Rectangle 15"/>
          <p:cNvSpPr/>
          <p:nvPr/>
        </p:nvSpPr>
        <p:spPr>
          <a:xfrm>
            <a:off x="4596384" y="2715767"/>
            <a:ext cx="2996184" cy="14081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7824" y="2715767"/>
            <a:ext cx="2813304" cy="1408176"/>
          </a:xfrm>
          <a:prstGeom prst="rect">
            <a:avLst/>
          </a:prstGeom>
          <a:noFill/>
        </p:spPr>
        <p:txBody>
          <a:bodyPr wrap="none" lIns="0" rIns="0" tIns="0" bIns="0" anchor="ctr">
            <a:noAutofit/>
          </a:bodyPr>
          <a:lstStyle/>
          <a:p>
            <a:pPr>
              <a:spcAft>
                <a:spcPts val="100"/>
              </a:spcAft>
            </a:pPr>
            <a:r>
              <a:rPr sz="1400">
                <a:solidFill>
                  <a:srgbClr val="9CDCFE"/>
                </a:solidFill>
                <a:latin typeface="Consolas"/>
              </a:rPr>
              <a:t>TP</a:t>
            </a:r>
          </a:p>
          <a:p>
            <a:pPr>
              <a:spcAft>
                <a:spcPts val="100"/>
              </a:spcAft>
            </a:pPr>
            <a:r>
              <a:rPr sz="1400">
                <a:solidFill>
                  <a:srgbClr val="9CDCFE"/>
                </a:solidFill>
                <a:latin typeface="Consolas"/>
              </a:rPr>
              <a:t>────────</a:t>
            </a:r>
          </a:p>
          <a:p>
            <a:pPr>
              <a:spcAft>
                <a:spcPts val="100"/>
              </a:spcAft>
            </a:pPr>
            <a:r>
              <a:rPr sz="1400">
                <a:solidFill>
                  <a:srgbClr val="9CDCFE"/>
                </a:solidFill>
                <a:latin typeface="Consolas"/>
              </a:rPr>
              <a:t>TP + FN</a:t>
            </a:r>
          </a:p>
        </p:txBody>
      </p:sp>
      <p:sp>
        <p:nvSpPr>
          <p:cNvPr id="18" name="TextBox 17"/>
          <p:cNvSpPr txBox="1"/>
          <p:nvPr/>
        </p:nvSpPr>
        <p:spPr>
          <a:xfrm>
            <a:off x="4596384" y="4233671"/>
            <a:ext cx="2996184" cy="1124712"/>
          </a:xfrm>
          <a:prstGeom prst="rect">
            <a:avLst/>
          </a:prstGeom>
          <a:noFill/>
        </p:spPr>
        <p:txBody>
          <a:bodyPr wrap="square" anchor="t">
            <a:spAutoFit/>
          </a:bodyPr>
          <a:lstStyle/>
          <a:p>
            <a:pPr algn="l">
              <a:spcAft>
                <a:spcPts val="400"/>
              </a:spcAft>
            </a:pPr>
            <a:r>
              <a:rPr sz="1200" b="0">
                <a:solidFill>
                  <a:srgbClr val="5B6372"/>
                </a:solidFill>
                <a:latin typeface="Arial"/>
              </a:rPr>
              <a:t>Of everything that was really there, what fraction did the detector find? Low recall means things never reach a human at all.</a:t>
            </a:r>
          </a:p>
        </p:txBody>
      </p:sp>
      <p:sp>
        <p:nvSpPr>
          <p:cNvPr id="19" name="Rectangle 18"/>
          <p:cNvSpPr/>
          <p:nvPr/>
        </p:nvSpPr>
        <p:spPr>
          <a:xfrm>
            <a:off x="8049768"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2648" y="2112263"/>
            <a:ext cx="2996184" cy="457200"/>
          </a:xfrm>
          <a:prstGeom prst="rect">
            <a:avLst/>
          </a:prstGeom>
          <a:noFill/>
        </p:spPr>
        <p:txBody>
          <a:bodyPr wrap="square" anchor="t">
            <a:spAutoFit/>
          </a:bodyPr>
          <a:lstStyle/>
          <a:p>
            <a:pPr algn="l">
              <a:spcAft>
                <a:spcPts val="400"/>
              </a:spcAft>
            </a:pPr>
            <a:r>
              <a:rPr sz="1500" b="1">
                <a:solidFill>
                  <a:srgbClr val="7C3AED"/>
                </a:solidFill>
                <a:latin typeface="Arial"/>
              </a:rPr>
              <a:t>F1</a:t>
            </a:r>
          </a:p>
        </p:txBody>
      </p:sp>
      <p:sp>
        <p:nvSpPr>
          <p:cNvPr id="22" name="Rectangle 21"/>
          <p:cNvSpPr/>
          <p:nvPr/>
        </p:nvSpPr>
        <p:spPr>
          <a:xfrm>
            <a:off x="8232648" y="2715767"/>
            <a:ext cx="2996184" cy="14081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4088" y="2715767"/>
            <a:ext cx="2813304" cy="1408176"/>
          </a:xfrm>
          <a:prstGeom prst="rect">
            <a:avLst/>
          </a:prstGeom>
          <a:noFill/>
        </p:spPr>
        <p:txBody>
          <a:bodyPr wrap="none" lIns="0" rIns="0" tIns="0" bIns="0" anchor="ctr">
            <a:noAutofit/>
          </a:bodyPr>
          <a:lstStyle/>
          <a:p>
            <a:pPr>
              <a:spcAft>
                <a:spcPts val="100"/>
              </a:spcAft>
            </a:pPr>
            <a:r>
              <a:rPr sz="1400">
                <a:solidFill>
                  <a:srgbClr val="9CDCFE"/>
                </a:solidFill>
                <a:latin typeface="Consolas"/>
              </a:rPr>
              <a:t>2 · P · R</a:t>
            </a:r>
          </a:p>
          <a:p>
            <a:pPr>
              <a:spcAft>
                <a:spcPts val="100"/>
              </a:spcAft>
            </a:pPr>
            <a:r>
              <a:rPr sz="1400">
                <a:solidFill>
                  <a:srgbClr val="9CDCFE"/>
                </a:solidFill>
                <a:latin typeface="Consolas"/>
              </a:rPr>
              <a:t>──────────</a:t>
            </a:r>
          </a:p>
          <a:p>
            <a:pPr>
              <a:spcAft>
                <a:spcPts val="100"/>
              </a:spcAft>
            </a:pPr>
            <a:r>
              <a:rPr sz="1400">
                <a:solidFill>
                  <a:srgbClr val="9CDCFE"/>
                </a:solidFill>
                <a:latin typeface="Consolas"/>
              </a:rPr>
              <a:t> P + R</a:t>
            </a:r>
          </a:p>
        </p:txBody>
      </p:sp>
      <p:sp>
        <p:nvSpPr>
          <p:cNvPr id="24" name="TextBox 23"/>
          <p:cNvSpPr txBox="1"/>
          <p:nvPr/>
        </p:nvSpPr>
        <p:spPr>
          <a:xfrm>
            <a:off x="8232648" y="4233671"/>
            <a:ext cx="2996184" cy="1124712"/>
          </a:xfrm>
          <a:prstGeom prst="rect">
            <a:avLst/>
          </a:prstGeom>
          <a:noFill/>
        </p:spPr>
        <p:txBody>
          <a:bodyPr wrap="square" anchor="t">
            <a:spAutoFit/>
          </a:bodyPr>
          <a:lstStyle/>
          <a:p>
            <a:pPr algn="l">
              <a:spcAft>
                <a:spcPts val="400"/>
              </a:spcAft>
            </a:pPr>
            <a:r>
              <a:rPr sz="1200" b="0">
                <a:solidFill>
                  <a:srgbClr val="5B6372"/>
                </a:solidFill>
                <a:latin typeface="Arial"/>
              </a:rPr>
              <a:t>The harmonic mean. Useful as a single summary, and misleading as an objective — the cost of a false positive and a false negative are rarely equal.</a:t>
            </a:r>
          </a:p>
        </p:txBody>
      </p:sp>
      <p:sp>
        <p:nvSpPr>
          <p:cNvPr id="25" name="TextBox 2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Where the denominator is zero, report 0.0 AND say it is a zero-denominator case rather than a measured score. A silent 0.0 reads as a result.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fast">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K9, A5 · LAB 08 · 12 FRAMES, 18 FACE BOXES, 16 PERSON BOXES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Measured — Both Detectors Across Three IoU Thresholds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Both are strong at 0.5</a:t>
            </a:r>
          </a:p>
          <a:p>
            <a:pPr algn="l">
              <a:spcAft>
                <a:spcPts val="200"/>
              </a:spcAft>
            </a:pPr>
            <a:r>
              <a:rPr sz="1100" b="0">
                <a:solidFill>
                  <a:srgbClr val="161B26"/>
                </a:solidFill>
                <a:latin typeface="Arial"/>
              </a:rPr>
              <a:t>Cascade P=1.00 R=0.89; HOG P=R=0.94. On this easy, synthetic distribution.</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HOG collapses at 0.7</a:t>
            </a:r>
          </a:p>
          <a:p>
            <a:pPr algn="l">
              <a:spcAft>
                <a:spcPts val="200"/>
              </a:spcAft>
            </a:pPr>
            <a:r>
              <a:rPr sz="1100" b="0">
                <a:solidFill>
                  <a:srgbClr val="161B26"/>
                </a:solidFill>
                <a:latin typeface="Arial"/>
              </a:rPr>
              <a:t>Precision and recall both hit zero. Its boxes are correct in POSITION but not tight enough in EXTENT.</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That is a localisation finding</a:t>
            </a:r>
          </a:p>
          <a:p>
            <a:pPr algn="l">
              <a:spcAft>
                <a:spcPts val="200"/>
              </a:spcAft>
            </a:pPr>
            <a:r>
              <a:rPr sz="1100" b="0">
                <a:solidFill>
                  <a:srgbClr val="161B26"/>
                </a:solidFill>
                <a:latin typeface="Arial"/>
              </a:rPr>
              <a:t>It is not 'HOG is bad'. It is 'HOG's localisation does not meet a 0.7 contract'.</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Choose the threshold first</a:t>
            </a:r>
          </a:p>
          <a:p>
            <a:pPr algn="l">
              <a:spcAft>
                <a:spcPts val="200"/>
              </a:spcAft>
            </a:pPr>
            <a:r>
              <a:rPr sz="1100" b="0">
                <a:solidFill>
                  <a:srgbClr val="161B26"/>
                </a:solidFill>
                <a:latin typeface="Arial"/>
              </a:rPr>
              <a:t>A review queue can live with 0.3. An auto-crop pipeline cannot.</a:t>
            </a:r>
          </a:p>
        </p:txBody>
      </p:sp>
      <p:sp>
        <p:nvSpPr>
          <p:cNvPr id="20" name="Rectangle 19"/>
          <p:cNvSpPr/>
          <p:nvPr/>
        </p:nvSpPr>
        <p:spPr>
          <a:xfrm>
            <a:off x="777240" y="5925312"/>
            <a:ext cx="1417320"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MEASURED</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Measured in Lab 08 with opencv-python 4.13 on the 12 supplied SYNTHETIC frames, whose ground truth was generated with the frames. These numbers describe the detectors on THIS distribution and do not transfer to photographic data.</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fast">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A5 · THE SAME DETECTOR, TWO DIFFERENT SETTINGS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Choosing an Operating Point — the Cost Asymmetry Decides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0B981"/>
                </a:solidFill>
                <a:latin typeface="Arial"/>
              </a:rPr>
              <a:t>Recall-weighted</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DC2626"/>
                </a:solidFill>
                <a:latin typeface="Arial"/>
              </a:rPr>
              <a:t>Precision-weighted</a:t>
            </a:r>
          </a:p>
        </p:txBody>
      </p:sp>
      <p:sp>
        <p:nvSpPr>
          <p:cNvPr id="13" name="TextBox 12"/>
          <p:cNvSpPr txBox="1"/>
          <p:nvPr/>
        </p:nvSpPr>
        <p:spPr>
          <a:xfrm>
            <a:off x="1005840" y="2423160"/>
            <a:ext cx="4754880" cy="3017520"/>
          </a:xfrm>
          <a:prstGeom prst="rect">
            <a:avLst/>
          </a:prstGeom>
          <a:noFill/>
        </p:spPr>
        <p:txBody>
          <a:bodyPr wrap="square">
            <a:spAutoFit/>
          </a:bodyPr>
          <a:lstStyle/>
          <a:p>
            <a:pPr>
              <a:spcAft>
                <a:spcPts val="800"/>
              </a:spcAft>
            </a:pPr>
            <a:r>
              <a:rPr sz="1300" b="1">
                <a:solidFill>
                  <a:srgbClr val="161B26"/>
                </a:solidFill>
                <a:latin typeface="Arial"/>
              </a:rPr>
              <a:t>•  Human review queue</a:t>
            </a:r>
          </a:p>
          <a:p>
            <a:pPr>
              <a:spcAft>
                <a:spcPts val="800"/>
              </a:spcAft>
            </a:pPr>
            <a:r>
              <a:rPr sz="1100" b="0">
                <a:solidFill>
                  <a:srgbClr val="5B6372"/>
                </a:solidFill>
                <a:latin typeface="Arial"/>
              </a:rPr>
              <a:t>–  Rule: maximise recall subject to precision ≥ 0.60.</a:t>
            </a:r>
          </a:p>
          <a:p>
            <a:pPr>
              <a:spcAft>
                <a:spcPts val="800"/>
              </a:spcAft>
            </a:pPr>
            <a:r>
              <a:rPr sz="1100" b="0">
                <a:solidFill>
                  <a:srgbClr val="5B6372"/>
                </a:solidFill>
                <a:latin typeface="Arial"/>
              </a:rPr>
              <a:t>–  A false positive costs one reviewer glance.</a:t>
            </a:r>
          </a:p>
          <a:p>
            <a:pPr>
              <a:spcAft>
                <a:spcPts val="800"/>
              </a:spcAft>
            </a:pPr>
            <a:r>
              <a:rPr sz="1100" b="0">
                <a:solidFill>
                  <a:srgbClr val="5B6372"/>
                </a:solidFill>
                <a:latin typeface="Arial"/>
              </a:rPr>
              <a:t>–  A false negative never reaches a human at all.</a:t>
            </a:r>
          </a:p>
          <a:p>
            <a:pPr>
              <a:spcAft>
                <a:spcPts val="800"/>
              </a:spcAft>
            </a:pPr>
            <a:r>
              <a:rPr sz="1100" b="0">
                <a:solidFill>
                  <a:srgbClr val="5B6372"/>
                </a:solidFill>
                <a:latin typeface="Arial"/>
              </a:rPr>
              <a:t>–  So you tolerate noise to avoid misses.</a:t>
            </a:r>
          </a:p>
          <a:p>
            <a:pPr>
              <a:spcAft>
                <a:spcPts val="800"/>
              </a:spcAft>
            </a:pPr>
            <a:r>
              <a:rPr sz="1100" b="0">
                <a:solidFill>
                  <a:srgbClr val="5B6372"/>
                </a:solidFill>
                <a:latin typeface="Arial"/>
              </a:rPr>
              <a:t>–  Lower minNeighbors; lower the SVM weight threshold.</a:t>
            </a:r>
          </a:p>
        </p:txBody>
      </p:sp>
      <p:sp>
        <p:nvSpPr>
          <p:cNvPr id="14" name="TextBox 13"/>
          <p:cNvSpPr txBox="1"/>
          <p:nvPr/>
        </p:nvSpPr>
        <p:spPr>
          <a:xfrm>
            <a:off x="6583680" y="2423160"/>
            <a:ext cx="4617720" cy="3017520"/>
          </a:xfrm>
          <a:prstGeom prst="rect">
            <a:avLst/>
          </a:prstGeom>
          <a:noFill/>
        </p:spPr>
        <p:txBody>
          <a:bodyPr wrap="square">
            <a:spAutoFit/>
          </a:bodyPr>
          <a:lstStyle/>
          <a:p>
            <a:pPr>
              <a:spcAft>
                <a:spcPts val="800"/>
              </a:spcAft>
            </a:pPr>
            <a:r>
              <a:rPr sz="1300" b="1">
                <a:solidFill>
                  <a:srgbClr val="161B26"/>
                </a:solidFill>
                <a:latin typeface="Arial"/>
              </a:rPr>
              <a:t>•  Auto-publish pipeline</a:t>
            </a:r>
          </a:p>
          <a:p>
            <a:pPr>
              <a:spcAft>
                <a:spcPts val="800"/>
              </a:spcAft>
            </a:pPr>
            <a:r>
              <a:rPr sz="1100" b="0">
                <a:solidFill>
                  <a:srgbClr val="5B6372"/>
                </a:solidFill>
                <a:latin typeface="Arial"/>
              </a:rPr>
              <a:t>–  Rule: maximise precision subject to recall ≥ 0.40.</a:t>
            </a:r>
          </a:p>
          <a:p>
            <a:pPr>
              <a:spcAft>
                <a:spcPts val="800"/>
              </a:spcAft>
            </a:pPr>
            <a:r>
              <a:rPr sz="1100" b="0">
                <a:solidFill>
                  <a:srgbClr val="5B6372"/>
                </a:solidFill>
                <a:latin typeface="Arial"/>
              </a:rPr>
              <a:t>–  A false positive reaches a customer.</a:t>
            </a:r>
          </a:p>
          <a:p>
            <a:pPr>
              <a:spcAft>
                <a:spcPts val="800"/>
              </a:spcAft>
            </a:pPr>
            <a:r>
              <a:rPr sz="1100" b="0">
                <a:solidFill>
                  <a:srgbClr val="5B6372"/>
                </a:solidFill>
                <a:latin typeface="Arial"/>
              </a:rPr>
              <a:t>–  A false negative just means one fewer asset.</a:t>
            </a:r>
          </a:p>
          <a:p>
            <a:pPr>
              <a:spcAft>
                <a:spcPts val="800"/>
              </a:spcAft>
            </a:pPr>
            <a:r>
              <a:rPr sz="1100" b="0">
                <a:solidFill>
                  <a:srgbClr val="5B6372"/>
                </a:solidFill>
                <a:latin typeface="Arial"/>
              </a:rPr>
              <a:t>–  So you tolerate misses to avoid errors.</a:t>
            </a:r>
          </a:p>
          <a:p>
            <a:pPr>
              <a:spcAft>
                <a:spcPts val="800"/>
              </a:spcAft>
            </a:pPr>
            <a:r>
              <a:rPr sz="1100" b="0">
                <a:solidFill>
                  <a:srgbClr val="5B6372"/>
                </a:solidFill>
                <a:latin typeface="Arial"/>
              </a:rPr>
              <a:t>–  Raise minNeighbors; raise the SVM weight threshold.</a:t>
            </a:r>
          </a:p>
        </p:txBody>
      </p:sp>
      <p:sp>
        <p:nvSpPr>
          <p:cNvPr id="15" name="TextBox 14"/>
          <p:cNvSpPr txBox="1"/>
          <p:nvPr/>
        </p:nvSpPr>
        <p:spPr>
          <a:xfrm>
            <a:off x="777240" y="5669280"/>
            <a:ext cx="10698480" cy="640080"/>
          </a:xfrm>
          <a:prstGeom prst="rect">
            <a:avLst/>
          </a:prstGeom>
          <a:noFill/>
        </p:spPr>
        <p:txBody>
          <a:bodyPr wrap="square" anchor="ctr">
            <a:spAutoFit/>
          </a:bodyPr>
          <a:lstStyle/>
          <a:p>
            <a:pPr algn="ctr">
              <a:spcAft>
                <a:spcPts val="400"/>
              </a:spcAft>
            </a:pPr>
            <a:r>
              <a:rPr sz="1250" b="0">
                <a:solidFill>
                  <a:srgbClr val="5B6372"/>
                </a:solidFill>
                <a:latin typeface="Arial"/>
              </a:rPr>
              <a:t>If no parameter value satisfies your stated rule, the verdict is DO NOT DEPLOY. Do not relax the rule to manufacture an operating point.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fast">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K9 · THE SAME METRIC NAME, VERY DIFFERENT PROBLEMS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Published — Detection Accuracy Is Dataset-Specific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99%+ on curated benchmarks</a:t>
            </a:r>
          </a:p>
          <a:p>
            <a:pPr algn="l">
              <a:spcAft>
                <a:spcPts val="200"/>
              </a:spcAft>
            </a:pPr>
            <a:r>
              <a:rPr sz="1100" b="0">
                <a:solidFill>
                  <a:srgbClr val="161B26"/>
                </a:solidFill>
                <a:latin typeface="Arial"/>
              </a:rPr>
              <a:t>Distinguishing AI-generated from real images on a purpose-built dataset.</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Mid-to-high 70s on hard data</a:t>
            </a:r>
          </a:p>
          <a:p>
            <a:pPr algn="l">
              <a:spcAft>
                <a:spcPts val="200"/>
              </a:spcAft>
            </a:pPr>
            <a:r>
              <a:rPr sz="1100" b="0">
                <a:solidFill>
                  <a:srgbClr val="161B26"/>
                </a:solidFill>
                <a:latin typeface="Arial"/>
              </a:rPr>
              <a:t>Deepfake detection on a shifted, adversarial distribution.</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Never quote a bare number</a:t>
            </a:r>
          </a:p>
          <a:p>
            <a:pPr algn="l">
              <a:spcAft>
                <a:spcPts val="200"/>
              </a:spcAft>
            </a:pPr>
            <a:r>
              <a:rPr sz="1100" b="0">
                <a:solidFill>
                  <a:srgbClr val="161B26"/>
                </a:solidFill>
                <a:latin typeface="Arial"/>
              </a:rPr>
              <a:t>State the metric, the dataset, the sample size and the distribution type, or the number means nothing.</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Report the whole set</a:t>
            </a:r>
          </a:p>
          <a:p>
            <a:pPr algn="l">
              <a:spcAft>
                <a:spcPts val="200"/>
              </a:spcAft>
            </a:pPr>
            <a:r>
              <a:rPr sz="1100" b="0">
                <a:solidFill>
                  <a:srgbClr val="161B26"/>
                </a:solidFill>
                <a:latin typeface="Arial"/>
              </a:rPr>
              <a:t>Both sources report macro precision, recall and F1 alongside accuracy, because accuracy alone hides class-wise behaviour.</a:t>
            </a:r>
          </a:p>
        </p:txBody>
      </p:sp>
      <p:sp>
        <p:nvSpPr>
          <p:cNvPr id="20" name="Rectangle 19"/>
          <p:cNvSpPr/>
          <p:nvPr/>
        </p:nvSpPr>
        <p:spPr>
          <a:xfrm>
            <a:off x="777240" y="5925312"/>
            <a:ext cx="1417320"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PUBLISHED</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Sources S16 and S19 · AI-Generated Image and Video Synthesis, Ch.4 pp.51–53 (AI-generated image detection on the GenReal and CIFAKE datasets, test accuracy) and Ch.11 pp.153–159 (deepfake detection backbones, validation accuracy). Different datasets, different tasks — the bars are NOT comparable to each other.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fast">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500" b="1">
                <a:solidFill>
                  <a:srgbClr val="7C3AED"/>
                </a:solidFill>
                <a:latin typeface="Arial"/>
              </a:rPr>
              <a:t>K10 · THE DEFINING PROBLEM OF GENERATIVE VIDEO</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400" b="1">
                <a:solidFill>
                  <a:srgbClr val="161B26"/>
                </a:solidFill>
                <a:latin typeface="Arial"/>
              </a:rPr>
              <a:t>Video adds temporal coherence to spatial coherence.</a:t>
            </a:r>
          </a:p>
        </p:txBody>
      </p:sp>
      <p:sp>
        <p:nvSpPr>
          <p:cNvPr id="6" name="TextBox 5"/>
          <p:cNvSpPr txBox="1"/>
          <p:nvPr/>
        </p:nvSpPr>
        <p:spPr>
          <a:xfrm>
            <a:off x="1024128" y="4480560"/>
            <a:ext cx="10058400" cy="1280160"/>
          </a:xfrm>
          <a:prstGeom prst="rect">
            <a:avLst/>
          </a:prstGeom>
          <a:noFill/>
        </p:spPr>
        <p:txBody>
          <a:bodyPr wrap="square" anchor="t">
            <a:spAutoFit/>
          </a:bodyPr>
          <a:lstStyle/>
          <a:p>
            <a:pPr algn="l">
              <a:spcAft>
                <a:spcPts val="400"/>
              </a:spcAft>
            </a:pPr>
            <a:r>
              <a:rPr sz="1700" b="0">
                <a:solidFill>
                  <a:srgbClr val="5B6372"/>
                </a:solidFill>
                <a:latin typeface="Arial"/>
              </a:rPr>
              <a:t>Every frame must look right AND be consistent with its neighbours. Flicker, identity drift and warping backgrounds are temporal failures that no per-frame quality score can see.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fast">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DC2626"/>
                </a:solidFill>
                <a:latin typeface="Arial"/>
              </a:rPr>
              <a:t>K8, K10 · SOURCE S10 · MULTIMODAL GENERATIVE AI, CH.7 PP.106–107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How Early Video GANs Failed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Temporal artifacts</a:t>
            </a:r>
          </a:p>
          <a:p>
            <a:pPr algn="l">
              <a:spcAft>
                <a:spcPts val="200"/>
              </a:spcAft>
            </a:pPr>
            <a:r>
              <a:rPr sz="1000" b="0">
                <a:solidFill>
                  <a:srgbClr val="5B6372"/>
                </a:solidFill>
                <a:latin typeface="Arial"/>
              </a:rPr>
              <a:t>Flicker: the texture or colour of an object changes erratically between frames, even when each frame is individually plausible.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Inconsistent motion</a:t>
            </a:r>
          </a:p>
          <a:p>
            <a:pPr algn="l">
              <a:spcAft>
                <a:spcPts val="200"/>
              </a:spcAft>
            </a:pPr>
            <a:r>
              <a:rPr sz="1000" b="0">
                <a:solidFill>
                  <a:srgbClr val="5B6372"/>
                </a:solidFill>
                <a:latin typeface="Arial"/>
              </a:rPr>
              <a:t>Jittery or physically implausible movement, because nothing in the objective required continuity.</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Mode collapse</a:t>
            </a:r>
          </a:p>
          <a:p>
            <a:pPr algn="l">
              <a:spcAft>
                <a:spcPts val="200"/>
              </a:spcAft>
            </a:pPr>
            <a:r>
              <a:rPr sz="1000" b="0">
                <a:solidFill>
                  <a:srgbClr val="5B6372"/>
                </a:solidFill>
                <a:latin typeface="Arial"/>
              </a:rPr>
              <a:t>The same limited set of motions or scenes, repeated — the image-GAN failure, extended along the time axis.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Specialised architectures</a:t>
            </a:r>
          </a:p>
          <a:p>
            <a:pPr algn="l">
              <a:spcAft>
                <a:spcPts val="200"/>
              </a:spcAft>
            </a:pPr>
            <a:r>
              <a:rPr sz="1000" b="0">
                <a:solidFill>
                  <a:srgbClr val="5B6372"/>
                </a:solidFill>
                <a:latin typeface="Arial"/>
              </a:rPr>
              <a:t>VGAN separated moving foreground from static background; MoCoGAN and TGAN tried to disentangle content from motion.</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They still could not hold</a:t>
            </a:r>
          </a:p>
          <a:p>
            <a:pPr algn="l">
              <a:spcAft>
                <a:spcPts val="200"/>
              </a:spcAft>
            </a:pPr>
            <a:r>
              <a:rPr sz="1000" b="0">
                <a:solidFill>
                  <a:srgbClr val="5B6372"/>
                </a:solidFill>
                <a:latin typeface="Arial"/>
              </a:rPr>
              <a:t>Long-term consistency remained out of reach, and clips stayed short and low resolution.</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The root cause</a:t>
            </a:r>
          </a:p>
          <a:p>
            <a:pPr algn="l">
              <a:spcAft>
                <a:spcPts val="200"/>
              </a:spcAft>
            </a:pPr>
            <a:r>
              <a:rPr sz="1000" b="0">
                <a:solidFill>
                  <a:srgbClr val="5B6372"/>
                </a:solidFill>
                <a:latin typeface="Arial"/>
              </a:rPr>
              <a:t>The training signal is indirect — the generator only learns whether the discriminator was fooled by the whole sequence.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fast">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7C3AED"/>
                </a:solidFill>
                <a:latin typeface="Arial"/>
              </a:rPr>
              <a:t>K8, K10 · WHY LONGER, MORE COHERENT CLIPS BECAME POSSIBLE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From 2-D U-Net to Diffusion Transformer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2452878" cy="2606040"/>
          </a:xfrm>
          <a:prstGeom prst="round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52878" cy="3840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48840"/>
            <a:ext cx="2452878" cy="384048"/>
          </a:xfrm>
          <a:prstGeom prst="rect">
            <a:avLst/>
          </a:prstGeom>
          <a:noFill/>
        </p:spPr>
        <p:txBody>
          <a:bodyPr wrap="square" anchor="ctr">
            <a:spAutoFit/>
          </a:bodyPr>
          <a:lstStyle/>
          <a:p>
            <a:pPr algn="ctr">
              <a:spcAft>
                <a:spcPts val="400"/>
              </a:spcAft>
            </a:pPr>
            <a:r>
              <a:rPr sz="1250" b="1">
                <a:solidFill>
                  <a:srgbClr val="FFFFFF"/>
                </a:solidFill>
                <a:latin typeface="Arial"/>
              </a:rPr>
              <a:t>2-D U-NET</a:t>
            </a:r>
          </a:p>
        </p:txBody>
      </p:sp>
      <p:sp>
        <p:nvSpPr>
          <p:cNvPr id="10" name="TextBox 9"/>
          <p:cNvSpPr txBox="1"/>
          <p:nvPr/>
        </p:nvSpPr>
        <p:spPr>
          <a:xfrm>
            <a:off x="923544" y="2651760"/>
            <a:ext cx="2160270" cy="1965960"/>
          </a:xfrm>
          <a:prstGeom prst="rect">
            <a:avLst/>
          </a:prstGeom>
          <a:noFill/>
        </p:spPr>
        <p:txBody>
          <a:bodyPr wrap="square" anchor="t">
            <a:spAutoFit/>
          </a:bodyPr>
          <a:lstStyle/>
          <a:p>
            <a:pPr algn="l">
              <a:spcAft>
                <a:spcPts val="400"/>
              </a:spcAft>
            </a:pPr>
            <a:r>
              <a:rPr sz="1150" b="0">
                <a:solidFill>
                  <a:srgbClr val="161B26"/>
                </a:solidFill>
                <a:latin typeface="Arial"/>
              </a:rPr>
              <a:t>The image-diffusion workhorse. Convolutions over height and width only — it has no way to represent time.</a:t>
            </a:r>
          </a:p>
        </p:txBody>
      </p:sp>
      <p:cxnSp>
        <p:nvCxnSpPr>
          <p:cNvPr id="11" name="Connector 10"/>
          <p:cNvCxnSpPr/>
          <p:nvPr/>
        </p:nvCxnSpPr>
        <p:spPr>
          <a:xfrm>
            <a:off x="3230118" y="3451860"/>
            <a:ext cx="274320" cy="0"/>
          </a:xfrm>
          <a:prstGeom prst="line">
            <a:avLst/>
          </a:prstGeom>
          <a:ln w="2222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504438" y="2148840"/>
            <a:ext cx="2452878" cy="2606040"/>
          </a:xfrm>
          <a:prstGeom prst="roundRect">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04438" y="2148840"/>
            <a:ext cx="2452878"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4438" y="2148840"/>
            <a:ext cx="2452878" cy="384048"/>
          </a:xfrm>
          <a:prstGeom prst="rect">
            <a:avLst/>
          </a:prstGeom>
          <a:noFill/>
        </p:spPr>
        <p:txBody>
          <a:bodyPr wrap="square" anchor="ctr">
            <a:spAutoFit/>
          </a:bodyPr>
          <a:lstStyle/>
          <a:p>
            <a:pPr algn="ctr">
              <a:spcAft>
                <a:spcPts val="400"/>
              </a:spcAft>
            </a:pPr>
            <a:r>
              <a:rPr sz="1250" b="1">
                <a:solidFill>
                  <a:srgbClr val="FFFFFF"/>
                </a:solidFill>
                <a:latin typeface="Arial"/>
              </a:rPr>
              <a:t>3-D U-NET</a:t>
            </a:r>
          </a:p>
        </p:txBody>
      </p:sp>
      <p:sp>
        <p:nvSpPr>
          <p:cNvPr id="15" name="TextBox 14"/>
          <p:cNvSpPr txBox="1"/>
          <p:nvPr/>
        </p:nvSpPr>
        <p:spPr>
          <a:xfrm>
            <a:off x="3650742" y="2651760"/>
            <a:ext cx="2160270" cy="1965960"/>
          </a:xfrm>
          <a:prstGeom prst="rect">
            <a:avLst/>
          </a:prstGeom>
          <a:noFill/>
        </p:spPr>
        <p:txBody>
          <a:bodyPr wrap="square" anchor="t">
            <a:spAutoFit/>
          </a:bodyPr>
          <a:lstStyle/>
          <a:p>
            <a:pPr algn="l">
              <a:spcAft>
                <a:spcPts val="400"/>
              </a:spcAft>
            </a:pPr>
            <a:r>
              <a:rPr sz="1150" b="0">
                <a:solidFill>
                  <a:srgbClr val="161B26"/>
                </a:solidFill>
                <a:latin typeface="Arial"/>
              </a:rPr>
              <a:t>Extend the convolutions and attention to a height × width × TIME volume. The model now learns spatiotemporal features directly, so object identity can persist.</a:t>
            </a:r>
          </a:p>
        </p:txBody>
      </p:sp>
      <p:cxnSp>
        <p:nvCxnSpPr>
          <p:cNvPr id="16" name="Connector 15"/>
          <p:cNvCxnSpPr/>
          <p:nvPr/>
        </p:nvCxnSpPr>
        <p:spPr>
          <a:xfrm>
            <a:off x="5957316" y="3451860"/>
            <a:ext cx="274320" cy="0"/>
          </a:xfrm>
          <a:prstGeom prst="line">
            <a:avLst/>
          </a:prstGeom>
          <a:ln w="2222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31636" y="2148840"/>
            <a:ext cx="2452878" cy="2606040"/>
          </a:xfrm>
          <a:prstGeom prst="roundRect">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31636" y="2148840"/>
            <a:ext cx="2452878"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1636" y="2148840"/>
            <a:ext cx="2452878" cy="384048"/>
          </a:xfrm>
          <a:prstGeom prst="rect">
            <a:avLst/>
          </a:prstGeom>
          <a:noFill/>
        </p:spPr>
        <p:txBody>
          <a:bodyPr wrap="square" anchor="ctr">
            <a:spAutoFit/>
          </a:bodyPr>
          <a:lstStyle/>
          <a:p>
            <a:pPr algn="ctr">
              <a:spcAft>
                <a:spcPts val="400"/>
              </a:spcAft>
            </a:pPr>
            <a:r>
              <a:rPr sz="1250" b="1">
                <a:solidFill>
                  <a:srgbClr val="FFFFFF"/>
                </a:solidFill>
                <a:latin typeface="Arial"/>
              </a:rPr>
              <a:t>PATCHES, NOT PIXELS</a:t>
            </a:r>
          </a:p>
        </p:txBody>
      </p:sp>
      <p:sp>
        <p:nvSpPr>
          <p:cNvPr id="20" name="TextBox 19"/>
          <p:cNvSpPr txBox="1"/>
          <p:nvPr/>
        </p:nvSpPr>
        <p:spPr>
          <a:xfrm>
            <a:off x="6377940" y="2651760"/>
            <a:ext cx="2160270" cy="1965960"/>
          </a:xfrm>
          <a:prstGeom prst="rect">
            <a:avLst/>
          </a:prstGeom>
          <a:noFill/>
        </p:spPr>
        <p:txBody>
          <a:bodyPr wrap="square" anchor="t">
            <a:spAutoFit/>
          </a:bodyPr>
          <a:lstStyle/>
          <a:p>
            <a:pPr algn="l">
              <a:spcAft>
                <a:spcPts val="400"/>
              </a:spcAft>
            </a:pPr>
            <a:r>
              <a:rPr sz="1150" b="0">
                <a:solidFill>
                  <a:srgbClr val="161B26"/>
                </a:solidFill>
                <a:latin typeface="Arial"/>
              </a:rPr>
              <a:t>Stop treating video as a dense pixel grid. Cut it into small spatiotemporal patches, each carrying both spatial and temporal information.</a:t>
            </a:r>
          </a:p>
        </p:txBody>
      </p:sp>
      <p:cxnSp>
        <p:nvCxnSpPr>
          <p:cNvPr id="21" name="Connector 20"/>
          <p:cNvCxnSpPr/>
          <p:nvPr/>
        </p:nvCxnSpPr>
        <p:spPr>
          <a:xfrm>
            <a:off x="8684514" y="3451860"/>
            <a:ext cx="274320" cy="0"/>
          </a:xfrm>
          <a:prstGeom prst="line">
            <a:avLst/>
          </a:prstGeom>
          <a:ln w="2222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958834" y="2148840"/>
            <a:ext cx="2452878" cy="2606040"/>
          </a:xfrm>
          <a:prstGeom prst="roundRect">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58834" y="2148840"/>
            <a:ext cx="2452878"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58834" y="2148840"/>
            <a:ext cx="2452878" cy="384048"/>
          </a:xfrm>
          <a:prstGeom prst="rect">
            <a:avLst/>
          </a:prstGeom>
          <a:noFill/>
        </p:spPr>
        <p:txBody>
          <a:bodyPr wrap="square" anchor="ctr">
            <a:spAutoFit/>
          </a:bodyPr>
          <a:lstStyle/>
          <a:p>
            <a:pPr algn="ctr">
              <a:spcAft>
                <a:spcPts val="400"/>
              </a:spcAft>
            </a:pPr>
            <a:r>
              <a:rPr sz="1250" b="1">
                <a:solidFill>
                  <a:srgbClr val="FFFFFF"/>
                </a:solidFill>
                <a:latin typeface="Arial"/>
              </a:rPr>
              <a:t>DIFFUSION TRANSFORMER</a:t>
            </a:r>
          </a:p>
        </p:txBody>
      </p:sp>
      <p:sp>
        <p:nvSpPr>
          <p:cNvPr id="25" name="TextBox 24"/>
          <p:cNvSpPr txBox="1"/>
          <p:nvPr/>
        </p:nvSpPr>
        <p:spPr>
          <a:xfrm>
            <a:off x="9105138" y="2651760"/>
            <a:ext cx="2160270" cy="1965960"/>
          </a:xfrm>
          <a:prstGeom prst="rect">
            <a:avLst/>
          </a:prstGeom>
          <a:noFill/>
        </p:spPr>
        <p:txBody>
          <a:bodyPr wrap="square" anchor="t">
            <a:spAutoFit/>
          </a:bodyPr>
          <a:lstStyle/>
          <a:p>
            <a:pPr algn="l">
              <a:spcAft>
                <a:spcPts val="400"/>
              </a:spcAft>
            </a:pPr>
            <a:r>
              <a:rPr sz="1150" b="0">
                <a:solidFill>
                  <a:srgbClr val="161B26"/>
                </a:solidFill>
                <a:latin typeface="Arial"/>
              </a:rPr>
              <a:t>Run diffusion over that patch SEQUENCE with self-attention. Long-range dependencies across many seconds become modellable, and the architecture scales.</a:t>
            </a:r>
          </a:p>
        </p:txBody>
      </p:sp>
      <p:sp>
        <p:nvSpPr>
          <p:cNvPr id="26" name="Rectangle 25"/>
          <p:cNvSpPr/>
          <p:nvPr/>
        </p:nvSpPr>
        <p:spPr>
          <a:xfrm>
            <a:off x="777240" y="5120640"/>
            <a:ext cx="10634472"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5120640"/>
            <a:ext cx="10241280" cy="914400"/>
          </a:xfrm>
          <a:prstGeom prst="rect">
            <a:avLst/>
          </a:prstGeom>
          <a:noFill/>
        </p:spPr>
        <p:txBody>
          <a:bodyPr wrap="square" anchor="ctr">
            <a:spAutoFit/>
          </a:bodyPr>
          <a:lstStyle/>
          <a:p>
            <a:pPr algn="l">
              <a:spcAft>
                <a:spcPts val="400"/>
              </a:spcAft>
            </a:pPr>
            <a:r>
              <a:rPr sz="1150" b="1">
                <a:solidFill>
                  <a:srgbClr val="127A3E"/>
                </a:solidFill>
                <a:latin typeface="Arial"/>
              </a:rPr>
              <a:t>SO WHAT   </a:t>
            </a:r>
            <a:r>
              <a:rPr sz="1300" b="0">
                <a:solidFill>
                  <a:srgbClr val="161B26"/>
                </a:solidFill>
                <a:latin typeface="Arial"/>
              </a:rPr>
              <a:t>Diffusion's learning objective is direct and stable at every step — predict the noise. Augmented with temporal attention, the model is forced to learn frame-to-frame relationships in order to do its job. That is the 'consistency bottleneck' argument for diffusion over GANs.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fast">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F59E0B"/>
                </a:solidFill>
                <a:latin typeface="Arial"/>
              </a:rPr>
              <a:t>K10 · SOURCE S22 · ai.google.dev/gemini-api/docs/veo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Current Video Generation — Verified 6 September 2026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083996"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901116" cy="841248"/>
          </a:xfrm>
          <a:prstGeom prst="rect">
            <a:avLst/>
          </a:prstGeom>
          <a:noFill/>
        </p:spPr>
        <p:txBody>
          <a:bodyPr wrap="square" anchor="ctr">
            <a:spAutoFit/>
          </a:bodyPr>
          <a:lstStyle/>
          <a:p>
            <a:pPr algn="l">
              <a:spcAft>
                <a:spcPts val="400"/>
              </a:spcAft>
            </a:pPr>
            <a:r>
              <a:rPr sz="1050" b="1">
                <a:solidFill>
                  <a:srgbClr val="FFFFFF"/>
                </a:solidFill>
                <a:latin typeface="Arial"/>
              </a:rPr>
              <a:t>Model ID</a:t>
            </a:r>
          </a:p>
        </p:txBody>
      </p:sp>
      <p:sp>
        <p:nvSpPr>
          <p:cNvPr id="9" name="Rectangle 8"/>
          <p:cNvSpPr/>
          <p:nvPr/>
        </p:nvSpPr>
        <p:spPr>
          <a:xfrm>
            <a:off x="3861236" y="1783080"/>
            <a:ext cx="1382481"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70964" y="1783080"/>
            <a:ext cx="1199601" cy="841248"/>
          </a:xfrm>
          <a:prstGeom prst="rect">
            <a:avLst/>
          </a:prstGeom>
          <a:noFill/>
        </p:spPr>
        <p:txBody>
          <a:bodyPr wrap="square" anchor="ctr">
            <a:spAutoFit/>
          </a:bodyPr>
          <a:lstStyle/>
          <a:p>
            <a:pPr algn="l">
              <a:spcAft>
                <a:spcPts val="400"/>
              </a:spcAft>
            </a:pPr>
            <a:r>
              <a:rPr sz="1050" b="1">
                <a:solidFill>
                  <a:srgbClr val="FFFFFF"/>
                </a:solidFill>
                <a:latin typeface="Arial"/>
              </a:rPr>
              <a:t>Duration</a:t>
            </a:r>
          </a:p>
        </p:txBody>
      </p:sp>
      <p:sp>
        <p:nvSpPr>
          <p:cNvPr id="11" name="Rectangle 10"/>
          <p:cNvSpPr/>
          <p:nvPr/>
        </p:nvSpPr>
        <p:spPr>
          <a:xfrm>
            <a:off x="5243717" y="1783080"/>
            <a:ext cx="1488826"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53445" y="1783080"/>
            <a:ext cx="1305946" cy="841248"/>
          </a:xfrm>
          <a:prstGeom prst="rect">
            <a:avLst/>
          </a:prstGeom>
          <a:noFill/>
        </p:spPr>
        <p:txBody>
          <a:bodyPr wrap="square" anchor="ctr">
            <a:spAutoFit/>
          </a:bodyPr>
          <a:lstStyle/>
          <a:p>
            <a:pPr algn="l">
              <a:spcAft>
                <a:spcPts val="400"/>
              </a:spcAft>
            </a:pPr>
            <a:r>
              <a:rPr sz="1050" b="1">
                <a:solidFill>
                  <a:srgbClr val="FFFFFF"/>
                </a:solidFill>
                <a:latin typeface="Arial"/>
              </a:rPr>
              <a:t>Aspect</a:t>
            </a:r>
          </a:p>
        </p:txBody>
      </p:sp>
      <p:sp>
        <p:nvSpPr>
          <p:cNvPr id="13" name="Rectangle 12"/>
          <p:cNvSpPr/>
          <p:nvPr/>
        </p:nvSpPr>
        <p:spPr>
          <a:xfrm>
            <a:off x="6732543" y="1783080"/>
            <a:ext cx="2020549"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2271" y="1783080"/>
            <a:ext cx="1837669" cy="841248"/>
          </a:xfrm>
          <a:prstGeom prst="rect">
            <a:avLst/>
          </a:prstGeom>
          <a:noFill/>
        </p:spPr>
        <p:txBody>
          <a:bodyPr wrap="square" anchor="ctr">
            <a:spAutoFit/>
          </a:bodyPr>
          <a:lstStyle/>
          <a:p>
            <a:pPr algn="l">
              <a:spcAft>
                <a:spcPts val="400"/>
              </a:spcAft>
            </a:pPr>
            <a:r>
              <a:rPr sz="1050" b="1">
                <a:solidFill>
                  <a:srgbClr val="FFFFFF"/>
                </a:solidFill>
                <a:latin typeface="Arial"/>
              </a:rPr>
              <a:t>Resolution</a:t>
            </a:r>
          </a:p>
        </p:txBody>
      </p:sp>
      <p:sp>
        <p:nvSpPr>
          <p:cNvPr id="15" name="Rectangle 14"/>
          <p:cNvSpPr/>
          <p:nvPr/>
        </p:nvSpPr>
        <p:spPr>
          <a:xfrm>
            <a:off x="8753092" y="1783080"/>
            <a:ext cx="2658618"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2820" y="1783080"/>
            <a:ext cx="2475738" cy="841248"/>
          </a:xfrm>
          <a:prstGeom prst="rect">
            <a:avLst/>
          </a:prstGeom>
          <a:noFill/>
        </p:spPr>
        <p:txBody>
          <a:bodyPr wrap="square" anchor="ctr">
            <a:spAutoFit/>
          </a:bodyPr>
          <a:lstStyle/>
          <a:p>
            <a:pPr algn="l">
              <a:spcAft>
                <a:spcPts val="400"/>
              </a:spcAft>
            </a:pPr>
            <a:r>
              <a:rPr sz="1050" b="1">
                <a:solidFill>
                  <a:srgbClr val="FFFFFF"/>
                </a:solidFill>
                <a:latin typeface="Arial"/>
              </a:rPr>
              <a:t>Notes</a:t>
            </a:r>
          </a:p>
        </p:txBody>
      </p:sp>
      <p:sp>
        <p:nvSpPr>
          <p:cNvPr id="17" name="Rectangle 16"/>
          <p:cNvSpPr/>
          <p:nvPr/>
        </p:nvSpPr>
        <p:spPr>
          <a:xfrm>
            <a:off x="777240" y="2624328"/>
            <a:ext cx="3083996"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2624328"/>
            <a:ext cx="2901116" cy="841248"/>
          </a:xfrm>
          <a:prstGeom prst="rect">
            <a:avLst/>
          </a:prstGeom>
          <a:noFill/>
        </p:spPr>
        <p:txBody>
          <a:bodyPr wrap="square" anchor="ctr">
            <a:spAutoFit/>
          </a:bodyPr>
          <a:lstStyle/>
          <a:p>
            <a:pPr algn="l">
              <a:spcAft>
                <a:spcPts val="400"/>
              </a:spcAft>
            </a:pPr>
            <a:r>
              <a:rPr sz="950" b="1">
                <a:solidFill>
                  <a:srgbClr val="161B26"/>
                </a:solidFill>
                <a:latin typeface="Arial"/>
              </a:rPr>
              <a:t>veo-3.1-generate-preview</a:t>
            </a:r>
          </a:p>
        </p:txBody>
      </p:sp>
      <p:sp>
        <p:nvSpPr>
          <p:cNvPr id="19" name="Rectangle 18"/>
          <p:cNvSpPr/>
          <p:nvPr/>
        </p:nvSpPr>
        <p:spPr>
          <a:xfrm>
            <a:off x="3861236" y="2624328"/>
            <a:ext cx="1382481"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70964" y="2624328"/>
            <a:ext cx="1199601" cy="841248"/>
          </a:xfrm>
          <a:prstGeom prst="rect">
            <a:avLst/>
          </a:prstGeom>
          <a:noFill/>
        </p:spPr>
        <p:txBody>
          <a:bodyPr wrap="square" anchor="ctr">
            <a:spAutoFit/>
          </a:bodyPr>
          <a:lstStyle/>
          <a:p>
            <a:pPr algn="l">
              <a:spcAft>
                <a:spcPts val="400"/>
              </a:spcAft>
            </a:pPr>
            <a:r>
              <a:rPr sz="950" b="0">
                <a:solidFill>
                  <a:srgbClr val="161B26"/>
                </a:solidFill>
                <a:latin typeface="Arial"/>
              </a:rPr>
              <a:t>4, 6 or 8 s</a:t>
            </a:r>
          </a:p>
        </p:txBody>
      </p:sp>
      <p:sp>
        <p:nvSpPr>
          <p:cNvPr id="21" name="Rectangle 20"/>
          <p:cNvSpPr/>
          <p:nvPr/>
        </p:nvSpPr>
        <p:spPr>
          <a:xfrm>
            <a:off x="5243717" y="2624328"/>
            <a:ext cx="1488826"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53445" y="2624328"/>
            <a:ext cx="1305946" cy="841248"/>
          </a:xfrm>
          <a:prstGeom prst="rect">
            <a:avLst/>
          </a:prstGeom>
          <a:noFill/>
        </p:spPr>
        <p:txBody>
          <a:bodyPr wrap="square" anchor="ctr">
            <a:spAutoFit/>
          </a:bodyPr>
          <a:lstStyle/>
          <a:p>
            <a:pPr algn="l">
              <a:spcAft>
                <a:spcPts val="400"/>
              </a:spcAft>
            </a:pPr>
            <a:r>
              <a:rPr sz="950" b="0">
                <a:solidFill>
                  <a:srgbClr val="161B26"/>
                </a:solidFill>
                <a:latin typeface="Arial"/>
              </a:rPr>
              <a:t>16:9 or 9:16</a:t>
            </a:r>
          </a:p>
        </p:txBody>
      </p:sp>
      <p:sp>
        <p:nvSpPr>
          <p:cNvPr id="23" name="Rectangle 22"/>
          <p:cNvSpPr/>
          <p:nvPr/>
        </p:nvSpPr>
        <p:spPr>
          <a:xfrm>
            <a:off x="6732543" y="2624328"/>
            <a:ext cx="2020549"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42271" y="2624328"/>
            <a:ext cx="1837669" cy="841248"/>
          </a:xfrm>
          <a:prstGeom prst="rect">
            <a:avLst/>
          </a:prstGeom>
          <a:noFill/>
        </p:spPr>
        <p:txBody>
          <a:bodyPr wrap="square" anchor="ctr">
            <a:spAutoFit/>
          </a:bodyPr>
          <a:lstStyle/>
          <a:p>
            <a:pPr algn="l">
              <a:spcAft>
                <a:spcPts val="400"/>
              </a:spcAft>
            </a:pPr>
            <a:r>
              <a:rPr sz="950" b="0">
                <a:solidFill>
                  <a:srgbClr val="161B26"/>
                </a:solidFill>
                <a:latin typeface="Arial"/>
              </a:rPr>
              <a:t>720p / 1080p / 4k</a:t>
            </a:r>
          </a:p>
        </p:txBody>
      </p:sp>
      <p:sp>
        <p:nvSpPr>
          <p:cNvPr id="25" name="Rectangle 24"/>
          <p:cNvSpPr/>
          <p:nvPr/>
        </p:nvSpPr>
        <p:spPr>
          <a:xfrm>
            <a:off x="8753092" y="2624328"/>
            <a:ext cx="2658618"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2820" y="2624328"/>
            <a:ext cx="2475738" cy="841248"/>
          </a:xfrm>
          <a:prstGeom prst="rect">
            <a:avLst/>
          </a:prstGeom>
          <a:noFill/>
        </p:spPr>
        <p:txBody>
          <a:bodyPr wrap="square" anchor="ctr">
            <a:spAutoFit/>
          </a:bodyPr>
          <a:lstStyle/>
          <a:p>
            <a:pPr algn="l">
              <a:spcAft>
                <a:spcPts val="400"/>
              </a:spcAft>
            </a:pPr>
            <a:r>
              <a:rPr sz="950" b="0">
                <a:solidFill>
                  <a:srgbClr val="161B26"/>
                </a:solidFill>
                <a:latin typeface="Arial"/>
              </a:rPr>
              <a:t>Native audio; up to 3 reference images; video extension adds 7 s</a:t>
            </a:r>
          </a:p>
        </p:txBody>
      </p:sp>
      <p:sp>
        <p:nvSpPr>
          <p:cNvPr id="27" name="Rectangle 26"/>
          <p:cNvSpPr/>
          <p:nvPr/>
        </p:nvSpPr>
        <p:spPr>
          <a:xfrm>
            <a:off x="777240" y="3465576"/>
            <a:ext cx="3083996"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6968" y="3465576"/>
            <a:ext cx="2901116" cy="841248"/>
          </a:xfrm>
          <a:prstGeom prst="rect">
            <a:avLst/>
          </a:prstGeom>
          <a:noFill/>
        </p:spPr>
        <p:txBody>
          <a:bodyPr wrap="square" anchor="ctr">
            <a:spAutoFit/>
          </a:bodyPr>
          <a:lstStyle/>
          <a:p>
            <a:pPr algn="l">
              <a:spcAft>
                <a:spcPts val="400"/>
              </a:spcAft>
            </a:pPr>
            <a:r>
              <a:rPr sz="950" b="1">
                <a:solidFill>
                  <a:srgbClr val="161B26"/>
                </a:solidFill>
                <a:latin typeface="Arial"/>
              </a:rPr>
              <a:t>veo-3.1-fast-generate-preview</a:t>
            </a:r>
          </a:p>
        </p:txBody>
      </p:sp>
      <p:sp>
        <p:nvSpPr>
          <p:cNvPr id="29" name="Rectangle 28"/>
          <p:cNvSpPr/>
          <p:nvPr/>
        </p:nvSpPr>
        <p:spPr>
          <a:xfrm>
            <a:off x="3861236" y="3465576"/>
            <a:ext cx="1382481"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970964" y="3465576"/>
            <a:ext cx="1199601" cy="841248"/>
          </a:xfrm>
          <a:prstGeom prst="rect">
            <a:avLst/>
          </a:prstGeom>
          <a:noFill/>
        </p:spPr>
        <p:txBody>
          <a:bodyPr wrap="square" anchor="ctr">
            <a:spAutoFit/>
          </a:bodyPr>
          <a:lstStyle/>
          <a:p>
            <a:pPr algn="l">
              <a:spcAft>
                <a:spcPts val="400"/>
              </a:spcAft>
            </a:pPr>
            <a:r>
              <a:rPr sz="950" b="0">
                <a:solidFill>
                  <a:srgbClr val="161B26"/>
                </a:solidFill>
                <a:latin typeface="Arial"/>
              </a:rPr>
              <a:t>4, 6 or 8 s</a:t>
            </a:r>
          </a:p>
        </p:txBody>
      </p:sp>
      <p:sp>
        <p:nvSpPr>
          <p:cNvPr id="31" name="Rectangle 30"/>
          <p:cNvSpPr/>
          <p:nvPr/>
        </p:nvSpPr>
        <p:spPr>
          <a:xfrm>
            <a:off x="5243717" y="3465576"/>
            <a:ext cx="1488826"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53445" y="3465576"/>
            <a:ext cx="1305946" cy="841248"/>
          </a:xfrm>
          <a:prstGeom prst="rect">
            <a:avLst/>
          </a:prstGeom>
          <a:noFill/>
        </p:spPr>
        <p:txBody>
          <a:bodyPr wrap="square" anchor="ctr">
            <a:spAutoFit/>
          </a:bodyPr>
          <a:lstStyle/>
          <a:p>
            <a:pPr algn="l">
              <a:spcAft>
                <a:spcPts val="400"/>
              </a:spcAft>
            </a:pPr>
            <a:r>
              <a:rPr sz="950" b="0">
                <a:solidFill>
                  <a:srgbClr val="161B26"/>
                </a:solidFill>
                <a:latin typeface="Arial"/>
              </a:rPr>
              <a:t>16:9 or 9:16</a:t>
            </a:r>
          </a:p>
        </p:txBody>
      </p:sp>
      <p:sp>
        <p:nvSpPr>
          <p:cNvPr id="33" name="Rectangle 32"/>
          <p:cNvSpPr/>
          <p:nvPr/>
        </p:nvSpPr>
        <p:spPr>
          <a:xfrm>
            <a:off x="6732543" y="3465576"/>
            <a:ext cx="2020549"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42271" y="3465576"/>
            <a:ext cx="1837669" cy="841248"/>
          </a:xfrm>
          <a:prstGeom prst="rect">
            <a:avLst/>
          </a:prstGeom>
          <a:noFill/>
        </p:spPr>
        <p:txBody>
          <a:bodyPr wrap="square" anchor="ctr">
            <a:spAutoFit/>
          </a:bodyPr>
          <a:lstStyle/>
          <a:p>
            <a:pPr algn="l">
              <a:spcAft>
                <a:spcPts val="400"/>
              </a:spcAft>
            </a:pPr>
            <a:r>
              <a:rPr sz="950" b="0">
                <a:solidFill>
                  <a:srgbClr val="161B26"/>
                </a:solidFill>
                <a:latin typeface="Arial"/>
              </a:rPr>
              <a:t>720p / 1080p / 4k</a:t>
            </a:r>
          </a:p>
        </p:txBody>
      </p:sp>
      <p:sp>
        <p:nvSpPr>
          <p:cNvPr id="35" name="Rectangle 34"/>
          <p:cNvSpPr/>
          <p:nvPr/>
        </p:nvSpPr>
        <p:spPr>
          <a:xfrm>
            <a:off x="8753092" y="3465576"/>
            <a:ext cx="2658618"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2820" y="3465576"/>
            <a:ext cx="2475738" cy="841248"/>
          </a:xfrm>
          <a:prstGeom prst="rect">
            <a:avLst/>
          </a:prstGeom>
          <a:noFill/>
        </p:spPr>
        <p:txBody>
          <a:bodyPr wrap="square" anchor="ctr">
            <a:spAutoFit/>
          </a:bodyPr>
          <a:lstStyle/>
          <a:p>
            <a:pPr algn="l">
              <a:spcAft>
                <a:spcPts val="400"/>
              </a:spcAft>
            </a:pPr>
            <a:r>
              <a:rPr sz="950" b="0">
                <a:solidFill>
                  <a:srgbClr val="161B26"/>
                </a:solidFill>
                <a:latin typeface="Arial"/>
              </a:rPr>
              <a:t>Same feature set, faster and cheaper</a:t>
            </a:r>
          </a:p>
        </p:txBody>
      </p:sp>
      <p:sp>
        <p:nvSpPr>
          <p:cNvPr id="37" name="Rectangle 36"/>
          <p:cNvSpPr/>
          <p:nvPr/>
        </p:nvSpPr>
        <p:spPr>
          <a:xfrm>
            <a:off x="777240" y="4306824"/>
            <a:ext cx="3083996"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4306824"/>
            <a:ext cx="2901116" cy="841248"/>
          </a:xfrm>
          <a:prstGeom prst="rect">
            <a:avLst/>
          </a:prstGeom>
          <a:noFill/>
        </p:spPr>
        <p:txBody>
          <a:bodyPr wrap="square" anchor="ctr">
            <a:spAutoFit/>
          </a:bodyPr>
          <a:lstStyle/>
          <a:p>
            <a:pPr algn="l">
              <a:spcAft>
                <a:spcPts val="400"/>
              </a:spcAft>
            </a:pPr>
            <a:r>
              <a:rPr sz="950" b="1">
                <a:solidFill>
                  <a:srgbClr val="161B26"/>
                </a:solidFill>
                <a:latin typeface="Arial"/>
              </a:rPr>
              <a:t>veo-3.1-lite-generate-preview</a:t>
            </a:r>
          </a:p>
        </p:txBody>
      </p:sp>
      <p:sp>
        <p:nvSpPr>
          <p:cNvPr id="39" name="Rectangle 38"/>
          <p:cNvSpPr/>
          <p:nvPr/>
        </p:nvSpPr>
        <p:spPr>
          <a:xfrm>
            <a:off x="3861236" y="4306824"/>
            <a:ext cx="1382481"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970964" y="4306824"/>
            <a:ext cx="1199601" cy="841248"/>
          </a:xfrm>
          <a:prstGeom prst="rect">
            <a:avLst/>
          </a:prstGeom>
          <a:noFill/>
        </p:spPr>
        <p:txBody>
          <a:bodyPr wrap="square" anchor="ctr">
            <a:spAutoFit/>
          </a:bodyPr>
          <a:lstStyle/>
          <a:p>
            <a:pPr algn="l">
              <a:spcAft>
                <a:spcPts val="400"/>
              </a:spcAft>
            </a:pPr>
            <a:r>
              <a:rPr sz="950" b="0">
                <a:solidFill>
                  <a:srgbClr val="161B26"/>
                </a:solidFill>
                <a:latin typeface="Arial"/>
              </a:rPr>
              <a:t>4, 6 or 8 s</a:t>
            </a:r>
          </a:p>
        </p:txBody>
      </p:sp>
      <p:sp>
        <p:nvSpPr>
          <p:cNvPr id="41" name="Rectangle 40"/>
          <p:cNvSpPr/>
          <p:nvPr/>
        </p:nvSpPr>
        <p:spPr>
          <a:xfrm>
            <a:off x="5243717" y="4306824"/>
            <a:ext cx="1488826"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353445" y="4306824"/>
            <a:ext cx="1305946" cy="841248"/>
          </a:xfrm>
          <a:prstGeom prst="rect">
            <a:avLst/>
          </a:prstGeom>
          <a:noFill/>
        </p:spPr>
        <p:txBody>
          <a:bodyPr wrap="square" anchor="ctr">
            <a:spAutoFit/>
          </a:bodyPr>
          <a:lstStyle/>
          <a:p>
            <a:pPr algn="l">
              <a:spcAft>
                <a:spcPts val="400"/>
              </a:spcAft>
            </a:pPr>
            <a:r>
              <a:rPr sz="950" b="0">
                <a:solidFill>
                  <a:srgbClr val="161B26"/>
                </a:solidFill>
                <a:latin typeface="Arial"/>
              </a:rPr>
              <a:t>16:9 or 9:16</a:t>
            </a:r>
          </a:p>
        </p:txBody>
      </p:sp>
      <p:sp>
        <p:nvSpPr>
          <p:cNvPr id="43" name="Rectangle 42"/>
          <p:cNvSpPr/>
          <p:nvPr/>
        </p:nvSpPr>
        <p:spPr>
          <a:xfrm>
            <a:off x="6732543" y="4306824"/>
            <a:ext cx="2020549"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42271" y="4306824"/>
            <a:ext cx="1837669" cy="841248"/>
          </a:xfrm>
          <a:prstGeom prst="rect">
            <a:avLst/>
          </a:prstGeom>
          <a:noFill/>
        </p:spPr>
        <p:txBody>
          <a:bodyPr wrap="square" anchor="ctr">
            <a:spAutoFit/>
          </a:bodyPr>
          <a:lstStyle/>
          <a:p>
            <a:pPr algn="l">
              <a:spcAft>
                <a:spcPts val="400"/>
              </a:spcAft>
            </a:pPr>
            <a:r>
              <a:rPr sz="950" b="0">
                <a:solidFill>
                  <a:srgbClr val="161B26"/>
                </a:solidFill>
                <a:latin typeface="Arial"/>
              </a:rPr>
              <a:t>720p / 1080p</a:t>
            </a:r>
          </a:p>
        </p:txBody>
      </p:sp>
      <p:sp>
        <p:nvSpPr>
          <p:cNvPr id="45" name="Rectangle 44"/>
          <p:cNvSpPr/>
          <p:nvPr/>
        </p:nvSpPr>
        <p:spPr>
          <a:xfrm>
            <a:off x="8753092" y="4306824"/>
            <a:ext cx="2658618"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862820" y="4306824"/>
            <a:ext cx="2475738" cy="841248"/>
          </a:xfrm>
          <a:prstGeom prst="rect">
            <a:avLst/>
          </a:prstGeom>
          <a:noFill/>
        </p:spPr>
        <p:txBody>
          <a:bodyPr wrap="square" anchor="ctr">
            <a:spAutoFit/>
          </a:bodyPr>
          <a:lstStyle/>
          <a:p>
            <a:pPr algn="l">
              <a:spcAft>
                <a:spcPts val="400"/>
              </a:spcAft>
            </a:pPr>
            <a:r>
              <a:rPr sz="950" b="0">
                <a:solidFill>
                  <a:srgbClr val="161B26"/>
                </a:solidFill>
                <a:latin typeface="Arial"/>
              </a:rPr>
              <a:t>No 4k; image-to-video supported</a:t>
            </a:r>
          </a:p>
        </p:txBody>
      </p:sp>
      <p:sp>
        <p:nvSpPr>
          <p:cNvPr id="47" name="Rectangle 46"/>
          <p:cNvSpPr/>
          <p:nvPr/>
        </p:nvSpPr>
        <p:spPr>
          <a:xfrm>
            <a:off x="777240" y="5148072"/>
            <a:ext cx="3083996"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6968" y="5148072"/>
            <a:ext cx="2901116" cy="841248"/>
          </a:xfrm>
          <a:prstGeom prst="rect">
            <a:avLst/>
          </a:prstGeom>
          <a:noFill/>
        </p:spPr>
        <p:txBody>
          <a:bodyPr wrap="square" anchor="ctr">
            <a:spAutoFit/>
          </a:bodyPr>
          <a:lstStyle/>
          <a:p>
            <a:pPr algn="l">
              <a:spcAft>
                <a:spcPts val="400"/>
              </a:spcAft>
            </a:pPr>
            <a:r>
              <a:rPr sz="950" b="1">
                <a:solidFill>
                  <a:srgbClr val="161B26"/>
                </a:solidFill>
                <a:latin typeface="Arial"/>
              </a:rPr>
              <a:t>veo-3.0-generate-001</a:t>
            </a:r>
          </a:p>
        </p:txBody>
      </p:sp>
      <p:sp>
        <p:nvSpPr>
          <p:cNvPr id="49" name="Rectangle 48"/>
          <p:cNvSpPr/>
          <p:nvPr/>
        </p:nvSpPr>
        <p:spPr>
          <a:xfrm>
            <a:off x="3861236" y="5148072"/>
            <a:ext cx="1382481"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970964" y="5148072"/>
            <a:ext cx="1199601" cy="841248"/>
          </a:xfrm>
          <a:prstGeom prst="rect">
            <a:avLst/>
          </a:prstGeom>
          <a:noFill/>
        </p:spPr>
        <p:txBody>
          <a:bodyPr wrap="square" anchor="ctr">
            <a:spAutoFit/>
          </a:bodyPr>
          <a:lstStyle/>
          <a:p>
            <a:pPr algn="l">
              <a:spcAft>
                <a:spcPts val="400"/>
              </a:spcAft>
            </a:pPr>
            <a:r>
              <a:rPr sz="950" b="0">
                <a:solidFill>
                  <a:srgbClr val="161B26"/>
                </a:solidFill>
                <a:latin typeface="Arial"/>
              </a:rPr>
              <a:t>—</a:t>
            </a:r>
          </a:p>
        </p:txBody>
      </p:sp>
      <p:sp>
        <p:nvSpPr>
          <p:cNvPr id="51" name="Rectangle 50"/>
          <p:cNvSpPr/>
          <p:nvPr/>
        </p:nvSpPr>
        <p:spPr>
          <a:xfrm>
            <a:off x="5243717" y="5148072"/>
            <a:ext cx="1488826"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353445" y="5148072"/>
            <a:ext cx="1305946" cy="841248"/>
          </a:xfrm>
          <a:prstGeom prst="rect">
            <a:avLst/>
          </a:prstGeom>
          <a:noFill/>
        </p:spPr>
        <p:txBody>
          <a:bodyPr wrap="square" anchor="ctr">
            <a:spAutoFit/>
          </a:bodyPr>
          <a:lstStyle/>
          <a:p>
            <a:pPr algn="l">
              <a:spcAft>
                <a:spcPts val="400"/>
              </a:spcAft>
            </a:pPr>
            <a:r>
              <a:rPr sz="950" b="0">
                <a:solidFill>
                  <a:srgbClr val="161B26"/>
                </a:solidFill>
                <a:latin typeface="Arial"/>
              </a:rPr>
              <a:t>—</a:t>
            </a:r>
          </a:p>
        </p:txBody>
      </p:sp>
      <p:sp>
        <p:nvSpPr>
          <p:cNvPr id="53" name="Rectangle 52"/>
          <p:cNvSpPr/>
          <p:nvPr/>
        </p:nvSpPr>
        <p:spPr>
          <a:xfrm>
            <a:off x="6732543" y="5148072"/>
            <a:ext cx="2020549"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842271" y="5148072"/>
            <a:ext cx="1837669" cy="841248"/>
          </a:xfrm>
          <a:prstGeom prst="rect">
            <a:avLst/>
          </a:prstGeom>
          <a:noFill/>
        </p:spPr>
        <p:txBody>
          <a:bodyPr wrap="square" anchor="ctr">
            <a:spAutoFit/>
          </a:bodyPr>
          <a:lstStyle/>
          <a:p>
            <a:pPr algn="l">
              <a:spcAft>
                <a:spcPts val="400"/>
              </a:spcAft>
            </a:pPr>
            <a:r>
              <a:rPr sz="950" b="0">
                <a:solidFill>
                  <a:srgbClr val="161B26"/>
                </a:solidFill>
                <a:latin typeface="Arial"/>
              </a:rPr>
              <a:t>—</a:t>
            </a:r>
          </a:p>
        </p:txBody>
      </p:sp>
      <p:sp>
        <p:nvSpPr>
          <p:cNvPr id="55" name="Rectangle 54"/>
          <p:cNvSpPr/>
          <p:nvPr/>
        </p:nvSpPr>
        <p:spPr>
          <a:xfrm>
            <a:off x="8753092" y="5148072"/>
            <a:ext cx="2658618"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2820" y="5148072"/>
            <a:ext cx="2475738" cy="841248"/>
          </a:xfrm>
          <a:prstGeom prst="rect">
            <a:avLst/>
          </a:prstGeom>
          <a:noFill/>
        </p:spPr>
        <p:txBody>
          <a:bodyPr wrap="square" anchor="ctr">
            <a:spAutoFit/>
          </a:bodyPr>
          <a:lstStyle/>
          <a:p>
            <a:pPr algn="l">
              <a:spcAft>
                <a:spcPts val="400"/>
              </a:spcAft>
            </a:pPr>
            <a:r>
              <a:rPr sz="950" b="0">
                <a:solidFill>
                  <a:srgbClr val="161B26"/>
                </a:solidFill>
                <a:latin typeface="Arial"/>
              </a:rPr>
              <a:t>DEPRECATED — do not specify</a:t>
            </a:r>
          </a:p>
        </p:txBody>
      </p:sp>
      <p:sp>
        <p:nvSpPr>
          <p:cNvPr id="57" name="TextBox 56"/>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Generation is a LONG-RUNNING OPERATION: you submit, then poll client.operations.get(operation) until operation.done. Model IDs change — re-verify before you rely on one.</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fast">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500" b="1">
                <a:solidFill>
                  <a:srgbClr val="F59E0B"/>
                </a:solidFill>
                <a:latin typeface="Arial"/>
              </a:rPr>
              <a:t>K10, A6 · THE CONSTRAINT THAT SHAPES THE WHOLE WORKFLOW</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400" b="1">
                <a:solidFill>
                  <a:srgbClr val="161B26"/>
                </a:solidFill>
                <a:latin typeface="Arial"/>
              </a:rPr>
              <a:t>A documented 8-second maximum means 24 seconds is three shots.</a:t>
            </a:r>
          </a:p>
        </p:txBody>
      </p:sp>
      <p:sp>
        <p:nvSpPr>
          <p:cNvPr id="6" name="TextBox 5"/>
          <p:cNvSpPr txBox="1"/>
          <p:nvPr/>
        </p:nvSpPr>
        <p:spPr>
          <a:xfrm>
            <a:off x="1024128" y="4480560"/>
            <a:ext cx="10058400" cy="1280160"/>
          </a:xfrm>
          <a:prstGeom prst="rect">
            <a:avLst/>
          </a:prstGeom>
          <a:noFill/>
        </p:spPr>
        <p:txBody>
          <a:bodyPr wrap="square" anchor="t">
            <a:spAutoFit/>
          </a:bodyPr>
          <a:lstStyle/>
          <a:p>
            <a:pPr algn="l">
              <a:spcAft>
                <a:spcPts val="400"/>
              </a:spcAft>
            </a:pPr>
            <a:r>
              <a:rPr sz="1700" b="0">
                <a:solidFill>
                  <a:srgbClr val="5B6372"/>
                </a:solidFill>
                <a:latin typeface="Arial"/>
              </a:rPr>
              <a:t>Not one clip. And three separately sampled shots will not hold continuity by themselves — you have to specify it, use the documented continuity mechanisms, and then measure whether it held.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fast">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A6 · DESIGN AND APPLY VIDEO ANALYTICS FOR HIGH-LEVEL TASKS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Storyboard to Delivered Film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907438" cy="2606040"/>
          </a:xfrm>
          <a:prstGeom prst="round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907438" cy="3840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BRIEF → BEATS</a:t>
            </a:r>
          </a:p>
        </p:txBody>
      </p:sp>
      <p:sp>
        <p:nvSpPr>
          <p:cNvPr id="10" name="TextBox 9"/>
          <p:cNvSpPr txBox="1"/>
          <p:nvPr/>
        </p:nvSpPr>
        <p:spPr>
          <a:xfrm>
            <a:off x="923544"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Extract the mandatory beats, the duration and the delivery ratios. A beat with no shot is a brief failure, not an editorial choice.</a:t>
            </a:r>
          </a:p>
        </p:txBody>
      </p:sp>
      <p:cxnSp>
        <p:nvCxnSpPr>
          <p:cNvPr id="11" name="Connector 10"/>
          <p:cNvCxnSpPr/>
          <p:nvPr/>
        </p:nvCxnSpPr>
        <p:spPr>
          <a:xfrm>
            <a:off x="2684678" y="3451860"/>
            <a:ext cx="274320" cy="0"/>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58998" y="2148840"/>
            <a:ext cx="1907438" cy="2606040"/>
          </a:xfrm>
          <a:prstGeom prst="roundRect">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148840"/>
            <a:ext cx="1907438"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58998"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SHOT LIST</a:t>
            </a:r>
          </a:p>
        </p:txBody>
      </p:sp>
      <p:sp>
        <p:nvSpPr>
          <p:cNvPr id="15" name="TextBox 14"/>
          <p:cNvSpPr txBox="1"/>
          <p:nvPr/>
        </p:nvSpPr>
        <p:spPr>
          <a:xfrm>
            <a:off x="3105302"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One row per shot: seconds, PURPOSE, subject action, camera, location, audio. A shot with no purpose gets cut, not shortened.</a:t>
            </a:r>
          </a:p>
        </p:txBody>
      </p:sp>
      <p:cxnSp>
        <p:nvCxnSpPr>
          <p:cNvPr id="16" name="Connector 15"/>
          <p:cNvCxnSpPr/>
          <p:nvPr/>
        </p:nvCxnSpPr>
        <p:spPr>
          <a:xfrm>
            <a:off x="4866436" y="3451860"/>
            <a:ext cx="274320" cy="0"/>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40756" y="2148840"/>
            <a:ext cx="1907438" cy="2606040"/>
          </a:xfrm>
          <a:prstGeom prst="roundRect">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40756" y="2148840"/>
            <a:ext cx="1907438"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40756"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CONTINUITY BIBLE</a:t>
            </a:r>
          </a:p>
        </p:txBody>
      </p:sp>
      <p:sp>
        <p:nvSpPr>
          <p:cNvPr id="20" name="TextBox 19"/>
          <p:cNvSpPr txBox="1"/>
          <p:nvPr/>
        </p:nvSpPr>
        <p:spPr>
          <a:xfrm>
            <a:off x="5287060"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The fields that must not drift, each with a risk clause. Written once, pasted byte-for-byte into every prompt.</a:t>
            </a:r>
          </a:p>
        </p:txBody>
      </p:sp>
      <p:cxnSp>
        <p:nvCxnSpPr>
          <p:cNvPr id="21" name="Connector 20"/>
          <p:cNvCxnSpPr/>
          <p:nvPr/>
        </p:nvCxnSpPr>
        <p:spPr>
          <a:xfrm>
            <a:off x="7048194" y="3451860"/>
            <a:ext cx="274320" cy="0"/>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322514" y="2148840"/>
            <a:ext cx="1907438" cy="2606040"/>
          </a:xfrm>
          <a:prstGeom prst="roundRect">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22514" y="2148840"/>
            <a:ext cx="1907438"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22514"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PROMPT PACK</a:t>
            </a:r>
          </a:p>
        </p:txBody>
      </p:sp>
      <p:sp>
        <p:nvSpPr>
          <p:cNvPr id="25" name="TextBox 24"/>
          <p:cNvSpPr txBox="1"/>
          <p:nvPr/>
        </p:nvSpPr>
        <p:spPr>
          <a:xfrm>
            <a:off x="7468818"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Per-shot structured prompt with a per-second audio track and a negative list. Diff the shots and confirm the continuity block is identical.</a:t>
            </a:r>
          </a:p>
        </p:txBody>
      </p:sp>
      <p:cxnSp>
        <p:nvCxnSpPr>
          <p:cNvPr id="26" name="Connector 25"/>
          <p:cNvCxnSpPr/>
          <p:nvPr/>
        </p:nvCxnSpPr>
        <p:spPr>
          <a:xfrm>
            <a:off x="9229952" y="3451860"/>
            <a:ext cx="274320" cy="0"/>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504272" y="2148840"/>
            <a:ext cx="1907438" cy="2606040"/>
          </a:xfrm>
          <a:prstGeom prst="round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04272" y="2148840"/>
            <a:ext cx="1907438" cy="3840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4272"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ANIMATIC</a:t>
            </a:r>
          </a:p>
        </p:txBody>
      </p:sp>
      <p:sp>
        <p:nvSpPr>
          <p:cNvPr id="30" name="TextBox 29"/>
          <p:cNvSpPr txBox="1"/>
          <p:nvPr/>
        </p:nvSpPr>
        <p:spPr>
          <a:xfrm>
            <a:off x="9650576"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Render the storyboard at the shot-list timings. Review the timing and beat coverage BEFORE any generation spend.</a:t>
            </a:r>
          </a:p>
        </p:txBody>
      </p:sp>
      <p:sp>
        <p:nvSpPr>
          <p:cNvPr id="31" name="Rectangle 30"/>
          <p:cNvSpPr/>
          <p:nvPr/>
        </p:nvSpPr>
        <p:spPr>
          <a:xfrm>
            <a:off x="777240" y="5120640"/>
            <a:ext cx="10634472"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5120640"/>
            <a:ext cx="10241280" cy="914400"/>
          </a:xfrm>
          <a:prstGeom prst="rect">
            <a:avLst/>
          </a:prstGeom>
          <a:noFill/>
        </p:spPr>
        <p:txBody>
          <a:bodyPr wrap="square" anchor="ctr">
            <a:spAutoFit/>
          </a:bodyPr>
          <a:lstStyle/>
          <a:p>
            <a:pPr algn="l">
              <a:spcAft>
                <a:spcPts val="400"/>
              </a:spcAft>
            </a:pPr>
            <a:r>
              <a:rPr sz="1150" b="1">
                <a:solidFill>
                  <a:srgbClr val="127A3E"/>
                </a:solidFill>
                <a:latin typeface="Arial"/>
              </a:rPr>
              <a:t>SO WHAT   </a:t>
            </a:r>
            <a:r>
              <a:rPr sz="1300" b="0">
                <a:solidFill>
                  <a:srgbClr val="161B26"/>
                </a:solidFill>
                <a:latin typeface="Arial"/>
              </a:rPr>
              <a:t>The animatic exists so the brief can be corrected while correction is free. It is a deterministic OpenCV render, labelled ANIMATIC on every frame, and it is never submitted as a generated film.</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fast">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K10, A6 · CURRENT MODELS GENERATE AUDIO NATIVELY — SO SPECIFY 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Per-Second Audio Specification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41605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38528"/>
            <a:ext cx="6035040" cy="3849624"/>
          </a:xfrm>
          <a:prstGeom prst="rect">
            <a:avLst/>
          </a:prstGeom>
          <a:noFill/>
        </p:spPr>
        <p:txBody>
          <a:bodyPr wrap="none" lIns="0" rIns="0" tIns="0" bIns="0" anchor="t">
            <a:noAutofit/>
          </a:bodyPr>
          <a:lstStyle/>
          <a:p>
            <a:pPr>
              <a:spcAft>
                <a:spcPts val="100"/>
              </a:spcAft>
            </a:pPr>
            <a:r>
              <a:rPr sz="1080">
                <a:solidFill>
                  <a:srgbClr val="9CDCFE"/>
                </a:solidFill>
                <a:latin typeface="Consolas"/>
              </a:rPr>
              <a:t>"audio": {</a:t>
            </a:r>
          </a:p>
          <a:p>
            <a:pPr>
              <a:spcAft>
                <a:spcPts val="100"/>
              </a:spcAft>
            </a:pPr>
            <a:r>
              <a:rPr sz="1080">
                <a:solidFill>
                  <a:srgbClr val="9CDCFE"/>
                </a:solidFill>
                <a:latin typeface="Consolas"/>
              </a:rPr>
              <a:t>  "0-1s": "harbour ambience: distant halyards, water against pilings",</a:t>
            </a:r>
          </a:p>
          <a:p>
            <a:pPr>
              <a:spcAft>
                <a:spcPts val="100"/>
              </a:spcAft>
            </a:pPr>
            <a:r>
              <a:rPr sz="1080">
                <a:solidFill>
                  <a:srgbClr val="9CDCFE"/>
                </a:solidFill>
                <a:latin typeface="Consolas"/>
              </a:rPr>
              <a:t>  "1-2s": "ambience continues; footfall on timber begins",</a:t>
            </a:r>
          </a:p>
          <a:p>
            <a:pPr>
              <a:spcAft>
                <a:spcPts val="100"/>
              </a:spcAft>
            </a:pPr>
            <a:r>
              <a:rPr sz="1080">
                <a:solidFill>
                  <a:srgbClr val="9CDCFE"/>
                </a:solidFill>
                <a:latin typeface="Consolas"/>
              </a:rPr>
              <a:t>  "2-3s": "footfall, one gull call far off",</a:t>
            </a:r>
          </a:p>
          <a:p>
            <a:pPr>
              <a:spcAft>
                <a:spcPts val="100"/>
              </a:spcAft>
            </a:pPr>
            <a:r>
              <a:rPr sz="1080">
                <a:solidFill>
                  <a:srgbClr val="9CDCFE"/>
                </a:solidFill>
                <a:latin typeface="Consolas"/>
              </a:rPr>
              <a:t>  "3-4s": "ambience; low sustained string enters underneath",</a:t>
            </a:r>
          </a:p>
          <a:p>
            <a:pPr>
              <a:spcAft>
                <a:spcPts val="100"/>
              </a:spcAft>
            </a:pPr>
            <a:r>
              <a:rPr sz="1080">
                <a:solidFill>
                  <a:srgbClr val="9CDCFE"/>
                </a:solidFill>
                <a:latin typeface="Consolas"/>
              </a:rPr>
              <a:t>  "4-5s": "ambience and string; footfall slows",</a:t>
            </a:r>
          </a:p>
          <a:p>
            <a:pPr>
              <a:spcAft>
                <a:spcPts val="100"/>
              </a:spcAft>
            </a:pPr>
            <a:r>
              <a:rPr sz="1080">
                <a:solidFill>
                  <a:srgbClr val="9CDCFE"/>
                </a:solidFill>
                <a:latin typeface="Consolas"/>
              </a:rPr>
              <a:t>  "5-6s": "footfall stops; ambience opens out",</a:t>
            </a:r>
          </a:p>
          <a:p>
            <a:pPr>
              <a:spcAft>
                <a:spcPts val="100"/>
              </a:spcAft>
            </a:pPr>
            <a:r>
              <a:rPr sz="1080">
                <a:solidFill>
                  <a:srgbClr val="9CDCFE"/>
                </a:solidFill>
                <a:latin typeface="Consolas"/>
              </a:rPr>
              <a:t>  "6-7s": "ambience; string holds",</a:t>
            </a:r>
          </a:p>
          <a:p>
            <a:pPr>
              <a:spcAft>
                <a:spcPts val="100"/>
              </a:spcAft>
            </a:pPr>
            <a:r>
              <a:rPr sz="1080">
                <a:solidFill>
                  <a:srgbClr val="9CDCFE"/>
                </a:solidFill>
                <a:latin typeface="Consolas"/>
              </a:rPr>
              <a:t>  "7-8s": "ambience settles, string resolves"</a:t>
            </a:r>
          </a:p>
          <a:p>
            <a:pPr>
              <a:spcAft>
                <a:spcPts val="100"/>
              </a:spcAft>
            </a:pPr>
            <a:r>
              <a:rPr sz="1080">
                <a:solidFill>
                  <a:srgbClr val="9CDCFE"/>
                </a:solidFill>
                <a:latin typeface="Consolas"/>
              </a:rPr>
              <a:t>},</a:t>
            </a:r>
          </a:p>
          <a:p>
            <a:pPr>
              <a:spcAft>
                <a:spcPts val="100"/>
              </a:spcAft>
            </a:pPr>
            <a:r>
              <a:rPr sz="1080">
                <a:solidFill>
                  <a:srgbClr val="9CDCFE"/>
                </a:solidFill>
                <a:latin typeface="Consolas"/>
              </a:rPr>
              <a:t>"negative": ["no rendered text or logos in frame",</a:t>
            </a:r>
          </a:p>
          <a:p>
            <a:pPr>
              <a:spcAft>
                <a:spcPts val="100"/>
              </a:spcAft>
            </a:pPr>
            <a:r>
              <a:rPr sz="1080">
                <a:solidFill>
                  <a:srgbClr val="9CDCFE"/>
                </a:solidFill>
                <a:latin typeface="Consolas"/>
              </a:rPr>
              <a:t>             "no additional people", "no lens flare",</a:t>
            </a:r>
          </a:p>
          <a:p>
            <a:pPr>
              <a:spcAft>
                <a:spcPts val="100"/>
              </a:spcAft>
            </a:pPr>
            <a:r>
              <a:rPr sz="1080">
                <a:solidFill>
                  <a:srgbClr val="9CDCFE"/>
                </a:solidFill>
                <a:latin typeface="Consolas"/>
              </a:rPr>
              <a:t>             "no change to the jacket shell colour",</a:t>
            </a:r>
          </a:p>
          <a:p>
            <a:pPr>
              <a:spcAft>
                <a:spcPts val="100"/>
              </a:spcAft>
            </a:pPr>
            <a:r>
              <a:rPr sz="1080">
                <a:solidFill>
                  <a:srgbClr val="9CDCFE"/>
                </a:solidFill>
                <a:latin typeface="Consolas"/>
              </a:rPr>
              <a:t>             "no camera shake"]</a:t>
            </a:r>
          </a:p>
        </p:txBody>
      </p:sp>
      <p:sp>
        <p:nvSpPr>
          <p:cNvPr id="9" name="Rectangle 8"/>
          <p:cNvSpPr/>
          <p:nvPr/>
        </p:nvSpPr>
        <p:spPr>
          <a:xfrm>
            <a:off x="7406640" y="1783080"/>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783080"/>
            <a:ext cx="82296" cy="9166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6096" y="1783080"/>
            <a:ext cx="3602736" cy="916686"/>
          </a:xfrm>
          <a:prstGeom prst="rect">
            <a:avLst/>
          </a:prstGeom>
          <a:noFill/>
        </p:spPr>
        <p:txBody>
          <a:bodyPr wrap="square" anchor="ctr">
            <a:spAutoFit/>
          </a:bodyPr>
          <a:lstStyle/>
          <a:p>
            <a:pPr algn="l">
              <a:spcAft>
                <a:spcPts val="200"/>
              </a:spcAft>
            </a:pPr>
            <a:r>
              <a:rPr sz="1300" b="1">
                <a:solidFill>
                  <a:srgbClr val="1F6FEB"/>
                </a:solidFill>
                <a:latin typeface="Arial"/>
              </a:rPr>
              <a:t>Second by second</a:t>
            </a:r>
          </a:p>
          <a:p>
            <a:pPr algn="l">
              <a:spcAft>
                <a:spcPts val="200"/>
              </a:spcAft>
            </a:pPr>
            <a:r>
              <a:rPr sz="1150" b="0">
                <a:solidFill>
                  <a:srgbClr val="161B26"/>
                </a:solidFill>
                <a:latin typeface="Arial"/>
              </a:rPr>
              <a:t>The documented way to control native audio is to say what is heard in each second, not to describe a mood.</a:t>
            </a:r>
          </a:p>
        </p:txBody>
      </p:sp>
      <p:sp>
        <p:nvSpPr>
          <p:cNvPr id="12" name="Rectangle 11"/>
          <p:cNvSpPr/>
          <p:nvPr/>
        </p:nvSpPr>
        <p:spPr>
          <a:xfrm>
            <a:off x="7406640" y="2864358"/>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2864358"/>
            <a:ext cx="82296" cy="91668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2864358"/>
            <a:ext cx="3602736" cy="916686"/>
          </a:xfrm>
          <a:prstGeom prst="rect">
            <a:avLst/>
          </a:prstGeom>
          <a:noFill/>
        </p:spPr>
        <p:txBody>
          <a:bodyPr wrap="square" anchor="ctr">
            <a:spAutoFit/>
          </a:bodyPr>
          <a:lstStyle/>
          <a:p>
            <a:pPr algn="l">
              <a:spcAft>
                <a:spcPts val="200"/>
              </a:spcAft>
            </a:pPr>
            <a:r>
              <a:rPr sz="1300" b="1">
                <a:solidFill>
                  <a:srgbClr val="10B981"/>
                </a:solidFill>
                <a:latin typeface="Arial"/>
              </a:rPr>
              <a:t>Ambience, dialogue, music</a:t>
            </a:r>
          </a:p>
          <a:p>
            <a:pPr algn="l">
              <a:spcAft>
                <a:spcPts val="200"/>
              </a:spcAft>
            </a:pPr>
            <a:r>
              <a:rPr sz="1150" b="0">
                <a:solidFill>
                  <a:srgbClr val="161B26"/>
                </a:solidFill>
                <a:latin typeface="Arial"/>
              </a:rPr>
              <a:t>Three layers. Name each where it enters and where it resolves.</a:t>
            </a:r>
          </a:p>
        </p:txBody>
      </p:sp>
      <p:sp>
        <p:nvSpPr>
          <p:cNvPr id="15" name="Rectangle 14"/>
          <p:cNvSpPr/>
          <p:nvPr/>
        </p:nvSpPr>
        <p:spPr>
          <a:xfrm>
            <a:off x="7406640" y="3945636"/>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3945636"/>
            <a:ext cx="82296" cy="91668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6096" y="3945636"/>
            <a:ext cx="3602736" cy="916686"/>
          </a:xfrm>
          <a:prstGeom prst="rect">
            <a:avLst/>
          </a:prstGeom>
          <a:noFill/>
        </p:spPr>
        <p:txBody>
          <a:bodyPr wrap="square" anchor="ctr">
            <a:spAutoFit/>
          </a:bodyPr>
          <a:lstStyle/>
          <a:p>
            <a:pPr algn="l">
              <a:spcAft>
                <a:spcPts val="200"/>
              </a:spcAft>
            </a:pPr>
            <a:r>
              <a:rPr sz="1300" b="1">
                <a:solidFill>
                  <a:srgbClr val="7C3AED"/>
                </a:solidFill>
                <a:latin typeface="Arial"/>
              </a:rPr>
              <a:t>Negatives are not optional</a:t>
            </a:r>
          </a:p>
          <a:p>
            <a:pPr algn="l">
              <a:spcAft>
                <a:spcPts val="200"/>
              </a:spcAft>
            </a:pPr>
            <a:r>
              <a:rPr sz="1150" b="0">
                <a:solidFill>
                  <a:srgbClr val="161B26"/>
                </a:solidFill>
                <a:latin typeface="Arial"/>
              </a:rPr>
              <a:t>No rendered text or logos in frame: they go on in post so they stay editable and legible.</a:t>
            </a:r>
          </a:p>
        </p:txBody>
      </p:sp>
      <p:sp>
        <p:nvSpPr>
          <p:cNvPr id="18" name="Rectangle 17"/>
          <p:cNvSpPr/>
          <p:nvPr/>
        </p:nvSpPr>
        <p:spPr>
          <a:xfrm>
            <a:off x="7406640" y="5026914"/>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5026914"/>
            <a:ext cx="82296" cy="91668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5026914"/>
            <a:ext cx="3602736" cy="916686"/>
          </a:xfrm>
          <a:prstGeom prst="rect">
            <a:avLst/>
          </a:prstGeom>
          <a:noFill/>
        </p:spPr>
        <p:txBody>
          <a:bodyPr wrap="square" anchor="ctr">
            <a:spAutoFit/>
          </a:bodyPr>
          <a:lstStyle/>
          <a:p>
            <a:pPr algn="l">
              <a:spcAft>
                <a:spcPts val="200"/>
              </a:spcAft>
            </a:pPr>
            <a:r>
              <a:rPr sz="1300" b="1">
                <a:solidFill>
                  <a:srgbClr val="F59E0B"/>
                </a:solidFill>
                <a:latin typeface="Arial"/>
              </a:rPr>
              <a:t>This is what a shot IS</a:t>
            </a:r>
          </a:p>
          <a:p>
            <a:pPr algn="l">
              <a:spcAft>
                <a:spcPts val="200"/>
              </a:spcAft>
            </a:pPr>
            <a:r>
              <a:rPr sz="1150" b="0">
                <a:solidFill>
                  <a:srgbClr val="161B26"/>
                </a:solidFill>
                <a:latin typeface="Arial"/>
              </a:rPr>
              <a:t>The pack is the deliverable. The render is downstream of it.</a:t>
            </a:r>
          </a:p>
        </p:txBody>
      </p:sp>
      <p:sp>
        <p:nvSpPr>
          <p:cNvPr id="21" name="Rectangle 20"/>
          <p:cNvSpPr/>
          <p:nvPr/>
        </p:nvSpPr>
        <p:spPr>
          <a:xfrm>
            <a:off x="777240" y="6053328"/>
            <a:ext cx="10634472" cy="4023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6053328"/>
            <a:ext cx="10241280" cy="402336"/>
          </a:xfrm>
          <a:prstGeom prst="rect">
            <a:avLst/>
          </a:prstGeom>
          <a:noFill/>
        </p:spPr>
        <p:txBody>
          <a:bodyPr wrap="square" anchor="ctr">
            <a:spAutoFit/>
          </a:bodyPr>
          <a:lstStyle/>
          <a:p>
            <a:pPr algn="l">
              <a:spcAft>
                <a:spcPts val="400"/>
              </a:spcAft>
            </a:pPr>
            <a:r>
              <a:rPr sz="1100" b="1">
                <a:solidFill>
                  <a:srgbClr val="127A3E"/>
                </a:solidFill>
                <a:latin typeface="Arial"/>
              </a:rPr>
              <a:t>VERIFY   </a:t>
            </a:r>
            <a:r>
              <a:rPr sz="1200" b="0">
                <a:solidFill>
                  <a:srgbClr val="161B26"/>
                </a:solidFill>
                <a:latin typeface="Arial"/>
              </a:rPr>
              <a:t>Lab 09 diffs the three shot files and confirms every continuity key is character-identical before the pack is submitted.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fast">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K10, A6 · SOURCES S17, S22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Documented Continuity Mechanisms — and What Each Buys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Continuity block</a:t>
            </a:r>
          </a:p>
          <a:p>
            <a:pPr algn="l">
              <a:spcAft>
                <a:spcPts val="200"/>
              </a:spcAft>
            </a:pPr>
            <a:r>
              <a:rPr sz="1000" b="0">
                <a:solidFill>
                  <a:srgbClr val="5B6372"/>
                </a:solidFill>
                <a:latin typeface="Arial"/>
              </a:rPr>
              <a:t>Copy the locked description into every prompt programmatically. Free, and the single biggest lever.</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Reference images</a:t>
            </a:r>
          </a:p>
          <a:p>
            <a:pPr algn="l">
              <a:spcAft>
                <a:spcPts val="200"/>
              </a:spcAft>
            </a:pPr>
            <a:r>
              <a:rPr sz="1000" b="0">
                <a:solidFill>
                  <a:srgbClr val="5B6372"/>
                </a:solidFill>
                <a:latin typeface="Arial"/>
              </a:rPr>
              <a:t>Up to three images to guide content. Documented for Veo 3.1 and 3.1 Fast.</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Image-to-video</a:t>
            </a:r>
          </a:p>
          <a:p>
            <a:pPr algn="l">
              <a:spcAft>
                <a:spcPts val="200"/>
              </a:spcAft>
            </a:pPr>
            <a:r>
              <a:rPr sz="1000" b="0">
                <a:solidFill>
                  <a:srgbClr val="5B6372"/>
                </a:solidFill>
                <a:latin typeface="Arial"/>
              </a:rPr>
              <a:t>Start the shot from a fixed conditioning frame. Supported across versions, and the strongest continuity lever available.</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Video extension</a:t>
            </a:r>
          </a:p>
          <a:p>
            <a:pPr algn="l">
              <a:spcAft>
                <a:spcPts val="200"/>
              </a:spcAft>
            </a:pPr>
            <a:r>
              <a:rPr sz="1000" b="0">
                <a:solidFill>
                  <a:srgbClr val="5B6372"/>
                </a:solidFill>
                <a:latin typeface="Arial"/>
              </a:rPr>
              <a:t>Adds 7 seconds to an existing clip, so the continuation inherits the original's state rather than being resampled.</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Retrieval conditioning</a:t>
            </a:r>
          </a:p>
          <a:p>
            <a:pPr algn="l">
              <a:spcAft>
                <a:spcPts val="200"/>
              </a:spcAft>
            </a:pPr>
            <a:r>
              <a:rPr sz="1000" b="0">
                <a:solidFill>
                  <a:srgbClr val="5B6372"/>
                </a:solidFill>
                <a:latin typeface="Arial"/>
              </a:rPr>
              <a:t>Cross-attention to exemplar images for style control, without increasing parameter count.</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Then measure it</a:t>
            </a:r>
          </a:p>
          <a:p>
            <a:pPr algn="l">
              <a:spcAft>
                <a:spcPts val="200"/>
              </a:spcAft>
            </a:pPr>
            <a:r>
              <a:rPr sz="1000" b="0">
                <a:solidFill>
                  <a:srgbClr val="5B6372"/>
                </a:solidFill>
                <a:latin typeface="Arial"/>
              </a:rPr>
              <a:t>Centroid jitter, scale drift and inter-frame SSIM. Every mechanism above improves the odds; none guarantees the result.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fast">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K10 · BRIEFLY EXPLAIN HOW BACKGROUND SUBTRACTION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Background Subtraction — Isolating What Moves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41605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38528"/>
            <a:ext cx="6035040" cy="3849624"/>
          </a:xfrm>
          <a:prstGeom prst="rect">
            <a:avLst/>
          </a:prstGeom>
          <a:noFill/>
        </p:spPr>
        <p:txBody>
          <a:bodyPr wrap="none" lIns="0" rIns="0" tIns="0" bIns="0" anchor="t">
            <a:noAutofit/>
          </a:bodyPr>
          <a:lstStyle/>
          <a:p>
            <a:pPr>
              <a:spcAft>
                <a:spcPts val="100"/>
              </a:spcAft>
            </a:pPr>
            <a:r>
              <a:rPr sz="1019">
                <a:solidFill>
                  <a:srgbClr val="9CDCFE"/>
                </a:solidFill>
                <a:latin typeface="Consolas"/>
              </a:rPr>
              <a:t>sub = cv2.createBackgroundSubtractorMOG2(history=200, varThreshold=16,</a:t>
            </a:r>
          </a:p>
          <a:p>
            <a:pPr>
              <a:spcAft>
                <a:spcPts val="100"/>
              </a:spcAft>
            </a:pPr>
            <a:r>
              <a:rPr sz="1019">
                <a:solidFill>
                  <a:srgbClr val="9CDCFE"/>
                </a:solidFill>
                <a:latin typeface="Consolas"/>
              </a:rPr>
              <a:t>                                         detectShadows=True)</a:t>
            </a:r>
          </a:p>
          <a:p>
            <a:pPr>
              <a:spcAft>
                <a:spcPts val="100"/>
              </a:spcAft>
            </a:pPr>
            <a:r>
              <a:rPr sz="1019">
                <a:solidFill>
                  <a:srgbClr val="9CDCFE"/>
                </a:solidFill>
                <a:latin typeface="Consolas"/>
              </a:rPr>
              <a:t>fg  = sub.apply(frame)</a:t>
            </a:r>
          </a:p>
          <a:p>
            <a:pPr>
              <a:spcAft>
                <a:spcPts val="100"/>
              </a:spcAft>
            </a:pPr>
            <a:r>
              <a:rPr sz="1019">
                <a:solidFill>
                  <a:srgbClr val="9CDCFE"/>
                </a:solidFill>
                <a:latin typeface="Consolas"/>
              </a:rPr>
              <a:t> </a:t>
            </a:r>
          </a:p>
          <a:p>
            <a:pPr>
              <a:spcAft>
                <a:spcPts val="100"/>
              </a:spcAft>
            </a:pPr>
            <a:r>
              <a:rPr sz="1019">
                <a:solidFill>
                  <a:srgbClr val="9CDCFE"/>
                </a:solidFill>
                <a:latin typeface="Consolas"/>
              </a:rPr>
              <a:t># detectShadows=True labels shadow pixels 127, not 255 —</a:t>
            </a:r>
          </a:p>
          <a:p>
            <a:pPr>
              <a:spcAft>
                <a:spcPts val="100"/>
              </a:spcAft>
            </a:pPr>
            <a:r>
              <a:rPr sz="1019">
                <a:solidFill>
                  <a:srgbClr val="9CDCFE"/>
                </a:solidFill>
                <a:latin typeface="Consolas"/>
              </a:rPr>
              <a:t># threshold at 200 or you count shadows as subject</a:t>
            </a:r>
          </a:p>
          <a:p>
            <a:pPr>
              <a:spcAft>
                <a:spcPts val="100"/>
              </a:spcAft>
            </a:pPr>
            <a:r>
              <a:rPr sz="1019">
                <a:solidFill>
                  <a:srgbClr val="9CDCFE"/>
                </a:solidFill>
                <a:latin typeface="Consolas"/>
              </a:rPr>
              <a:t>_, hard = cv2.threshold(fg, 200, 255, cv2.THRESH_BINARY)</a:t>
            </a:r>
          </a:p>
          <a:p>
            <a:pPr>
              <a:spcAft>
                <a:spcPts val="100"/>
              </a:spcAft>
            </a:pPr>
            <a:r>
              <a:rPr sz="1019">
                <a:solidFill>
                  <a:srgbClr val="9CDCFE"/>
                </a:solidFill>
                <a:latin typeface="Consolas"/>
              </a:rPr>
              <a:t> </a:t>
            </a:r>
          </a:p>
          <a:p>
            <a:pPr>
              <a:spcAft>
                <a:spcPts val="100"/>
              </a:spcAft>
            </a:pPr>
            <a:r>
              <a:rPr sz="1019">
                <a:solidFill>
                  <a:srgbClr val="9CDCFE"/>
                </a:solidFill>
                <a:latin typeface="Consolas"/>
              </a:rPr>
              <a:t># the alternative, a k-nearest-neighbour model of each pixel</a:t>
            </a:r>
          </a:p>
          <a:p>
            <a:pPr>
              <a:spcAft>
                <a:spcPts val="100"/>
              </a:spcAft>
            </a:pPr>
            <a:r>
              <a:rPr sz="1019">
                <a:solidFill>
                  <a:srgbClr val="9CDCFE"/>
                </a:solidFill>
                <a:latin typeface="Consolas"/>
              </a:rPr>
              <a:t>knn = cv2.createBackgroundSubtractorKNN(history=200, dist2Threshold=400.0)</a:t>
            </a:r>
          </a:p>
          <a:p>
            <a:pPr>
              <a:spcAft>
                <a:spcPts val="100"/>
              </a:spcAft>
            </a:pPr>
            <a:r>
              <a:rPr sz="1019">
                <a:solidFill>
                  <a:srgbClr val="9CDCFE"/>
                </a:solidFill>
                <a:latin typeface="Consolas"/>
              </a:rPr>
              <a:t> </a:t>
            </a:r>
          </a:p>
          <a:p>
            <a:pPr>
              <a:spcAft>
                <a:spcPts val="100"/>
              </a:spcAft>
            </a:pPr>
            <a:r>
              <a:rPr sz="1019">
                <a:solidFill>
                  <a:srgbClr val="9CDCFE"/>
                </a:solidFill>
                <a:latin typeface="Consolas"/>
              </a:rPr>
              <a:t># MEASURED in Lab 10, foreground pixel count over the first ten frames:</a:t>
            </a:r>
          </a:p>
          <a:p>
            <a:pPr>
              <a:spcAft>
                <a:spcPts val="100"/>
              </a:spcAft>
            </a:pPr>
            <a:r>
              <a:rPr sz="1019">
                <a:solidFill>
                  <a:srgbClr val="9CDCFE"/>
                </a:solidFill>
                <a:latin typeface="Consolas"/>
              </a:rPr>
              <a:t>#   MOG2 : 0, 0, 0, 0, 73, 1229, 834, 799, 1185, 967</a:t>
            </a:r>
          </a:p>
          <a:p>
            <a:pPr>
              <a:spcAft>
                <a:spcPts val="100"/>
              </a:spcAft>
            </a:pPr>
            <a:r>
              <a:rPr sz="1019">
                <a:solidFill>
                  <a:srgbClr val="9CDCFE"/>
                </a:solidFill>
                <a:latin typeface="Consolas"/>
              </a:rPr>
              <a:t>#   KNN  : 307200, 307200, 307200, 307199, 2798, 2744, ...</a:t>
            </a:r>
          </a:p>
          <a:p>
            <a:pPr>
              <a:spcAft>
                <a:spcPts val="100"/>
              </a:spcAft>
            </a:pPr>
            <a:r>
              <a:rPr sz="1019">
                <a:solidFill>
                  <a:srgbClr val="9CDCFE"/>
                </a:solidFill>
                <a:latin typeface="Consolas"/>
              </a:rPr>
              <a:t># both need history before they are trustworthy — MOG2 reports nothing,</a:t>
            </a:r>
          </a:p>
          <a:p>
            <a:pPr>
              <a:spcAft>
                <a:spcPts val="100"/>
              </a:spcAft>
            </a:pPr>
            <a:r>
              <a:rPr sz="1019">
                <a:solidFill>
                  <a:srgbClr val="9CDCFE"/>
                </a:solidFill>
                <a:latin typeface="Consolas"/>
              </a:rPr>
              <a:t># KNN reports EVERYTHING. The first frames of any BS pipeline are junk.</a:t>
            </a:r>
          </a:p>
        </p:txBody>
      </p:sp>
      <p:sp>
        <p:nvSpPr>
          <p:cNvPr id="9" name="Rectangle 8"/>
          <p:cNvSpPr/>
          <p:nvPr/>
        </p:nvSpPr>
        <p:spPr>
          <a:xfrm>
            <a:off x="7406640" y="1783080"/>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783080"/>
            <a:ext cx="82296" cy="9166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6096" y="1783080"/>
            <a:ext cx="3602736" cy="916686"/>
          </a:xfrm>
          <a:prstGeom prst="rect">
            <a:avLst/>
          </a:prstGeom>
          <a:noFill/>
        </p:spPr>
        <p:txBody>
          <a:bodyPr wrap="square" anchor="ctr">
            <a:spAutoFit/>
          </a:bodyPr>
          <a:lstStyle/>
          <a:p>
            <a:pPr algn="l">
              <a:spcAft>
                <a:spcPts val="200"/>
              </a:spcAft>
            </a:pPr>
            <a:r>
              <a:rPr sz="1300" b="1">
                <a:solidFill>
                  <a:srgbClr val="1F6FEB"/>
                </a:solidFill>
                <a:latin typeface="Arial"/>
              </a:rPr>
              <a:t>A per-pixel model of the scene</a:t>
            </a:r>
          </a:p>
          <a:p>
            <a:pPr algn="l">
              <a:spcAft>
                <a:spcPts val="200"/>
              </a:spcAft>
            </a:pPr>
            <a:r>
              <a:rPr sz="1150" b="0">
                <a:solidFill>
                  <a:srgbClr val="161B26"/>
                </a:solidFill>
                <a:latin typeface="Arial"/>
              </a:rPr>
              <a:t>MOG2 models each pixel as a mixture of Gaussians over recent history.</a:t>
            </a:r>
          </a:p>
        </p:txBody>
      </p:sp>
      <p:sp>
        <p:nvSpPr>
          <p:cNvPr id="12" name="Rectangle 11"/>
          <p:cNvSpPr/>
          <p:nvPr/>
        </p:nvSpPr>
        <p:spPr>
          <a:xfrm>
            <a:off x="7406640" y="2864358"/>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2864358"/>
            <a:ext cx="82296" cy="91668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2864358"/>
            <a:ext cx="3602736" cy="916686"/>
          </a:xfrm>
          <a:prstGeom prst="rect">
            <a:avLst/>
          </a:prstGeom>
          <a:noFill/>
        </p:spPr>
        <p:txBody>
          <a:bodyPr wrap="square" anchor="ctr">
            <a:spAutoFit/>
          </a:bodyPr>
          <a:lstStyle/>
          <a:p>
            <a:pPr algn="l">
              <a:spcAft>
                <a:spcPts val="200"/>
              </a:spcAft>
            </a:pPr>
            <a:r>
              <a:rPr sz="1300" b="1">
                <a:solidFill>
                  <a:srgbClr val="10B981"/>
                </a:solidFill>
                <a:latin typeface="Arial"/>
              </a:rPr>
              <a:t>Deviation means foreground</a:t>
            </a:r>
          </a:p>
          <a:p>
            <a:pPr algn="l">
              <a:spcAft>
                <a:spcPts val="200"/>
              </a:spcAft>
            </a:pPr>
            <a:r>
              <a:rPr sz="1150" b="0">
                <a:solidFill>
                  <a:srgbClr val="161B26"/>
                </a:solidFill>
                <a:latin typeface="Arial"/>
              </a:rPr>
              <a:t>A pixel that no longer fits its own model is flagged, producing a binary mask.</a:t>
            </a:r>
          </a:p>
        </p:txBody>
      </p:sp>
      <p:sp>
        <p:nvSpPr>
          <p:cNvPr id="15" name="Rectangle 14"/>
          <p:cNvSpPr/>
          <p:nvPr/>
        </p:nvSpPr>
        <p:spPr>
          <a:xfrm>
            <a:off x="7406640" y="3945636"/>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3945636"/>
            <a:ext cx="82296" cy="91668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6096" y="3945636"/>
            <a:ext cx="3602736" cy="916686"/>
          </a:xfrm>
          <a:prstGeom prst="rect">
            <a:avLst/>
          </a:prstGeom>
          <a:noFill/>
        </p:spPr>
        <p:txBody>
          <a:bodyPr wrap="square" anchor="ctr">
            <a:spAutoFit/>
          </a:bodyPr>
          <a:lstStyle/>
          <a:p>
            <a:pPr algn="l">
              <a:spcAft>
                <a:spcPts val="200"/>
              </a:spcAft>
            </a:pPr>
            <a:r>
              <a:rPr sz="1300" b="1">
                <a:solidFill>
                  <a:srgbClr val="7C3AED"/>
                </a:solidFill>
                <a:latin typeface="Arial"/>
              </a:rPr>
              <a:t>It requires a static camera</a:t>
            </a:r>
          </a:p>
          <a:p>
            <a:pPr algn="l">
              <a:spcAft>
                <a:spcPts val="200"/>
              </a:spcAft>
            </a:pPr>
            <a:r>
              <a:rPr sz="1150" b="0">
                <a:solidFill>
                  <a:srgbClr val="161B26"/>
                </a:solidFill>
                <a:latin typeface="Arial"/>
              </a:rPr>
              <a:t>A pan invalidates the model for every pixel at once.</a:t>
            </a:r>
          </a:p>
        </p:txBody>
      </p:sp>
      <p:sp>
        <p:nvSpPr>
          <p:cNvPr id="18" name="Rectangle 17"/>
          <p:cNvSpPr/>
          <p:nvPr/>
        </p:nvSpPr>
        <p:spPr>
          <a:xfrm>
            <a:off x="7406640" y="5026914"/>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5026914"/>
            <a:ext cx="82296" cy="91668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5026914"/>
            <a:ext cx="3602736" cy="916686"/>
          </a:xfrm>
          <a:prstGeom prst="rect">
            <a:avLst/>
          </a:prstGeom>
          <a:noFill/>
        </p:spPr>
        <p:txBody>
          <a:bodyPr wrap="square" anchor="ctr">
            <a:spAutoFit/>
          </a:bodyPr>
          <a:lstStyle/>
          <a:p>
            <a:pPr algn="l">
              <a:spcAft>
                <a:spcPts val="200"/>
              </a:spcAft>
            </a:pPr>
            <a:r>
              <a:rPr sz="1300" b="1">
                <a:solidFill>
                  <a:srgbClr val="F59E0B"/>
                </a:solidFill>
                <a:latin typeface="Arial"/>
              </a:rPr>
              <a:t>Warm-up is real</a:t>
            </a:r>
          </a:p>
          <a:p>
            <a:pPr algn="l">
              <a:spcAft>
                <a:spcPts val="200"/>
              </a:spcAft>
            </a:pPr>
            <a:r>
              <a:rPr sz="1150" b="0">
                <a:solidFill>
                  <a:srgbClr val="161B26"/>
                </a:solidFill>
                <a:latin typeface="Arial"/>
              </a:rPr>
              <a:t>Measured above: the two algorithms fail in opposite directions for the first four frames.</a:t>
            </a:r>
          </a:p>
        </p:txBody>
      </p:sp>
      <p:sp>
        <p:nvSpPr>
          <p:cNvPr id="21" name="Rectangle 20"/>
          <p:cNvSpPr/>
          <p:nvPr/>
        </p:nvSpPr>
        <p:spPr>
          <a:xfrm>
            <a:off x="777240" y="6053328"/>
            <a:ext cx="10634472" cy="4023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6053328"/>
            <a:ext cx="10241280" cy="402336"/>
          </a:xfrm>
          <a:prstGeom prst="rect">
            <a:avLst/>
          </a:prstGeom>
          <a:noFill/>
        </p:spPr>
        <p:txBody>
          <a:bodyPr wrap="square" anchor="ctr">
            <a:spAutoFit/>
          </a:bodyPr>
          <a:lstStyle/>
          <a:p>
            <a:pPr algn="l">
              <a:spcAft>
                <a:spcPts val="400"/>
              </a:spcAft>
            </a:pPr>
            <a:r>
              <a:rPr sz="1100" b="1">
                <a:solidFill>
                  <a:srgbClr val="127A3E"/>
                </a:solidFill>
                <a:latin typeface="Arial"/>
              </a:rPr>
              <a:t>VERIFY   </a:t>
            </a:r>
            <a:r>
              <a:rPr sz="1200" b="0">
                <a:solidFill>
                  <a:srgbClr val="161B26"/>
                </a:solidFill>
                <a:latin typeface="Arial"/>
              </a:rPr>
              <a:t>Lab 10 runs both and asks you to record which stabilises faster and why the first frames cannot be used.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fast">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K10, A6 · BRIEFLY DESCRIBE THE DIFFERENCE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Mean Shift and CAMShift — the Same Climb, One Difference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F6FEB"/>
                </a:solidFill>
                <a:latin typeface="Arial"/>
              </a:rPr>
              <a:t>Fixed window</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Adaptive window</a:t>
            </a:r>
          </a:p>
        </p:txBody>
      </p:sp>
      <p:sp>
        <p:nvSpPr>
          <p:cNvPr id="13" name="TextBox 12"/>
          <p:cNvSpPr txBox="1"/>
          <p:nvPr/>
        </p:nvSpPr>
        <p:spPr>
          <a:xfrm>
            <a:off x="1005840" y="2423160"/>
            <a:ext cx="4754880" cy="3017520"/>
          </a:xfrm>
          <a:prstGeom prst="rect">
            <a:avLst/>
          </a:prstGeom>
          <a:noFill/>
        </p:spPr>
        <p:txBody>
          <a:bodyPr wrap="square">
            <a:spAutoFit/>
          </a:bodyPr>
          <a:lstStyle/>
          <a:p>
            <a:pPr>
              <a:spcAft>
                <a:spcPts val="800"/>
              </a:spcAft>
            </a:pPr>
            <a:r>
              <a:rPr sz="1300" b="1">
                <a:solidFill>
                  <a:srgbClr val="161B26"/>
                </a:solidFill>
                <a:latin typeface="Arial"/>
              </a:rPr>
              <a:t>•  Mean shift</a:t>
            </a:r>
          </a:p>
          <a:p>
            <a:pPr>
              <a:spcAft>
                <a:spcPts val="800"/>
              </a:spcAft>
            </a:pPr>
            <a:r>
              <a:rPr sz="1100" b="0">
                <a:solidFill>
                  <a:srgbClr val="5B6372"/>
                </a:solidFill>
                <a:latin typeface="Arial"/>
              </a:rPr>
              <a:t>–  Build a hue histogram of the initial window; back-project it onto each frame.</a:t>
            </a:r>
          </a:p>
          <a:p>
            <a:pPr>
              <a:spcAft>
                <a:spcPts val="800"/>
              </a:spcAft>
            </a:pPr>
            <a:r>
              <a:rPr sz="1100" b="0">
                <a:solidFill>
                  <a:srgbClr val="5B6372"/>
                </a:solidFill>
                <a:latin typeface="Arial"/>
              </a:rPr>
              <a:t>–  Move the window to the local maximum of that density. Repeat until it settles.</a:t>
            </a:r>
          </a:p>
          <a:p>
            <a:pPr>
              <a:spcAft>
                <a:spcPts val="800"/>
              </a:spcAft>
            </a:pPr>
            <a:r>
              <a:rPr sz="1100" b="0">
                <a:solidFill>
                  <a:srgbClr val="5B6372"/>
                </a:solidFill>
                <a:latin typeface="Arial"/>
              </a:rPr>
              <a:t>–  The window size NEVER changes.</a:t>
            </a:r>
          </a:p>
          <a:p>
            <a:pPr>
              <a:spcAft>
                <a:spcPts val="800"/>
              </a:spcAft>
            </a:pPr>
            <a:r>
              <a:rPr sz="1100" b="0">
                <a:solidFill>
                  <a:srgbClr val="5B6372"/>
                </a:solidFill>
                <a:latin typeface="Arial"/>
              </a:rPr>
              <a:t>–  So as the subject approaches the camera, the window stops containing it.</a:t>
            </a:r>
          </a:p>
        </p:txBody>
      </p:sp>
      <p:sp>
        <p:nvSpPr>
          <p:cNvPr id="14" name="TextBox 13"/>
          <p:cNvSpPr txBox="1"/>
          <p:nvPr/>
        </p:nvSpPr>
        <p:spPr>
          <a:xfrm>
            <a:off x="6583680" y="2423160"/>
            <a:ext cx="4617720" cy="3017520"/>
          </a:xfrm>
          <a:prstGeom prst="rect">
            <a:avLst/>
          </a:prstGeom>
          <a:noFill/>
        </p:spPr>
        <p:txBody>
          <a:bodyPr wrap="square">
            <a:spAutoFit/>
          </a:bodyPr>
          <a:lstStyle/>
          <a:p>
            <a:pPr>
              <a:spcAft>
                <a:spcPts val="800"/>
              </a:spcAft>
            </a:pPr>
            <a:r>
              <a:rPr sz="1300" b="1">
                <a:solidFill>
                  <a:srgbClr val="161B26"/>
                </a:solidFill>
                <a:latin typeface="Arial"/>
              </a:rPr>
              <a:t>•  CAMShift</a:t>
            </a:r>
          </a:p>
          <a:p>
            <a:pPr>
              <a:spcAft>
                <a:spcPts val="800"/>
              </a:spcAft>
            </a:pPr>
            <a:r>
              <a:rPr sz="1100" b="0">
                <a:solidFill>
                  <a:srgbClr val="5B6372"/>
                </a:solidFill>
                <a:latin typeface="Arial"/>
              </a:rPr>
              <a:t>–  Continuously Adaptive Mean Shift. Identical back-projection and climb.</a:t>
            </a:r>
          </a:p>
          <a:p>
            <a:pPr>
              <a:spcAft>
                <a:spcPts val="800"/>
              </a:spcAft>
            </a:pPr>
            <a:r>
              <a:rPr sz="1100" b="0">
                <a:solidFill>
                  <a:srgbClr val="5B6372"/>
                </a:solidFill>
                <a:latin typeface="Arial"/>
              </a:rPr>
              <a:t>–  But it recomputes the window size from the zeroth moment of the back-projection each iteration.</a:t>
            </a:r>
          </a:p>
          <a:p>
            <a:pPr>
              <a:spcAft>
                <a:spcPts val="800"/>
              </a:spcAft>
            </a:pPr>
            <a:r>
              <a:rPr sz="1100" b="0">
                <a:solidFill>
                  <a:srgbClr val="5B6372"/>
                </a:solidFill>
                <a:latin typeface="Arial"/>
              </a:rPr>
              <a:t>–  And it returns an orientation as well as a box.</a:t>
            </a:r>
          </a:p>
          <a:p>
            <a:pPr>
              <a:spcAft>
                <a:spcPts val="800"/>
              </a:spcAft>
            </a:pPr>
            <a:r>
              <a:rPr sz="1100" b="0">
                <a:solidFill>
                  <a:srgbClr val="5B6372"/>
                </a:solidFill>
                <a:latin typeface="Arial"/>
              </a:rPr>
              <a:t>–  So it adapts to a subject that changes apparent size.</a:t>
            </a:r>
          </a:p>
        </p:txBody>
      </p:sp>
      <p:sp>
        <p:nvSpPr>
          <p:cNvPr id="15" name="TextBox 14"/>
          <p:cNvSpPr txBox="1"/>
          <p:nvPr/>
        </p:nvSpPr>
        <p:spPr>
          <a:xfrm>
            <a:off x="777240" y="5669280"/>
            <a:ext cx="10698480" cy="640080"/>
          </a:xfrm>
          <a:prstGeom prst="rect">
            <a:avLst/>
          </a:prstGeom>
          <a:noFill/>
        </p:spPr>
        <p:txBody>
          <a:bodyPr wrap="square" anchor="ctr">
            <a:spAutoFit/>
          </a:bodyPr>
          <a:lstStyle/>
          <a:p>
            <a:pPr algn="ctr">
              <a:spcAft>
                <a:spcPts val="400"/>
              </a:spcAft>
            </a:pPr>
            <a:r>
              <a:rPr sz="1250" b="0">
                <a:solidFill>
                  <a:srgbClr val="5B6372"/>
                </a:solidFill>
                <a:latin typeface="Arial"/>
              </a:rPr>
              <a:t>Lab 10 measures the difference on a clip whose subject grows by a known factor of 3.876 between the first and last frame.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fast">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K10, A6 · LAB 10 · 200 FRAMES, PER-FRAME GROUND TRUTH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Measured — Three Trackers Against Exact Ground Truth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Mean shift: ratio exactly 1.000</a:t>
            </a:r>
          </a:p>
          <a:p>
            <a:pPr algn="l">
              <a:spcAft>
                <a:spcPts val="200"/>
              </a:spcAft>
            </a:pPr>
            <a:r>
              <a:rPr sz="1100" b="0">
                <a:solidFill>
                  <a:srgbClr val="161B26"/>
                </a:solidFill>
                <a:latin typeface="Arial"/>
              </a:rPr>
              <a:t>The window never resized, against a true growth of 3.876x. This is the defining limitation, measured.</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CAMShift: adapts, and overshoots</a:t>
            </a:r>
          </a:p>
          <a:p>
            <a:pPr algn="l">
              <a:spcAft>
                <a:spcPts val="200"/>
              </a:spcAft>
            </a:pPr>
            <a:r>
              <a:rPr sz="1100" b="0">
                <a:solidFill>
                  <a:srgbClr val="161B26"/>
                </a:solidFill>
                <a:latin typeface="Arial"/>
              </a:rPr>
              <a:t>5.640 against 3.876 — a relative drift of 0.455. It passes the 0.50 limit, but only just.</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CAMShift wins on IoU</a:t>
            </a:r>
          </a:p>
          <a:p>
            <a:pPr algn="l">
              <a:spcAft>
                <a:spcPts val="200"/>
              </a:spcAft>
            </a:pPr>
            <a:r>
              <a:rPr sz="1100" b="0">
                <a:solidFill>
                  <a:srgbClr val="161B26"/>
                </a:solidFill>
                <a:latin typeface="Arial"/>
              </a:rPr>
              <a:t>0.762 against 0.374 and 0.509. For a subject that changes size, it is the right choice.</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Report per tracker</a:t>
            </a:r>
          </a:p>
          <a:p>
            <a:pPr algn="l">
              <a:spcAft>
                <a:spcPts val="200"/>
              </a:spcAft>
            </a:pPr>
            <a:r>
              <a:rPr sz="1100" b="0">
                <a:solidFill>
                  <a:srgbClr val="161B26"/>
                </a:solidFill>
                <a:latin typeface="Arial"/>
              </a:rPr>
              <a:t>The same clip passes with one tracker and fails with another. The failure belongs to the tracker, not the clip.</a:t>
            </a:r>
          </a:p>
        </p:txBody>
      </p:sp>
      <p:sp>
        <p:nvSpPr>
          <p:cNvPr id="20" name="Rectangle 19"/>
          <p:cNvSpPr/>
          <p:nvPr/>
        </p:nvSpPr>
        <p:spPr>
          <a:xfrm>
            <a:off x="777240" y="5925312"/>
            <a:ext cx="1417320"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MEASURED</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Measured in Lab 10 with opencv-python 4.13 on the supplied synthetic clip, whose exact per-frame subject box was recorded when the clip was rendered. Relative drift is |measured ratio / truth ratio − 1|.</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fast">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K10, A6 · FIND THE CUT WITHOUT WATCHING THE CLIP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Dense Optical Flow and Automatic Continuity Checking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41605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38528"/>
            <a:ext cx="6035040" cy="3849624"/>
          </a:xfrm>
          <a:prstGeom prst="rect">
            <a:avLst/>
          </a:prstGeom>
          <a:noFill/>
        </p:spPr>
        <p:txBody>
          <a:bodyPr wrap="none" lIns="0" rIns="0" tIns="0" bIns="0" anchor="t">
            <a:noAutofit/>
          </a:bodyPr>
          <a:lstStyle/>
          <a:p>
            <a:pPr>
              <a:spcAft>
                <a:spcPts val="100"/>
              </a:spcAft>
            </a:pPr>
            <a:r>
              <a:rPr sz="890">
                <a:solidFill>
                  <a:srgbClr val="9CDCFE"/>
                </a:solidFill>
                <a:latin typeface="Consolas"/>
              </a:rPr>
              <a:t>prev = cv2.cvtColor(frames[0], cv2.COLOR_BGR2GRAY)   # MUST be single channel</a:t>
            </a:r>
          </a:p>
          <a:p>
            <a:pPr>
              <a:spcAft>
                <a:spcPts val="100"/>
              </a:spcAft>
            </a:pPr>
            <a:r>
              <a:rPr sz="890">
                <a:solidFill>
                  <a:srgbClr val="9CDCFE"/>
                </a:solidFill>
                <a:latin typeface="Consolas"/>
              </a:rPr>
              <a:t>mags = []</a:t>
            </a:r>
          </a:p>
          <a:p>
            <a:pPr>
              <a:spcAft>
                <a:spcPts val="100"/>
              </a:spcAft>
            </a:pPr>
            <a:r>
              <a:rPr sz="890">
                <a:solidFill>
                  <a:srgbClr val="9CDCFE"/>
                </a:solidFill>
                <a:latin typeface="Consolas"/>
              </a:rPr>
              <a:t>for frame in frames[1:]:</a:t>
            </a:r>
          </a:p>
          <a:p>
            <a:pPr>
              <a:spcAft>
                <a:spcPts val="100"/>
              </a:spcAft>
            </a:pPr>
            <a:r>
              <a:rPr sz="890">
                <a:solidFill>
                  <a:srgbClr val="9CDCFE"/>
                </a:solidFill>
                <a:latin typeface="Consolas"/>
              </a:rPr>
              <a:t>    gray = cv2.cvtColor(frame, cv2.COLOR_BGR2GRAY)</a:t>
            </a:r>
          </a:p>
          <a:p>
            <a:pPr>
              <a:spcAft>
                <a:spcPts val="100"/>
              </a:spcAft>
            </a:pPr>
            <a:r>
              <a:rPr sz="890">
                <a:solidFill>
                  <a:srgbClr val="9CDCFE"/>
                </a:solidFill>
                <a:latin typeface="Consolas"/>
              </a:rPr>
              <a:t>    flow = cv2.calcOpticalFlowFarneback(prev, gray, None,</a:t>
            </a:r>
          </a:p>
          <a:p>
            <a:pPr>
              <a:spcAft>
                <a:spcPts val="100"/>
              </a:spcAft>
            </a:pPr>
            <a:r>
              <a:rPr sz="890">
                <a:solidFill>
                  <a:srgbClr val="9CDCFE"/>
                </a:solidFill>
                <a:latin typeface="Consolas"/>
              </a:rPr>
              <a:t>                                        0.5, 3, 15, 3, 5, 1.2, 0)</a:t>
            </a:r>
          </a:p>
          <a:p>
            <a:pPr>
              <a:spcAft>
                <a:spcPts val="100"/>
              </a:spcAft>
            </a:pPr>
            <a:r>
              <a:rPr sz="890">
                <a:solidFill>
                  <a:srgbClr val="9CDCFE"/>
                </a:solidFill>
                <a:latin typeface="Consolas"/>
              </a:rPr>
              <a:t>    mag, ang = cv2.cartToPolar(flow[..., 0], flow[..., 1])</a:t>
            </a:r>
          </a:p>
          <a:p>
            <a:pPr>
              <a:spcAft>
                <a:spcPts val="100"/>
              </a:spcAft>
            </a:pPr>
            <a:r>
              <a:rPr sz="890">
                <a:solidFill>
                  <a:srgbClr val="9CDCFE"/>
                </a:solidFill>
                <a:latin typeface="Consolas"/>
              </a:rPr>
              <a:t>    mags.append(float(mag.mean()))</a:t>
            </a:r>
          </a:p>
          <a:p>
            <a:pPr>
              <a:spcAft>
                <a:spcPts val="100"/>
              </a:spcAft>
            </a:pPr>
            <a:r>
              <a:rPr sz="890">
                <a:solidFill>
                  <a:srgbClr val="9CDCFE"/>
                </a:solidFill>
                <a:latin typeface="Consolas"/>
              </a:rPr>
              <a:t>    prev = gray</a:t>
            </a:r>
          </a:p>
          <a:p>
            <a:pPr>
              <a:spcAft>
                <a:spcPts val="100"/>
              </a:spcAft>
            </a:pPr>
            <a:r>
              <a:rPr sz="890">
                <a:solidFill>
                  <a:srgbClr val="9CDCFE"/>
                </a:solidFill>
                <a:latin typeface="Consolas"/>
              </a:rPr>
              <a:t> </a:t>
            </a:r>
          </a:p>
          <a:p>
            <a:pPr>
              <a:spcAft>
                <a:spcPts val="100"/>
              </a:spcAft>
            </a:pPr>
            <a:r>
              <a:rPr sz="890">
                <a:solidFill>
                  <a:srgbClr val="9CDCFE"/>
                </a:solidFill>
                <a:latin typeface="Consolas"/>
              </a:rPr>
              <a:t># a discontinuity is a spike against the clip's own rolling behaviour</a:t>
            </a:r>
          </a:p>
          <a:p>
            <a:pPr>
              <a:spcAft>
                <a:spcPts val="100"/>
              </a:spcAft>
            </a:pPr>
            <a:r>
              <a:rPr sz="890">
                <a:solidFill>
                  <a:srgbClr val="9CDCFE"/>
                </a:solidFill>
                <a:latin typeface="Consolas"/>
              </a:rPr>
              <a:t>median = float(np.median(mags))</a:t>
            </a:r>
          </a:p>
          <a:p>
            <a:pPr>
              <a:spcAft>
                <a:spcPts val="100"/>
              </a:spcAft>
            </a:pPr>
            <a:r>
              <a:rPr sz="890">
                <a:solidFill>
                  <a:srgbClr val="9CDCFE"/>
                </a:solidFill>
                <a:latin typeface="Consolas"/>
              </a:rPr>
              <a:t>spikes = [i + 1 for i, m in enumerate(mags) if m &gt; 4.0 * median]</a:t>
            </a:r>
          </a:p>
          <a:p>
            <a:pPr>
              <a:spcAft>
                <a:spcPts val="100"/>
              </a:spcAft>
            </a:pPr>
            <a:r>
              <a:rPr sz="890">
                <a:solidFill>
                  <a:srgbClr val="9CDCFE"/>
                </a:solidFill>
                <a:latin typeface="Consolas"/>
              </a:rPr>
              <a:t>print(spikes)      # MEASURED in Lab 10: [81, 100, 102, 121, 162]</a:t>
            </a:r>
          </a:p>
          <a:p>
            <a:pPr>
              <a:spcAft>
                <a:spcPts val="100"/>
              </a:spcAft>
            </a:pPr>
            <a:r>
              <a:rPr sz="890">
                <a:solidFill>
                  <a:srgbClr val="9CDCFE"/>
                </a:solidFill>
                <a:latin typeface="Consolas"/>
              </a:rPr>
              <a:t>#                    transitions100 and102 enter and leave the declared displacement.</a:t>
            </a:r>
          </a:p>
          <a:p>
            <a:pPr>
              <a:spcAft>
                <a:spcPts val="100"/>
              </a:spcAft>
            </a:pPr>
            <a:r>
              <a:rPr sz="890">
                <a:solidFill>
                  <a:srgbClr val="9CDCFE"/>
                </a:solidFill>
                <a:latin typeface="Consolas"/>
              </a:rPr>
              <a:t>#                    The other three are candidates, not defects.</a:t>
            </a:r>
          </a:p>
        </p:txBody>
      </p:sp>
      <p:sp>
        <p:nvSpPr>
          <p:cNvPr id="9" name="Rectangle 8"/>
          <p:cNvSpPr/>
          <p:nvPr/>
        </p:nvSpPr>
        <p:spPr>
          <a:xfrm>
            <a:off x="7406640" y="1783080"/>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783080"/>
            <a:ext cx="82296" cy="9166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6096" y="1783080"/>
            <a:ext cx="3602736" cy="916686"/>
          </a:xfrm>
          <a:prstGeom prst="rect">
            <a:avLst/>
          </a:prstGeom>
          <a:noFill/>
        </p:spPr>
        <p:txBody>
          <a:bodyPr wrap="square" anchor="ctr">
            <a:spAutoFit/>
          </a:bodyPr>
          <a:lstStyle/>
          <a:p>
            <a:pPr algn="l">
              <a:spcAft>
                <a:spcPts val="200"/>
              </a:spcAft>
            </a:pPr>
            <a:r>
              <a:rPr sz="1300" b="1">
                <a:solidFill>
                  <a:srgbClr val="1F6FEB"/>
                </a:solidFill>
                <a:latin typeface="Arial"/>
              </a:rPr>
              <a:t>Flow is H x W x 2</a:t>
            </a:r>
          </a:p>
          <a:p>
            <a:pPr algn="l">
              <a:spcAft>
                <a:spcPts val="200"/>
              </a:spcAft>
            </a:pPr>
            <a:r>
              <a:rPr sz="1150" b="0">
                <a:solidFill>
                  <a:srgbClr val="161B26"/>
                </a:solidFill>
                <a:latin typeface="Arial"/>
              </a:rPr>
              <a:t>A (dx, dy) displacement for every pixel. cartToPolar turns it into magnitude and angle.</a:t>
            </a:r>
          </a:p>
        </p:txBody>
      </p:sp>
      <p:sp>
        <p:nvSpPr>
          <p:cNvPr id="12" name="Rectangle 11"/>
          <p:cNvSpPr/>
          <p:nvPr/>
        </p:nvSpPr>
        <p:spPr>
          <a:xfrm>
            <a:off x="7406640" y="2864358"/>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2864358"/>
            <a:ext cx="82296" cy="91668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2864358"/>
            <a:ext cx="3602736" cy="916686"/>
          </a:xfrm>
          <a:prstGeom prst="rect">
            <a:avLst/>
          </a:prstGeom>
          <a:noFill/>
        </p:spPr>
        <p:txBody>
          <a:bodyPr wrap="square" anchor="ctr">
            <a:spAutoFit/>
          </a:bodyPr>
          <a:lstStyle/>
          <a:p>
            <a:pPr algn="l">
              <a:spcAft>
                <a:spcPts val="200"/>
              </a:spcAft>
            </a:pPr>
            <a:r>
              <a:rPr sz="1300" b="1">
                <a:solidFill>
                  <a:srgbClr val="10B981"/>
                </a:solidFill>
                <a:latin typeface="Arial"/>
              </a:rPr>
              <a:t>Expensive</a:t>
            </a:r>
          </a:p>
          <a:p>
            <a:pPr algn="l">
              <a:spcAft>
                <a:spcPts val="200"/>
              </a:spcAft>
            </a:pPr>
            <a:r>
              <a:rPr sz="1150" b="0">
                <a:solidFill>
                  <a:srgbClr val="161B26"/>
                </a:solidFill>
                <a:latin typeface="Arial"/>
              </a:rPr>
              <a:t>Measured at 54.2 ms per 1280x720 frame in Lab 12 — the single most costly stage in the pipeline.</a:t>
            </a:r>
          </a:p>
        </p:txBody>
      </p:sp>
      <p:sp>
        <p:nvSpPr>
          <p:cNvPr id="15" name="Rectangle 14"/>
          <p:cNvSpPr/>
          <p:nvPr/>
        </p:nvSpPr>
        <p:spPr>
          <a:xfrm>
            <a:off x="7406640" y="3945636"/>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3945636"/>
            <a:ext cx="82296" cy="91668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6096" y="3945636"/>
            <a:ext cx="3602736" cy="916686"/>
          </a:xfrm>
          <a:prstGeom prst="rect">
            <a:avLst/>
          </a:prstGeom>
          <a:noFill/>
        </p:spPr>
        <p:txBody>
          <a:bodyPr wrap="square" anchor="ctr">
            <a:spAutoFit/>
          </a:bodyPr>
          <a:lstStyle/>
          <a:p>
            <a:pPr algn="l">
              <a:spcAft>
                <a:spcPts val="200"/>
              </a:spcAft>
            </a:pPr>
            <a:r>
              <a:rPr sz="1300" b="1">
                <a:solidFill>
                  <a:srgbClr val="7C3AED"/>
                </a:solidFill>
                <a:latin typeface="Arial"/>
              </a:rPr>
              <a:t>A declared cut is not a defect</a:t>
            </a:r>
          </a:p>
          <a:p>
            <a:pPr algn="l">
              <a:spcAft>
                <a:spcPts val="200"/>
              </a:spcAft>
            </a:pPr>
            <a:r>
              <a:rPr sz="1150" b="0">
                <a:solidFill>
                  <a:srgbClr val="161B26"/>
                </a:solidFill>
                <a:latin typeface="Arial"/>
              </a:rPr>
              <a:t>An UNDECLARED one is. That distinction is what the acceptance gate encodes.</a:t>
            </a:r>
          </a:p>
        </p:txBody>
      </p:sp>
      <p:sp>
        <p:nvSpPr>
          <p:cNvPr id="18" name="Rectangle 17"/>
          <p:cNvSpPr/>
          <p:nvPr/>
        </p:nvSpPr>
        <p:spPr>
          <a:xfrm>
            <a:off x="7406640" y="5026914"/>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5026914"/>
            <a:ext cx="82296" cy="91668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5026914"/>
            <a:ext cx="3602736" cy="916686"/>
          </a:xfrm>
          <a:prstGeom prst="rect">
            <a:avLst/>
          </a:prstGeom>
          <a:noFill/>
        </p:spPr>
        <p:txBody>
          <a:bodyPr wrap="square" anchor="ctr">
            <a:spAutoFit/>
          </a:bodyPr>
          <a:lstStyle/>
          <a:p>
            <a:pPr algn="l">
              <a:spcAft>
                <a:spcPts val="200"/>
              </a:spcAft>
            </a:pPr>
            <a:r>
              <a:rPr sz="1300" b="1">
                <a:solidFill>
                  <a:srgbClr val="F59E0B"/>
                </a:solidFill>
                <a:latin typeface="Arial"/>
              </a:rPr>
              <a:t>Candidates need review</a:t>
            </a:r>
          </a:p>
          <a:p>
            <a:pPr algn="l">
              <a:spcAft>
                <a:spcPts val="200"/>
              </a:spcAft>
            </a:pPr>
            <a:r>
              <a:rPr sz="1150" b="0">
                <a:solidFill>
                  <a:srgbClr val="161B26"/>
                </a:solidFill>
                <a:latin typeface="Arial"/>
              </a:rPr>
              <a:t>Three of five spikes are outside transitions 100/102; the other spikes need review. Report candidates, not as findings.</a:t>
            </a:r>
          </a:p>
        </p:txBody>
      </p:sp>
      <p:sp>
        <p:nvSpPr>
          <p:cNvPr id="21" name="Rectangle 20"/>
          <p:cNvSpPr/>
          <p:nvPr/>
        </p:nvSpPr>
        <p:spPr>
          <a:xfrm>
            <a:off x="777240" y="6053328"/>
            <a:ext cx="10634472" cy="4023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6053328"/>
            <a:ext cx="10241280" cy="402336"/>
          </a:xfrm>
          <a:prstGeom prst="rect">
            <a:avLst/>
          </a:prstGeom>
          <a:noFill/>
        </p:spPr>
        <p:txBody>
          <a:bodyPr wrap="square" anchor="ctr">
            <a:spAutoFit/>
          </a:bodyPr>
          <a:lstStyle/>
          <a:p>
            <a:pPr algn="l">
              <a:spcAft>
                <a:spcPts val="400"/>
              </a:spcAft>
            </a:pPr>
            <a:r>
              <a:rPr sz="1100" b="1">
                <a:solidFill>
                  <a:srgbClr val="127A3E"/>
                </a:solidFill>
                <a:latin typeface="Arial"/>
              </a:rPr>
              <a:t>VERIFY   </a:t>
            </a:r>
            <a:r>
              <a:rPr sz="1200" b="0">
                <a:solidFill>
                  <a:srgbClr val="161B26"/>
                </a:solidFill>
                <a:latin typeface="Arial"/>
              </a:rPr>
              <a:t>Lab 10 cross-checks the flow spike against a spike in centroid step size, so a continuity break is confirmed by two independent measurements.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fast">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A6 · WHAT REPLACES 'IT FEELS JITTERY' IN A DEFECT REPORT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Three Continuity Metrics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12263"/>
            <a:ext cx="2996184" cy="457200"/>
          </a:xfrm>
          <a:prstGeom prst="rect">
            <a:avLst/>
          </a:prstGeom>
          <a:noFill/>
        </p:spPr>
        <p:txBody>
          <a:bodyPr wrap="square" anchor="t">
            <a:spAutoFit/>
          </a:bodyPr>
          <a:lstStyle/>
          <a:p>
            <a:pPr algn="l">
              <a:spcAft>
                <a:spcPts val="400"/>
              </a:spcAft>
            </a:pPr>
            <a:r>
              <a:rPr sz="1500" b="1">
                <a:solidFill>
                  <a:srgbClr val="1F6FEB"/>
                </a:solidFill>
                <a:latin typeface="Arial"/>
              </a:rPr>
              <a:t>Centroid jitter</a:t>
            </a:r>
          </a:p>
        </p:txBody>
      </p:sp>
      <p:sp>
        <p:nvSpPr>
          <p:cNvPr id="10" name="Rectangle 9"/>
          <p:cNvSpPr/>
          <p:nvPr/>
        </p:nvSpPr>
        <p:spPr>
          <a:xfrm>
            <a:off x="960120" y="2715767"/>
            <a:ext cx="2996184" cy="14081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15767"/>
            <a:ext cx="2813304" cy="1408176"/>
          </a:xfrm>
          <a:prstGeom prst="rect">
            <a:avLst/>
          </a:prstGeom>
          <a:noFill/>
        </p:spPr>
        <p:txBody>
          <a:bodyPr wrap="none" lIns="0" rIns="0" tIns="0" bIns="0" anchor="ctr">
            <a:noAutofit/>
          </a:bodyPr>
          <a:lstStyle/>
          <a:p>
            <a:pPr>
              <a:spcAft>
                <a:spcPts val="100"/>
              </a:spcAft>
            </a:pPr>
            <a:r>
              <a:rPr sz="1400">
                <a:solidFill>
                  <a:srgbClr val="9CDCFE"/>
                </a:solidFill>
                <a:latin typeface="Consolas"/>
              </a:rPr>
              <a:t>σ( ‖cₜ − cₜ₋₁‖ )</a:t>
            </a:r>
          </a:p>
          <a:p>
            <a:pPr>
              <a:spcAft>
                <a:spcPts val="100"/>
              </a:spcAft>
            </a:pPr>
            <a:r>
              <a:rPr sz="1400">
                <a:solidFill>
                  <a:srgbClr val="9CDCFE"/>
                </a:solidFill>
                <a:latin typeface="Consolas"/>
              </a:rPr>
              <a:t>excluding declared</a:t>
            </a:r>
          </a:p>
          <a:p>
            <a:pPr>
              <a:spcAft>
                <a:spcPts val="100"/>
              </a:spcAft>
            </a:pPr>
            <a:r>
              <a:rPr sz="1400">
                <a:solidFill>
                  <a:srgbClr val="9CDCFE"/>
                </a:solidFill>
                <a:latin typeface="Consolas"/>
              </a:rPr>
              <a:t>discontinuities</a:t>
            </a:r>
          </a:p>
        </p:txBody>
      </p:sp>
      <p:sp>
        <p:nvSpPr>
          <p:cNvPr id="12" name="TextBox 11"/>
          <p:cNvSpPr txBox="1"/>
          <p:nvPr/>
        </p:nvSpPr>
        <p:spPr>
          <a:xfrm>
            <a:off x="960120" y="4233671"/>
            <a:ext cx="2996184" cy="1124712"/>
          </a:xfrm>
          <a:prstGeom prst="rect">
            <a:avLst/>
          </a:prstGeom>
          <a:noFill/>
        </p:spPr>
        <p:txBody>
          <a:bodyPr wrap="square" anchor="t">
            <a:spAutoFit/>
          </a:bodyPr>
          <a:lstStyle/>
          <a:p>
            <a:pPr algn="l">
              <a:spcAft>
                <a:spcPts val="400"/>
              </a:spcAft>
            </a:pPr>
            <a:r>
              <a:rPr sz="1200" b="0">
                <a:solidFill>
                  <a:srgbClr val="5B6372"/>
                </a:solidFill>
                <a:latin typeface="Arial"/>
              </a:rPr>
              <a:t>Standard deviation of the frame-to-frame centroid step. Turns 'it feels jittery' into a number with a limit. Lab 10's limit is 3.5 px.</a:t>
            </a:r>
          </a:p>
        </p:txBody>
      </p:sp>
      <p:sp>
        <p:nvSpPr>
          <p:cNvPr id="13" name="Rectangle 12"/>
          <p:cNvSpPr/>
          <p:nvPr/>
        </p:nvSpPr>
        <p:spPr>
          <a:xfrm>
            <a:off x="4413504"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6384" y="2112263"/>
            <a:ext cx="2996184" cy="457200"/>
          </a:xfrm>
          <a:prstGeom prst="rect">
            <a:avLst/>
          </a:prstGeom>
          <a:noFill/>
        </p:spPr>
        <p:txBody>
          <a:bodyPr wrap="square" anchor="t">
            <a:spAutoFit/>
          </a:bodyPr>
          <a:lstStyle/>
          <a:p>
            <a:pPr algn="l">
              <a:spcAft>
                <a:spcPts val="400"/>
              </a:spcAft>
            </a:pPr>
            <a:r>
              <a:rPr sz="1500" b="1">
                <a:solidFill>
                  <a:srgbClr val="10B981"/>
                </a:solidFill>
                <a:latin typeface="Arial"/>
              </a:rPr>
              <a:t>Scale drift</a:t>
            </a:r>
          </a:p>
        </p:txBody>
      </p:sp>
      <p:sp>
        <p:nvSpPr>
          <p:cNvPr id="16" name="Rectangle 15"/>
          <p:cNvSpPr/>
          <p:nvPr/>
        </p:nvSpPr>
        <p:spPr>
          <a:xfrm>
            <a:off x="4596384" y="2715767"/>
            <a:ext cx="2996184" cy="14081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7824" y="2715767"/>
            <a:ext cx="2813304" cy="1408176"/>
          </a:xfrm>
          <a:prstGeom prst="rect">
            <a:avLst/>
          </a:prstGeom>
          <a:noFill/>
        </p:spPr>
        <p:txBody>
          <a:bodyPr wrap="none" lIns="0" rIns="0" tIns="0" bIns="0" anchor="ctr">
            <a:noAutofit/>
          </a:bodyPr>
          <a:lstStyle/>
          <a:p>
            <a:pPr>
              <a:spcAft>
                <a:spcPts val="100"/>
              </a:spcAft>
            </a:pPr>
            <a:r>
              <a:rPr sz="1400">
                <a:solidFill>
                  <a:srgbClr val="9CDCFE"/>
                </a:solidFill>
                <a:latin typeface="Consolas"/>
              </a:rPr>
              <a:t>| ratio_measured</a:t>
            </a:r>
          </a:p>
          <a:p>
            <a:pPr>
              <a:spcAft>
                <a:spcPts val="100"/>
              </a:spcAft>
            </a:pPr>
            <a:r>
              <a:rPr sz="1400">
                <a:solidFill>
                  <a:srgbClr val="9CDCFE"/>
                </a:solidFill>
                <a:latin typeface="Consolas"/>
              </a:rPr>
              <a:t>  ─────────────  − 1 |</a:t>
            </a:r>
          </a:p>
          <a:p>
            <a:pPr>
              <a:spcAft>
                <a:spcPts val="100"/>
              </a:spcAft>
            </a:pPr>
            <a:r>
              <a:rPr sz="1400">
                <a:solidFill>
                  <a:srgbClr val="9CDCFE"/>
                </a:solidFill>
                <a:latin typeface="Consolas"/>
              </a:rPr>
              <a:t>  ratio_truth</a:t>
            </a:r>
          </a:p>
        </p:txBody>
      </p:sp>
      <p:sp>
        <p:nvSpPr>
          <p:cNvPr id="18" name="TextBox 17"/>
          <p:cNvSpPr txBox="1"/>
          <p:nvPr/>
        </p:nvSpPr>
        <p:spPr>
          <a:xfrm>
            <a:off x="4596384" y="4233671"/>
            <a:ext cx="2996184" cy="1124712"/>
          </a:xfrm>
          <a:prstGeom prst="rect">
            <a:avLst/>
          </a:prstGeom>
          <a:noFill/>
        </p:spPr>
        <p:txBody>
          <a:bodyPr wrap="square" anchor="t">
            <a:spAutoFit/>
          </a:bodyPr>
          <a:lstStyle/>
          <a:p>
            <a:pPr algn="l">
              <a:spcAft>
                <a:spcPts val="400"/>
              </a:spcAft>
            </a:pPr>
            <a:r>
              <a:rPr sz="1200" b="0">
                <a:solidFill>
                  <a:srgbClr val="5B6372"/>
                </a:solidFill>
                <a:latin typeface="Arial"/>
              </a:rPr>
              <a:t>RELATIVE, not absolute. The relative form normalises the error by true growth; the declared limit is0.50.</a:t>
            </a:r>
          </a:p>
        </p:txBody>
      </p:sp>
      <p:sp>
        <p:nvSpPr>
          <p:cNvPr id="19" name="Rectangle 18"/>
          <p:cNvSpPr/>
          <p:nvPr/>
        </p:nvSpPr>
        <p:spPr>
          <a:xfrm>
            <a:off x="8049768"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2648" y="2112263"/>
            <a:ext cx="2996184" cy="457200"/>
          </a:xfrm>
          <a:prstGeom prst="rect">
            <a:avLst/>
          </a:prstGeom>
          <a:noFill/>
        </p:spPr>
        <p:txBody>
          <a:bodyPr wrap="square" anchor="t">
            <a:spAutoFit/>
          </a:bodyPr>
          <a:lstStyle/>
          <a:p>
            <a:pPr algn="l">
              <a:spcAft>
                <a:spcPts val="400"/>
              </a:spcAft>
            </a:pPr>
            <a:r>
              <a:rPr sz="1500" b="1">
                <a:solidFill>
                  <a:srgbClr val="7C3AED"/>
                </a:solidFill>
                <a:latin typeface="Arial"/>
              </a:rPr>
              <a:t>Inter-frame SSIM</a:t>
            </a:r>
          </a:p>
        </p:txBody>
      </p:sp>
      <p:sp>
        <p:nvSpPr>
          <p:cNvPr id="22" name="Rectangle 21"/>
          <p:cNvSpPr/>
          <p:nvPr/>
        </p:nvSpPr>
        <p:spPr>
          <a:xfrm>
            <a:off x="8232648" y="2715767"/>
            <a:ext cx="2996184" cy="6766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4088" y="2715767"/>
            <a:ext cx="2813304" cy="676656"/>
          </a:xfrm>
          <a:prstGeom prst="rect">
            <a:avLst/>
          </a:prstGeom>
          <a:noFill/>
        </p:spPr>
        <p:txBody>
          <a:bodyPr wrap="none" lIns="0" rIns="0" tIns="0" bIns="0" anchor="ctr">
            <a:noAutofit/>
          </a:bodyPr>
          <a:lstStyle/>
          <a:p>
            <a:pPr>
              <a:spcAft>
                <a:spcPts val="100"/>
              </a:spcAft>
            </a:pPr>
            <a:r>
              <a:rPr sz="1400">
                <a:solidFill>
                  <a:srgbClr val="9CDCFE"/>
                </a:solidFill>
                <a:latin typeface="Consolas"/>
              </a:rPr>
              <a:t>mean SSIM(fₜ₋₁, fₜ)</a:t>
            </a:r>
          </a:p>
        </p:txBody>
      </p:sp>
      <p:sp>
        <p:nvSpPr>
          <p:cNvPr id="24" name="TextBox 23"/>
          <p:cNvSpPr txBox="1"/>
          <p:nvPr/>
        </p:nvSpPr>
        <p:spPr>
          <a:xfrm>
            <a:off x="8232648" y="3502151"/>
            <a:ext cx="2996184" cy="1856232"/>
          </a:xfrm>
          <a:prstGeom prst="rect">
            <a:avLst/>
          </a:prstGeom>
          <a:noFill/>
        </p:spPr>
        <p:txBody>
          <a:bodyPr wrap="square" anchor="t">
            <a:spAutoFit/>
          </a:bodyPr>
          <a:lstStyle/>
          <a:p>
            <a:pPr algn="l">
              <a:spcAft>
                <a:spcPts val="400"/>
              </a:spcAft>
            </a:pPr>
            <a:r>
              <a:rPr sz="1200" b="0">
                <a:solidFill>
                  <a:srgbClr val="5B6372"/>
                </a:solidFill>
                <a:latin typeface="Arial"/>
              </a:rPr>
              <a:t>Falls sharply at a cut or a flicker. Measured at 0.9902 on the course clip. State the sampling interval — computing it on every pair of a long clip is expensive.</a:t>
            </a:r>
          </a:p>
        </p:txBody>
      </p:sp>
      <p:sp>
        <p:nvSpPr>
          <p:cNvPr id="25" name="TextBox 2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Compute a metric only on frames where the track is VALID. A jitter figure computed across frames where the tracker had already lost the subject is not a measurement of the clip.</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fast">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K10 · ACTIVITY TRACKING, GENERATIVE MODELS, SCENE UNDERSTANDING, EVENTS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Scene Understanding and Event Discovery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Activity tracking</a:t>
            </a:r>
          </a:p>
          <a:p>
            <a:pPr algn="l">
              <a:spcAft>
                <a:spcPts val="200"/>
              </a:spcAft>
            </a:pPr>
            <a:r>
              <a:rPr sz="1000" b="0">
                <a:solidFill>
                  <a:srgbClr val="5B6372"/>
                </a:solidFill>
                <a:latin typeface="Arial"/>
              </a:rPr>
              <a:t>A track is an identity over time. Once you have a stable track you can measure dwell, speed, direction and trajectory shape.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Scene understanding</a:t>
            </a:r>
          </a:p>
          <a:p>
            <a:pPr algn="l">
              <a:spcAft>
                <a:spcPts val="200"/>
              </a:spcAft>
            </a:pPr>
            <a:r>
              <a:rPr sz="1000" b="0">
                <a:solidFill>
                  <a:srgbClr val="5B6372"/>
                </a:solidFill>
                <a:latin typeface="Arial"/>
              </a:rPr>
              <a:t>Beyond 'what is in this frame' to 'what kind of scene is this, and what is the relationship between the things in it'.</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Event discovery</a:t>
            </a:r>
          </a:p>
          <a:p>
            <a:pPr algn="l">
              <a:spcAft>
                <a:spcPts val="200"/>
              </a:spcAft>
            </a:pPr>
            <a:r>
              <a:rPr sz="1000" b="0">
                <a:solidFill>
                  <a:srgbClr val="5B6372"/>
                </a:solidFill>
                <a:latin typeface="Arial"/>
              </a:rPr>
              <a:t>A rule over a track: crossed a line, dwelled more than N seconds, entered a region, count exceeded a threshold. This is what you actually send upstream.</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Generative models here</a:t>
            </a:r>
          </a:p>
          <a:p>
            <a:pPr algn="l">
              <a:spcAft>
                <a:spcPts val="200"/>
              </a:spcAft>
            </a:pPr>
            <a:r>
              <a:rPr sz="1000" b="0">
                <a:solidFill>
                  <a:srgbClr val="5B6372"/>
                </a:solidFill>
                <a:latin typeface="Arial"/>
              </a:rPr>
              <a:t>Synthesising rare events for training, reconstructing occluded views, and predicting near-term state — all listed under K10 alongside tracking.</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Why events, not frames</a:t>
            </a:r>
          </a:p>
          <a:p>
            <a:pPr algn="l">
              <a:spcAft>
                <a:spcPts val="200"/>
              </a:spcAft>
            </a:pPr>
            <a:r>
              <a:rPr sz="1000" b="0">
                <a:solidFill>
                  <a:srgbClr val="5B6372"/>
                </a:solidFill>
                <a:latin typeface="Arial"/>
              </a:rPr>
              <a:t>An event record is a few hundred bytes. A frame is megabytes. Topic 05 turns that into a payload-rate bandwidth comparison.</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The honest caveat</a:t>
            </a:r>
          </a:p>
          <a:p>
            <a:pPr algn="l">
              <a:spcAft>
                <a:spcPts val="200"/>
              </a:spcAft>
            </a:pPr>
            <a:r>
              <a:rPr sz="1000" b="0">
                <a:solidFill>
                  <a:srgbClr val="5B6372"/>
                </a:solidFill>
                <a:latin typeface="Arial"/>
              </a:rPr>
              <a:t>Every one of these inherits the tracker's errors. A dwell-time statistic built on a track with mean IoU 0.37 is not a statistic.</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fast">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A6 · MEASURED IN LAB 11: 34 px, 33 px AND 58 px ACHIEVED CAP HEIGHT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Captions That Survive the Delivery Ladder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41605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38528"/>
            <a:ext cx="6035040" cy="3849624"/>
          </a:xfrm>
          <a:prstGeom prst="rect">
            <a:avLst/>
          </a:prstGeom>
          <a:noFill/>
        </p:spPr>
        <p:txBody>
          <a:bodyPr wrap="none" lIns="0" rIns="0" tIns="0" bIns="0" anchor="t">
            <a:noAutofit/>
          </a:bodyPr>
          <a:lstStyle/>
          <a:p>
            <a:pPr>
              <a:spcAft>
                <a:spcPts val="100"/>
              </a:spcAft>
            </a:pPr>
            <a:r>
              <a:rPr sz="950">
                <a:solidFill>
                  <a:srgbClr val="9CDCFE"/>
                </a:solidFill>
                <a:latin typeface="Consolas"/>
              </a:rPr>
              <a:t># compute the font scale from the REQUIRED cap height — never hard-code it</a:t>
            </a:r>
          </a:p>
          <a:p>
            <a:pPr>
              <a:spcAft>
                <a:spcPts val="100"/>
              </a:spcAft>
            </a:pPr>
            <a:r>
              <a:rPr sz="950">
                <a:solidFill>
                  <a:srgbClr val="9CDCFE"/>
                </a:solidFill>
                <a:latin typeface="Consolas"/>
              </a:rPr>
              <a:t>(_, h1), _ = cv2.getTextSize('Hg', cv2.FONT_HERSHEY_SIMPLEX, 1.0, 2)</a:t>
            </a:r>
          </a:p>
          <a:p>
            <a:pPr>
              <a:spcAft>
                <a:spcPts val="100"/>
              </a:spcAft>
            </a:pPr>
            <a:r>
              <a:rPr sz="950">
                <a:solidFill>
                  <a:srgbClr val="9CDCFE"/>
                </a:solidFill>
                <a:latin typeface="Consolas"/>
              </a:rPr>
              <a:t>scale      = required_cap_height_px / float(h1)</a:t>
            </a:r>
          </a:p>
          <a:p>
            <a:pPr>
              <a:spcAft>
                <a:spcPts val="100"/>
              </a:spcAft>
            </a:pPr>
            <a:r>
              <a:rPr sz="950">
                <a:solidFill>
                  <a:srgbClr val="9CDCFE"/>
                </a:solidFill>
                <a:latin typeface="Consolas"/>
              </a:rPr>
              <a:t> </a:t>
            </a:r>
          </a:p>
          <a:p>
            <a:pPr>
              <a:spcAft>
                <a:spcPts val="100"/>
              </a:spcAft>
            </a:pPr>
            <a:r>
              <a:rPr sz="950">
                <a:solidFill>
                  <a:srgbClr val="9CDCFE"/>
                </a:solidFill>
                <a:latin typeface="Consolas"/>
              </a:rPr>
              <a:t>(tw, th), base = cv2.getTextSize(text, cv2.FONT_HERSHEY_SIMPLEX, scale, 2)</a:t>
            </a:r>
          </a:p>
          <a:p>
            <a:pPr>
              <a:spcAft>
                <a:spcPts val="100"/>
              </a:spcAft>
            </a:pPr>
            <a:r>
              <a:rPr sz="950">
                <a:solidFill>
                  <a:srgbClr val="9CDCFE"/>
                </a:solidFill>
                <a:latin typeface="Consolas"/>
              </a:rPr>
              <a:t> </a:t>
            </a:r>
          </a:p>
          <a:p>
            <a:pPr>
              <a:spcAft>
                <a:spcPts val="100"/>
              </a:spcAft>
            </a:pPr>
            <a:r>
              <a:rPr sz="950">
                <a:solidFill>
                  <a:srgbClr val="9CDCFE"/>
                </a:solidFill>
                <a:latin typeface="Consolas"/>
              </a:rPr>
              <a:t># safe area: inset the frame, and place the caption FROM that rectangle</a:t>
            </a:r>
          </a:p>
          <a:p>
            <a:pPr>
              <a:spcAft>
                <a:spcPts val="100"/>
              </a:spcAft>
            </a:pPr>
            <a:r>
              <a:rPr sz="950">
                <a:solidFill>
                  <a:srgbClr val="9CDCFE"/>
                </a:solidFill>
                <a:latin typeface="Consolas"/>
              </a:rPr>
              <a:t>x0, y0, x1, y1 = safe                 # e.g. 8% inset on a 9:16 rendition</a:t>
            </a:r>
          </a:p>
          <a:p>
            <a:pPr>
              <a:spcAft>
                <a:spcPts val="100"/>
              </a:spcAft>
            </a:pPr>
            <a:r>
              <a:rPr sz="950">
                <a:solidFill>
                  <a:srgbClr val="9CDCFE"/>
                </a:solidFill>
                <a:latin typeface="Consolas"/>
              </a:rPr>
              <a:t>x   = x0 + max(0, ((x1 - x0) - tw) // 2)</a:t>
            </a:r>
          </a:p>
          <a:p>
            <a:pPr>
              <a:spcAft>
                <a:spcPts val="100"/>
              </a:spcAft>
            </a:pPr>
            <a:r>
              <a:rPr sz="950">
                <a:solidFill>
                  <a:srgbClr val="9CDCFE"/>
                </a:solidFill>
                <a:latin typeface="Consolas"/>
              </a:rPr>
              <a:t>y   = y1 - base - 10</a:t>
            </a:r>
          </a:p>
          <a:p>
            <a:pPr>
              <a:spcAft>
                <a:spcPts val="100"/>
              </a:spcAft>
            </a:pPr>
            <a:r>
              <a:rPr sz="950">
                <a:solidFill>
                  <a:srgbClr val="9CDCFE"/>
                </a:solidFill>
                <a:latin typeface="Consolas"/>
              </a:rPr>
              <a:t>pad = max(6, int(cap_h * 0.25))</a:t>
            </a:r>
          </a:p>
          <a:p>
            <a:pPr>
              <a:spcAft>
                <a:spcPts val="100"/>
              </a:spcAft>
            </a:pPr>
            <a:r>
              <a:rPr sz="950">
                <a:solidFill>
                  <a:srgbClr val="9CDCFE"/>
                </a:solidFill>
                <a:latin typeface="Consolas"/>
              </a:rPr>
              <a:t> </a:t>
            </a:r>
          </a:p>
          <a:p>
            <a:pPr>
              <a:spcAft>
                <a:spcPts val="100"/>
              </a:spcAft>
            </a:pPr>
            <a:r>
              <a:rPr sz="950">
                <a:solidFill>
                  <a:srgbClr val="9CDCFE"/>
                </a:solidFill>
                <a:latin typeface="Consolas"/>
              </a:rPr>
              <a:t># an opaque plate FIRST, then the text — never bare text over picture</a:t>
            </a:r>
          </a:p>
          <a:p>
            <a:pPr>
              <a:spcAft>
                <a:spcPts val="100"/>
              </a:spcAft>
            </a:pPr>
            <a:r>
              <a:rPr sz="950">
                <a:solidFill>
                  <a:srgbClr val="9CDCFE"/>
                </a:solidFill>
                <a:latin typeface="Consolas"/>
              </a:rPr>
              <a:t>cv2.rectangle(frame, (x-pad, y-th-pad), (x+tw+pad, y+base+pad), (18,18,22), -1)</a:t>
            </a:r>
          </a:p>
          <a:p>
            <a:pPr>
              <a:spcAft>
                <a:spcPts val="100"/>
              </a:spcAft>
            </a:pPr>
            <a:r>
              <a:rPr sz="950">
                <a:solidFill>
                  <a:srgbClr val="9CDCFE"/>
                </a:solidFill>
                <a:latin typeface="Consolas"/>
              </a:rPr>
              <a:t>cv2.putText(frame, text, (x, y), cv2.FONT_HERSHEY_SIMPLEX, scale,</a:t>
            </a:r>
          </a:p>
          <a:p>
            <a:pPr>
              <a:spcAft>
                <a:spcPts val="100"/>
              </a:spcAft>
            </a:pPr>
            <a:r>
              <a:rPr sz="950">
                <a:solidFill>
                  <a:srgbClr val="9CDCFE"/>
                </a:solidFill>
                <a:latin typeface="Consolas"/>
              </a:rPr>
              <a:t>            (245, 245, 245), 2, cv2.LINE_AA)</a:t>
            </a:r>
          </a:p>
        </p:txBody>
      </p:sp>
      <p:sp>
        <p:nvSpPr>
          <p:cNvPr id="9" name="Rectangle 8"/>
          <p:cNvSpPr/>
          <p:nvPr/>
        </p:nvSpPr>
        <p:spPr>
          <a:xfrm>
            <a:off x="7406640" y="1783080"/>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783080"/>
            <a:ext cx="82296" cy="9166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6096" y="1783080"/>
            <a:ext cx="3602736" cy="916686"/>
          </a:xfrm>
          <a:prstGeom prst="rect">
            <a:avLst/>
          </a:prstGeom>
          <a:noFill/>
        </p:spPr>
        <p:txBody>
          <a:bodyPr wrap="square" anchor="ctr">
            <a:spAutoFit/>
          </a:bodyPr>
          <a:lstStyle/>
          <a:p>
            <a:pPr algn="l">
              <a:spcAft>
                <a:spcPts val="200"/>
              </a:spcAft>
            </a:pPr>
            <a:r>
              <a:rPr sz="1300" b="1">
                <a:solidFill>
                  <a:srgbClr val="1F6FEB"/>
                </a:solidFill>
                <a:latin typeface="Arial"/>
              </a:rPr>
              <a:t>Derive the scale</a:t>
            </a:r>
          </a:p>
          <a:p>
            <a:pPr algn="l">
              <a:spcAft>
                <a:spcPts val="200"/>
              </a:spcAft>
            </a:pPr>
            <a:r>
              <a:rPr sz="1150" b="0">
                <a:solidFill>
                  <a:srgbClr val="161B26"/>
                </a:solidFill>
                <a:latin typeface="Arial"/>
              </a:rPr>
              <a:t>A fixed font scale that is legible at 1080p is unreadable at 1080x1080 after a crop.</a:t>
            </a:r>
          </a:p>
        </p:txBody>
      </p:sp>
      <p:sp>
        <p:nvSpPr>
          <p:cNvPr id="12" name="Rectangle 11"/>
          <p:cNvSpPr/>
          <p:nvPr/>
        </p:nvSpPr>
        <p:spPr>
          <a:xfrm>
            <a:off x="7406640" y="2864358"/>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2864358"/>
            <a:ext cx="82296" cy="91668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2864358"/>
            <a:ext cx="3602736" cy="916686"/>
          </a:xfrm>
          <a:prstGeom prst="rect">
            <a:avLst/>
          </a:prstGeom>
          <a:noFill/>
        </p:spPr>
        <p:txBody>
          <a:bodyPr wrap="square" anchor="ctr">
            <a:spAutoFit/>
          </a:bodyPr>
          <a:lstStyle/>
          <a:p>
            <a:pPr algn="l">
              <a:spcAft>
                <a:spcPts val="200"/>
              </a:spcAft>
            </a:pPr>
            <a:r>
              <a:rPr sz="1300" b="1">
                <a:solidFill>
                  <a:srgbClr val="10B981"/>
                </a:solidFill>
                <a:latin typeface="Arial"/>
              </a:rPr>
              <a:t>Plate before text</a:t>
            </a:r>
          </a:p>
          <a:p>
            <a:pPr algn="l">
              <a:spcAft>
                <a:spcPts val="200"/>
              </a:spcAft>
            </a:pPr>
            <a:r>
              <a:rPr sz="1150" b="0">
                <a:solidFill>
                  <a:srgbClr val="161B26"/>
                </a:solidFill>
                <a:latin typeface="Arial"/>
              </a:rPr>
              <a:t>Text over picture is unreadable on a bright frame and there is no fix in post.</a:t>
            </a:r>
          </a:p>
        </p:txBody>
      </p:sp>
      <p:sp>
        <p:nvSpPr>
          <p:cNvPr id="15" name="Rectangle 14"/>
          <p:cNvSpPr/>
          <p:nvPr/>
        </p:nvSpPr>
        <p:spPr>
          <a:xfrm>
            <a:off x="7406640" y="3945636"/>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3945636"/>
            <a:ext cx="82296" cy="91668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6096" y="3945636"/>
            <a:ext cx="3602736" cy="916686"/>
          </a:xfrm>
          <a:prstGeom prst="rect">
            <a:avLst/>
          </a:prstGeom>
          <a:noFill/>
        </p:spPr>
        <p:txBody>
          <a:bodyPr wrap="square" anchor="ctr">
            <a:spAutoFit/>
          </a:bodyPr>
          <a:lstStyle/>
          <a:p>
            <a:pPr algn="l">
              <a:spcAft>
                <a:spcPts val="200"/>
              </a:spcAft>
            </a:pPr>
            <a:r>
              <a:rPr sz="1300" b="1">
                <a:solidFill>
                  <a:srgbClr val="7C3AED"/>
                </a:solidFill>
                <a:latin typeface="Arial"/>
              </a:rPr>
              <a:t>Position from the safe area</a:t>
            </a:r>
          </a:p>
          <a:p>
            <a:pPr algn="l">
              <a:spcAft>
                <a:spcPts val="200"/>
              </a:spcAft>
            </a:pPr>
            <a:r>
              <a:rPr sz="1150" b="0">
                <a:solidFill>
                  <a:srgbClr val="161B26"/>
                </a:solidFill>
                <a:latin typeface="Arial"/>
              </a:rPr>
              <a:t>Never from a constant offset. That is what puts a caption off-frame in one rendition.</a:t>
            </a:r>
          </a:p>
        </p:txBody>
      </p:sp>
      <p:sp>
        <p:nvSpPr>
          <p:cNvPr id="18" name="Rectangle 17"/>
          <p:cNvSpPr/>
          <p:nvPr/>
        </p:nvSpPr>
        <p:spPr>
          <a:xfrm>
            <a:off x="7406640" y="5026914"/>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5026914"/>
            <a:ext cx="82296" cy="91668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5026914"/>
            <a:ext cx="3602736" cy="916686"/>
          </a:xfrm>
          <a:prstGeom prst="rect">
            <a:avLst/>
          </a:prstGeom>
          <a:noFill/>
        </p:spPr>
        <p:txBody>
          <a:bodyPr wrap="square" anchor="ctr">
            <a:spAutoFit/>
          </a:bodyPr>
          <a:lstStyle/>
          <a:p>
            <a:pPr algn="l">
              <a:spcAft>
                <a:spcPts val="200"/>
              </a:spcAft>
            </a:pPr>
            <a:r>
              <a:rPr sz="1300" b="1">
                <a:solidFill>
                  <a:srgbClr val="F59E0B"/>
                </a:solidFill>
                <a:latin typeface="Arial"/>
              </a:rPr>
              <a:t>Measure the contrast</a:t>
            </a:r>
          </a:p>
          <a:p>
            <a:pPr algn="l">
              <a:spcAft>
                <a:spcPts val="200"/>
              </a:spcAft>
            </a:pPr>
            <a:r>
              <a:rPr sz="1150" b="0">
                <a:solidFill>
                  <a:srgbClr val="161B26"/>
                </a:solidFill>
                <a:latin typeface="Arial"/>
              </a:rPr>
              <a:t>Plate-to-text luminance ratio, measured, not judged. Lab 11 records it per profile.</a:t>
            </a:r>
          </a:p>
        </p:txBody>
      </p:sp>
      <p:sp>
        <p:nvSpPr>
          <p:cNvPr id="21" name="Rectangle 20"/>
          <p:cNvSpPr/>
          <p:nvPr/>
        </p:nvSpPr>
        <p:spPr>
          <a:xfrm>
            <a:off x="777240" y="6053328"/>
            <a:ext cx="10634472" cy="4023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6053328"/>
            <a:ext cx="10241280" cy="402336"/>
          </a:xfrm>
          <a:prstGeom prst="rect">
            <a:avLst/>
          </a:prstGeom>
          <a:noFill/>
        </p:spPr>
        <p:txBody>
          <a:bodyPr wrap="square" anchor="ctr">
            <a:spAutoFit/>
          </a:bodyPr>
          <a:lstStyle/>
          <a:p>
            <a:pPr algn="l">
              <a:spcAft>
                <a:spcPts val="400"/>
              </a:spcAft>
            </a:pPr>
            <a:r>
              <a:rPr sz="1100" b="1">
                <a:solidFill>
                  <a:srgbClr val="127A3E"/>
                </a:solidFill>
                <a:latin typeface="Arial"/>
              </a:rPr>
              <a:t>VERIFY   </a:t>
            </a:r>
            <a:r>
              <a:rPr sz="1200" b="0">
                <a:solidFill>
                  <a:srgbClr val="161B26"/>
                </a:solidFill>
                <a:latin typeface="Arial"/>
              </a:rPr>
              <a:t>Lab 11 verifies every cue in every profile against the safe rectangle and writes out/safe-area-check.csv with a PASS or FAIL per cue.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fast">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A6 · LAB 11 · ALL THREE PASS SIZE AND CAP-HEIGHT GATES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The Export Ladder — Crop or Letterbox Is a Content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169791"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986911" cy="1051560"/>
          </a:xfrm>
          <a:prstGeom prst="rect">
            <a:avLst/>
          </a:prstGeom>
          <a:noFill/>
        </p:spPr>
        <p:txBody>
          <a:bodyPr wrap="square" anchor="ctr">
            <a:spAutoFit/>
          </a:bodyPr>
          <a:lstStyle/>
          <a:p>
            <a:pPr algn="l">
              <a:spcAft>
                <a:spcPts val="400"/>
              </a:spcAft>
            </a:pPr>
            <a:r>
              <a:rPr sz="1100" b="1">
                <a:solidFill>
                  <a:srgbClr val="FFFFFF"/>
                </a:solidFill>
                <a:latin typeface="Arial"/>
              </a:rPr>
              <a:t>Profile</a:t>
            </a:r>
          </a:p>
        </p:txBody>
      </p:sp>
      <p:sp>
        <p:nvSpPr>
          <p:cNvPr id="9" name="Rectangle 8"/>
          <p:cNvSpPr/>
          <p:nvPr/>
        </p:nvSpPr>
        <p:spPr>
          <a:xfrm>
            <a:off x="1947031" y="1783080"/>
            <a:ext cx="1701515"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6759" y="1783080"/>
            <a:ext cx="1518635" cy="1051560"/>
          </a:xfrm>
          <a:prstGeom prst="rect">
            <a:avLst/>
          </a:prstGeom>
          <a:noFill/>
        </p:spPr>
        <p:txBody>
          <a:bodyPr wrap="square" anchor="ctr">
            <a:spAutoFit/>
          </a:bodyPr>
          <a:lstStyle/>
          <a:p>
            <a:pPr algn="l">
              <a:spcAft>
                <a:spcPts val="400"/>
              </a:spcAft>
            </a:pPr>
            <a:r>
              <a:rPr sz="1100" b="1">
                <a:solidFill>
                  <a:srgbClr val="FFFFFF"/>
                </a:solidFill>
                <a:latin typeface="Arial"/>
              </a:rPr>
              <a:t>Output</a:t>
            </a:r>
          </a:p>
        </p:txBody>
      </p:sp>
      <p:sp>
        <p:nvSpPr>
          <p:cNvPr id="11" name="Rectangle 10"/>
          <p:cNvSpPr/>
          <p:nvPr/>
        </p:nvSpPr>
        <p:spPr>
          <a:xfrm>
            <a:off x="3648546" y="1783080"/>
            <a:ext cx="1701515"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58274" y="1783080"/>
            <a:ext cx="1518635" cy="1051560"/>
          </a:xfrm>
          <a:prstGeom prst="rect">
            <a:avLst/>
          </a:prstGeom>
          <a:noFill/>
        </p:spPr>
        <p:txBody>
          <a:bodyPr wrap="square" anchor="ctr">
            <a:spAutoFit/>
          </a:bodyPr>
          <a:lstStyle/>
          <a:p>
            <a:pPr algn="l">
              <a:spcAft>
                <a:spcPts val="400"/>
              </a:spcAft>
            </a:pPr>
            <a:r>
              <a:rPr sz="1100" b="1">
                <a:solidFill>
                  <a:srgbClr val="FFFFFF"/>
                </a:solidFill>
                <a:latin typeface="Arial"/>
              </a:rPr>
              <a:t>Reframe</a:t>
            </a:r>
          </a:p>
        </p:txBody>
      </p:sp>
      <p:sp>
        <p:nvSpPr>
          <p:cNvPr id="13" name="Rectangle 12"/>
          <p:cNvSpPr/>
          <p:nvPr/>
        </p:nvSpPr>
        <p:spPr>
          <a:xfrm>
            <a:off x="5350061" y="1783080"/>
            <a:ext cx="4360133"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59789" y="1783080"/>
            <a:ext cx="4177253" cy="1051560"/>
          </a:xfrm>
          <a:prstGeom prst="rect">
            <a:avLst/>
          </a:prstGeom>
          <a:noFill/>
        </p:spPr>
        <p:txBody>
          <a:bodyPr wrap="square" anchor="ctr">
            <a:spAutoFit/>
          </a:bodyPr>
          <a:lstStyle/>
          <a:p>
            <a:pPr algn="l">
              <a:spcAft>
                <a:spcPts val="400"/>
              </a:spcAft>
            </a:pPr>
            <a:r>
              <a:rPr sz="1100" b="1">
                <a:solidFill>
                  <a:srgbClr val="FFFFFF"/>
                </a:solidFill>
                <a:latin typeface="Arial"/>
              </a:rPr>
              <a:t>What it costs</a:t>
            </a:r>
          </a:p>
        </p:txBody>
      </p:sp>
      <p:sp>
        <p:nvSpPr>
          <p:cNvPr id="15" name="Rectangle 14"/>
          <p:cNvSpPr/>
          <p:nvPr/>
        </p:nvSpPr>
        <p:spPr>
          <a:xfrm>
            <a:off x="9710194" y="1783080"/>
            <a:ext cx="1701515"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19922" y="1783080"/>
            <a:ext cx="1518635" cy="1051560"/>
          </a:xfrm>
          <a:prstGeom prst="rect">
            <a:avLst/>
          </a:prstGeom>
          <a:noFill/>
        </p:spPr>
        <p:txBody>
          <a:bodyPr wrap="square" anchor="ctr">
            <a:spAutoFit/>
          </a:bodyPr>
          <a:lstStyle/>
          <a:p>
            <a:pPr algn="l">
              <a:spcAft>
                <a:spcPts val="400"/>
              </a:spcAft>
            </a:pPr>
            <a:r>
              <a:rPr sz="1100" b="1">
                <a:solidFill>
                  <a:srgbClr val="FFFFFF"/>
                </a:solidFill>
                <a:latin typeface="Arial"/>
              </a:rPr>
              <a:t>Measured size</a:t>
            </a:r>
          </a:p>
        </p:txBody>
      </p:sp>
      <p:sp>
        <p:nvSpPr>
          <p:cNvPr id="17" name="Rectangle 16"/>
          <p:cNvSpPr/>
          <p:nvPr/>
        </p:nvSpPr>
        <p:spPr>
          <a:xfrm>
            <a:off x="777240" y="2834640"/>
            <a:ext cx="1169791"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2834640"/>
            <a:ext cx="986911" cy="1051560"/>
          </a:xfrm>
          <a:prstGeom prst="rect">
            <a:avLst/>
          </a:prstGeom>
          <a:noFill/>
        </p:spPr>
        <p:txBody>
          <a:bodyPr wrap="square" anchor="ctr">
            <a:spAutoFit/>
          </a:bodyPr>
          <a:lstStyle/>
          <a:p>
            <a:pPr algn="l">
              <a:spcAft>
                <a:spcPts val="400"/>
              </a:spcAft>
            </a:pPr>
            <a:r>
              <a:rPr sz="1000" b="1">
                <a:solidFill>
                  <a:srgbClr val="161B26"/>
                </a:solidFill>
                <a:latin typeface="Arial"/>
              </a:rPr>
              <a:t>16x9</a:t>
            </a:r>
          </a:p>
        </p:txBody>
      </p:sp>
      <p:sp>
        <p:nvSpPr>
          <p:cNvPr id="19" name="Rectangle 18"/>
          <p:cNvSpPr/>
          <p:nvPr/>
        </p:nvSpPr>
        <p:spPr>
          <a:xfrm>
            <a:off x="1947031" y="2834640"/>
            <a:ext cx="1701515"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56759" y="2834640"/>
            <a:ext cx="1518635" cy="1051560"/>
          </a:xfrm>
          <a:prstGeom prst="rect">
            <a:avLst/>
          </a:prstGeom>
          <a:noFill/>
        </p:spPr>
        <p:txBody>
          <a:bodyPr wrap="square" anchor="ctr">
            <a:spAutoFit/>
          </a:bodyPr>
          <a:lstStyle/>
          <a:p>
            <a:pPr algn="l">
              <a:spcAft>
                <a:spcPts val="400"/>
              </a:spcAft>
            </a:pPr>
            <a:r>
              <a:rPr sz="1000" b="0">
                <a:solidFill>
                  <a:srgbClr val="161B26"/>
                </a:solidFill>
                <a:latin typeface="Arial"/>
              </a:rPr>
              <a:t>1920 x 1080</a:t>
            </a:r>
          </a:p>
        </p:txBody>
      </p:sp>
      <p:sp>
        <p:nvSpPr>
          <p:cNvPr id="21" name="Rectangle 20"/>
          <p:cNvSpPr/>
          <p:nvPr/>
        </p:nvSpPr>
        <p:spPr>
          <a:xfrm>
            <a:off x="3648546" y="2834640"/>
            <a:ext cx="1701515"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58274" y="2834640"/>
            <a:ext cx="1518635" cy="1051560"/>
          </a:xfrm>
          <a:prstGeom prst="rect">
            <a:avLst/>
          </a:prstGeom>
          <a:noFill/>
        </p:spPr>
        <p:txBody>
          <a:bodyPr wrap="square" anchor="ctr">
            <a:spAutoFit/>
          </a:bodyPr>
          <a:lstStyle/>
          <a:p>
            <a:pPr algn="l">
              <a:spcAft>
                <a:spcPts val="400"/>
              </a:spcAft>
            </a:pPr>
            <a:r>
              <a:rPr sz="1000" b="0">
                <a:solidFill>
                  <a:srgbClr val="161B26"/>
                </a:solidFill>
                <a:latin typeface="Arial"/>
              </a:rPr>
              <a:t>none</a:t>
            </a:r>
          </a:p>
        </p:txBody>
      </p:sp>
      <p:sp>
        <p:nvSpPr>
          <p:cNvPr id="23" name="Rectangle 22"/>
          <p:cNvSpPr/>
          <p:nvPr/>
        </p:nvSpPr>
        <p:spPr>
          <a:xfrm>
            <a:off x="5350061" y="2834640"/>
            <a:ext cx="4360133"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59789" y="2834640"/>
            <a:ext cx="4177253" cy="1051560"/>
          </a:xfrm>
          <a:prstGeom prst="rect">
            <a:avLst/>
          </a:prstGeom>
          <a:noFill/>
        </p:spPr>
        <p:txBody>
          <a:bodyPr wrap="square" anchor="ctr">
            <a:spAutoFit/>
          </a:bodyPr>
          <a:lstStyle/>
          <a:p>
            <a:pPr algn="l">
              <a:spcAft>
                <a:spcPts val="400"/>
              </a:spcAft>
            </a:pPr>
            <a:r>
              <a:rPr sz="1000" b="0">
                <a:solidFill>
                  <a:srgbClr val="161B26"/>
                </a:solidFill>
                <a:latin typeface="Arial"/>
              </a:rPr>
              <a:t>Nothing — the master ratio</a:t>
            </a:r>
          </a:p>
        </p:txBody>
      </p:sp>
      <p:sp>
        <p:nvSpPr>
          <p:cNvPr id="25" name="Rectangle 24"/>
          <p:cNvSpPr/>
          <p:nvPr/>
        </p:nvSpPr>
        <p:spPr>
          <a:xfrm>
            <a:off x="9710194" y="2834640"/>
            <a:ext cx="1701515"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19922" y="2834640"/>
            <a:ext cx="1518635" cy="1051560"/>
          </a:xfrm>
          <a:prstGeom prst="rect">
            <a:avLst/>
          </a:prstGeom>
          <a:noFill/>
        </p:spPr>
        <p:txBody>
          <a:bodyPr wrap="square" anchor="ctr">
            <a:spAutoFit/>
          </a:bodyPr>
          <a:lstStyle/>
          <a:p>
            <a:pPr algn="l">
              <a:spcAft>
                <a:spcPts val="400"/>
              </a:spcAft>
            </a:pPr>
            <a:r>
              <a:rPr sz="1000" b="0">
                <a:solidFill>
                  <a:srgbClr val="161B26"/>
                </a:solidFill>
                <a:latin typeface="Arial"/>
              </a:rPr>
              <a:t>2.41 MB</a:t>
            </a:r>
          </a:p>
        </p:txBody>
      </p:sp>
      <p:sp>
        <p:nvSpPr>
          <p:cNvPr id="27" name="Rectangle 26"/>
          <p:cNvSpPr/>
          <p:nvPr/>
        </p:nvSpPr>
        <p:spPr>
          <a:xfrm>
            <a:off x="777240" y="3886200"/>
            <a:ext cx="1169791"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6968" y="3886200"/>
            <a:ext cx="986911" cy="1051560"/>
          </a:xfrm>
          <a:prstGeom prst="rect">
            <a:avLst/>
          </a:prstGeom>
          <a:noFill/>
        </p:spPr>
        <p:txBody>
          <a:bodyPr wrap="square" anchor="ctr">
            <a:spAutoFit/>
          </a:bodyPr>
          <a:lstStyle/>
          <a:p>
            <a:pPr algn="l">
              <a:spcAft>
                <a:spcPts val="400"/>
              </a:spcAft>
            </a:pPr>
            <a:r>
              <a:rPr sz="1000" b="1">
                <a:solidFill>
                  <a:srgbClr val="161B26"/>
                </a:solidFill>
                <a:latin typeface="Arial"/>
              </a:rPr>
              <a:t>1x1</a:t>
            </a:r>
          </a:p>
        </p:txBody>
      </p:sp>
      <p:sp>
        <p:nvSpPr>
          <p:cNvPr id="29" name="Rectangle 28"/>
          <p:cNvSpPr/>
          <p:nvPr/>
        </p:nvSpPr>
        <p:spPr>
          <a:xfrm>
            <a:off x="1947031" y="3886200"/>
            <a:ext cx="1701515"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56759" y="3886200"/>
            <a:ext cx="1518635" cy="1051560"/>
          </a:xfrm>
          <a:prstGeom prst="rect">
            <a:avLst/>
          </a:prstGeom>
          <a:noFill/>
        </p:spPr>
        <p:txBody>
          <a:bodyPr wrap="square" anchor="ctr">
            <a:spAutoFit/>
          </a:bodyPr>
          <a:lstStyle/>
          <a:p>
            <a:pPr algn="l">
              <a:spcAft>
                <a:spcPts val="400"/>
              </a:spcAft>
            </a:pPr>
            <a:r>
              <a:rPr sz="1000" b="0">
                <a:solidFill>
                  <a:srgbClr val="161B26"/>
                </a:solidFill>
                <a:latin typeface="Arial"/>
              </a:rPr>
              <a:t>1080 x 1080</a:t>
            </a:r>
          </a:p>
        </p:txBody>
      </p:sp>
      <p:sp>
        <p:nvSpPr>
          <p:cNvPr id="31" name="Rectangle 30"/>
          <p:cNvSpPr/>
          <p:nvPr/>
        </p:nvSpPr>
        <p:spPr>
          <a:xfrm>
            <a:off x="3648546" y="3886200"/>
            <a:ext cx="1701515"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58274" y="3886200"/>
            <a:ext cx="1518635" cy="1051560"/>
          </a:xfrm>
          <a:prstGeom prst="rect">
            <a:avLst/>
          </a:prstGeom>
          <a:noFill/>
        </p:spPr>
        <p:txBody>
          <a:bodyPr wrap="square" anchor="ctr">
            <a:spAutoFit/>
          </a:bodyPr>
          <a:lstStyle/>
          <a:p>
            <a:pPr algn="l">
              <a:spcAft>
                <a:spcPts val="400"/>
              </a:spcAft>
            </a:pPr>
            <a:r>
              <a:rPr sz="1000" b="0">
                <a:solidFill>
                  <a:srgbClr val="161B26"/>
                </a:solidFill>
                <a:latin typeface="Arial"/>
              </a:rPr>
              <a:t>centre crop</a:t>
            </a:r>
          </a:p>
        </p:txBody>
      </p:sp>
      <p:sp>
        <p:nvSpPr>
          <p:cNvPr id="33" name="Rectangle 32"/>
          <p:cNvSpPr/>
          <p:nvPr/>
        </p:nvSpPr>
        <p:spPr>
          <a:xfrm>
            <a:off x="5350061" y="3886200"/>
            <a:ext cx="4360133"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59789" y="3886200"/>
            <a:ext cx="4177253" cy="1051560"/>
          </a:xfrm>
          <a:prstGeom prst="rect">
            <a:avLst/>
          </a:prstGeom>
          <a:noFill/>
        </p:spPr>
        <p:txBody>
          <a:bodyPr wrap="square" anchor="ctr">
            <a:spAutoFit/>
          </a:bodyPr>
          <a:lstStyle/>
          <a:p>
            <a:pPr algn="l">
              <a:spcAft>
                <a:spcPts val="400"/>
              </a:spcAft>
            </a:pPr>
            <a:r>
              <a:rPr sz="1000" b="0">
                <a:solidFill>
                  <a:srgbClr val="161B26"/>
                </a:solidFill>
                <a:latin typeface="Arial"/>
              </a:rPr>
              <a:t>The sides; the subject sits centrally in every shot</a:t>
            </a:r>
          </a:p>
        </p:txBody>
      </p:sp>
      <p:sp>
        <p:nvSpPr>
          <p:cNvPr id="35" name="Rectangle 34"/>
          <p:cNvSpPr/>
          <p:nvPr/>
        </p:nvSpPr>
        <p:spPr>
          <a:xfrm>
            <a:off x="9710194" y="3886200"/>
            <a:ext cx="1701515"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19922" y="3886200"/>
            <a:ext cx="1518635" cy="1051560"/>
          </a:xfrm>
          <a:prstGeom prst="rect">
            <a:avLst/>
          </a:prstGeom>
          <a:noFill/>
        </p:spPr>
        <p:txBody>
          <a:bodyPr wrap="square" anchor="ctr">
            <a:spAutoFit/>
          </a:bodyPr>
          <a:lstStyle/>
          <a:p>
            <a:pPr algn="l">
              <a:spcAft>
                <a:spcPts val="400"/>
              </a:spcAft>
            </a:pPr>
            <a:r>
              <a:rPr sz="1000" b="0">
                <a:solidFill>
                  <a:srgbClr val="161B26"/>
                </a:solidFill>
                <a:latin typeface="Arial"/>
              </a:rPr>
              <a:t>1.59 MB</a:t>
            </a:r>
          </a:p>
        </p:txBody>
      </p:sp>
      <p:sp>
        <p:nvSpPr>
          <p:cNvPr id="37" name="Rectangle 36"/>
          <p:cNvSpPr/>
          <p:nvPr/>
        </p:nvSpPr>
        <p:spPr>
          <a:xfrm>
            <a:off x="777240" y="4937760"/>
            <a:ext cx="1169791"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4937760"/>
            <a:ext cx="986911" cy="1051560"/>
          </a:xfrm>
          <a:prstGeom prst="rect">
            <a:avLst/>
          </a:prstGeom>
          <a:noFill/>
        </p:spPr>
        <p:txBody>
          <a:bodyPr wrap="square" anchor="ctr">
            <a:spAutoFit/>
          </a:bodyPr>
          <a:lstStyle/>
          <a:p>
            <a:pPr algn="l">
              <a:spcAft>
                <a:spcPts val="400"/>
              </a:spcAft>
            </a:pPr>
            <a:r>
              <a:rPr sz="1000" b="1">
                <a:solidFill>
                  <a:srgbClr val="161B26"/>
                </a:solidFill>
                <a:latin typeface="Arial"/>
              </a:rPr>
              <a:t>9x16</a:t>
            </a:r>
          </a:p>
        </p:txBody>
      </p:sp>
      <p:sp>
        <p:nvSpPr>
          <p:cNvPr id="39" name="Rectangle 38"/>
          <p:cNvSpPr/>
          <p:nvPr/>
        </p:nvSpPr>
        <p:spPr>
          <a:xfrm>
            <a:off x="1947031" y="4937760"/>
            <a:ext cx="1701515"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056759" y="4937760"/>
            <a:ext cx="1518635" cy="1051560"/>
          </a:xfrm>
          <a:prstGeom prst="rect">
            <a:avLst/>
          </a:prstGeom>
          <a:noFill/>
        </p:spPr>
        <p:txBody>
          <a:bodyPr wrap="square" anchor="ctr">
            <a:spAutoFit/>
          </a:bodyPr>
          <a:lstStyle/>
          <a:p>
            <a:pPr algn="l">
              <a:spcAft>
                <a:spcPts val="400"/>
              </a:spcAft>
            </a:pPr>
            <a:r>
              <a:rPr sz="1000" b="0">
                <a:solidFill>
                  <a:srgbClr val="161B26"/>
                </a:solidFill>
                <a:latin typeface="Arial"/>
              </a:rPr>
              <a:t>1080 x 1920</a:t>
            </a:r>
          </a:p>
        </p:txBody>
      </p:sp>
      <p:sp>
        <p:nvSpPr>
          <p:cNvPr id="41" name="Rectangle 40"/>
          <p:cNvSpPr/>
          <p:nvPr/>
        </p:nvSpPr>
        <p:spPr>
          <a:xfrm>
            <a:off x="3648546" y="4937760"/>
            <a:ext cx="1701515"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758274" y="4937760"/>
            <a:ext cx="1518635" cy="1051560"/>
          </a:xfrm>
          <a:prstGeom prst="rect">
            <a:avLst/>
          </a:prstGeom>
          <a:noFill/>
        </p:spPr>
        <p:txBody>
          <a:bodyPr wrap="square" anchor="ctr">
            <a:spAutoFit/>
          </a:bodyPr>
          <a:lstStyle/>
          <a:p>
            <a:pPr algn="l">
              <a:spcAft>
                <a:spcPts val="400"/>
              </a:spcAft>
            </a:pPr>
            <a:r>
              <a:rPr sz="1000" b="0">
                <a:solidFill>
                  <a:srgbClr val="161B26"/>
                </a:solidFill>
                <a:latin typeface="Arial"/>
              </a:rPr>
              <a:t>centre crop</a:t>
            </a:r>
          </a:p>
        </p:txBody>
      </p:sp>
      <p:sp>
        <p:nvSpPr>
          <p:cNvPr id="43" name="Rectangle 42"/>
          <p:cNvSpPr/>
          <p:nvPr/>
        </p:nvSpPr>
        <p:spPr>
          <a:xfrm>
            <a:off x="5350061" y="4937760"/>
            <a:ext cx="4360133"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59789" y="4937760"/>
            <a:ext cx="4177253" cy="1051560"/>
          </a:xfrm>
          <a:prstGeom prst="rect">
            <a:avLst/>
          </a:prstGeom>
          <a:noFill/>
        </p:spPr>
        <p:txBody>
          <a:bodyPr wrap="square" anchor="ctr">
            <a:spAutoFit/>
          </a:bodyPr>
          <a:lstStyle/>
          <a:p>
            <a:pPr algn="l">
              <a:spcAft>
                <a:spcPts val="400"/>
              </a:spcAft>
            </a:pPr>
            <a:r>
              <a:rPr sz="1000" b="0">
                <a:solidFill>
                  <a:srgbClr val="161B26"/>
                </a:solidFill>
                <a:latin typeface="Arial"/>
              </a:rPr>
              <a:t>31.64% of the source width; a letterbox would leave 68.36% of the portrait frame as bars</a:t>
            </a:r>
          </a:p>
        </p:txBody>
      </p:sp>
      <p:sp>
        <p:nvSpPr>
          <p:cNvPr id="45" name="Rectangle 44"/>
          <p:cNvSpPr/>
          <p:nvPr/>
        </p:nvSpPr>
        <p:spPr>
          <a:xfrm>
            <a:off x="9710194" y="4937760"/>
            <a:ext cx="1701515"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819922" y="4937760"/>
            <a:ext cx="1518635" cy="1051560"/>
          </a:xfrm>
          <a:prstGeom prst="rect">
            <a:avLst/>
          </a:prstGeom>
          <a:noFill/>
        </p:spPr>
        <p:txBody>
          <a:bodyPr wrap="square" anchor="ctr">
            <a:spAutoFit/>
          </a:bodyPr>
          <a:lstStyle/>
          <a:p>
            <a:pPr algn="l">
              <a:spcAft>
                <a:spcPts val="400"/>
              </a:spcAft>
            </a:pPr>
            <a:r>
              <a:rPr sz="1000" b="0">
                <a:solidFill>
                  <a:srgbClr val="161B26"/>
                </a:solidFill>
                <a:latin typeface="Arial"/>
              </a:rPr>
              <a:t>2.35 MB</a:t>
            </a:r>
          </a:p>
        </p:txBody>
      </p:sp>
      <p:sp>
        <p:nvSpPr>
          <p:cNvPr id="47" name="TextBox 46"/>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Measured in Lab 11 with opencv-python 4.13 on the 12-second synthetic source. Every rendition inherits the source's SIMULATED provenance label — the label travels to every derivative.</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fast">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DC2626"/>
                </a:solidFill>
                <a:latin typeface="Arial"/>
              </a:rPr>
              <a:t>K10 · SOURCE S12 · MULTIMODAL GENERATIVE AI, CH.8 PP.127–132, 140–143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Responsible Practice for Synthetic Video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Deepfakes are the named risk</a:t>
            </a:r>
          </a:p>
          <a:p>
            <a:pPr algn="l">
              <a:spcAft>
                <a:spcPts val="200"/>
              </a:spcAft>
            </a:pPr>
            <a:r>
              <a:rPr sz="1000" b="0">
                <a:solidFill>
                  <a:srgbClr val="5B6372"/>
                </a:solidFill>
                <a:latin typeface="Arial"/>
              </a:rPr>
              <a:t>Synthetic video of a real person saying something they did not say is the headline harm in every responsible-AI framework.</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Voice cloning too</a:t>
            </a:r>
          </a:p>
          <a:p>
            <a:pPr algn="l">
              <a:spcAft>
                <a:spcPts val="200"/>
              </a:spcAft>
            </a:pPr>
            <a:r>
              <a:rPr sz="1000" b="0">
                <a:solidFill>
                  <a:srgbClr val="5B6372"/>
                </a:solidFill>
                <a:latin typeface="Arial"/>
              </a:rPr>
              <a:t>Native audio generation extends the same risk to speech — fraud and defamation are the cited misuse cases.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C2PA Content Credentials</a:t>
            </a:r>
          </a:p>
          <a:p>
            <a:pPr algn="l">
              <a:spcAft>
                <a:spcPts val="200"/>
              </a:spcAft>
            </a:pPr>
            <a:r>
              <a:rPr sz="1000" b="0">
                <a:solidFill>
                  <a:srgbClr val="5B6372"/>
                </a:solidFill>
                <a:latin typeface="Arial"/>
              </a:rPr>
              <a:t>Tamper-evident metadata recording origin, creator and edit history, so a viewer can verify a file's provenance.</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Robust watermarking</a:t>
            </a:r>
          </a:p>
          <a:p>
            <a:pPr algn="l">
              <a:spcAft>
                <a:spcPts val="200"/>
              </a:spcAft>
            </a:pPr>
            <a:r>
              <a:rPr sz="1000" b="0">
                <a:solidFill>
                  <a:srgbClr val="5B6372"/>
                </a:solidFill>
                <a:latin typeface="Arial"/>
              </a:rPr>
              <a:t>An invisible signal embedded in the content itself, designed to survive compression, cropping and format change. Current Gemini image outputs carry SynthID.</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Model cards</a:t>
            </a:r>
          </a:p>
          <a:p>
            <a:pPr algn="l">
              <a:spcAft>
                <a:spcPts val="200"/>
              </a:spcAft>
            </a:pPr>
            <a:r>
              <a:rPr sz="1000" b="0">
                <a:solidFill>
                  <a:srgbClr val="5B6372"/>
                </a:solidFill>
                <a:latin typeface="Arial"/>
              </a:rPr>
              <a:t>A 'nutrition label for AI': version, architecture, developer, intended use and known limitations, published with the model.</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Test the watermark, do not assume it</a:t>
            </a:r>
          </a:p>
          <a:p>
            <a:pPr algn="l">
              <a:spcAft>
                <a:spcPts val="200"/>
              </a:spcAft>
            </a:pPr>
            <a:r>
              <a:rPr sz="1000" b="0">
                <a:solidFill>
                  <a:srgbClr val="5B6372"/>
                </a:solidFill>
                <a:latin typeface="Arial"/>
              </a:rPr>
              <a:t>Detectability must be evaluated under the edits your pipeline actually applies, not on the pristine file.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fast">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500" b="1">
                <a:solidFill>
                  <a:srgbClr val="DC2626"/>
                </a:solidFill>
                <a:latin typeface="Arial"/>
              </a:rPr>
              <a:t>K10 · THE RULE THAT APPLIES TO EVERY ARTEFACT YOU PRODUCE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400" b="1">
                <a:solidFill>
                  <a:srgbClr val="161B26"/>
                </a:solidFill>
                <a:latin typeface="Arial"/>
              </a:rPr>
              <a:t>Never present a deterministic render as generative-model output.</a:t>
            </a:r>
          </a:p>
        </p:txBody>
      </p:sp>
      <p:sp>
        <p:nvSpPr>
          <p:cNvPr id="6" name="TextBox 5"/>
          <p:cNvSpPr txBox="1"/>
          <p:nvPr/>
        </p:nvSpPr>
        <p:spPr>
          <a:xfrm>
            <a:off x="1024128" y="4480560"/>
            <a:ext cx="10058400" cy="1280160"/>
          </a:xfrm>
          <a:prstGeom prst="rect">
            <a:avLst/>
          </a:prstGeom>
          <a:noFill/>
        </p:spPr>
        <p:txBody>
          <a:bodyPr wrap="square" anchor="t">
            <a:spAutoFit/>
          </a:bodyPr>
          <a:lstStyle/>
          <a:p>
            <a:pPr algn="l">
              <a:spcAft>
                <a:spcPts val="400"/>
              </a:spcAft>
            </a:pPr>
            <a:r>
              <a:rPr sz="1700" b="0">
                <a:solidFill>
                  <a:srgbClr val="5B6372"/>
                </a:solidFill>
                <a:latin typeface="Arial"/>
              </a:rPr>
              <a:t>The animatic in Lab 09 carries a burned-in label on every frame for exactly this reason. Mislabelling provenance is a governance failure, not a presentation choice — and it is the fastest way to lose an audit.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fast">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K9 · CONTEXT FOR THE TWO DETECTORS YOU RUN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Deep-Learning Detector Families — Know the Shape of Each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552273"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369393" cy="841248"/>
          </a:xfrm>
          <a:prstGeom prst="rect">
            <a:avLst/>
          </a:prstGeom>
          <a:noFill/>
        </p:spPr>
        <p:txBody>
          <a:bodyPr wrap="square" anchor="ctr">
            <a:spAutoFit/>
          </a:bodyPr>
          <a:lstStyle/>
          <a:p>
            <a:pPr algn="l">
              <a:spcAft>
                <a:spcPts val="400"/>
              </a:spcAft>
            </a:pPr>
            <a:r>
              <a:rPr sz="1100" b="1">
                <a:solidFill>
                  <a:srgbClr val="FFFFFF"/>
                </a:solidFill>
                <a:latin typeface="Arial"/>
              </a:rPr>
              <a:t>Family</a:t>
            </a:r>
          </a:p>
        </p:txBody>
      </p:sp>
      <p:sp>
        <p:nvSpPr>
          <p:cNvPr id="9" name="Rectangle 8"/>
          <p:cNvSpPr/>
          <p:nvPr/>
        </p:nvSpPr>
        <p:spPr>
          <a:xfrm>
            <a:off x="3329513" y="1783080"/>
            <a:ext cx="4891857"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783080"/>
            <a:ext cx="4708977" cy="841248"/>
          </a:xfrm>
          <a:prstGeom prst="rect">
            <a:avLst/>
          </a:prstGeom>
          <a:noFill/>
        </p:spPr>
        <p:txBody>
          <a:bodyPr wrap="square" anchor="ctr">
            <a:spAutoFit/>
          </a:bodyPr>
          <a:lstStyle/>
          <a:p>
            <a:pPr algn="l">
              <a:spcAft>
                <a:spcPts val="400"/>
              </a:spcAft>
            </a:pPr>
            <a:r>
              <a:rPr sz="1100" b="1">
                <a:solidFill>
                  <a:srgbClr val="FFFFFF"/>
                </a:solidFill>
                <a:latin typeface="Arial"/>
              </a:rPr>
              <a:t>How it works</a:t>
            </a:r>
          </a:p>
        </p:txBody>
      </p:sp>
      <p:sp>
        <p:nvSpPr>
          <p:cNvPr id="11" name="Rectangle 10"/>
          <p:cNvSpPr/>
          <p:nvPr/>
        </p:nvSpPr>
        <p:spPr>
          <a:xfrm>
            <a:off x="8221370" y="1783080"/>
            <a:ext cx="3190341"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31098" y="1783080"/>
            <a:ext cx="3007461" cy="841248"/>
          </a:xfrm>
          <a:prstGeom prst="rect">
            <a:avLst/>
          </a:prstGeom>
          <a:noFill/>
        </p:spPr>
        <p:txBody>
          <a:bodyPr wrap="square" anchor="ctr">
            <a:spAutoFit/>
          </a:bodyPr>
          <a:lstStyle/>
          <a:p>
            <a:pPr algn="l">
              <a:spcAft>
                <a:spcPts val="400"/>
              </a:spcAft>
            </a:pPr>
            <a:r>
              <a:rPr sz="1100" b="1">
                <a:solidFill>
                  <a:srgbClr val="FFFFFF"/>
                </a:solidFill>
                <a:latin typeface="Arial"/>
              </a:rPr>
              <a:t>Trade-off</a:t>
            </a:r>
          </a:p>
        </p:txBody>
      </p:sp>
      <p:sp>
        <p:nvSpPr>
          <p:cNvPr id="13" name="Rectangle 12"/>
          <p:cNvSpPr/>
          <p:nvPr/>
        </p:nvSpPr>
        <p:spPr>
          <a:xfrm>
            <a:off x="777240" y="2624328"/>
            <a:ext cx="2552273"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624328"/>
            <a:ext cx="2369393" cy="841248"/>
          </a:xfrm>
          <a:prstGeom prst="rect">
            <a:avLst/>
          </a:prstGeom>
          <a:noFill/>
        </p:spPr>
        <p:txBody>
          <a:bodyPr wrap="square" anchor="ctr">
            <a:spAutoFit/>
          </a:bodyPr>
          <a:lstStyle/>
          <a:p>
            <a:pPr algn="l">
              <a:spcAft>
                <a:spcPts val="400"/>
              </a:spcAft>
            </a:pPr>
            <a:r>
              <a:rPr sz="1000" b="1">
                <a:solidFill>
                  <a:srgbClr val="161B26"/>
                </a:solidFill>
                <a:latin typeface="Arial"/>
              </a:rPr>
              <a:t>Two-stage (R-CNN, Fast, Faster R-CNN)</a:t>
            </a:r>
          </a:p>
        </p:txBody>
      </p:sp>
      <p:sp>
        <p:nvSpPr>
          <p:cNvPr id="15" name="Rectangle 14"/>
          <p:cNvSpPr/>
          <p:nvPr/>
        </p:nvSpPr>
        <p:spPr>
          <a:xfrm>
            <a:off x="3329513" y="2624328"/>
            <a:ext cx="4891857"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39241" y="2624328"/>
            <a:ext cx="4708977" cy="841248"/>
          </a:xfrm>
          <a:prstGeom prst="rect">
            <a:avLst/>
          </a:prstGeom>
          <a:noFill/>
        </p:spPr>
        <p:txBody>
          <a:bodyPr wrap="square" anchor="ctr">
            <a:spAutoFit/>
          </a:bodyPr>
          <a:lstStyle/>
          <a:p>
            <a:pPr algn="l">
              <a:spcAft>
                <a:spcPts val="400"/>
              </a:spcAft>
            </a:pPr>
            <a:r>
              <a:rPr sz="1000" b="0">
                <a:solidFill>
                  <a:srgbClr val="161B26"/>
                </a:solidFill>
                <a:latin typeface="Arial"/>
              </a:rPr>
              <a:t>A region proposal network suggests candidate boxes; a second stage classifies and refines each one</a:t>
            </a:r>
          </a:p>
        </p:txBody>
      </p:sp>
      <p:sp>
        <p:nvSpPr>
          <p:cNvPr id="17" name="Rectangle 16"/>
          <p:cNvSpPr/>
          <p:nvPr/>
        </p:nvSpPr>
        <p:spPr>
          <a:xfrm>
            <a:off x="8221370" y="2624328"/>
            <a:ext cx="3190341"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1098" y="2624328"/>
            <a:ext cx="3007461" cy="841248"/>
          </a:xfrm>
          <a:prstGeom prst="rect">
            <a:avLst/>
          </a:prstGeom>
          <a:noFill/>
        </p:spPr>
        <p:txBody>
          <a:bodyPr wrap="square" anchor="ctr">
            <a:spAutoFit/>
          </a:bodyPr>
          <a:lstStyle/>
          <a:p>
            <a:pPr algn="l">
              <a:spcAft>
                <a:spcPts val="400"/>
              </a:spcAft>
            </a:pPr>
            <a:r>
              <a:rPr sz="1000" b="0">
                <a:solidFill>
                  <a:srgbClr val="161B26"/>
                </a:solidFill>
                <a:latin typeface="Arial"/>
              </a:rPr>
              <a:t>Highest accuracy, slowest — two passes per image</a:t>
            </a:r>
          </a:p>
        </p:txBody>
      </p:sp>
      <p:sp>
        <p:nvSpPr>
          <p:cNvPr id="19" name="Rectangle 18"/>
          <p:cNvSpPr/>
          <p:nvPr/>
        </p:nvSpPr>
        <p:spPr>
          <a:xfrm>
            <a:off x="777240" y="3465576"/>
            <a:ext cx="2552273"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465576"/>
            <a:ext cx="2369393" cy="841248"/>
          </a:xfrm>
          <a:prstGeom prst="rect">
            <a:avLst/>
          </a:prstGeom>
          <a:noFill/>
        </p:spPr>
        <p:txBody>
          <a:bodyPr wrap="square" anchor="ctr">
            <a:spAutoFit/>
          </a:bodyPr>
          <a:lstStyle/>
          <a:p>
            <a:pPr algn="l">
              <a:spcAft>
                <a:spcPts val="400"/>
              </a:spcAft>
            </a:pPr>
            <a:r>
              <a:rPr sz="1000" b="1">
                <a:solidFill>
                  <a:srgbClr val="161B26"/>
                </a:solidFill>
                <a:latin typeface="Arial"/>
              </a:rPr>
              <a:t>Single-shot (SSD)</a:t>
            </a:r>
          </a:p>
        </p:txBody>
      </p:sp>
      <p:sp>
        <p:nvSpPr>
          <p:cNvPr id="21" name="Rectangle 20"/>
          <p:cNvSpPr/>
          <p:nvPr/>
        </p:nvSpPr>
        <p:spPr>
          <a:xfrm>
            <a:off x="3329513" y="3465576"/>
            <a:ext cx="4891857"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39241" y="3465576"/>
            <a:ext cx="4708977" cy="841248"/>
          </a:xfrm>
          <a:prstGeom prst="rect">
            <a:avLst/>
          </a:prstGeom>
          <a:noFill/>
        </p:spPr>
        <p:txBody>
          <a:bodyPr wrap="square" anchor="ctr">
            <a:spAutoFit/>
          </a:bodyPr>
          <a:lstStyle/>
          <a:p>
            <a:pPr algn="l">
              <a:spcAft>
                <a:spcPts val="400"/>
              </a:spcAft>
            </a:pPr>
            <a:r>
              <a:rPr sz="1000" b="0">
                <a:solidFill>
                  <a:srgbClr val="161B26"/>
                </a:solidFill>
                <a:latin typeface="Arial"/>
              </a:rPr>
              <a:t>No proposal stage. Predicts boxes and classes directly from feature maps at several scales, using default boxes per cell</a:t>
            </a:r>
          </a:p>
        </p:txBody>
      </p:sp>
      <p:sp>
        <p:nvSpPr>
          <p:cNvPr id="23" name="Rectangle 22"/>
          <p:cNvSpPr/>
          <p:nvPr/>
        </p:nvSpPr>
        <p:spPr>
          <a:xfrm>
            <a:off x="8221370" y="3465576"/>
            <a:ext cx="3190341"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31098" y="3465576"/>
            <a:ext cx="3007461" cy="841248"/>
          </a:xfrm>
          <a:prstGeom prst="rect">
            <a:avLst/>
          </a:prstGeom>
          <a:noFill/>
        </p:spPr>
        <p:txBody>
          <a:bodyPr wrap="square" anchor="ctr">
            <a:spAutoFit/>
          </a:bodyPr>
          <a:lstStyle/>
          <a:p>
            <a:pPr algn="l">
              <a:spcAft>
                <a:spcPts val="400"/>
              </a:spcAft>
            </a:pPr>
            <a:r>
              <a:rPr sz="1000" b="0">
                <a:solidFill>
                  <a:srgbClr val="161B26"/>
                </a:solidFill>
                <a:latin typeface="Arial"/>
              </a:rPr>
              <a:t>Real-time, weaker on small objects</a:t>
            </a:r>
          </a:p>
        </p:txBody>
      </p:sp>
      <p:sp>
        <p:nvSpPr>
          <p:cNvPr id="25" name="Rectangle 24"/>
          <p:cNvSpPr/>
          <p:nvPr/>
        </p:nvSpPr>
        <p:spPr>
          <a:xfrm>
            <a:off x="777240" y="4306824"/>
            <a:ext cx="2552273"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4306824"/>
            <a:ext cx="2369393" cy="841248"/>
          </a:xfrm>
          <a:prstGeom prst="rect">
            <a:avLst/>
          </a:prstGeom>
          <a:noFill/>
        </p:spPr>
        <p:txBody>
          <a:bodyPr wrap="square" anchor="ctr">
            <a:spAutoFit/>
          </a:bodyPr>
          <a:lstStyle/>
          <a:p>
            <a:pPr algn="l">
              <a:spcAft>
                <a:spcPts val="400"/>
              </a:spcAft>
            </a:pPr>
            <a:r>
              <a:rPr sz="1000" b="1">
                <a:solidFill>
                  <a:srgbClr val="161B26"/>
                </a:solidFill>
                <a:latin typeface="Arial"/>
              </a:rPr>
              <a:t>YOLO family</a:t>
            </a:r>
          </a:p>
        </p:txBody>
      </p:sp>
      <p:sp>
        <p:nvSpPr>
          <p:cNvPr id="27" name="Rectangle 26"/>
          <p:cNvSpPr/>
          <p:nvPr/>
        </p:nvSpPr>
        <p:spPr>
          <a:xfrm>
            <a:off x="3329513" y="4306824"/>
            <a:ext cx="4891857"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39241" y="4306824"/>
            <a:ext cx="4708977" cy="841248"/>
          </a:xfrm>
          <a:prstGeom prst="rect">
            <a:avLst/>
          </a:prstGeom>
          <a:noFill/>
        </p:spPr>
        <p:txBody>
          <a:bodyPr wrap="square" anchor="ctr">
            <a:spAutoFit/>
          </a:bodyPr>
          <a:lstStyle/>
          <a:p>
            <a:pPr algn="l">
              <a:spcAft>
                <a:spcPts val="400"/>
              </a:spcAft>
            </a:pPr>
            <a:r>
              <a:rPr sz="1000" b="0">
                <a:solidFill>
                  <a:srgbClr val="161B26"/>
                </a:solidFill>
                <a:latin typeface="Arial"/>
              </a:rPr>
              <a:t>Divides the image into a grid; each cell predicts a fixed number of boxes with a class and an objectness score, in one pass</a:t>
            </a:r>
          </a:p>
        </p:txBody>
      </p:sp>
      <p:sp>
        <p:nvSpPr>
          <p:cNvPr id="29" name="Rectangle 28"/>
          <p:cNvSpPr/>
          <p:nvPr/>
        </p:nvSpPr>
        <p:spPr>
          <a:xfrm>
            <a:off x="8221370" y="4306824"/>
            <a:ext cx="3190341"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31098" y="4306824"/>
            <a:ext cx="3007461" cy="841248"/>
          </a:xfrm>
          <a:prstGeom prst="rect">
            <a:avLst/>
          </a:prstGeom>
          <a:noFill/>
        </p:spPr>
        <p:txBody>
          <a:bodyPr wrap="square" anchor="ctr">
            <a:spAutoFit/>
          </a:bodyPr>
          <a:lstStyle/>
          <a:p>
            <a:pPr algn="l">
              <a:spcAft>
                <a:spcPts val="400"/>
              </a:spcAft>
            </a:pPr>
            <a:r>
              <a:rPr sz="1000" b="0">
                <a:solidFill>
                  <a:srgbClr val="161B26"/>
                </a:solidFill>
                <a:latin typeface="Arial"/>
              </a:rPr>
              <a:t>Very fast; the design point for live video and embedded use</a:t>
            </a:r>
          </a:p>
        </p:txBody>
      </p:sp>
      <p:sp>
        <p:nvSpPr>
          <p:cNvPr id="31" name="Rectangle 30"/>
          <p:cNvSpPr/>
          <p:nvPr/>
        </p:nvSpPr>
        <p:spPr>
          <a:xfrm>
            <a:off x="777240" y="5148072"/>
            <a:ext cx="2552273"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5148072"/>
            <a:ext cx="2369393" cy="841248"/>
          </a:xfrm>
          <a:prstGeom prst="rect">
            <a:avLst/>
          </a:prstGeom>
          <a:noFill/>
        </p:spPr>
        <p:txBody>
          <a:bodyPr wrap="square" anchor="ctr">
            <a:spAutoFit/>
          </a:bodyPr>
          <a:lstStyle/>
          <a:p>
            <a:pPr algn="l">
              <a:spcAft>
                <a:spcPts val="400"/>
              </a:spcAft>
            </a:pPr>
            <a:r>
              <a:rPr sz="1000" b="1">
                <a:solidFill>
                  <a:srgbClr val="161B26"/>
                </a:solidFill>
                <a:latin typeface="Arial"/>
              </a:rPr>
              <a:t>Transformer detectors</a:t>
            </a:r>
          </a:p>
        </p:txBody>
      </p:sp>
      <p:sp>
        <p:nvSpPr>
          <p:cNvPr id="33" name="Rectangle 32"/>
          <p:cNvSpPr/>
          <p:nvPr/>
        </p:nvSpPr>
        <p:spPr>
          <a:xfrm>
            <a:off x="3329513" y="5148072"/>
            <a:ext cx="4891857"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39241" y="5148072"/>
            <a:ext cx="4708977" cy="841248"/>
          </a:xfrm>
          <a:prstGeom prst="rect">
            <a:avLst/>
          </a:prstGeom>
          <a:noFill/>
        </p:spPr>
        <p:txBody>
          <a:bodyPr wrap="square" anchor="ctr">
            <a:spAutoFit/>
          </a:bodyPr>
          <a:lstStyle/>
          <a:p>
            <a:pPr algn="l">
              <a:spcAft>
                <a:spcPts val="400"/>
              </a:spcAft>
            </a:pPr>
            <a:r>
              <a:rPr sz="1000" b="0">
                <a:solidFill>
                  <a:srgbClr val="161B26"/>
                </a:solidFill>
                <a:latin typeface="Arial"/>
              </a:rPr>
              <a:t>Treat detection as set prediction with attention; no hand-designed anchors</a:t>
            </a:r>
          </a:p>
        </p:txBody>
      </p:sp>
      <p:sp>
        <p:nvSpPr>
          <p:cNvPr id="35" name="Rectangle 34"/>
          <p:cNvSpPr/>
          <p:nvPr/>
        </p:nvSpPr>
        <p:spPr>
          <a:xfrm>
            <a:off x="8221370" y="5148072"/>
            <a:ext cx="3190341"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31098" y="5148072"/>
            <a:ext cx="3007461" cy="841248"/>
          </a:xfrm>
          <a:prstGeom prst="rect">
            <a:avLst/>
          </a:prstGeom>
          <a:noFill/>
        </p:spPr>
        <p:txBody>
          <a:bodyPr wrap="square" anchor="ctr">
            <a:spAutoFit/>
          </a:bodyPr>
          <a:lstStyle/>
          <a:p>
            <a:pPr algn="l">
              <a:spcAft>
                <a:spcPts val="400"/>
              </a:spcAft>
            </a:pPr>
            <a:r>
              <a:rPr sz="1000" b="0">
                <a:solidFill>
                  <a:srgbClr val="161B26"/>
                </a:solidFill>
                <a:latin typeface="Arial"/>
              </a:rPr>
              <a:t>Simpler pipeline, heavier training</a:t>
            </a:r>
          </a:p>
        </p:txBody>
      </p:sp>
      <p:sp>
        <p:nvSpPr>
          <p:cNvPr id="37" name="TextBox 36"/>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This course runs the two detectors that ship inside OpenCV, so that detection is taught with no download and no accelerator. The families above are the landscape those two sit in — each output is still a list of boxes and is still evaluated with IoU.</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fast">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K9 · WHY A DETECTOR RETURNS ONE BOX PER OBJECT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Non-Maximum Suppression — Turning Many Boxes Into One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12263"/>
            <a:ext cx="2996184" cy="457200"/>
          </a:xfrm>
          <a:prstGeom prst="rect">
            <a:avLst/>
          </a:prstGeom>
          <a:noFill/>
        </p:spPr>
        <p:txBody>
          <a:bodyPr wrap="square" anchor="t">
            <a:spAutoFit/>
          </a:bodyPr>
          <a:lstStyle/>
          <a:p>
            <a:pPr algn="l">
              <a:spcAft>
                <a:spcPts val="400"/>
              </a:spcAft>
            </a:pPr>
            <a:r>
              <a:rPr sz="1500" b="1">
                <a:solidFill>
                  <a:srgbClr val="1F6FEB"/>
                </a:solidFill>
                <a:latin typeface="Arial"/>
              </a:rPr>
              <a:t>The problem</a:t>
            </a:r>
          </a:p>
        </p:txBody>
      </p:sp>
      <p:sp>
        <p:nvSpPr>
          <p:cNvPr id="10" name="Rectangle 9"/>
          <p:cNvSpPr/>
          <p:nvPr/>
        </p:nvSpPr>
        <p:spPr>
          <a:xfrm>
            <a:off x="960120"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15767"/>
            <a:ext cx="2813304" cy="1042416"/>
          </a:xfrm>
          <a:prstGeom prst="rect">
            <a:avLst/>
          </a:prstGeom>
          <a:noFill/>
        </p:spPr>
        <p:txBody>
          <a:bodyPr wrap="none" lIns="0" rIns="0" tIns="0" bIns="0" anchor="ctr">
            <a:noAutofit/>
          </a:bodyPr>
          <a:lstStyle/>
          <a:p>
            <a:pPr>
              <a:spcAft>
                <a:spcPts val="100"/>
              </a:spcAft>
            </a:pPr>
            <a:r>
              <a:rPr sz="1400">
                <a:solidFill>
                  <a:srgbClr val="9CDCFE"/>
                </a:solidFill>
                <a:latin typeface="Consolas"/>
              </a:rPr>
              <a:t>one object</a:t>
            </a:r>
          </a:p>
          <a:p>
            <a:pPr>
              <a:spcAft>
                <a:spcPts val="100"/>
              </a:spcAft>
            </a:pPr>
            <a:r>
              <a:rPr sz="1400">
                <a:solidFill>
                  <a:srgbClr val="9CDCFE"/>
                </a:solidFill>
                <a:latin typeface="Consolas"/>
              </a:rPr>
              <a:t>-&gt; many boxes</a:t>
            </a:r>
          </a:p>
        </p:txBody>
      </p:sp>
      <p:sp>
        <p:nvSpPr>
          <p:cNvPr id="12" name="TextBox 11"/>
          <p:cNvSpPr txBox="1"/>
          <p:nvPr/>
        </p:nvSpPr>
        <p:spPr>
          <a:xfrm>
            <a:off x="960120"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Every detector fires at several nearby positions and scales for the same object. Raw output is a cloud of overlapping boxes, not a detection.</a:t>
            </a:r>
          </a:p>
        </p:txBody>
      </p:sp>
      <p:sp>
        <p:nvSpPr>
          <p:cNvPr id="13" name="Rectangle 12"/>
          <p:cNvSpPr/>
          <p:nvPr/>
        </p:nvSpPr>
        <p:spPr>
          <a:xfrm>
            <a:off x="4413504"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6384" y="2112263"/>
            <a:ext cx="2996184" cy="457200"/>
          </a:xfrm>
          <a:prstGeom prst="rect">
            <a:avLst/>
          </a:prstGeom>
          <a:noFill/>
        </p:spPr>
        <p:txBody>
          <a:bodyPr wrap="square" anchor="t">
            <a:spAutoFit/>
          </a:bodyPr>
          <a:lstStyle/>
          <a:p>
            <a:pPr algn="l">
              <a:spcAft>
                <a:spcPts val="400"/>
              </a:spcAft>
            </a:pPr>
            <a:r>
              <a:rPr sz="1500" b="1">
                <a:solidFill>
                  <a:srgbClr val="10B981"/>
                </a:solidFill>
                <a:latin typeface="Arial"/>
              </a:rPr>
              <a:t>The algorithm</a:t>
            </a:r>
          </a:p>
        </p:txBody>
      </p:sp>
      <p:sp>
        <p:nvSpPr>
          <p:cNvPr id="16" name="Rectangle 15"/>
          <p:cNvSpPr/>
          <p:nvPr/>
        </p:nvSpPr>
        <p:spPr>
          <a:xfrm>
            <a:off x="4596384" y="2715767"/>
            <a:ext cx="2996184" cy="17373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7824" y="2715767"/>
            <a:ext cx="2813304" cy="1737360"/>
          </a:xfrm>
          <a:prstGeom prst="rect">
            <a:avLst/>
          </a:prstGeom>
          <a:noFill/>
        </p:spPr>
        <p:txBody>
          <a:bodyPr wrap="none" lIns="0" rIns="0" tIns="0" bIns="0" anchor="ctr">
            <a:noAutofit/>
          </a:bodyPr>
          <a:lstStyle/>
          <a:p>
            <a:pPr>
              <a:spcAft>
                <a:spcPts val="100"/>
              </a:spcAft>
            </a:pPr>
            <a:r>
              <a:rPr sz="1400">
                <a:solidFill>
                  <a:srgbClr val="9CDCFE"/>
                </a:solidFill>
                <a:latin typeface="Consolas"/>
              </a:rPr>
              <a:t>sort by score</a:t>
            </a:r>
          </a:p>
          <a:p>
            <a:pPr>
              <a:spcAft>
                <a:spcPts val="100"/>
              </a:spcAft>
            </a:pPr>
            <a:r>
              <a:rPr sz="1400">
                <a:solidFill>
                  <a:srgbClr val="9CDCFE"/>
                </a:solidFill>
                <a:latin typeface="Consolas"/>
              </a:rPr>
              <a:t>take the best</a:t>
            </a:r>
          </a:p>
          <a:p>
            <a:pPr>
              <a:spcAft>
                <a:spcPts val="100"/>
              </a:spcAft>
            </a:pPr>
            <a:r>
              <a:rPr sz="1400">
                <a:solidFill>
                  <a:srgbClr val="9CDCFE"/>
                </a:solidFill>
                <a:latin typeface="Consolas"/>
              </a:rPr>
              <a:t>drop any box with</a:t>
            </a:r>
          </a:p>
          <a:p>
            <a:pPr>
              <a:spcAft>
                <a:spcPts val="100"/>
              </a:spcAft>
            </a:pPr>
            <a:r>
              <a:rPr sz="1400">
                <a:solidFill>
                  <a:srgbClr val="9CDCFE"/>
                </a:solidFill>
                <a:latin typeface="Consolas"/>
              </a:rPr>
              <a:t>IoU &gt; t against it</a:t>
            </a:r>
          </a:p>
          <a:p>
            <a:pPr>
              <a:spcAft>
                <a:spcPts val="100"/>
              </a:spcAft>
            </a:pPr>
            <a:r>
              <a:rPr sz="1400">
                <a:solidFill>
                  <a:srgbClr val="9CDCFE"/>
                </a:solidFill>
                <a:latin typeface="Consolas"/>
              </a:rPr>
              <a:t>repeat</a:t>
            </a:r>
          </a:p>
        </p:txBody>
      </p:sp>
      <p:sp>
        <p:nvSpPr>
          <p:cNvPr id="18" name="TextBox 17"/>
          <p:cNvSpPr txBox="1"/>
          <p:nvPr/>
        </p:nvSpPr>
        <p:spPr>
          <a:xfrm>
            <a:off x="4596384" y="4562855"/>
            <a:ext cx="2996184" cy="795528"/>
          </a:xfrm>
          <a:prstGeom prst="rect">
            <a:avLst/>
          </a:prstGeom>
          <a:noFill/>
        </p:spPr>
        <p:txBody>
          <a:bodyPr wrap="square" anchor="t">
            <a:spAutoFit/>
          </a:bodyPr>
          <a:lstStyle/>
          <a:p>
            <a:pPr algn="l">
              <a:spcAft>
                <a:spcPts val="400"/>
              </a:spcAft>
            </a:pPr>
            <a:r>
              <a:rPr sz="1200" b="0">
                <a:solidFill>
                  <a:srgbClr val="5B6372"/>
                </a:solidFill>
                <a:latin typeface="Arial"/>
              </a:rPr>
              <a:t>Greedy suppression by overlap. The same IoU you use for evaluation is doing the work here — a threshold around 0.4 to 0.5 is typical.</a:t>
            </a:r>
          </a:p>
        </p:txBody>
      </p:sp>
      <p:sp>
        <p:nvSpPr>
          <p:cNvPr id="19" name="Rectangle 18"/>
          <p:cNvSpPr/>
          <p:nvPr/>
        </p:nvSpPr>
        <p:spPr>
          <a:xfrm>
            <a:off x="8049768"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2648" y="2112263"/>
            <a:ext cx="2996184" cy="457200"/>
          </a:xfrm>
          <a:prstGeom prst="rect">
            <a:avLst/>
          </a:prstGeom>
          <a:noFill/>
        </p:spPr>
        <p:txBody>
          <a:bodyPr wrap="square" anchor="t">
            <a:spAutoFit/>
          </a:bodyPr>
          <a:lstStyle/>
          <a:p>
            <a:pPr algn="l">
              <a:spcAft>
                <a:spcPts val="400"/>
              </a:spcAft>
            </a:pPr>
            <a:r>
              <a:rPr sz="1500" b="1">
                <a:solidFill>
                  <a:srgbClr val="7C3AED"/>
                </a:solidFill>
                <a:latin typeface="Arial"/>
              </a:rPr>
              <a:t>Where you have met it</a:t>
            </a:r>
          </a:p>
        </p:txBody>
      </p:sp>
      <p:sp>
        <p:nvSpPr>
          <p:cNvPr id="22" name="Rectangle 21"/>
          <p:cNvSpPr/>
          <p:nvPr/>
        </p:nvSpPr>
        <p:spPr>
          <a:xfrm>
            <a:off x="8232648"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4088" y="2715767"/>
            <a:ext cx="2813304" cy="1042416"/>
          </a:xfrm>
          <a:prstGeom prst="rect">
            <a:avLst/>
          </a:prstGeom>
          <a:noFill/>
        </p:spPr>
        <p:txBody>
          <a:bodyPr wrap="none" lIns="0" rIns="0" tIns="0" bIns="0" anchor="ctr">
            <a:noAutofit/>
          </a:bodyPr>
          <a:lstStyle/>
          <a:p>
            <a:pPr>
              <a:spcAft>
                <a:spcPts val="100"/>
              </a:spcAft>
            </a:pPr>
            <a:r>
              <a:rPr sz="1400">
                <a:solidFill>
                  <a:srgbClr val="9CDCFE"/>
                </a:solidFill>
                <a:latin typeface="Consolas"/>
              </a:rPr>
              <a:t>minNeighbors</a:t>
            </a:r>
          </a:p>
          <a:p>
            <a:pPr>
              <a:spcAft>
                <a:spcPts val="100"/>
              </a:spcAft>
            </a:pPr>
            <a:r>
              <a:rPr sz="1400">
                <a:solidFill>
                  <a:srgbClr val="9CDCFE"/>
                </a:solidFill>
                <a:latin typeface="Consolas"/>
              </a:rPr>
              <a:t>in the cascade</a:t>
            </a:r>
          </a:p>
        </p:txBody>
      </p:sp>
      <p:sp>
        <p:nvSpPr>
          <p:cNvPr id="24" name="TextBox 23"/>
          <p:cNvSpPr txBox="1"/>
          <p:nvPr/>
        </p:nvSpPr>
        <p:spPr>
          <a:xfrm>
            <a:off x="8232648"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The cascade's minNeighbors parameter is a simpler version of the same idea: it requires several overlapping hits before emitting one detection.</a:t>
            </a:r>
          </a:p>
        </p:txBody>
      </p:sp>
      <p:sp>
        <p:nvSpPr>
          <p:cNvPr id="25" name="TextBox 2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Set the NMS threshold too high and you keep duplicates, inflating false positives; too low and you suppress genuinely adjacent objects, inflating false negatives. Either way, precision and recall move.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spd="fast">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7C3AED"/>
                </a:solidFill>
                <a:latin typeface="Arial"/>
              </a:rPr>
              <a:t>K9 · OBJECT SEGMENTATION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Semantic Segmentation — Classification at the Pixel Level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10512"/>
            <a:ext cx="7315200" cy="877824"/>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2331720" cy="8778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1810512"/>
            <a:ext cx="2103120" cy="877824"/>
          </a:xfrm>
          <a:prstGeom prst="rect">
            <a:avLst/>
          </a:prstGeom>
          <a:noFill/>
        </p:spPr>
        <p:txBody>
          <a:bodyPr wrap="square" anchor="ctr">
            <a:spAutoFit/>
          </a:bodyPr>
          <a:lstStyle/>
          <a:p>
            <a:pPr algn="l">
              <a:spcAft>
                <a:spcPts val="400"/>
              </a:spcAft>
            </a:pPr>
            <a:r>
              <a:rPr sz="1250" b="1">
                <a:solidFill>
                  <a:srgbClr val="FFFFFF"/>
                </a:solidFill>
                <a:latin typeface="Arial"/>
              </a:rPr>
              <a:t>ENCODER</a:t>
            </a:r>
          </a:p>
        </p:txBody>
      </p:sp>
      <p:sp>
        <p:nvSpPr>
          <p:cNvPr id="10" name="TextBox 9"/>
          <p:cNvSpPr txBox="1"/>
          <p:nvPr/>
        </p:nvSpPr>
        <p:spPr>
          <a:xfrm>
            <a:off x="3291840" y="1810512"/>
            <a:ext cx="4617720" cy="877824"/>
          </a:xfrm>
          <a:prstGeom prst="rect">
            <a:avLst/>
          </a:prstGeom>
          <a:noFill/>
        </p:spPr>
        <p:txBody>
          <a:bodyPr wrap="square" anchor="ctr">
            <a:spAutoFit/>
          </a:bodyPr>
          <a:lstStyle/>
          <a:p>
            <a:pPr algn="l">
              <a:spcAft>
                <a:spcPts val="400"/>
              </a:spcAft>
            </a:pPr>
            <a:r>
              <a:rPr sz="1200" b="0">
                <a:solidFill>
                  <a:srgbClr val="161B26"/>
                </a:solidFill>
                <a:latin typeface="Arial"/>
              </a:rPr>
              <a:t>The same convolutional stack as a classifier, progressively reducing spatial resolution while increasing semantic depth.</a:t>
            </a:r>
          </a:p>
        </p:txBody>
      </p:sp>
      <p:cxnSp>
        <p:nvCxnSpPr>
          <p:cNvPr id="11" name="Connector 10"/>
          <p:cNvCxnSpPr/>
          <p:nvPr/>
        </p:nvCxnSpPr>
        <p:spPr>
          <a:xfrm>
            <a:off x="4434840" y="2688336"/>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77240" y="2889504"/>
            <a:ext cx="7315200" cy="877824"/>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89504"/>
            <a:ext cx="2331720" cy="8778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889504"/>
            <a:ext cx="2103120" cy="877824"/>
          </a:xfrm>
          <a:prstGeom prst="rect">
            <a:avLst/>
          </a:prstGeom>
          <a:noFill/>
        </p:spPr>
        <p:txBody>
          <a:bodyPr wrap="square" anchor="ctr">
            <a:spAutoFit/>
          </a:bodyPr>
          <a:lstStyle/>
          <a:p>
            <a:pPr algn="l">
              <a:spcAft>
                <a:spcPts val="400"/>
              </a:spcAft>
            </a:pPr>
            <a:r>
              <a:rPr sz="1250" b="1">
                <a:solidFill>
                  <a:srgbClr val="FFFFFF"/>
                </a:solidFill>
                <a:latin typeface="Arial"/>
              </a:rPr>
              <a:t>BOTTLENECK</a:t>
            </a:r>
          </a:p>
        </p:txBody>
      </p:sp>
      <p:sp>
        <p:nvSpPr>
          <p:cNvPr id="15" name="TextBox 14"/>
          <p:cNvSpPr txBox="1"/>
          <p:nvPr/>
        </p:nvSpPr>
        <p:spPr>
          <a:xfrm>
            <a:off x="3291840" y="2889504"/>
            <a:ext cx="4617720" cy="877824"/>
          </a:xfrm>
          <a:prstGeom prst="rect">
            <a:avLst/>
          </a:prstGeom>
          <a:noFill/>
        </p:spPr>
        <p:txBody>
          <a:bodyPr wrap="square" anchor="ctr">
            <a:spAutoFit/>
          </a:bodyPr>
          <a:lstStyle/>
          <a:p>
            <a:pPr algn="l">
              <a:spcAft>
                <a:spcPts val="400"/>
              </a:spcAft>
            </a:pPr>
            <a:r>
              <a:rPr sz="1200" b="0">
                <a:solidFill>
                  <a:srgbClr val="161B26"/>
                </a:solidFill>
                <a:latin typeface="Arial"/>
              </a:rPr>
              <a:t>The smallest, deepest representation. It knows WHAT is in the image and has largely lost WHERE.</a:t>
            </a:r>
          </a:p>
        </p:txBody>
      </p:sp>
      <p:cxnSp>
        <p:nvCxnSpPr>
          <p:cNvPr id="16" name="Connector 15"/>
          <p:cNvCxnSpPr/>
          <p:nvPr/>
        </p:nvCxnSpPr>
        <p:spPr>
          <a:xfrm>
            <a:off x="4434840" y="3767328"/>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77240" y="3968496"/>
            <a:ext cx="7315200" cy="877824"/>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968496"/>
            <a:ext cx="2331720" cy="8778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3544" y="3968496"/>
            <a:ext cx="2103120" cy="877824"/>
          </a:xfrm>
          <a:prstGeom prst="rect">
            <a:avLst/>
          </a:prstGeom>
          <a:noFill/>
        </p:spPr>
        <p:txBody>
          <a:bodyPr wrap="square" anchor="ctr">
            <a:spAutoFit/>
          </a:bodyPr>
          <a:lstStyle/>
          <a:p>
            <a:pPr algn="l">
              <a:spcAft>
                <a:spcPts val="400"/>
              </a:spcAft>
            </a:pPr>
            <a:r>
              <a:rPr sz="1250" b="1">
                <a:solidFill>
                  <a:srgbClr val="FFFFFF"/>
                </a:solidFill>
                <a:latin typeface="Arial"/>
              </a:rPr>
              <a:t>DECODER</a:t>
            </a:r>
          </a:p>
        </p:txBody>
      </p:sp>
      <p:sp>
        <p:nvSpPr>
          <p:cNvPr id="20" name="TextBox 19"/>
          <p:cNvSpPr txBox="1"/>
          <p:nvPr/>
        </p:nvSpPr>
        <p:spPr>
          <a:xfrm>
            <a:off x="3291840" y="3968496"/>
            <a:ext cx="4617720" cy="877824"/>
          </a:xfrm>
          <a:prstGeom prst="rect">
            <a:avLst/>
          </a:prstGeom>
          <a:noFill/>
        </p:spPr>
        <p:txBody>
          <a:bodyPr wrap="square" anchor="ctr">
            <a:spAutoFit/>
          </a:bodyPr>
          <a:lstStyle/>
          <a:p>
            <a:pPr algn="l">
              <a:spcAft>
                <a:spcPts val="400"/>
              </a:spcAft>
            </a:pPr>
            <a:r>
              <a:rPr sz="1200" b="0">
                <a:solidFill>
                  <a:srgbClr val="161B26"/>
                </a:solidFill>
                <a:latin typeface="Arial"/>
              </a:rPr>
              <a:t>Upsamples back to full resolution, recovering spatial detail. An encoder-decoder architecture of exactly this shape underlies multi-class pixelwise segmentation.</a:t>
            </a:r>
          </a:p>
        </p:txBody>
      </p:sp>
      <p:cxnSp>
        <p:nvCxnSpPr>
          <p:cNvPr id="21" name="Connector 20"/>
          <p:cNvCxnSpPr/>
          <p:nvPr/>
        </p:nvCxnSpPr>
        <p:spPr>
          <a:xfrm>
            <a:off x="4434840" y="4846320"/>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 y="5047488"/>
            <a:ext cx="7315200" cy="877824"/>
          </a:xfrm>
          <a:prstGeom prst="roundRect">
            <a:avLst/>
          </a:prstGeom>
          <a:solidFill>
            <a:srgbClr val="F5F8FC"/>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047488"/>
            <a:ext cx="2331720" cy="8778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 y="5047488"/>
            <a:ext cx="2103120" cy="877824"/>
          </a:xfrm>
          <a:prstGeom prst="rect">
            <a:avLst/>
          </a:prstGeom>
          <a:noFill/>
        </p:spPr>
        <p:txBody>
          <a:bodyPr wrap="square" anchor="ctr">
            <a:spAutoFit/>
          </a:bodyPr>
          <a:lstStyle/>
          <a:p>
            <a:pPr algn="l">
              <a:spcAft>
                <a:spcPts val="400"/>
              </a:spcAft>
            </a:pPr>
            <a:r>
              <a:rPr sz="1250" b="1">
                <a:solidFill>
                  <a:srgbClr val="FFFFFF"/>
                </a:solidFill>
                <a:latin typeface="Arial"/>
              </a:rPr>
              <a:t>SKIP CONNECTIONS</a:t>
            </a:r>
          </a:p>
        </p:txBody>
      </p:sp>
      <p:sp>
        <p:nvSpPr>
          <p:cNvPr id="25" name="TextBox 24"/>
          <p:cNvSpPr txBox="1"/>
          <p:nvPr/>
        </p:nvSpPr>
        <p:spPr>
          <a:xfrm>
            <a:off x="3291840" y="5047488"/>
            <a:ext cx="4617720" cy="877824"/>
          </a:xfrm>
          <a:prstGeom prst="rect">
            <a:avLst/>
          </a:prstGeom>
          <a:noFill/>
        </p:spPr>
        <p:txBody>
          <a:bodyPr wrap="square" anchor="ctr">
            <a:spAutoFit/>
          </a:bodyPr>
          <a:lstStyle/>
          <a:p>
            <a:pPr algn="l">
              <a:spcAft>
                <a:spcPts val="400"/>
              </a:spcAft>
            </a:pPr>
            <a:r>
              <a:rPr sz="1200" b="0">
                <a:solidFill>
                  <a:srgbClr val="161B26"/>
                </a:solidFill>
                <a:latin typeface="Arial"/>
              </a:rPr>
              <a:t>Carry high-resolution detail from encoder to decoder so the boundaries are sharp. This is the U in U-Net — and the same backbone image diffusion uses.</a:t>
            </a:r>
          </a:p>
        </p:txBody>
      </p:sp>
      <p:sp>
        <p:nvSpPr>
          <p:cNvPr id="26" name="Rectangle 25"/>
          <p:cNvSpPr/>
          <p:nvPr/>
        </p:nvSpPr>
        <p:spPr>
          <a:xfrm>
            <a:off x="8366760" y="1810512"/>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366760" y="1810512"/>
            <a:ext cx="82296" cy="9052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67928" y="1810512"/>
            <a:ext cx="2679192" cy="905256"/>
          </a:xfrm>
          <a:prstGeom prst="rect">
            <a:avLst/>
          </a:prstGeom>
          <a:noFill/>
        </p:spPr>
        <p:txBody>
          <a:bodyPr wrap="square" anchor="ctr">
            <a:spAutoFit/>
          </a:bodyPr>
          <a:lstStyle/>
          <a:p>
            <a:pPr algn="l">
              <a:spcAft>
                <a:spcPts val="200"/>
              </a:spcAft>
            </a:pPr>
            <a:r>
              <a:rPr sz="1200" b="1">
                <a:solidFill>
                  <a:srgbClr val="1F6FEB"/>
                </a:solidFill>
                <a:latin typeface="Arial"/>
              </a:rPr>
              <a:t>Output is a label map</a:t>
            </a:r>
          </a:p>
          <a:p>
            <a:pPr algn="l">
              <a:spcAft>
                <a:spcPts val="200"/>
              </a:spcAft>
            </a:pPr>
            <a:r>
              <a:rPr sz="1100" b="0">
                <a:solidFill>
                  <a:srgbClr val="161B26"/>
                </a:solidFill>
                <a:latin typeface="Arial"/>
              </a:rPr>
              <a:t>One class per pixel, not one per image and not a box.</a:t>
            </a:r>
          </a:p>
        </p:txBody>
      </p:sp>
      <p:sp>
        <p:nvSpPr>
          <p:cNvPr id="29" name="Rectangle 28"/>
          <p:cNvSpPr/>
          <p:nvPr/>
        </p:nvSpPr>
        <p:spPr>
          <a:xfrm>
            <a:off x="8366760" y="2880360"/>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66760" y="2880360"/>
            <a:ext cx="82296" cy="9052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67928" y="2880360"/>
            <a:ext cx="2679192" cy="905256"/>
          </a:xfrm>
          <a:prstGeom prst="rect">
            <a:avLst/>
          </a:prstGeom>
          <a:noFill/>
        </p:spPr>
        <p:txBody>
          <a:bodyPr wrap="square" anchor="ctr">
            <a:spAutoFit/>
          </a:bodyPr>
          <a:lstStyle/>
          <a:p>
            <a:pPr algn="l">
              <a:spcAft>
                <a:spcPts val="200"/>
              </a:spcAft>
            </a:pPr>
            <a:r>
              <a:rPr sz="1200" b="1">
                <a:solidFill>
                  <a:srgbClr val="10B981"/>
                </a:solidFill>
                <a:latin typeface="Arial"/>
              </a:rPr>
              <a:t>Metric is per-class IoU</a:t>
            </a:r>
          </a:p>
          <a:p>
            <a:pPr algn="l">
              <a:spcAft>
                <a:spcPts val="200"/>
              </a:spcAft>
            </a:pPr>
            <a:r>
              <a:rPr sz="1100" b="0">
                <a:solidFill>
                  <a:srgbClr val="161B26"/>
                </a:solidFill>
                <a:latin typeface="Arial"/>
              </a:rPr>
              <a:t>Then mean IoU across classes, or the Dice coefficient.</a:t>
            </a:r>
          </a:p>
        </p:txBody>
      </p:sp>
      <p:sp>
        <p:nvSpPr>
          <p:cNvPr id="32" name="Rectangle 31"/>
          <p:cNvSpPr/>
          <p:nvPr/>
        </p:nvSpPr>
        <p:spPr>
          <a:xfrm>
            <a:off x="8366760" y="3950208"/>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366760" y="3950208"/>
            <a:ext cx="82296" cy="9052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67928" y="3950208"/>
            <a:ext cx="2679192" cy="905256"/>
          </a:xfrm>
          <a:prstGeom prst="rect">
            <a:avLst/>
          </a:prstGeom>
          <a:noFill/>
        </p:spPr>
        <p:txBody>
          <a:bodyPr wrap="square" anchor="ctr">
            <a:spAutoFit/>
          </a:bodyPr>
          <a:lstStyle/>
          <a:p>
            <a:pPr algn="l">
              <a:spcAft>
                <a:spcPts val="200"/>
              </a:spcAft>
            </a:pPr>
            <a:r>
              <a:rPr sz="1200" b="1">
                <a:solidFill>
                  <a:srgbClr val="7C3AED"/>
                </a:solidFill>
                <a:latin typeface="Arial"/>
              </a:rPr>
              <a:t>This is what masking wants</a:t>
            </a:r>
          </a:p>
          <a:p>
            <a:pPr algn="l">
              <a:spcAft>
                <a:spcPts val="200"/>
              </a:spcAft>
            </a:pPr>
            <a:r>
              <a:rPr sz="1100" b="0">
                <a:solidFill>
                  <a:srgbClr val="161B26"/>
                </a:solidFill>
                <a:latin typeface="Arial"/>
              </a:rPr>
              <a:t>A segmentation model is what produces the semantic masks that Topic 02's edit modes consume.</a:t>
            </a:r>
          </a:p>
        </p:txBody>
      </p:sp>
      <p:sp>
        <p:nvSpPr>
          <p:cNvPr id="35" name="Rectangle 34"/>
          <p:cNvSpPr/>
          <p:nvPr/>
        </p:nvSpPr>
        <p:spPr>
          <a:xfrm>
            <a:off x="8366760" y="5020056"/>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366760" y="5020056"/>
            <a:ext cx="82296" cy="9052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67928" y="5020056"/>
            <a:ext cx="2679192" cy="905256"/>
          </a:xfrm>
          <a:prstGeom prst="rect">
            <a:avLst/>
          </a:prstGeom>
          <a:noFill/>
        </p:spPr>
        <p:txBody>
          <a:bodyPr wrap="square" anchor="ctr">
            <a:spAutoFit/>
          </a:bodyPr>
          <a:lstStyle/>
          <a:p>
            <a:pPr algn="l">
              <a:spcAft>
                <a:spcPts val="200"/>
              </a:spcAft>
            </a:pPr>
            <a:r>
              <a:rPr sz="1200" b="1">
                <a:solidFill>
                  <a:srgbClr val="F59E0B"/>
                </a:solidFill>
                <a:latin typeface="Arial"/>
              </a:rPr>
              <a:t>Same U-Net, two jobs</a:t>
            </a:r>
          </a:p>
          <a:p>
            <a:pPr algn="l">
              <a:spcAft>
                <a:spcPts val="200"/>
              </a:spcAft>
            </a:pPr>
            <a:r>
              <a:rPr sz="1100" b="0">
                <a:solidFill>
                  <a:srgbClr val="161B26"/>
                </a:solidFill>
                <a:latin typeface="Arial"/>
              </a:rPr>
              <a:t>Segment an image, or denoise a latent. The architecture does not care.</a:t>
            </a:r>
          </a:p>
        </p:txBody>
      </p:sp>
      <p:sp>
        <p:nvSpPr>
          <p:cNvPr id="38" name="TextBox 37"/>
          <p:cNvSpPr txBox="1"/>
          <p:nvPr/>
        </p:nvSpPr>
        <p:spPr>
          <a:xfrm>
            <a:off x="777240" y="5989320"/>
            <a:ext cx="10634472" cy="457200"/>
          </a:xfrm>
          <a:prstGeom prst="rect">
            <a:avLst/>
          </a:prstGeom>
          <a:noFill/>
        </p:spPr>
        <p:txBody>
          <a:bodyPr wrap="square" anchor="ctr">
            <a:spAutoFit/>
          </a:bodyPr>
          <a:lstStyle/>
          <a:p>
            <a:pPr algn="ctr">
              <a:spcAft>
                <a:spcPts val="400"/>
              </a:spcAft>
            </a:pPr>
            <a:r>
              <a:rPr sz="1250" b="0">
                <a:solidFill>
                  <a:srgbClr val="5B6372"/>
                </a:solidFill>
                <a:latin typeface="Arial"/>
              </a:rPr>
              <a:t>Notice the loop closing: the encoder-decoder you met as a VAE in Topic 01 is the segmentation backbone here, and the diffusion backbone in Topic 04.</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fast">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K9, K10 · A DISTINCTION THE ASSESSMENT EXPECTS YOU TO MAKE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Detection Is Not Tracking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F6FEB"/>
                </a:solidFill>
                <a:latin typeface="Arial"/>
              </a:rPr>
              <a:t>Where is it now?</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Is that the same thing?</a:t>
            </a:r>
          </a:p>
        </p:txBody>
      </p:sp>
      <p:sp>
        <p:nvSpPr>
          <p:cNvPr id="13" name="TextBox 12"/>
          <p:cNvSpPr txBox="1"/>
          <p:nvPr/>
        </p:nvSpPr>
        <p:spPr>
          <a:xfrm>
            <a:off x="1005840" y="2423160"/>
            <a:ext cx="4754880" cy="3017520"/>
          </a:xfrm>
          <a:prstGeom prst="rect">
            <a:avLst/>
          </a:prstGeom>
          <a:noFill/>
        </p:spPr>
        <p:txBody>
          <a:bodyPr wrap="square">
            <a:spAutoFit/>
          </a:bodyPr>
          <a:lstStyle/>
          <a:p>
            <a:pPr>
              <a:spcAft>
                <a:spcPts val="800"/>
              </a:spcAft>
            </a:pPr>
            <a:r>
              <a:rPr sz="1300" b="1">
                <a:solidFill>
                  <a:srgbClr val="161B26"/>
                </a:solidFill>
                <a:latin typeface="Arial"/>
              </a:rPr>
              <a:t>•  Detection</a:t>
            </a:r>
          </a:p>
          <a:p>
            <a:pPr>
              <a:spcAft>
                <a:spcPts val="800"/>
              </a:spcAft>
            </a:pPr>
            <a:r>
              <a:rPr sz="1100" b="0">
                <a:solidFill>
                  <a:srgbClr val="5B6372"/>
                </a:solidFill>
                <a:latin typeface="Arial"/>
              </a:rPr>
              <a:t>–  Per frame, independently. No memory of the previous frame.</a:t>
            </a:r>
          </a:p>
          <a:p>
            <a:pPr>
              <a:spcAft>
                <a:spcPts val="800"/>
              </a:spcAft>
            </a:pPr>
            <a:r>
              <a:rPr sz="1100" b="0">
                <a:solidFill>
                  <a:srgbClr val="5B6372"/>
                </a:solidFill>
                <a:latin typeface="Arial"/>
              </a:rPr>
              <a:t>–  Output: a set of boxes with labels and scores.</a:t>
            </a:r>
          </a:p>
          <a:p>
            <a:pPr>
              <a:spcAft>
                <a:spcPts val="800"/>
              </a:spcAft>
            </a:pPr>
            <a:r>
              <a:rPr sz="1100" b="0">
                <a:solidFill>
                  <a:srgbClr val="5B6372"/>
                </a:solidFill>
                <a:latin typeface="Arial"/>
              </a:rPr>
              <a:t>–  Identity is not preserved — box 1 in frame 10 and box 1 in frame 11 may be different objects.</a:t>
            </a:r>
          </a:p>
          <a:p>
            <a:pPr>
              <a:spcAft>
                <a:spcPts val="800"/>
              </a:spcAft>
            </a:pPr>
            <a:r>
              <a:rPr sz="1100" b="0">
                <a:solidFill>
                  <a:srgbClr val="5B6372"/>
                </a:solidFill>
                <a:latin typeface="Arial"/>
              </a:rPr>
              <a:t>–  Evaluated with IoU, precision, recall, mAP.</a:t>
            </a:r>
          </a:p>
        </p:txBody>
      </p:sp>
      <p:sp>
        <p:nvSpPr>
          <p:cNvPr id="14" name="TextBox 13"/>
          <p:cNvSpPr txBox="1"/>
          <p:nvPr/>
        </p:nvSpPr>
        <p:spPr>
          <a:xfrm>
            <a:off x="6583680" y="2423160"/>
            <a:ext cx="4617720" cy="3017520"/>
          </a:xfrm>
          <a:prstGeom prst="rect">
            <a:avLst/>
          </a:prstGeom>
          <a:noFill/>
        </p:spPr>
        <p:txBody>
          <a:bodyPr wrap="square">
            <a:spAutoFit/>
          </a:bodyPr>
          <a:lstStyle/>
          <a:p>
            <a:pPr>
              <a:spcAft>
                <a:spcPts val="800"/>
              </a:spcAft>
            </a:pPr>
            <a:r>
              <a:rPr sz="1300" b="1">
                <a:solidFill>
                  <a:srgbClr val="161B26"/>
                </a:solidFill>
                <a:latin typeface="Arial"/>
              </a:rPr>
              <a:t>•  Tracking</a:t>
            </a:r>
          </a:p>
          <a:p>
            <a:pPr>
              <a:spcAft>
                <a:spcPts val="800"/>
              </a:spcAft>
            </a:pPr>
            <a:r>
              <a:rPr sz="1100" b="0">
                <a:solidFill>
                  <a:srgbClr val="5B6372"/>
                </a:solidFill>
                <a:latin typeface="Arial"/>
              </a:rPr>
              <a:t>–  Across frames. Maintains an identity over time.</a:t>
            </a:r>
          </a:p>
          <a:p>
            <a:pPr>
              <a:spcAft>
                <a:spcPts val="800"/>
              </a:spcAft>
            </a:pPr>
            <a:r>
              <a:rPr sz="1100" b="0">
                <a:solidFill>
                  <a:srgbClr val="5B6372"/>
                </a:solidFill>
                <a:latin typeface="Arial"/>
              </a:rPr>
              <a:t>–  Output: a trajectory per object.</a:t>
            </a:r>
          </a:p>
          <a:p>
            <a:pPr>
              <a:spcAft>
                <a:spcPts val="800"/>
              </a:spcAft>
            </a:pPr>
            <a:r>
              <a:rPr sz="1100" b="0">
                <a:solidFill>
                  <a:srgbClr val="5B6372"/>
                </a:solidFill>
                <a:latin typeface="Arial"/>
              </a:rPr>
              <a:t>–  Identity IS the deliverable — that is what lets you measure dwell time, speed and continuity.</a:t>
            </a:r>
          </a:p>
          <a:p>
            <a:pPr>
              <a:spcAft>
                <a:spcPts val="800"/>
              </a:spcAft>
            </a:pPr>
            <a:r>
              <a:rPr sz="1100" b="0">
                <a:solidFill>
                  <a:srgbClr val="5B6372"/>
                </a:solidFill>
                <a:latin typeface="Arial"/>
              </a:rPr>
              <a:t>–  Evaluated with track-level measures: IoU over time, identity switches, centroid jitter, scale drift.</a:t>
            </a:r>
          </a:p>
        </p:txBody>
      </p:sp>
      <p:sp>
        <p:nvSpPr>
          <p:cNvPr id="15" name="TextBox 14"/>
          <p:cNvSpPr txBox="1"/>
          <p:nvPr/>
        </p:nvSpPr>
        <p:spPr>
          <a:xfrm>
            <a:off x="777240" y="5669280"/>
            <a:ext cx="10698480" cy="640080"/>
          </a:xfrm>
          <a:prstGeom prst="rect">
            <a:avLst/>
          </a:prstGeom>
          <a:noFill/>
        </p:spPr>
        <p:txBody>
          <a:bodyPr wrap="square" anchor="ctr">
            <a:spAutoFit/>
          </a:bodyPr>
          <a:lstStyle/>
          <a:p>
            <a:pPr algn="ctr">
              <a:spcAft>
                <a:spcPts val="400"/>
              </a:spcAft>
            </a:pPr>
            <a:r>
              <a:rPr sz="1250" b="0">
                <a:solidFill>
                  <a:srgbClr val="5B6372"/>
                </a:solidFill>
                <a:latin typeface="Arial"/>
              </a:rPr>
              <a:t>Tracking-by-detection combines them: detect every frame, then associate detections across frames by IoU or appearance. Every association error becomes an identity switch.</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spd="fast">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K10 · WHEN THE SIMPLEST THING IS THE RIGHT THING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Frame Differencing — the Cheapest Motion Detector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41605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38528"/>
            <a:ext cx="6035040" cy="3849624"/>
          </a:xfrm>
          <a:prstGeom prst="rect">
            <a:avLst/>
          </a:prstGeom>
          <a:noFill/>
        </p:spPr>
        <p:txBody>
          <a:bodyPr wrap="none" lIns="0" rIns="0" tIns="0" bIns="0" anchor="t">
            <a:noAutofit/>
          </a:bodyPr>
          <a:lstStyle/>
          <a:p>
            <a:pPr>
              <a:spcAft>
                <a:spcPts val="100"/>
              </a:spcAft>
            </a:pPr>
            <a:r>
              <a:rPr sz="940">
                <a:solidFill>
                  <a:srgbClr val="9CDCFE"/>
                </a:solidFill>
                <a:latin typeface="Consolas"/>
              </a:rPr>
              <a:t>prev = cv2.cvtColor(frames[0], cv2.COLOR_BGR2GRAY)</a:t>
            </a:r>
          </a:p>
          <a:p>
            <a:pPr>
              <a:spcAft>
                <a:spcPts val="100"/>
              </a:spcAft>
            </a:pPr>
            <a:r>
              <a:rPr sz="940">
                <a:solidFill>
                  <a:srgbClr val="9CDCFE"/>
                </a:solidFill>
                <a:latin typeface="Consolas"/>
              </a:rPr>
              <a:t>for frame in frames[1:]:</a:t>
            </a:r>
          </a:p>
          <a:p>
            <a:pPr>
              <a:spcAft>
                <a:spcPts val="100"/>
              </a:spcAft>
            </a:pPr>
            <a:r>
              <a:rPr sz="940">
                <a:solidFill>
                  <a:srgbClr val="9CDCFE"/>
                </a:solidFill>
                <a:latin typeface="Consolas"/>
              </a:rPr>
              <a:t>    gray  = cv2.cvtColor(frame, cv2.COLOR_BGR2GRAY)</a:t>
            </a:r>
          </a:p>
          <a:p>
            <a:pPr>
              <a:spcAft>
                <a:spcPts val="100"/>
              </a:spcAft>
            </a:pPr>
            <a:r>
              <a:rPr sz="940">
                <a:solidFill>
                  <a:srgbClr val="9CDCFE"/>
                </a:solidFill>
                <a:latin typeface="Consolas"/>
              </a:rPr>
              <a:t>    diff  = cv2.absdiff(prev, gray)</a:t>
            </a:r>
          </a:p>
          <a:p>
            <a:pPr>
              <a:spcAft>
                <a:spcPts val="100"/>
              </a:spcAft>
            </a:pPr>
            <a:r>
              <a:rPr sz="940">
                <a:solidFill>
                  <a:srgbClr val="9CDCFE"/>
                </a:solidFill>
                <a:latin typeface="Consolas"/>
              </a:rPr>
              <a:t>    _, mv = cv2.threshold(diff, 25, 255, cv2.THRESH_BINARY)</a:t>
            </a:r>
          </a:p>
          <a:p>
            <a:pPr>
              <a:spcAft>
                <a:spcPts val="100"/>
              </a:spcAft>
            </a:pPr>
            <a:r>
              <a:rPr sz="940">
                <a:solidFill>
                  <a:srgbClr val="9CDCFE"/>
                </a:solidFill>
                <a:latin typeface="Consolas"/>
              </a:rPr>
              <a:t>    mv    = cv2.morphologyEx(mv, cv2.MORPH_OPEN, kernel)   # drop specks</a:t>
            </a:r>
          </a:p>
          <a:p>
            <a:pPr>
              <a:spcAft>
                <a:spcPts val="100"/>
              </a:spcAft>
            </a:pPr>
            <a:r>
              <a:rPr sz="940">
                <a:solidFill>
                  <a:srgbClr val="9CDCFE"/>
                </a:solidFill>
                <a:latin typeface="Consolas"/>
              </a:rPr>
              <a:t>    moving_px = int(cv2.countNonZero(mv))</a:t>
            </a:r>
          </a:p>
          <a:p>
            <a:pPr>
              <a:spcAft>
                <a:spcPts val="100"/>
              </a:spcAft>
            </a:pPr>
            <a:r>
              <a:rPr sz="940">
                <a:solidFill>
                  <a:srgbClr val="9CDCFE"/>
                </a:solidFill>
                <a:latin typeface="Consolas"/>
              </a:rPr>
              <a:t>    prev = gray</a:t>
            </a:r>
          </a:p>
          <a:p>
            <a:pPr>
              <a:spcAft>
                <a:spcPts val="100"/>
              </a:spcAft>
            </a:pPr>
            <a:r>
              <a:rPr sz="940">
                <a:solidFill>
                  <a:srgbClr val="9CDCFE"/>
                </a:solidFill>
                <a:latin typeface="Consolas"/>
              </a:rPr>
              <a:t> </a:t>
            </a:r>
          </a:p>
          <a:p>
            <a:pPr>
              <a:spcAft>
                <a:spcPts val="100"/>
              </a:spcAft>
            </a:pPr>
            <a:r>
              <a:rPr sz="940">
                <a:solidFill>
                  <a:srgbClr val="9CDCFE"/>
                </a:solidFill>
                <a:latin typeface="Consolas"/>
              </a:rPr>
              <a:t># vs background subtraction:</a:t>
            </a:r>
          </a:p>
          <a:p>
            <a:pPr>
              <a:spcAft>
                <a:spcPts val="100"/>
              </a:spcAft>
            </a:pPr>
            <a:r>
              <a:rPr sz="940">
                <a:solidFill>
                  <a:srgbClr val="9CDCFE"/>
                </a:solidFill>
                <a:latin typeface="Consolas"/>
              </a:rPr>
              <a:t>#   frame differencing  -&gt; detects CHANGE between two frames. An object that</a:t>
            </a:r>
          </a:p>
          <a:p>
            <a:pPr>
              <a:spcAft>
                <a:spcPts val="100"/>
              </a:spcAft>
            </a:pPr>
            <a:r>
              <a:rPr sz="940">
                <a:solidFill>
                  <a:srgbClr val="9CDCFE"/>
                </a:solidFill>
                <a:latin typeface="Consolas"/>
              </a:rPr>
              <a:t>#                          stops moving disappears immediately.</a:t>
            </a:r>
          </a:p>
          <a:p>
            <a:pPr>
              <a:spcAft>
                <a:spcPts val="100"/>
              </a:spcAft>
            </a:pPr>
            <a:r>
              <a:rPr sz="940">
                <a:solidFill>
                  <a:srgbClr val="9CDCFE"/>
                </a:solidFill>
                <a:latin typeface="Consolas"/>
              </a:rPr>
              <a:t>#   background subtract -&gt; models the SCENE over history. A stopped object stays</a:t>
            </a:r>
          </a:p>
          <a:p>
            <a:pPr>
              <a:spcAft>
                <a:spcPts val="100"/>
              </a:spcAft>
            </a:pPr>
            <a:r>
              <a:rPr sz="940">
                <a:solidFill>
                  <a:srgbClr val="9CDCFE"/>
                </a:solidFill>
                <a:latin typeface="Consolas"/>
              </a:rPr>
              <a:t>#                          foreground until the model absorbs it.</a:t>
            </a:r>
          </a:p>
        </p:txBody>
      </p:sp>
      <p:sp>
        <p:nvSpPr>
          <p:cNvPr id="9" name="Rectangle 8"/>
          <p:cNvSpPr/>
          <p:nvPr/>
        </p:nvSpPr>
        <p:spPr>
          <a:xfrm>
            <a:off x="7406640" y="1783080"/>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783080"/>
            <a:ext cx="82296" cy="9166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6096" y="1783080"/>
            <a:ext cx="3602736" cy="916686"/>
          </a:xfrm>
          <a:prstGeom prst="rect">
            <a:avLst/>
          </a:prstGeom>
          <a:noFill/>
        </p:spPr>
        <p:txBody>
          <a:bodyPr wrap="square" anchor="ctr">
            <a:spAutoFit/>
          </a:bodyPr>
          <a:lstStyle/>
          <a:p>
            <a:pPr algn="l">
              <a:spcAft>
                <a:spcPts val="200"/>
              </a:spcAft>
            </a:pPr>
            <a:r>
              <a:rPr sz="1300" b="1">
                <a:solidFill>
                  <a:srgbClr val="1F6FEB"/>
                </a:solidFill>
                <a:latin typeface="Arial"/>
              </a:rPr>
              <a:t>Two frames, one subtraction</a:t>
            </a:r>
          </a:p>
          <a:p>
            <a:pPr algn="l">
              <a:spcAft>
                <a:spcPts val="200"/>
              </a:spcAft>
            </a:pPr>
            <a:r>
              <a:rPr sz="1150" b="0">
                <a:solidFill>
                  <a:srgbClr val="161B26"/>
                </a:solidFill>
                <a:latin typeface="Arial"/>
              </a:rPr>
              <a:t>No model, no history, no warm-up. Runs on anything.</a:t>
            </a:r>
          </a:p>
        </p:txBody>
      </p:sp>
      <p:sp>
        <p:nvSpPr>
          <p:cNvPr id="12" name="Rectangle 11"/>
          <p:cNvSpPr/>
          <p:nvPr/>
        </p:nvSpPr>
        <p:spPr>
          <a:xfrm>
            <a:off x="7406640" y="2864358"/>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2864358"/>
            <a:ext cx="82296" cy="91668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2864358"/>
            <a:ext cx="3602736" cy="916686"/>
          </a:xfrm>
          <a:prstGeom prst="rect">
            <a:avLst/>
          </a:prstGeom>
          <a:noFill/>
        </p:spPr>
        <p:txBody>
          <a:bodyPr wrap="square" anchor="ctr">
            <a:spAutoFit/>
          </a:bodyPr>
          <a:lstStyle/>
          <a:p>
            <a:pPr algn="l">
              <a:spcAft>
                <a:spcPts val="200"/>
              </a:spcAft>
            </a:pPr>
            <a:r>
              <a:rPr sz="1300" b="1">
                <a:solidFill>
                  <a:srgbClr val="10B981"/>
                </a:solidFill>
                <a:latin typeface="Arial"/>
              </a:rPr>
              <a:t>It sees change, not objects</a:t>
            </a:r>
          </a:p>
          <a:p>
            <a:pPr algn="l">
              <a:spcAft>
                <a:spcPts val="200"/>
              </a:spcAft>
            </a:pPr>
            <a:r>
              <a:rPr sz="1150" b="0">
                <a:solidFill>
                  <a:srgbClr val="161B26"/>
                </a:solidFill>
                <a:latin typeface="Arial"/>
              </a:rPr>
              <a:t>A stationary person vanishes. That is sometimes exactly what you want, and sometimes fatal.</a:t>
            </a:r>
          </a:p>
        </p:txBody>
      </p:sp>
      <p:sp>
        <p:nvSpPr>
          <p:cNvPr id="15" name="Rectangle 14"/>
          <p:cNvSpPr/>
          <p:nvPr/>
        </p:nvSpPr>
        <p:spPr>
          <a:xfrm>
            <a:off x="7406640" y="3945636"/>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3945636"/>
            <a:ext cx="82296" cy="91668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6096" y="3945636"/>
            <a:ext cx="3602736" cy="916686"/>
          </a:xfrm>
          <a:prstGeom prst="rect">
            <a:avLst/>
          </a:prstGeom>
          <a:noFill/>
        </p:spPr>
        <p:txBody>
          <a:bodyPr wrap="square" anchor="ctr">
            <a:spAutoFit/>
          </a:bodyPr>
          <a:lstStyle/>
          <a:p>
            <a:pPr algn="l">
              <a:spcAft>
                <a:spcPts val="200"/>
              </a:spcAft>
            </a:pPr>
            <a:r>
              <a:rPr sz="1300" b="1">
                <a:solidFill>
                  <a:srgbClr val="7C3AED"/>
                </a:solidFill>
                <a:latin typeface="Arial"/>
              </a:rPr>
              <a:t>Threshold plus morphology</a:t>
            </a:r>
          </a:p>
          <a:p>
            <a:pPr algn="l">
              <a:spcAft>
                <a:spcPts val="200"/>
              </a:spcAft>
            </a:pPr>
            <a:r>
              <a:rPr sz="1150" b="0">
                <a:solidFill>
                  <a:srgbClr val="161B26"/>
                </a:solidFill>
                <a:latin typeface="Arial"/>
              </a:rPr>
              <a:t>Raw absdiff is noisy. Threshold, then open to remove single-pixel specks.</a:t>
            </a:r>
          </a:p>
        </p:txBody>
      </p:sp>
      <p:sp>
        <p:nvSpPr>
          <p:cNvPr id="18" name="Rectangle 17"/>
          <p:cNvSpPr/>
          <p:nvPr/>
        </p:nvSpPr>
        <p:spPr>
          <a:xfrm>
            <a:off x="7406640" y="5026914"/>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5026914"/>
            <a:ext cx="82296" cy="91668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5026914"/>
            <a:ext cx="3602736" cy="916686"/>
          </a:xfrm>
          <a:prstGeom prst="rect">
            <a:avLst/>
          </a:prstGeom>
          <a:noFill/>
        </p:spPr>
        <p:txBody>
          <a:bodyPr wrap="square" anchor="ctr">
            <a:spAutoFit/>
          </a:bodyPr>
          <a:lstStyle/>
          <a:p>
            <a:pPr algn="l">
              <a:spcAft>
                <a:spcPts val="200"/>
              </a:spcAft>
            </a:pPr>
            <a:r>
              <a:rPr sz="1300" b="1">
                <a:solidFill>
                  <a:srgbClr val="F59E0B"/>
                </a:solidFill>
                <a:latin typeface="Arial"/>
              </a:rPr>
              <a:t>Choose by the question</a:t>
            </a:r>
          </a:p>
          <a:p>
            <a:pPr algn="l">
              <a:spcAft>
                <a:spcPts val="200"/>
              </a:spcAft>
            </a:pPr>
            <a:r>
              <a:rPr sz="1150" b="0">
                <a:solidFill>
                  <a:srgbClr val="161B26"/>
                </a:solidFill>
                <a:latin typeface="Arial"/>
              </a:rPr>
              <a:t>'Did anything move?' — difference. 'What is not part of the scene?' — background subtraction.</a:t>
            </a:r>
          </a:p>
        </p:txBody>
      </p:sp>
      <p:sp>
        <p:nvSpPr>
          <p:cNvPr id="21" name="Rectangle 20"/>
          <p:cNvSpPr/>
          <p:nvPr/>
        </p:nvSpPr>
        <p:spPr>
          <a:xfrm>
            <a:off x="777240" y="6053328"/>
            <a:ext cx="10634472" cy="4023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6053328"/>
            <a:ext cx="10241280" cy="402336"/>
          </a:xfrm>
          <a:prstGeom prst="rect">
            <a:avLst/>
          </a:prstGeom>
          <a:noFill/>
        </p:spPr>
        <p:txBody>
          <a:bodyPr wrap="square" anchor="ctr">
            <a:spAutoFit/>
          </a:bodyPr>
          <a:lstStyle/>
          <a:p>
            <a:pPr algn="l">
              <a:spcAft>
                <a:spcPts val="400"/>
              </a:spcAft>
            </a:pPr>
            <a:r>
              <a:rPr sz="1100" b="1">
                <a:solidFill>
                  <a:srgbClr val="127A3E"/>
                </a:solidFill>
                <a:latin typeface="Arial"/>
              </a:rPr>
              <a:t>VERIFY   </a:t>
            </a:r>
            <a:r>
              <a:rPr sz="1200" b="0">
                <a:solidFill>
                  <a:srgbClr val="161B26"/>
                </a:solidFill>
                <a:latin typeface="Arial"/>
              </a:rPr>
              <a:t>Lab 10 runs MOG2 and KNN background subtraction and shows both need history before they can be trusted; frame differencing needs none.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transition spd="fast">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K10 · EVENT DISCOVERY · ~400 BYTES INSTEAD OF MEGABYTES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From a Track to an Event Worth Sending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339583" cy="7010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156703" cy="701040"/>
          </a:xfrm>
          <a:prstGeom prst="rect">
            <a:avLst/>
          </a:prstGeom>
          <a:noFill/>
        </p:spPr>
        <p:txBody>
          <a:bodyPr wrap="square" anchor="ctr">
            <a:spAutoFit/>
          </a:bodyPr>
          <a:lstStyle/>
          <a:p>
            <a:pPr algn="l">
              <a:spcAft>
                <a:spcPts val="400"/>
              </a:spcAft>
            </a:pPr>
            <a:r>
              <a:rPr sz="1100" b="1">
                <a:solidFill>
                  <a:srgbClr val="FFFFFF"/>
                </a:solidFill>
                <a:latin typeface="Arial"/>
              </a:rPr>
              <a:t>Event rule</a:t>
            </a:r>
          </a:p>
        </p:txBody>
      </p:sp>
      <p:sp>
        <p:nvSpPr>
          <p:cNvPr id="9" name="Rectangle 8"/>
          <p:cNvSpPr/>
          <p:nvPr/>
        </p:nvSpPr>
        <p:spPr>
          <a:xfrm>
            <a:off x="3116823" y="1783080"/>
            <a:ext cx="5104546" cy="7010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26551" y="1783080"/>
            <a:ext cx="4921666" cy="701040"/>
          </a:xfrm>
          <a:prstGeom prst="rect">
            <a:avLst/>
          </a:prstGeom>
          <a:noFill/>
        </p:spPr>
        <p:txBody>
          <a:bodyPr wrap="square" anchor="ctr">
            <a:spAutoFit/>
          </a:bodyPr>
          <a:lstStyle/>
          <a:p>
            <a:pPr algn="l">
              <a:spcAft>
                <a:spcPts val="400"/>
              </a:spcAft>
            </a:pPr>
            <a:r>
              <a:rPr sz="1100" b="1">
                <a:solidFill>
                  <a:srgbClr val="FFFFFF"/>
                </a:solidFill>
                <a:latin typeface="Arial"/>
              </a:rPr>
              <a:t>Computed from the track</a:t>
            </a:r>
          </a:p>
        </p:txBody>
      </p:sp>
      <p:sp>
        <p:nvSpPr>
          <p:cNvPr id="11" name="Rectangle 10"/>
          <p:cNvSpPr/>
          <p:nvPr/>
        </p:nvSpPr>
        <p:spPr>
          <a:xfrm>
            <a:off x="8221369" y="1783080"/>
            <a:ext cx="3190341" cy="7010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31097" y="1783080"/>
            <a:ext cx="3007461" cy="701040"/>
          </a:xfrm>
          <a:prstGeom prst="rect">
            <a:avLst/>
          </a:prstGeom>
          <a:noFill/>
        </p:spPr>
        <p:txBody>
          <a:bodyPr wrap="square" anchor="ctr">
            <a:spAutoFit/>
          </a:bodyPr>
          <a:lstStyle/>
          <a:p>
            <a:pPr algn="l">
              <a:spcAft>
                <a:spcPts val="400"/>
              </a:spcAft>
            </a:pPr>
            <a:r>
              <a:rPr sz="1100" b="1">
                <a:solidFill>
                  <a:srgbClr val="FFFFFF"/>
                </a:solidFill>
                <a:latin typeface="Arial"/>
              </a:rPr>
              <a:t>Typical payload</a:t>
            </a:r>
          </a:p>
        </p:txBody>
      </p:sp>
      <p:sp>
        <p:nvSpPr>
          <p:cNvPr id="13" name="Rectangle 12"/>
          <p:cNvSpPr/>
          <p:nvPr/>
        </p:nvSpPr>
        <p:spPr>
          <a:xfrm>
            <a:off x="777240" y="2484120"/>
            <a:ext cx="2339583"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484120"/>
            <a:ext cx="2156703" cy="701040"/>
          </a:xfrm>
          <a:prstGeom prst="rect">
            <a:avLst/>
          </a:prstGeom>
          <a:noFill/>
        </p:spPr>
        <p:txBody>
          <a:bodyPr wrap="square" anchor="ctr">
            <a:spAutoFit/>
          </a:bodyPr>
          <a:lstStyle/>
          <a:p>
            <a:pPr algn="l">
              <a:spcAft>
                <a:spcPts val="400"/>
              </a:spcAft>
            </a:pPr>
            <a:r>
              <a:rPr sz="1000" b="1">
                <a:solidFill>
                  <a:srgbClr val="161B26"/>
                </a:solidFill>
                <a:latin typeface="Arial"/>
              </a:rPr>
              <a:t>Line crossing</a:t>
            </a:r>
          </a:p>
        </p:txBody>
      </p:sp>
      <p:sp>
        <p:nvSpPr>
          <p:cNvPr id="15" name="Rectangle 14"/>
          <p:cNvSpPr/>
          <p:nvPr/>
        </p:nvSpPr>
        <p:spPr>
          <a:xfrm>
            <a:off x="3116823" y="2484120"/>
            <a:ext cx="5104546"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26551" y="2484120"/>
            <a:ext cx="4921666" cy="701040"/>
          </a:xfrm>
          <a:prstGeom prst="rect">
            <a:avLst/>
          </a:prstGeom>
          <a:noFill/>
        </p:spPr>
        <p:txBody>
          <a:bodyPr wrap="square" anchor="ctr">
            <a:spAutoFit/>
          </a:bodyPr>
          <a:lstStyle/>
          <a:p>
            <a:pPr algn="l">
              <a:spcAft>
                <a:spcPts val="400"/>
              </a:spcAft>
            </a:pPr>
            <a:r>
              <a:rPr sz="1000" b="0">
                <a:solidFill>
                  <a:srgbClr val="161B26"/>
                </a:solidFill>
                <a:latin typeface="Arial"/>
              </a:rPr>
              <a:t>The centroid trajectory crosses a defined segment</a:t>
            </a:r>
          </a:p>
        </p:txBody>
      </p:sp>
      <p:sp>
        <p:nvSpPr>
          <p:cNvPr id="17" name="Rectangle 16"/>
          <p:cNvSpPr/>
          <p:nvPr/>
        </p:nvSpPr>
        <p:spPr>
          <a:xfrm>
            <a:off x="8221369" y="2484120"/>
            <a:ext cx="3190341"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1097" y="2484120"/>
            <a:ext cx="3007461" cy="701040"/>
          </a:xfrm>
          <a:prstGeom prst="rect">
            <a:avLst/>
          </a:prstGeom>
          <a:noFill/>
        </p:spPr>
        <p:txBody>
          <a:bodyPr wrap="square" anchor="ctr">
            <a:spAutoFit/>
          </a:bodyPr>
          <a:lstStyle/>
          <a:p>
            <a:pPr algn="l">
              <a:spcAft>
                <a:spcPts val="400"/>
              </a:spcAft>
            </a:pPr>
            <a:r>
              <a:rPr sz="1000" b="0">
                <a:solidFill>
                  <a:srgbClr val="161B26"/>
                </a:solidFill>
                <a:latin typeface="Arial"/>
              </a:rPr>
              <a:t>timestamp, direction, track id</a:t>
            </a:r>
          </a:p>
        </p:txBody>
      </p:sp>
      <p:sp>
        <p:nvSpPr>
          <p:cNvPr id="19" name="Rectangle 18"/>
          <p:cNvSpPr/>
          <p:nvPr/>
        </p:nvSpPr>
        <p:spPr>
          <a:xfrm>
            <a:off x="777240" y="3185160"/>
            <a:ext cx="2339583"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185160"/>
            <a:ext cx="2156703" cy="701040"/>
          </a:xfrm>
          <a:prstGeom prst="rect">
            <a:avLst/>
          </a:prstGeom>
          <a:noFill/>
        </p:spPr>
        <p:txBody>
          <a:bodyPr wrap="square" anchor="ctr">
            <a:spAutoFit/>
          </a:bodyPr>
          <a:lstStyle/>
          <a:p>
            <a:pPr algn="l">
              <a:spcAft>
                <a:spcPts val="400"/>
              </a:spcAft>
            </a:pPr>
            <a:r>
              <a:rPr sz="1000" b="1">
                <a:solidFill>
                  <a:srgbClr val="161B26"/>
                </a:solidFill>
                <a:latin typeface="Arial"/>
              </a:rPr>
              <a:t>Dwell</a:t>
            </a:r>
          </a:p>
        </p:txBody>
      </p:sp>
      <p:sp>
        <p:nvSpPr>
          <p:cNvPr id="21" name="Rectangle 20"/>
          <p:cNvSpPr/>
          <p:nvPr/>
        </p:nvSpPr>
        <p:spPr>
          <a:xfrm>
            <a:off x="3116823" y="3185160"/>
            <a:ext cx="5104546"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26551" y="3185160"/>
            <a:ext cx="4921666" cy="701040"/>
          </a:xfrm>
          <a:prstGeom prst="rect">
            <a:avLst/>
          </a:prstGeom>
          <a:noFill/>
        </p:spPr>
        <p:txBody>
          <a:bodyPr wrap="square" anchor="ctr">
            <a:spAutoFit/>
          </a:bodyPr>
          <a:lstStyle/>
          <a:p>
            <a:pPr algn="l">
              <a:spcAft>
                <a:spcPts val="400"/>
              </a:spcAft>
            </a:pPr>
            <a:r>
              <a:rPr sz="1000" b="0">
                <a:solidFill>
                  <a:srgbClr val="161B26"/>
                </a:solidFill>
                <a:latin typeface="Arial"/>
              </a:rPr>
              <a:t>The centroid stays inside a polygon for more than N seconds</a:t>
            </a:r>
          </a:p>
        </p:txBody>
      </p:sp>
      <p:sp>
        <p:nvSpPr>
          <p:cNvPr id="23" name="Rectangle 22"/>
          <p:cNvSpPr/>
          <p:nvPr/>
        </p:nvSpPr>
        <p:spPr>
          <a:xfrm>
            <a:off x="8221369" y="3185160"/>
            <a:ext cx="3190341"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31097" y="3185160"/>
            <a:ext cx="3007461" cy="701040"/>
          </a:xfrm>
          <a:prstGeom prst="rect">
            <a:avLst/>
          </a:prstGeom>
          <a:noFill/>
        </p:spPr>
        <p:txBody>
          <a:bodyPr wrap="square" anchor="ctr">
            <a:spAutoFit/>
          </a:bodyPr>
          <a:lstStyle/>
          <a:p>
            <a:pPr algn="l">
              <a:spcAft>
                <a:spcPts val="400"/>
              </a:spcAft>
            </a:pPr>
            <a:r>
              <a:rPr sz="1000" b="0">
                <a:solidFill>
                  <a:srgbClr val="161B26"/>
                </a:solidFill>
                <a:latin typeface="Arial"/>
              </a:rPr>
              <a:t>timestamp, region, duration</a:t>
            </a:r>
          </a:p>
        </p:txBody>
      </p:sp>
      <p:sp>
        <p:nvSpPr>
          <p:cNvPr id="25" name="Rectangle 24"/>
          <p:cNvSpPr/>
          <p:nvPr/>
        </p:nvSpPr>
        <p:spPr>
          <a:xfrm>
            <a:off x="777240" y="3886200"/>
            <a:ext cx="2339583"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886200"/>
            <a:ext cx="2156703" cy="701040"/>
          </a:xfrm>
          <a:prstGeom prst="rect">
            <a:avLst/>
          </a:prstGeom>
          <a:noFill/>
        </p:spPr>
        <p:txBody>
          <a:bodyPr wrap="square" anchor="ctr">
            <a:spAutoFit/>
          </a:bodyPr>
          <a:lstStyle/>
          <a:p>
            <a:pPr algn="l">
              <a:spcAft>
                <a:spcPts val="400"/>
              </a:spcAft>
            </a:pPr>
            <a:r>
              <a:rPr sz="1000" b="1">
                <a:solidFill>
                  <a:srgbClr val="161B26"/>
                </a:solidFill>
                <a:latin typeface="Arial"/>
              </a:rPr>
              <a:t>Region occupancy</a:t>
            </a:r>
          </a:p>
        </p:txBody>
      </p:sp>
      <p:sp>
        <p:nvSpPr>
          <p:cNvPr id="27" name="Rectangle 26"/>
          <p:cNvSpPr/>
          <p:nvPr/>
        </p:nvSpPr>
        <p:spPr>
          <a:xfrm>
            <a:off x="3116823" y="3886200"/>
            <a:ext cx="5104546"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26551" y="3886200"/>
            <a:ext cx="4921666" cy="701040"/>
          </a:xfrm>
          <a:prstGeom prst="rect">
            <a:avLst/>
          </a:prstGeom>
          <a:noFill/>
        </p:spPr>
        <p:txBody>
          <a:bodyPr wrap="square" anchor="ctr">
            <a:spAutoFit/>
          </a:bodyPr>
          <a:lstStyle/>
          <a:p>
            <a:pPr algn="l">
              <a:spcAft>
                <a:spcPts val="400"/>
              </a:spcAft>
            </a:pPr>
            <a:r>
              <a:rPr sz="1000" b="0">
                <a:solidFill>
                  <a:srgbClr val="161B26"/>
                </a:solidFill>
                <a:latin typeface="Arial"/>
              </a:rPr>
              <a:t>The count of distinct active tracks inside a polygon</a:t>
            </a:r>
          </a:p>
        </p:txBody>
      </p:sp>
      <p:sp>
        <p:nvSpPr>
          <p:cNvPr id="29" name="Rectangle 28"/>
          <p:cNvSpPr/>
          <p:nvPr/>
        </p:nvSpPr>
        <p:spPr>
          <a:xfrm>
            <a:off x="8221369" y="3886200"/>
            <a:ext cx="3190341"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31097" y="3886200"/>
            <a:ext cx="3007461" cy="701040"/>
          </a:xfrm>
          <a:prstGeom prst="rect">
            <a:avLst/>
          </a:prstGeom>
          <a:noFill/>
        </p:spPr>
        <p:txBody>
          <a:bodyPr wrap="square" anchor="ctr">
            <a:spAutoFit/>
          </a:bodyPr>
          <a:lstStyle/>
          <a:p>
            <a:pPr algn="l">
              <a:spcAft>
                <a:spcPts val="400"/>
              </a:spcAft>
            </a:pPr>
            <a:r>
              <a:rPr sz="1000" b="0">
                <a:solidFill>
                  <a:srgbClr val="161B26"/>
                </a:solidFill>
                <a:latin typeface="Arial"/>
              </a:rPr>
              <a:t>timestamp, region, count</a:t>
            </a:r>
          </a:p>
        </p:txBody>
      </p:sp>
      <p:sp>
        <p:nvSpPr>
          <p:cNvPr id="31" name="Rectangle 30"/>
          <p:cNvSpPr/>
          <p:nvPr/>
        </p:nvSpPr>
        <p:spPr>
          <a:xfrm>
            <a:off x="777240" y="4587240"/>
            <a:ext cx="2339583"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587240"/>
            <a:ext cx="2156703" cy="701040"/>
          </a:xfrm>
          <a:prstGeom prst="rect">
            <a:avLst/>
          </a:prstGeom>
          <a:noFill/>
        </p:spPr>
        <p:txBody>
          <a:bodyPr wrap="square" anchor="ctr">
            <a:spAutoFit/>
          </a:bodyPr>
          <a:lstStyle/>
          <a:p>
            <a:pPr algn="l">
              <a:spcAft>
                <a:spcPts val="400"/>
              </a:spcAft>
            </a:pPr>
            <a:r>
              <a:rPr sz="1000" b="1">
                <a:solidFill>
                  <a:srgbClr val="161B26"/>
                </a:solidFill>
                <a:latin typeface="Arial"/>
              </a:rPr>
              <a:t>Shelf gap</a:t>
            </a:r>
          </a:p>
        </p:txBody>
      </p:sp>
      <p:sp>
        <p:nvSpPr>
          <p:cNvPr id="33" name="Rectangle 32"/>
          <p:cNvSpPr/>
          <p:nvPr/>
        </p:nvSpPr>
        <p:spPr>
          <a:xfrm>
            <a:off x="3116823" y="4587240"/>
            <a:ext cx="5104546"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26551" y="4587240"/>
            <a:ext cx="4921666" cy="701040"/>
          </a:xfrm>
          <a:prstGeom prst="rect">
            <a:avLst/>
          </a:prstGeom>
          <a:noFill/>
        </p:spPr>
        <p:txBody>
          <a:bodyPr wrap="square" anchor="ctr">
            <a:spAutoFit/>
          </a:bodyPr>
          <a:lstStyle/>
          <a:p>
            <a:pPr algn="l">
              <a:spcAft>
                <a:spcPts val="400"/>
              </a:spcAft>
            </a:pPr>
            <a:r>
              <a:rPr sz="1000" b="0">
                <a:solidFill>
                  <a:srgbClr val="161B26"/>
                </a:solidFill>
                <a:latin typeface="Arial"/>
              </a:rPr>
              <a:t>A region's foreground fraction falls below a reference for N consecutive frames</a:t>
            </a:r>
          </a:p>
        </p:txBody>
      </p:sp>
      <p:sp>
        <p:nvSpPr>
          <p:cNvPr id="35" name="Rectangle 34"/>
          <p:cNvSpPr/>
          <p:nvPr/>
        </p:nvSpPr>
        <p:spPr>
          <a:xfrm>
            <a:off x="8221369" y="4587240"/>
            <a:ext cx="3190341"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31097" y="4587240"/>
            <a:ext cx="3007461" cy="701040"/>
          </a:xfrm>
          <a:prstGeom prst="rect">
            <a:avLst/>
          </a:prstGeom>
          <a:noFill/>
        </p:spPr>
        <p:txBody>
          <a:bodyPr wrap="square" anchor="ctr">
            <a:spAutoFit/>
          </a:bodyPr>
          <a:lstStyle/>
          <a:p>
            <a:pPr algn="l">
              <a:spcAft>
                <a:spcPts val="400"/>
              </a:spcAft>
            </a:pPr>
            <a:r>
              <a:rPr sz="1000" b="0">
                <a:solidFill>
                  <a:srgbClr val="161B26"/>
                </a:solidFill>
                <a:latin typeface="Arial"/>
              </a:rPr>
              <a:t>timestamp, shelf id, fraction</a:t>
            </a:r>
          </a:p>
        </p:txBody>
      </p:sp>
      <p:sp>
        <p:nvSpPr>
          <p:cNvPr id="37" name="Rectangle 36"/>
          <p:cNvSpPr/>
          <p:nvPr/>
        </p:nvSpPr>
        <p:spPr>
          <a:xfrm>
            <a:off x="777240" y="5288280"/>
            <a:ext cx="2339583"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5288280"/>
            <a:ext cx="2156703" cy="701040"/>
          </a:xfrm>
          <a:prstGeom prst="rect">
            <a:avLst/>
          </a:prstGeom>
          <a:noFill/>
        </p:spPr>
        <p:txBody>
          <a:bodyPr wrap="square" anchor="ctr">
            <a:spAutoFit/>
          </a:bodyPr>
          <a:lstStyle/>
          <a:p>
            <a:pPr algn="l">
              <a:spcAft>
                <a:spcPts val="400"/>
              </a:spcAft>
            </a:pPr>
            <a:r>
              <a:rPr sz="1000" b="1">
                <a:solidFill>
                  <a:srgbClr val="161B26"/>
                </a:solidFill>
                <a:latin typeface="Arial"/>
              </a:rPr>
              <a:t>Continuity break</a:t>
            </a:r>
          </a:p>
        </p:txBody>
      </p:sp>
      <p:sp>
        <p:nvSpPr>
          <p:cNvPr id="39" name="Rectangle 38"/>
          <p:cNvSpPr/>
          <p:nvPr/>
        </p:nvSpPr>
        <p:spPr>
          <a:xfrm>
            <a:off x="3116823" y="5288280"/>
            <a:ext cx="5104546"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26551" y="5288280"/>
            <a:ext cx="4921666" cy="701040"/>
          </a:xfrm>
          <a:prstGeom prst="rect">
            <a:avLst/>
          </a:prstGeom>
          <a:noFill/>
        </p:spPr>
        <p:txBody>
          <a:bodyPr wrap="square" anchor="ctr">
            <a:spAutoFit/>
          </a:bodyPr>
          <a:lstStyle/>
          <a:p>
            <a:pPr algn="l">
              <a:spcAft>
                <a:spcPts val="400"/>
              </a:spcAft>
            </a:pPr>
            <a:r>
              <a:rPr sz="1000" b="0">
                <a:solidFill>
                  <a:srgbClr val="161B26"/>
                </a:solidFill>
                <a:latin typeface="Arial"/>
              </a:rPr>
              <a:t>Mean optical-flow magnitude exceeds 4x the rolling median</a:t>
            </a:r>
          </a:p>
        </p:txBody>
      </p:sp>
      <p:sp>
        <p:nvSpPr>
          <p:cNvPr id="41" name="Rectangle 40"/>
          <p:cNvSpPr/>
          <p:nvPr/>
        </p:nvSpPr>
        <p:spPr>
          <a:xfrm>
            <a:off x="8221369" y="5288280"/>
            <a:ext cx="3190341"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31097" y="5288280"/>
            <a:ext cx="3007461" cy="701040"/>
          </a:xfrm>
          <a:prstGeom prst="rect">
            <a:avLst/>
          </a:prstGeom>
          <a:noFill/>
        </p:spPr>
        <p:txBody>
          <a:bodyPr wrap="square" anchor="ctr">
            <a:spAutoFit/>
          </a:bodyPr>
          <a:lstStyle/>
          <a:p>
            <a:pPr algn="l">
              <a:spcAft>
                <a:spcPts val="400"/>
              </a:spcAft>
            </a:pPr>
            <a:r>
              <a:rPr sz="1000" b="0">
                <a:solidFill>
                  <a:srgbClr val="161B26"/>
                </a:solidFill>
                <a:latin typeface="Arial"/>
              </a:rPr>
              <a:t>frame index, magnitude, declared or not</a:t>
            </a:r>
          </a:p>
        </p:txBody>
      </p:sp>
      <p:sp>
        <p:nvSpPr>
          <p:cNvPr id="43" name="TextBox 42"/>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This is the payload at split point D in Topic 05: measured at 0.00032 Mbit/s per store against 553 Mbit/s for raw frames. Every event rule inherits the tracker's errors — a dwell statistic built on a track with mean IoU 0.37 is not a statistic.</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ransition spd="fast">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K9, K10 · SOURCES S16 CH.4 PP.47–54, S19 CH.11 PP.147–160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Detecting Synthetic Media — and Reading the Numbers Honestly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0B981"/>
                </a:solidFill>
                <a:latin typeface="Arial"/>
              </a:rPr>
              <a:t>Method</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DC2626"/>
                </a:solidFill>
                <a:latin typeface="Arial"/>
              </a:rPr>
              <a:t>Reading the result</a:t>
            </a:r>
          </a:p>
        </p:txBody>
      </p:sp>
      <p:sp>
        <p:nvSpPr>
          <p:cNvPr id="13" name="TextBox 12"/>
          <p:cNvSpPr txBox="1"/>
          <p:nvPr/>
        </p:nvSpPr>
        <p:spPr>
          <a:xfrm>
            <a:off x="1005840" y="2423160"/>
            <a:ext cx="4754880" cy="3017520"/>
          </a:xfrm>
          <a:prstGeom prst="rect">
            <a:avLst/>
          </a:prstGeom>
          <a:noFill/>
        </p:spPr>
        <p:txBody>
          <a:bodyPr wrap="square">
            <a:spAutoFit/>
          </a:bodyPr>
          <a:lstStyle/>
          <a:p>
            <a:pPr>
              <a:spcAft>
                <a:spcPts val="800"/>
              </a:spcAft>
            </a:pPr>
            <a:r>
              <a:rPr sz="1300" b="1">
                <a:solidFill>
                  <a:srgbClr val="161B26"/>
                </a:solidFill>
                <a:latin typeface="Arial"/>
              </a:rPr>
              <a:t>•  How detection is framed</a:t>
            </a:r>
          </a:p>
          <a:p>
            <a:pPr>
              <a:spcAft>
                <a:spcPts val="800"/>
              </a:spcAft>
            </a:pPr>
            <a:r>
              <a:rPr sz="1100" b="0">
                <a:solidFill>
                  <a:srgbClr val="5B6372"/>
                </a:solidFill>
                <a:latin typeface="Arial"/>
              </a:rPr>
              <a:t>–  Supervised binary classification: real against generated, trained on a labelled dataset.</a:t>
            </a:r>
          </a:p>
          <a:p>
            <a:pPr>
              <a:spcAft>
                <a:spcPts val="800"/>
              </a:spcAft>
            </a:pPr>
            <a:r>
              <a:rPr sz="1100" b="0">
                <a:solidFill>
                  <a:srgbClr val="5B6372"/>
                </a:solidFill>
                <a:latin typeface="Arial"/>
              </a:rPr>
              <a:t>–  Backbones reported include EfficientFormer, FastViT, CoAt-Lite, CoAtNet and ConvNeXt.</a:t>
            </a:r>
          </a:p>
          <a:p>
            <a:pPr>
              <a:spcAft>
                <a:spcPts val="800"/>
              </a:spcAft>
            </a:pPr>
            <a:r>
              <a:rPr sz="1100" b="0">
                <a:solidFill>
                  <a:srgbClr val="5B6372"/>
                </a:solidFill>
                <a:latin typeface="Arial"/>
              </a:rPr>
              <a:t>–  Grad-CAM is used to show WHICH pixels drove the decision — explainability, not just a score.</a:t>
            </a:r>
          </a:p>
          <a:p>
            <a:pPr>
              <a:spcAft>
                <a:spcPts val="800"/>
              </a:spcAft>
            </a:pPr>
            <a:r>
              <a:rPr sz="1100" b="0">
                <a:solidFill>
                  <a:srgbClr val="5B6372"/>
                </a:solidFill>
                <a:latin typeface="Arial"/>
              </a:rPr>
              <a:t>–  Macro precision, recall and F1 are reported alongside accuracy.</a:t>
            </a:r>
          </a:p>
        </p:txBody>
      </p:sp>
      <p:sp>
        <p:nvSpPr>
          <p:cNvPr id="14" name="TextBox 13"/>
          <p:cNvSpPr txBox="1"/>
          <p:nvPr/>
        </p:nvSpPr>
        <p:spPr>
          <a:xfrm>
            <a:off x="6583680" y="2423160"/>
            <a:ext cx="4617720" cy="3017520"/>
          </a:xfrm>
          <a:prstGeom prst="rect">
            <a:avLst/>
          </a:prstGeom>
          <a:noFill/>
        </p:spPr>
        <p:txBody>
          <a:bodyPr wrap="square">
            <a:spAutoFit/>
          </a:bodyPr>
          <a:lstStyle/>
          <a:p>
            <a:pPr>
              <a:spcAft>
                <a:spcPts val="800"/>
              </a:spcAft>
            </a:pPr>
            <a:r>
              <a:rPr sz="1300" b="1">
                <a:solidFill>
                  <a:srgbClr val="161B26"/>
                </a:solidFill>
                <a:latin typeface="Arial"/>
              </a:rPr>
              <a:t>•  Why the numbers diverge</a:t>
            </a:r>
          </a:p>
          <a:p>
            <a:pPr>
              <a:spcAft>
                <a:spcPts val="800"/>
              </a:spcAft>
            </a:pPr>
            <a:r>
              <a:rPr sz="1100" b="0">
                <a:solidFill>
                  <a:srgbClr val="5B6372"/>
                </a:solidFill>
                <a:latin typeface="Arial"/>
              </a:rPr>
              <a:t>–  99.6% on GenReal and 98.04% on CIFAKE — curated benchmarks for AI-generated image detection.</a:t>
            </a:r>
          </a:p>
          <a:p>
            <a:pPr>
              <a:spcAft>
                <a:spcPts val="800"/>
              </a:spcAft>
            </a:pPr>
            <a:r>
              <a:rPr sz="1100" b="0">
                <a:solidFill>
                  <a:srgbClr val="5B6372"/>
                </a:solidFill>
                <a:latin typeface="Arial"/>
              </a:rPr>
              <a:t>–  77.5% validation accuracy for the best deepfake backbone on a harder, shifted distribution.</a:t>
            </a:r>
          </a:p>
          <a:p>
            <a:pPr>
              <a:spcAft>
                <a:spcPts val="800"/>
              </a:spcAft>
            </a:pPr>
            <a:r>
              <a:rPr sz="1100" b="0">
                <a:solidFill>
                  <a:srgbClr val="5B6372"/>
                </a:solidFill>
                <a:latin typeface="Arial"/>
              </a:rPr>
              <a:t>–  Same metric name, different problem. The bars are not comparable.</a:t>
            </a:r>
          </a:p>
          <a:p>
            <a:pPr>
              <a:spcAft>
                <a:spcPts val="800"/>
              </a:spcAft>
            </a:pPr>
            <a:r>
              <a:rPr sz="1100" b="0">
                <a:solidFill>
                  <a:srgbClr val="5B6372"/>
                </a:solidFill>
                <a:latin typeface="Arial"/>
              </a:rPr>
              <a:t>–  Detection performance does not transfer to a generator the detector has never seen.</a:t>
            </a:r>
          </a:p>
        </p:txBody>
      </p:sp>
      <p:sp>
        <p:nvSpPr>
          <p:cNvPr id="15" name="TextBox 14"/>
          <p:cNvSpPr txBox="1"/>
          <p:nvPr/>
        </p:nvSpPr>
        <p:spPr>
          <a:xfrm>
            <a:off x="777240" y="5669280"/>
            <a:ext cx="10698480" cy="640080"/>
          </a:xfrm>
          <a:prstGeom prst="rect">
            <a:avLst/>
          </a:prstGeom>
          <a:noFill/>
        </p:spPr>
        <p:txBody>
          <a:bodyPr wrap="square" anchor="ctr">
            <a:spAutoFit/>
          </a:bodyPr>
          <a:lstStyle/>
          <a:p>
            <a:pPr algn="ctr">
              <a:spcAft>
                <a:spcPts val="400"/>
              </a:spcAft>
            </a:pPr>
            <a:r>
              <a:rPr sz="1250" b="0">
                <a:solidFill>
                  <a:srgbClr val="5B6372"/>
                </a:solidFill>
                <a:latin typeface="Arial"/>
              </a:rPr>
              <a:t>This matters practically: a client asking 'can you detect AI images?' is asking a question whose answer depends entirely on which generator, which dataset and which distribution.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transition spd="fast">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7C3AED"/>
                </a:solidFill>
                <a:latin typeface="Arial"/>
              </a:rPr>
              <a:t>K10 · PROVENANCE ACROSS THE WHOLE VIDEO CHAIN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Naming Your Video Deliverables Correctly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ANIMATIC</a:t>
            </a:r>
          </a:p>
          <a:p>
            <a:pPr algn="l">
              <a:spcAft>
                <a:spcPts val="200"/>
              </a:spcAft>
            </a:pPr>
            <a:r>
              <a:rPr sz="1000" b="0">
                <a:solidFill>
                  <a:srgbClr val="5B6372"/>
                </a:solidFill>
                <a:latin typeface="Arial"/>
              </a:rPr>
              <a:t>A deterministic render of storyboard frames at shot-list timings. Labelled on every frame. Exists to fix timing before spend.</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PREVIS</a:t>
            </a:r>
          </a:p>
          <a:p>
            <a:pPr algn="l">
              <a:spcAft>
                <a:spcPts val="200"/>
              </a:spcAft>
            </a:pPr>
            <a:r>
              <a:rPr sz="1000" b="0">
                <a:solidFill>
                  <a:srgbClr val="5B6372"/>
                </a:solidFill>
                <a:latin typeface="Arial"/>
              </a:rPr>
              <a:t>A rough moving version of a shot for blocking and camera. Still not a deliverable.</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GENERATED CLIP</a:t>
            </a:r>
          </a:p>
          <a:p>
            <a:pPr algn="l">
              <a:spcAft>
                <a:spcPts val="200"/>
              </a:spcAft>
            </a:pPr>
            <a:r>
              <a:rPr sz="1000" b="0">
                <a:solidFill>
                  <a:srgbClr val="5B6372"/>
                </a:solidFill>
                <a:latin typeface="Arial"/>
              </a:rPr>
              <a:t>Model output. Record the model ID, the prompt version, the seed policy where one exists, and the watermark expectation.</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EDITED CUT</a:t>
            </a:r>
          </a:p>
          <a:p>
            <a:pPr algn="l">
              <a:spcAft>
                <a:spcPts val="200"/>
              </a:spcAft>
            </a:pPr>
            <a:r>
              <a:rPr sz="1000" b="0">
                <a:solidFill>
                  <a:srgbClr val="5B6372"/>
                </a:solidFill>
                <a:latin typeface="Arial"/>
              </a:rPr>
              <a:t>An assembly of clips. Its provenance is the union of its sources — if any source is simulated, the cut is a derivative of a simulated asset.</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RENDITION</a:t>
            </a:r>
          </a:p>
          <a:p>
            <a:pPr algn="l">
              <a:spcAft>
                <a:spcPts val="200"/>
              </a:spcAft>
            </a:pPr>
            <a:r>
              <a:rPr sz="1000" b="0">
                <a:solidFill>
                  <a:srgbClr val="5B6372"/>
                </a:solidFill>
                <a:latin typeface="Arial"/>
              </a:rPr>
              <a:t>A reframed, captioned export of the cut. Inherits everything above. The label travels to every derivative.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The rule</a:t>
            </a:r>
          </a:p>
          <a:p>
            <a:pPr algn="l">
              <a:spcAft>
                <a:spcPts val="200"/>
              </a:spcAft>
            </a:pPr>
            <a:r>
              <a:rPr sz="1000" b="0">
                <a:solidFill>
                  <a:srgbClr val="5B6372"/>
                </a:solidFill>
                <a:latin typeface="Arial"/>
              </a:rPr>
              <a:t>Every file carries what it is. A deterministic render is never presented as model output, and a simulated stand-in is never presented as a photograph.</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transition spd="fast">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TOPIC 04 · ELO4 · A5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Lab 08 — Object Detection and Quantitative Evaluation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INPUTS</a:t>
            </a:r>
          </a:p>
        </p:txBody>
      </p:sp>
      <p:sp>
        <p:nvSpPr>
          <p:cNvPr id="10" name="TextBox 9"/>
          <p:cNvSpPr txBox="1"/>
          <p:nvPr/>
        </p:nvSpPr>
        <p:spPr>
          <a:xfrm>
            <a:off x="978408"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Twelve 640x480 synthetic scene frames containing schematic face-like and person-like targets at known pixel positions (deterministically rendered with OpenCV — SIMULATED classroom assets, not photographs). Because the ground truth is generated with the frames, every box is exact.</a:t>
            </a:r>
          </a:p>
        </p:txBody>
      </p:sp>
      <p:sp>
        <p:nvSpPr>
          <p:cNvPr id="11" name="Rounded Rectangle 10"/>
          <p:cNvSpPr/>
          <p:nvPr/>
        </p:nvSpPr>
        <p:spPr>
          <a:xfrm>
            <a:off x="4379976"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TECHNICAL QUESTION</a:t>
            </a:r>
          </a:p>
        </p:txBody>
      </p:sp>
      <p:sp>
        <p:nvSpPr>
          <p:cNvPr id="14" name="TextBox 13"/>
          <p:cNvSpPr txBox="1"/>
          <p:nvPr/>
        </p:nvSpPr>
        <p:spPr>
          <a:xfrm>
            <a:off x="4581144"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How do confidence and IoU thresholds change false positives and missed objects?</a:t>
            </a:r>
          </a:p>
        </p:txBody>
      </p:sp>
      <p:sp>
        <p:nvSpPr>
          <p:cNvPr id="15" name="Rounded Rectangle 14"/>
          <p:cNvSpPr/>
          <p:nvPr/>
        </p:nvSpPr>
        <p:spPr>
          <a:xfrm>
            <a:off x="7982712"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EVIDENCE TO PRODUCE</a:t>
            </a:r>
          </a:p>
        </p:txBody>
      </p:sp>
      <p:sp>
        <p:nvSpPr>
          <p:cNvPr id="18" name="TextBox 17"/>
          <p:cNvSpPr txBox="1"/>
          <p:nvPr/>
        </p:nvSpPr>
        <p:spPr>
          <a:xfrm>
            <a:off x="8183880"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`out/detections.json` with every predicted box, `out/evaluation.csv` with TP/FP/FN, precision, recall and F1 at three IoU thresholds, and a stated operating point with the parameter values that produce it.</a:t>
            </a:r>
          </a:p>
        </p:txBody>
      </p:sp>
      <p:sp>
        <p:nvSpPr>
          <p:cNvPr id="19" name="TextBox 18"/>
          <p:cNvSpPr txBox="1"/>
          <p:nvPr/>
        </p:nvSpPr>
        <p:spPr>
          <a:xfrm>
            <a:off x="777240" y="5623560"/>
            <a:ext cx="10607040" cy="685800"/>
          </a:xfrm>
          <a:prstGeom prst="rect">
            <a:avLst/>
          </a:prstGeom>
          <a:noFill/>
        </p:spPr>
        <p:txBody>
          <a:bodyPr wrap="square" anchor="t">
            <a:spAutoFit/>
          </a:bodyPr>
          <a:lstStyle/>
          <a:p>
            <a:pPr algn="l">
              <a:spcAft>
                <a:spcPts val="400"/>
              </a:spcAft>
            </a:pPr>
            <a:r>
              <a:rPr sz="1150" b="0">
                <a:solidFill>
                  <a:srgbClr val="5B6372"/>
                </a:solidFill>
                <a:latin typeface="Arial"/>
              </a:rPr>
              <a:t>LAB 08  ·  60 MIN · Python 3 · opencv-python · NumPy — both detectors ship inside the base wheel, so no model weights are downloaded and no paid service is used</a:t>
            </a:r>
          </a:p>
          <a:p>
            <a:pPr algn="l">
              <a:spcAft>
                <a:spcPts val="400"/>
              </a:spcAft>
            </a:pPr>
            <a:r>
              <a:rPr sz="1150" b="0">
                <a:solidFill>
                  <a:srgbClr val="5B6372"/>
                </a:solidFill>
                <a:latin typeface="Arial"/>
              </a:rPr>
              <a:t>Detailed procedures and prompts: Learner Guide / labs/lab-08-object-detection-evaluation/README.md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transition spd="fast">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TOPIC 04 · ELO5 · A6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Lab 09 — Storyboard to Video Prompt Pack and Deterministic Animatic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INPUTS</a:t>
            </a:r>
          </a:p>
        </p:txBody>
      </p:sp>
      <p:sp>
        <p:nvSpPr>
          <p:cNvPr id="10" name="TextBox 9"/>
          <p:cNvSpPr txBox="1"/>
          <p:nvPr/>
        </p:nvSpPr>
        <p:spPr>
          <a:xfrm>
            <a:off x="978408"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Nine 1280x720 storyboard frames, three per shot (deterministically rendered with OpenCV — SIMULATED storyboard art, not generative-model output)</a:t>
            </a:r>
          </a:p>
        </p:txBody>
      </p:sp>
      <p:sp>
        <p:nvSpPr>
          <p:cNvPr id="11" name="Rounded Rectangle 10"/>
          <p:cNvSpPr/>
          <p:nvPr/>
        </p:nvSpPr>
        <p:spPr>
          <a:xfrm>
            <a:off x="4379976"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TECHNICAL QUESTION</a:t>
            </a:r>
          </a:p>
        </p:txBody>
      </p:sp>
      <p:sp>
        <p:nvSpPr>
          <p:cNvPr id="14" name="TextBox 13"/>
          <p:cNvSpPr txBox="1"/>
          <p:nvPr/>
        </p:nvSpPr>
        <p:spPr>
          <a:xfrm>
            <a:off x="4581144"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Do shot durations and storyboard intent agree with the 24-second animatic?</a:t>
            </a:r>
          </a:p>
        </p:txBody>
      </p:sp>
      <p:sp>
        <p:nvSpPr>
          <p:cNvPr id="15" name="Rounded Rectangle 14"/>
          <p:cNvSpPr/>
          <p:nvPr/>
        </p:nvSpPr>
        <p:spPr>
          <a:xfrm>
            <a:off x="7982712"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EVIDENCE TO PRODUCE</a:t>
            </a:r>
          </a:p>
        </p:txBody>
      </p:sp>
      <p:sp>
        <p:nvSpPr>
          <p:cNvPr id="18" name="TextBox 17"/>
          <p:cNvSpPr txBox="1"/>
          <p:nvPr/>
        </p:nvSpPr>
        <p:spPr>
          <a:xfrm>
            <a:off x="8183880"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`out/shot-list.csv`, `out/continuity-bible.md`, `out/video-prompt-pack.json` (three shots with per-second audio), and `out/animatic.mp4` — a deterministic OpenCV render of the storyboard frames, explicitly labelled as an animatic and NOT as generative-model output.</a:t>
            </a:r>
          </a:p>
        </p:txBody>
      </p:sp>
      <p:sp>
        <p:nvSpPr>
          <p:cNvPr id="19" name="TextBox 18"/>
          <p:cNvSpPr txBox="1"/>
          <p:nvPr/>
        </p:nvSpPr>
        <p:spPr>
          <a:xfrm>
            <a:off x="777240" y="5623560"/>
            <a:ext cx="10607040" cy="685800"/>
          </a:xfrm>
          <a:prstGeom prst="rect">
            <a:avLst/>
          </a:prstGeom>
          <a:noFill/>
        </p:spPr>
        <p:txBody>
          <a:bodyPr wrap="square" anchor="t">
            <a:spAutoFit/>
          </a:bodyPr>
          <a:lstStyle/>
          <a:p>
            <a:pPr algn="l">
              <a:spcAft>
                <a:spcPts val="400"/>
              </a:spcAft>
            </a:pPr>
            <a:r>
              <a:rPr sz="1150" b="0">
                <a:solidFill>
                  <a:srgbClr val="5B6372"/>
                </a:solidFill>
                <a:latin typeface="Arial"/>
              </a:rPr>
              <a:t>LAB 09  ·  30 MIN · Text editor · Python 3 · opencv-python · OPTIONAL free-tier video model. The lab completes fully offline; no paid service is required.</a:t>
            </a:r>
          </a:p>
          <a:p>
            <a:pPr algn="l">
              <a:spcAft>
                <a:spcPts val="400"/>
              </a:spcAft>
            </a:pPr>
            <a:r>
              <a:rPr sz="1150" b="0">
                <a:solidFill>
                  <a:srgbClr val="5B6372"/>
                </a:solidFill>
                <a:latin typeface="Arial"/>
              </a:rPr>
              <a:t>Detailed procedures and prompts: Learner Guide / labs/lab-09-storyboard-video-prompting/README.md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transition spd="fast">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TOPIC 04 · ELO5 · A6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Lab 10 — Motion, Tracking and Temporal Continuity Measurement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INPUTS</a:t>
            </a:r>
          </a:p>
        </p:txBody>
      </p:sp>
      <p:sp>
        <p:nvSpPr>
          <p:cNvPr id="10" name="TextBox 9"/>
          <p:cNvSpPr txBox="1"/>
          <p:nvPr/>
        </p:nvSpPr>
        <p:spPr>
          <a:xfrm>
            <a:off x="978408"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Synthetic 8-second 640x480 25 fps clip: a subject block translates across a static shelf background while growing in scale, with a deliberate two-frame position discontinuity at t=4.0 s (deterministically rendered with OpenCV — SIMULATED, not generative-model output)</a:t>
            </a:r>
          </a:p>
        </p:txBody>
      </p:sp>
      <p:sp>
        <p:nvSpPr>
          <p:cNvPr id="11" name="Rounded Rectangle 10"/>
          <p:cNvSpPr/>
          <p:nvPr/>
        </p:nvSpPr>
        <p:spPr>
          <a:xfrm>
            <a:off x="4379976"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TECHNICAL QUESTION</a:t>
            </a:r>
          </a:p>
        </p:txBody>
      </p:sp>
      <p:sp>
        <p:nvSpPr>
          <p:cNvPr id="14" name="TextBox 13"/>
          <p:cNvSpPr txBox="1"/>
          <p:nvPr/>
        </p:nvSpPr>
        <p:spPr>
          <a:xfrm>
            <a:off x="4581144"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Do tracked growth, centroid jitter and frame similarity tell the same story?</a:t>
            </a:r>
          </a:p>
        </p:txBody>
      </p:sp>
      <p:sp>
        <p:nvSpPr>
          <p:cNvPr id="15" name="Rounded Rectangle 14"/>
          <p:cNvSpPr/>
          <p:nvPr/>
        </p:nvSpPr>
        <p:spPr>
          <a:xfrm>
            <a:off x="7982712"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EVIDENCE TO PRODUCE</a:t>
            </a:r>
          </a:p>
        </p:txBody>
      </p:sp>
      <p:sp>
        <p:nvSpPr>
          <p:cNvPr id="18" name="TextBox 17"/>
          <p:cNvSpPr txBox="1"/>
          <p:nvPr/>
        </p:nvSpPr>
        <p:spPr>
          <a:xfrm>
            <a:off x="8183880"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`out/tracking.csv` with per-frame centroid and box size for three trackers, `out/continuity-report.json` with jitter, drift and inter-frame SSIM statistics, and annotated overlay videos for each tracker.</a:t>
            </a:r>
          </a:p>
        </p:txBody>
      </p:sp>
      <p:sp>
        <p:nvSpPr>
          <p:cNvPr id="19" name="TextBox 18"/>
          <p:cNvSpPr txBox="1"/>
          <p:nvPr/>
        </p:nvSpPr>
        <p:spPr>
          <a:xfrm>
            <a:off x="777240" y="5623560"/>
            <a:ext cx="10607040" cy="685800"/>
          </a:xfrm>
          <a:prstGeom prst="rect">
            <a:avLst/>
          </a:prstGeom>
          <a:noFill/>
        </p:spPr>
        <p:txBody>
          <a:bodyPr wrap="square" anchor="t">
            <a:spAutoFit/>
          </a:bodyPr>
          <a:lstStyle/>
          <a:p>
            <a:pPr algn="l">
              <a:spcAft>
                <a:spcPts val="400"/>
              </a:spcAft>
            </a:pPr>
            <a:r>
              <a:rPr sz="1150" b="0">
                <a:solidFill>
                  <a:srgbClr val="5B6372"/>
                </a:solidFill>
                <a:latin typeface="Arial"/>
              </a:rPr>
              <a:t>LAB 10  ·  60 MIN · Python 3 · opencv-python · NumPy · no network, no paid service</a:t>
            </a:r>
          </a:p>
          <a:p>
            <a:pPr algn="l">
              <a:spcAft>
                <a:spcPts val="400"/>
              </a:spcAft>
            </a:pPr>
            <a:r>
              <a:rPr sz="1150" b="0">
                <a:solidFill>
                  <a:srgbClr val="5B6372"/>
                </a:solidFill>
                <a:latin typeface="Arial"/>
              </a:rPr>
              <a:t>Detailed procedures and prompts: Learner Guide / labs/lab-10-motion-tracking-continuity/README.md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transition spd="fast">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TOPIC 04 · ELO5 · A6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Lab 11 — Captions, Overlays, Safe Areas and Export Profiles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INPUTS</a:t>
            </a:r>
          </a:p>
        </p:txBody>
      </p:sp>
      <p:sp>
        <p:nvSpPr>
          <p:cNvPr id="10" name="TextBox 9"/>
          <p:cNvSpPr txBox="1"/>
          <p:nvPr/>
        </p:nvSpPr>
        <p:spPr>
          <a:xfrm>
            <a:off x="978408"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Synthetic 12-second 1920x1080 25 fps approved cut (deterministically rendered with OpenCV — SIMULATED, not generative-model output)</a:t>
            </a:r>
          </a:p>
        </p:txBody>
      </p:sp>
      <p:sp>
        <p:nvSpPr>
          <p:cNvPr id="11" name="Rounded Rectangle 10"/>
          <p:cNvSpPr/>
          <p:nvPr/>
        </p:nvSpPr>
        <p:spPr>
          <a:xfrm>
            <a:off x="4379976"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TECHNICAL QUESTION</a:t>
            </a:r>
          </a:p>
        </p:txBody>
      </p:sp>
      <p:sp>
        <p:nvSpPr>
          <p:cNvPr id="14" name="TextBox 13"/>
          <p:cNvSpPr txBox="1"/>
          <p:nvPr/>
        </p:nvSpPr>
        <p:spPr>
          <a:xfrm>
            <a:off x="4581144"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Do every caption and overlay satisfy safe areas, line limits and export dimensions?</a:t>
            </a:r>
          </a:p>
        </p:txBody>
      </p:sp>
      <p:sp>
        <p:nvSpPr>
          <p:cNvPr id="15" name="Rounded Rectangle 14"/>
          <p:cNvSpPr/>
          <p:nvPr/>
        </p:nvSpPr>
        <p:spPr>
          <a:xfrm>
            <a:off x="7982712"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EVIDENCE TO PRODUCE</a:t>
            </a:r>
          </a:p>
        </p:txBody>
      </p:sp>
      <p:sp>
        <p:nvSpPr>
          <p:cNvPr id="18" name="TextBox 17"/>
          <p:cNvSpPr txBox="1"/>
          <p:nvPr/>
        </p:nvSpPr>
        <p:spPr>
          <a:xfrm>
            <a:off x="8183880"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Three exported renditions (16:9, 1:1, 9:16) with burned-in captions and overlay, `out/export-report.csv` with per-rendition dimensions, duration, file size and bit-rate, and `out/safe-area-check.csv` proving the caption and logo stay inside the safe area in all three.</a:t>
            </a:r>
          </a:p>
        </p:txBody>
      </p:sp>
      <p:sp>
        <p:nvSpPr>
          <p:cNvPr id="19" name="TextBox 18"/>
          <p:cNvSpPr txBox="1"/>
          <p:nvPr/>
        </p:nvSpPr>
        <p:spPr>
          <a:xfrm>
            <a:off x="777240" y="5623560"/>
            <a:ext cx="10607040" cy="685800"/>
          </a:xfrm>
          <a:prstGeom prst="rect">
            <a:avLst/>
          </a:prstGeom>
          <a:noFill/>
        </p:spPr>
        <p:txBody>
          <a:bodyPr wrap="square" anchor="t">
            <a:spAutoFit/>
          </a:bodyPr>
          <a:lstStyle/>
          <a:p>
            <a:pPr algn="l">
              <a:spcAft>
                <a:spcPts val="400"/>
              </a:spcAft>
            </a:pPr>
            <a:r>
              <a:rPr sz="1150" b="0">
                <a:solidFill>
                  <a:srgbClr val="5B6372"/>
                </a:solidFill>
                <a:latin typeface="Arial"/>
              </a:rPr>
              <a:t>LAB 11  ·  30 MIN · Python 3 · opencv-python · NumPy · no network, no paid service; silent fixture (OpenCV export does not preserve audio)</a:t>
            </a:r>
          </a:p>
          <a:p>
            <a:pPr algn="l">
              <a:spcAft>
                <a:spcPts val="400"/>
              </a:spcAft>
            </a:pPr>
            <a:r>
              <a:rPr sz="1150" b="0">
                <a:solidFill>
                  <a:srgbClr val="5B6372"/>
                </a:solidFill>
                <a:latin typeface="Arial"/>
              </a:rPr>
              <a:t>Detailed procedures and prompts: Learner Guide / labs/lab-11-captions-overlays-export/README.md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transition spd="fast">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TOPIC 04 · ELO4 + ELO5 · K8, K9, K10, A5, A6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Recap — Topic 04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250" b="0">
                <a:solidFill>
                  <a:srgbClr val="161B26"/>
                </a:solidFill>
                <a:latin typeface="Arial"/>
              </a:rPr>
              <a:t>•  Classification, detection and segmentation differ by output shape, and the evaluation metric changes with the shape.</a:t>
            </a:r>
          </a:p>
          <a:p>
            <a:pPr>
              <a:spcAft>
                <a:spcPts val="1000"/>
              </a:spcAft>
            </a:pPr>
            <a:r>
              <a:rPr sz="1250" b="0">
                <a:solidFill>
                  <a:srgbClr val="161B26"/>
                </a:solidFill>
                <a:latin typeface="Arial"/>
              </a:rPr>
              <a:t>•  Viola-Jones is genuine machine learning — Haar features, integral image, AdaBoost selection, cascaded stages — and it ships inside OpenCV with no download.</a:t>
            </a:r>
          </a:p>
          <a:p>
            <a:pPr>
              <a:spcAft>
                <a:spcPts val="1000"/>
              </a:spcAft>
            </a:pPr>
            <a:r>
              <a:rPr sz="1250" b="0">
                <a:solidFill>
                  <a:srgbClr val="161B26"/>
                </a:solidFill>
                <a:latin typeface="Arial"/>
              </a:rPr>
              <a:t>•  IoU is the contract; a prediction is a true positive only above the agreed threshold, and each ground-truth box may be matched once.</a:t>
            </a:r>
          </a:p>
          <a:p>
            <a:pPr>
              <a:spcAft>
                <a:spcPts val="1000"/>
              </a:spcAft>
            </a:pPr>
            <a:r>
              <a:rPr sz="1250" b="0">
                <a:solidFill>
                  <a:srgbClr val="161B26"/>
                </a:solidFill>
                <a:latin typeface="Arial"/>
              </a:rPr>
              <a:t>•  Measured on the course dataset, HOG collapses from 0.94 to 0.00 between IoU 0.5 and 0.7 — a localisation finding, not a verdict on the detector.</a:t>
            </a:r>
          </a:p>
          <a:p>
            <a:pPr>
              <a:spcAft>
                <a:spcPts val="1000"/>
              </a:spcAft>
            </a:pPr>
            <a:r>
              <a:rPr sz="1250" b="0">
                <a:solidFill>
                  <a:srgbClr val="161B26"/>
                </a:solidFill>
                <a:latin typeface="Arial"/>
              </a:rPr>
              <a:t>•  Video adds temporal coherence; 3-D U-Nets and diffusion transformers over spatiotemporal patches are what bought it.</a:t>
            </a:r>
          </a:p>
          <a:p>
            <a:pPr>
              <a:spcAft>
                <a:spcPts val="1000"/>
              </a:spcAft>
            </a:pPr>
            <a:r>
              <a:rPr sz="1250" b="0">
                <a:solidFill>
                  <a:srgbClr val="161B26"/>
                </a:solidFill>
                <a:latin typeface="Arial"/>
              </a:rPr>
              <a:t>•  A documented 8-second maximum makes a 24-second film three shots, held together by a continuity block, reference images or image-to-video — and then measured.</a:t>
            </a:r>
          </a:p>
          <a:p>
            <a:pPr>
              <a:spcAft>
                <a:spcPts val="1000"/>
              </a:spcAft>
            </a:pPr>
            <a:r>
              <a:rPr sz="1250" b="0">
                <a:solidFill>
                  <a:srgbClr val="161B26"/>
                </a:solidFill>
                <a:latin typeface="Arial"/>
              </a:rPr>
              <a:t>•  Mean shift never resizes its window (measured ratio 1.000 against a true 3.876); CAMShift adapts and won on mean IoU 0.762.</a:t>
            </a:r>
          </a:p>
          <a:p>
            <a:pPr>
              <a:spcAft>
                <a:spcPts val="1000"/>
              </a:spcAft>
            </a:pPr>
            <a:r>
              <a:rPr sz="1250" b="0">
                <a:solidFill>
                  <a:srgbClr val="161B26"/>
                </a:solidFill>
                <a:latin typeface="Arial"/>
              </a:rPr>
              <a:t>•  Captions are computed from the safe rectangle and the required cap height, and every export inherits the source's provenance label. (A5, A6, K8, K9, K10)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transition spd="fast">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700" b="1">
                <a:solidFill>
                  <a:srgbClr val="1F6FEB"/>
                </a:solidFill>
                <a:latin typeface="Arial"/>
              </a:rPr>
              <a:t>TOPIC 05</a:t>
            </a:r>
          </a:p>
        </p:txBody>
      </p:sp>
      <p:sp>
        <p:nvSpPr>
          <p:cNvPr id="6" name="TextBox 5"/>
          <p:cNvSpPr txBox="1"/>
          <p:nvPr/>
        </p:nvSpPr>
        <p:spPr>
          <a:xfrm>
            <a:off x="1143000" y="2743200"/>
            <a:ext cx="9144000" cy="1463040"/>
          </a:xfrm>
          <a:prstGeom prst="rect">
            <a:avLst/>
          </a:prstGeom>
          <a:noFill/>
        </p:spPr>
        <p:txBody>
          <a:bodyPr wrap="square" anchor="t">
            <a:spAutoFit/>
          </a:bodyPr>
          <a:lstStyle/>
          <a:p>
            <a:pPr algn="l">
              <a:spcAft>
                <a:spcPts val="400"/>
              </a:spcAft>
            </a:pPr>
            <a:r>
              <a:rPr sz="3000" b="1">
                <a:solidFill>
                  <a:srgbClr val="161B26"/>
                </a:solidFill>
                <a:latin typeface="Arial"/>
              </a:rPr>
              <a:t>Evaluating Cloud and Edge AI Creative Workflows</a:t>
            </a:r>
          </a:p>
        </p:txBody>
      </p:sp>
      <p:sp>
        <p:nvSpPr>
          <p:cNvPr id="7" name="TextBox 6"/>
          <p:cNvSpPr txBox="1"/>
          <p:nvPr/>
        </p:nvSpPr>
        <p:spPr>
          <a:xfrm>
            <a:off x="1161288" y="4297680"/>
            <a:ext cx="9692640" cy="1280160"/>
          </a:xfrm>
          <a:prstGeom prst="rect">
            <a:avLst/>
          </a:prstGeom>
          <a:noFill/>
        </p:spPr>
        <p:txBody>
          <a:bodyPr wrap="square" anchor="t">
            <a:spAutoFit/>
          </a:bodyPr>
          <a:lstStyle/>
          <a:p>
            <a:pPr algn="l">
              <a:spcAft>
                <a:spcPts val="400"/>
              </a:spcAft>
            </a:pPr>
            <a:r>
              <a:rPr sz="1400" b="0">
                <a:solidFill>
                  <a:srgbClr val="5B6372"/>
                </a:solidFill>
                <a:latin typeface="Arial"/>
              </a:rPr>
              <a:t>Vision system architecture — the four-layer sensors-to-synthesis stack · vision communication protocols · real-world design constraints — latency, bandwidth, privacy, cost and energy · measured cloud-versus-edge trade-offs</a:t>
            </a:r>
          </a:p>
        </p:txBody>
      </p:sp>
      <p:sp>
        <p:nvSpPr>
          <p:cNvPr id="8" name="TextBox 7"/>
          <p:cNvSpPr txBox="1"/>
          <p:nvPr/>
        </p:nvSpPr>
        <p:spPr>
          <a:xfrm>
            <a:off x="9326880" y="640080"/>
            <a:ext cx="2377440" cy="1463040"/>
          </a:xfrm>
          <a:prstGeom prst="rect">
            <a:avLst/>
          </a:prstGeom>
          <a:noFill/>
        </p:spPr>
        <p:txBody>
          <a:bodyPr wrap="square" anchor="t">
            <a:spAutoFit/>
          </a:bodyPr>
          <a:lstStyle/>
          <a:p>
            <a:pPr algn="r">
              <a:spcAft>
                <a:spcPts val="400"/>
              </a:spcAft>
            </a:pPr>
            <a:r>
              <a:rPr sz="68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transition spd="fast">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LU6 · ELO6 · K11, K12, K13, A7, A8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Key Concepts — Topic 05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A generative visual system has four layers</a:t>
            </a:r>
          </a:p>
          <a:p>
            <a:pPr algn="l">
              <a:spcAft>
                <a:spcPts val="200"/>
              </a:spcAft>
            </a:pPr>
            <a:r>
              <a:rPr sz="1050" b="0">
                <a:solidFill>
                  <a:srgbClr val="5B6372"/>
                </a:solidFill>
                <a:latin typeface="Arial"/>
              </a:rPr>
              <a:t>IoT sensing (cameras, drones, wearables) -&gt; edge intelligence (pre-processing, lightweight inference, federated learning) -&gt; generative visual modelling (VAE/GAN/diffusion, split computing) -&gt; application (dashboards, AR/VR, digital twins).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Split computing is the real architecture decision</a:t>
            </a:r>
          </a:p>
          <a:p>
            <a:pPr algn="l">
              <a:spcAft>
                <a:spcPts val="200"/>
              </a:spcAft>
            </a:pPr>
            <a:r>
              <a:rPr sz="1050" b="0">
                <a:solidFill>
                  <a:srgbClr val="5B6372"/>
                </a:solidFill>
                <a:latin typeface="Arial"/>
              </a:rPr>
              <a:t>Latency-critical stages run at the edge; training and heavy sampling run in the cloud. You choose the split point by measuring per-stage latency and the payload size that crosses it.</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250" b="1">
                <a:solidFill>
                  <a:srgbClr val="161B26"/>
                </a:solidFill>
                <a:latin typeface="Arial"/>
              </a:rPr>
              <a:t>Protocols are chosen by payload and latency class</a:t>
            </a:r>
          </a:p>
          <a:p>
            <a:pPr algn="l">
              <a:spcAft>
                <a:spcPts val="200"/>
              </a:spcAft>
            </a:pPr>
            <a:r>
              <a:rPr sz="950" b="0">
                <a:solidFill>
                  <a:srgbClr val="5B6372"/>
                </a:solidFill>
                <a:latin typeface="Arial"/>
              </a:rPr>
              <a:t>MQTT and CoAP for small telemetry and events, RTSP/WebRTC for live video, HTTPS/REST and gRPC for model calls, S3-style object storage for renders. Illustrative payload-only example: 100 kB/frame x 10 fps = 1000 kB/s, versus 1 kB/event x 1 event/s = 1 kB/s, a 1000:1 ratio before protocol overhead. Measure actual encoded sizes and event rates before choosing an architecture.</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Sampling steps and frames influence compute cost</a:t>
            </a:r>
          </a:p>
          <a:p>
            <a:pPr algn="l">
              <a:spcAft>
                <a:spcPts val="200"/>
              </a:spcAft>
            </a:pPr>
            <a:r>
              <a:rPr sz="1000" b="0">
                <a:solidFill>
                  <a:srgbClr val="5B6372"/>
                </a:solidFill>
                <a:latin typeface="Arial"/>
              </a:rPr>
              <a:t>At fixed model, resolution and hardware, S x F is a rough workload heuristic. Measured latency also depends on temporal attention, batching and scheduling. Distillation can reduce sampling steps; latent modelling reduces spatial representation cost, not necessarily the frame count.</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Edge fits through quantisation plus adapters</a:t>
            </a:r>
          </a:p>
          <a:p>
            <a:pPr algn="l">
              <a:spcAft>
                <a:spcPts val="200"/>
              </a:spcAft>
            </a:pPr>
            <a:r>
              <a:rPr sz="1050" b="0">
                <a:solidFill>
                  <a:srgbClr val="5B6372"/>
                </a:solidFill>
                <a:latin typeface="Arial"/>
              </a:rPr>
              <a:t>Moving weights from 32-bit to b-bit scales parameter memory by b/32; low-rank adapters train only r(d+m) parameters instead of d*m. Keep sensitive activations at higher precision for stability.</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Energy and carbon are reportable engineering numbers</a:t>
            </a:r>
          </a:p>
          <a:p>
            <a:pPr algn="l">
              <a:spcAft>
                <a:spcPts val="200"/>
              </a:spcAft>
            </a:pPr>
            <a:r>
              <a:rPr sz="1050" b="0">
                <a:solidFill>
                  <a:srgbClr val="5B6372"/>
                </a:solidFill>
                <a:latin typeface="Arial"/>
              </a:rPr>
              <a:t>Energy per sample is roughly the datacentre overhead factor times the energy per FLOP times the FLOPs per sample. Report hardware, kWh, overhead, grid carbon intensity and joules per sample alongside quality.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transition spd="fast">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7C3AED"/>
                </a:solidFill>
                <a:latin typeface="Arial"/>
              </a:rPr>
              <a:t>K11 · SOURCE S15 · AI-GENERATED IMAGE AND VIDEO SYNTHESIS, CH.3 PP.38–40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Sensors-to-Synthesis Architecture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10512"/>
            <a:ext cx="7315200" cy="877824"/>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2331720" cy="8778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1810512"/>
            <a:ext cx="2103120" cy="877824"/>
          </a:xfrm>
          <a:prstGeom prst="rect">
            <a:avLst/>
          </a:prstGeom>
          <a:noFill/>
        </p:spPr>
        <p:txBody>
          <a:bodyPr wrap="square" anchor="ctr">
            <a:spAutoFit/>
          </a:bodyPr>
          <a:lstStyle/>
          <a:p>
            <a:pPr algn="l">
              <a:spcAft>
                <a:spcPts val="400"/>
              </a:spcAft>
            </a:pPr>
            <a:r>
              <a:rPr sz="1250" b="1">
                <a:solidFill>
                  <a:srgbClr val="FFFFFF"/>
                </a:solidFill>
                <a:latin typeface="Arial"/>
              </a:rPr>
              <a:t>1 IoT SENSING</a:t>
            </a:r>
          </a:p>
        </p:txBody>
      </p:sp>
      <p:sp>
        <p:nvSpPr>
          <p:cNvPr id="10" name="TextBox 9"/>
          <p:cNvSpPr txBox="1"/>
          <p:nvPr/>
        </p:nvSpPr>
        <p:spPr>
          <a:xfrm>
            <a:off x="3291840" y="1810512"/>
            <a:ext cx="4617720" cy="877824"/>
          </a:xfrm>
          <a:prstGeom prst="rect">
            <a:avLst/>
          </a:prstGeom>
          <a:noFill/>
        </p:spPr>
        <p:txBody>
          <a:bodyPr wrap="square" anchor="ctr">
            <a:spAutoFit/>
          </a:bodyPr>
          <a:lstStyle/>
          <a:p>
            <a:pPr algn="l">
              <a:spcAft>
                <a:spcPts val="400"/>
              </a:spcAft>
            </a:pPr>
            <a:r>
              <a:rPr sz="1200" b="0">
                <a:solidFill>
                  <a:srgbClr val="161B26"/>
                </a:solidFill>
                <a:latin typeface="Arial"/>
              </a:rPr>
              <a:t>Cameras, drones, wearables, industrial vision rigs. The 'eyes' of the system. Issues here are energy, device heterogeneity and data security.</a:t>
            </a:r>
          </a:p>
        </p:txBody>
      </p:sp>
      <p:cxnSp>
        <p:nvCxnSpPr>
          <p:cNvPr id="11" name="Connector 10"/>
          <p:cNvCxnSpPr/>
          <p:nvPr/>
        </p:nvCxnSpPr>
        <p:spPr>
          <a:xfrm>
            <a:off x="4434840" y="2688336"/>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77240" y="2889504"/>
            <a:ext cx="7315200" cy="877824"/>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89504"/>
            <a:ext cx="2331720" cy="8778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889504"/>
            <a:ext cx="2103120" cy="877824"/>
          </a:xfrm>
          <a:prstGeom prst="rect">
            <a:avLst/>
          </a:prstGeom>
          <a:noFill/>
        </p:spPr>
        <p:txBody>
          <a:bodyPr wrap="square" anchor="ctr">
            <a:spAutoFit/>
          </a:bodyPr>
          <a:lstStyle/>
          <a:p>
            <a:pPr algn="l">
              <a:spcAft>
                <a:spcPts val="400"/>
              </a:spcAft>
            </a:pPr>
            <a:r>
              <a:rPr sz="1250" b="1">
                <a:solidFill>
                  <a:srgbClr val="FFFFFF"/>
                </a:solidFill>
                <a:latin typeface="Arial"/>
              </a:rPr>
              <a:t>2 EDGE INTELLIGENCE</a:t>
            </a:r>
          </a:p>
        </p:txBody>
      </p:sp>
      <p:sp>
        <p:nvSpPr>
          <p:cNvPr id="15" name="TextBox 14"/>
          <p:cNvSpPr txBox="1"/>
          <p:nvPr/>
        </p:nvSpPr>
        <p:spPr>
          <a:xfrm>
            <a:off x="3291840" y="2889504"/>
            <a:ext cx="4617720" cy="877824"/>
          </a:xfrm>
          <a:prstGeom prst="rect">
            <a:avLst/>
          </a:prstGeom>
          <a:noFill/>
        </p:spPr>
        <p:txBody>
          <a:bodyPr wrap="square" anchor="ctr">
            <a:spAutoFit/>
          </a:bodyPr>
          <a:lstStyle/>
          <a:p>
            <a:pPr algn="l">
              <a:spcAft>
                <a:spcPts val="400"/>
              </a:spcAft>
            </a:pPr>
            <a:r>
              <a:rPr sz="1200" b="0">
                <a:solidFill>
                  <a:srgbClr val="161B26"/>
                </a:solidFill>
                <a:latin typeface="Arial"/>
              </a:rPr>
              <a:t>Pre-processing, noise reduction, feature extraction and lightweight inference on a gateway or embedded computer. Also where federated updates happen.</a:t>
            </a:r>
          </a:p>
        </p:txBody>
      </p:sp>
      <p:cxnSp>
        <p:nvCxnSpPr>
          <p:cNvPr id="16" name="Connector 15"/>
          <p:cNvCxnSpPr/>
          <p:nvPr/>
        </p:nvCxnSpPr>
        <p:spPr>
          <a:xfrm>
            <a:off x="4434840" y="3767328"/>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77240" y="3968496"/>
            <a:ext cx="7315200" cy="877824"/>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968496"/>
            <a:ext cx="2331720" cy="8778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3544" y="3968496"/>
            <a:ext cx="2103120" cy="877824"/>
          </a:xfrm>
          <a:prstGeom prst="rect">
            <a:avLst/>
          </a:prstGeom>
          <a:noFill/>
        </p:spPr>
        <p:txBody>
          <a:bodyPr wrap="square" anchor="ctr">
            <a:spAutoFit/>
          </a:bodyPr>
          <a:lstStyle/>
          <a:p>
            <a:pPr algn="l">
              <a:spcAft>
                <a:spcPts val="400"/>
              </a:spcAft>
            </a:pPr>
            <a:r>
              <a:rPr sz="1250" b="1">
                <a:solidFill>
                  <a:srgbClr val="FFFFFF"/>
                </a:solidFill>
                <a:latin typeface="Arial"/>
              </a:rPr>
              <a:t>3 GENERATIVE VISUAL MODELLING</a:t>
            </a:r>
          </a:p>
        </p:txBody>
      </p:sp>
      <p:sp>
        <p:nvSpPr>
          <p:cNvPr id="20" name="TextBox 19"/>
          <p:cNvSpPr txBox="1"/>
          <p:nvPr/>
        </p:nvSpPr>
        <p:spPr>
          <a:xfrm>
            <a:off x="3291840" y="3968496"/>
            <a:ext cx="4617720" cy="877824"/>
          </a:xfrm>
          <a:prstGeom prst="rect">
            <a:avLst/>
          </a:prstGeom>
          <a:noFill/>
        </p:spPr>
        <p:txBody>
          <a:bodyPr wrap="square" anchor="ctr">
            <a:spAutoFit/>
          </a:bodyPr>
          <a:lstStyle/>
          <a:p>
            <a:pPr algn="l">
              <a:spcAft>
                <a:spcPts val="400"/>
              </a:spcAft>
            </a:pPr>
            <a:r>
              <a:rPr sz="1200" b="0">
                <a:solidFill>
                  <a:srgbClr val="161B26"/>
                </a:solidFill>
                <a:latin typeface="Arial"/>
              </a:rPr>
              <a:t>VAE, GAN or diffusion, running at the edge, in the cloud, or split between them. Compression, quantisation and split computing live here.</a:t>
            </a:r>
          </a:p>
        </p:txBody>
      </p:sp>
      <p:cxnSp>
        <p:nvCxnSpPr>
          <p:cNvPr id="21" name="Connector 20"/>
          <p:cNvCxnSpPr/>
          <p:nvPr/>
        </p:nvCxnSpPr>
        <p:spPr>
          <a:xfrm>
            <a:off x="4434840" y="4846320"/>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 y="5047488"/>
            <a:ext cx="7315200" cy="877824"/>
          </a:xfrm>
          <a:prstGeom prst="roundRect">
            <a:avLst/>
          </a:prstGeom>
          <a:solidFill>
            <a:srgbClr val="F5F8FC"/>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047488"/>
            <a:ext cx="2331720" cy="8778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 y="5047488"/>
            <a:ext cx="2103120" cy="877824"/>
          </a:xfrm>
          <a:prstGeom prst="rect">
            <a:avLst/>
          </a:prstGeom>
          <a:noFill/>
        </p:spPr>
        <p:txBody>
          <a:bodyPr wrap="square" anchor="ctr">
            <a:spAutoFit/>
          </a:bodyPr>
          <a:lstStyle/>
          <a:p>
            <a:pPr algn="l">
              <a:spcAft>
                <a:spcPts val="400"/>
              </a:spcAft>
            </a:pPr>
            <a:r>
              <a:rPr sz="1250" b="1">
                <a:solidFill>
                  <a:srgbClr val="FFFFFF"/>
                </a:solidFill>
                <a:latin typeface="Arial"/>
              </a:rPr>
              <a:t>4 APPLICATION</a:t>
            </a:r>
          </a:p>
        </p:txBody>
      </p:sp>
      <p:sp>
        <p:nvSpPr>
          <p:cNvPr id="25" name="TextBox 24"/>
          <p:cNvSpPr txBox="1"/>
          <p:nvPr/>
        </p:nvSpPr>
        <p:spPr>
          <a:xfrm>
            <a:off x="3291840" y="5047488"/>
            <a:ext cx="4617720" cy="877824"/>
          </a:xfrm>
          <a:prstGeom prst="rect">
            <a:avLst/>
          </a:prstGeom>
          <a:noFill/>
        </p:spPr>
        <p:txBody>
          <a:bodyPr wrap="square" anchor="ctr">
            <a:spAutoFit/>
          </a:bodyPr>
          <a:lstStyle/>
          <a:p>
            <a:pPr algn="l">
              <a:spcAft>
                <a:spcPts val="400"/>
              </a:spcAft>
            </a:pPr>
            <a:r>
              <a:rPr sz="1200" b="0">
                <a:solidFill>
                  <a:srgbClr val="161B26"/>
                </a:solidFill>
                <a:latin typeface="Arial"/>
              </a:rPr>
              <a:t>Review queues, asset stores, dashboards, AR/VR surfaces, digital twins. Not just presentation — this is where a decision or an alert is produced.</a:t>
            </a:r>
          </a:p>
        </p:txBody>
      </p:sp>
      <p:sp>
        <p:nvSpPr>
          <p:cNvPr id="26" name="Rectangle 25"/>
          <p:cNvSpPr/>
          <p:nvPr/>
        </p:nvSpPr>
        <p:spPr>
          <a:xfrm>
            <a:off x="8366760" y="1810512"/>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366760" y="1810512"/>
            <a:ext cx="82296" cy="9052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67928" y="1810512"/>
            <a:ext cx="2679192" cy="905256"/>
          </a:xfrm>
          <a:prstGeom prst="rect">
            <a:avLst/>
          </a:prstGeom>
          <a:noFill/>
        </p:spPr>
        <p:txBody>
          <a:bodyPr wrap="square" anchor="ctr">
            <a:spAutoFit/>
          </a:bodyPr>
          <a:lstStyle/>
          <a:p>
            <a:pPr algn="l">
              <a:spcAft>
                <a:spcPts val="200"/>
              </a:spcAft>
            </a:pPr>
            <a:r>
              <a:rPr sz="1200" b="1">
                <a:solidFill>
                  <a:srgbClr val="1F6FEB"/>
                </a:solidFill>
                <a:latin typeface="Arial"/>
              </a:rPr>
              <a:t>Why four layers</a:t>
            </a:r>
          </a:p>
          <a:p>
            <a:pPr algn="l">
              <a:spcAft>
                <a:spcPts val="200"/>
              </a:spcAft>
            </a:pPr>
            <a:r>
              <a:rPr sz="1100" b="0">
                <a:solidFill>
                  <a:srgbClr val="161B26"/>
                </a:solidFill>
                <a:latin typeface="Arial"/>
              </a:rPr>
              <a:t>Each layer has a different constraint: energy, latency, compute, and human attention.</a:t>
            </a:r>
          </a:p>
        </p:txBody>
      </p:sp>
      <p:sp>
        <p:nvSpPr>
          <p:cNvPr id="29" name="Rectangle 28"/>
          <p:cNvSpPr/>
          <p:nvPr/>
        </p:nvSpPr>
        <p:spPr>
          <a:xfrm>
            <a:off x="8366760" y="2880360"/>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66760" y="2880360"/>
            <a:ext cx="82296" cy="9052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67928" y="2880360"/>
            <a:ext cx="2679192" cy="905256"/>
          </a:xfrm>
          <a:prstGeom prst="rect">
            <a:avLst/>
          </a:prstGeom>
          <a:noFill/>
        </p:spPr>
        <p:txBody>
          <a:bodyPr wrap="square" anchor="ctr">
            <a:spAutoFit/>
          </a:bodyPr>
          <a:lstStyle/>
          <a:p>
            <a:pPr algn="l">
              <a:spcAft>
                <a:spcPts val="200"/>
              </a:spcAft>
            </a:pPr>
            <a:r>
              <a:rPr sz="1200" b="1">
                <a:solidFill>
                  <a:srgbClr val="10B981"/>
                </a:solidFill>
                <a:latin typeface="Arial"/>
              </a:rPr>
              <a:t>Split computing</a:t>
            </a:r>
          </a:p>
          <a:p>
            <a:pPr algn="l">
              <a:spcAft>
                <a:spcPts val="200"/>
              </a:spcAft>
            </a:pPr>
            <a:r>
              <a:rPr sz="1100" b="0">
                <a:solidFill>
                  <a:srgbClr val="161B26"/>
                </a:solidFill>
                <a:latin typeface="Arial"/>
              </a:rPr>
              <a:t>Latency-critical stages at the edge; heavy sampling and training in the cloud.</a:t>
            </a:r>
          </a:p>
        </p:txBody>
      </p:sp>
      <p:sp>
        <p:nvSpPr>
          <p:cNvPr id="32" name="Rectangle 31"/>
          <p:cNvSpPr/>
          <p:nvPr/>
        </p:nvSpPr>
        <p:spPr>
          <a:xfrm>
            <a:off x="8366760" y="3950208"/>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366760" y="3950208"/>
            <a:ext cx="82296" cy="9052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67928" y="3950208"/>
            <a:ext cx="2679192" cy="905256"/>
          </a:xfrm>
          <a:prstGeom prst="rect">
            <a:avLst/>
          </a:prstGeom>
          <a:noFill/>
        </p:spPr>
        <p:txBody>
          <a:bodyPr wrap="square" anchor="ctr">
            <a:spAutoFit/>
          </a:bodyPr>
          <a:lstStyle/>
          <a:p>
            <a:pPr algn="l">
              <a:spcAft>
                <a:spcPts val="200"/>
              </a:spcAft>
            </a:pPr>
            <a:r>
              <a:rPr sz="1200" b="1">
                <a:solidFill>
                  <a:srgbClr val="7C3AED"/>
                </a:solidFill>
                <a:latin typeface="Arial"/>
              </a:rPr>
              <a:t>Federated learning</a:t>
            </a:r>
          </a:p>
          <a:p>
            <a:pPr algn="l">
              <a:spcAft>
                <a:spcPts val="200"/>
              </a:spcAft>
            </a:pPr>
            <a:r>
              <a:rPr sz="1100" b="0">
                <a:solidFill>
                  <a:srgbClr val="161B26"/>
                </a:solidFill>
                <a:latin typeface="Arial"/>
              </a:rPr>
              <a:t>Devices improve a shared model without sending raw data anywhere.</a:t>
            </a:r>
          </a:p>
        </p:txBody>
      </p:sp>
      <p:sp>
        <p:nvSpPr>
          <p:cNvPr id="35" name="Rectangle 34"/>
          <p:cNvSpPr/>
          <p:nvPr/>
        </p:nvSpPr>
        <p:spPr>
          <a:xfrm>
            <a:off x="8366760" y="5020056"/>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366760" y="5020056"/>
            <a:ext cx="82296" cy="9052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67928" y="5020056"/>
            <a:ext cx="2679192" cy="905256"/>
          </a:xfrm>
          <a:prstGeom prst="rect">
            <a:avLst/>
          </a:prstGeom>
          <a:noFill/>
        </p:spPr>
        <p:txBody>
          <a:bodyPr wrap="square" anchor="ctr">
            <a:spAutoFit/>
          </a:bodyPr>
          <a:lstStyle/>
          <a:p>
            <a:pPr algn="l">
              <a:spcAft>
                <a:spcPts val="200"/>
              </a:spcAft>
            </a:pPr>
            <a:r>
              <a:rPr sz="1200" b="1">
                <a:solidFill>
                  <a:srgbClr val="F59E0B"/>
                </a:solidFill>
                <a:latin typeface="Arial"/>
              </a:rPr>
              <a:t>It is a template</a:t>
            </a:r>
          </a:p>
          <a:p>
            <a:pPr algn="l">
              <a:spcAft>
                <a:spcPts val="200"/>
              </a:spcAft>
            </a:pPr>
            <a:r>
              <a:rPr sz="1100" b="0">
                <a:solidFill>
                  <a:srgbClr val="161B26"/>
                </a:solidFill>
                <a:latin typeface="Arial"/>
              </a:rPr>
              <a:t>Map YOUR stages onto it. Lab 12 asks you to place every Lab 02–11 stage in a layer.</a:t>
            </a:r>
          </a:p>
        </p:txBody>
      </p:sp>
      <p:sp>
        <p:nvSpPr>
          <p:cNvPr id="38" name="TextBox 37"/>
          <p:cNvSpPr txBox="1"/>
          <p:nvPr/>
        </p:nvSpPr>
        <p:spPr>
          <a:xfrm>
            <a:off x="777240" y="5989320"/>
            <a:ext cx="10634472" cy="457200"/>
          </a:xfrm>
          <a:prstGeom prst="rect">
            <a:avLst/>
          </a:prstGeom>
          <a:noFill/>
        </p:spPr>
        <p:txBody>
          <a:bodyPr wrap="square" anchor="ctr">
            <a:spAutoFit/>
          </a:bodyPr>
          <a:lstStyle/>
          <a:p>
            <a:pPr algn="ctr">
              <a:spcAft>
                <a:spcPts val="400"/>
              </a:spcAft>
            </a:pPr>
            <a:r>
              <a:rPr sz="1250" b="0">
                <a:solidFill>
                  <a:srgbClr val="5B6372"/>
                </a:solidFill>
                <a:latin typeface="Arial"/>
              </a:rPr>
              <a:t>This is the architecture you draw BEFORE measuring anything, and then annotate with the measurements.</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transition spd="fast">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A7 · DESIGN THE ARCHITECTURE OF APPLIED VISION SYSTEMS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Placing Your Own Pipeline Stages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4041099" cy="525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3858219" cy="525780"/>
          </a:xfrm>
          <a:prstGeom prst="rect">
            <a:avLst/>
          </a:prstGeom>
          <a:noFill/>
        </p:spPr>
        <p:txBody>
          <a:bodyPr wrap="square" anchor="ctr">
            <a:spAutoFit/>
          </a:bodyPr>
          <a:lstStyle/>
          <a:p>
            <a:pPr algn="l">
              <a:spcAft>
                <a:spcPts val="400"/>
              </a:spcAft>
            </a:pPr>
            <a:r>
              <a:rPr sz="1050" b="1">
                <a:solidFill>
                  <a:srgbClr val="FFFFFF"/>
                </a:solidFill>
                <a:latin typeface="Arial"/>
              </a:rPr>
              <a:t>Stage from Labs 02–11</a:t>
            </a:r>
          </a:p>
        </p:txBody>
      </p:sp>
      <p:sp>
        <p:nvSpPr>
          <p:cNvPr id="9" name="Rectangle 8"/>
          <p:cNvSpPr/>
          <p:nvPr/>
        </p:nvSpPr>
        <p:spPr>
          <a:xfrm>
            <a:off x="4818339" y="1783080"/>
            <a:ext cx="2552273" cy="525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28067" y="1783080"/>
            <a:ext cx="2369393" cy="525780"/>
          </a:xfrm>
          <a:prstGeom prst="rect">
            <a:avLst/>
          </a:prstGeom>
          <a:noFill/>
        </p:spPr>
        <p:txBody>
          <a:bodyPr wrap="square" anchor="ctr">
            <a:spAutoFit/>
          </a:bodyPr>
          <a:lstStyle/>
          <a:p>
            <a:pPr algn="l">
              <a:spcAft>
                <a:spcPts val="400"/>
              </a:spcAft>
            </a:pPr>
            <a:r>
              <a:rPr sz="1050" b="1">
                <a:solidFill>
                  <a:srgbClr val="FFFFFF"/>
                </a:solidFill>
                <a:latin typeface="Arial"/>
              </a:rPr>
              <a:t>Layer</a:t>
            </a:r>
          </a:p>
        </p:txBody>
      </p:sp>
      <p:sp>
        <p:nvSpPr>
          <p:cNvPr id="11" name="Rectangle 10"/>
          <p:cNvSpPr/>
          <p:nvPr/>
        </p:nvSpPr>
        <p:spPr>
          <a:xfrm>
            <a:off x="7370612" y="1783080"/>
            <a:ext cx="4041099" cy="525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80340" y="1783080"/>
            <a:ext cx="3858219" cy="525780"/>
          </a:xfrm>
          <a:prstGeom prst="rect">
            <a:avLst/>
          </a:prstGeom>
          <a:noFill/>
        </p:spPr>
        <p:txBody>
          <a:bodyPr wrap="square" anchor="ctr">
            <a:spAutoFit/>
          </a:bodyPr>
          <a:lstStyle/>
          <a:p>
            <a:pPr algn="l">
              <a:spcAft>
                <a:spcPts val="400"/>
              </a:spcAft>
            </a:pPr>
            <a:r>
              <a:rPr sz="1050" b="1">
                <a:solidFill>
                  <a:srgbClr val="FFFFFF"/>
                </a:solidFill>
                <a:latin typeface="Arial"/>
              </a:rPr>
              <a:t>Why</a:t>
            </a:r>
          </a:p>
        </p:txBody>
      </p:sp>
      <p:sp>
        <p:nvSpPr>
          <p:cNvPr id="13" name="Rectangle 12"/>
          <p:cNvSpPr/>
          <p:nvPr/>
        </p:nvSpPr>
        <p:spPr>
          <a:xfrm>
            <a:off x="777240" y="2308860"/>
            <a:ext cx="4041099"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308860"/>
            <a:ext cx="3858219" cy="525780"/>
          </a:xfrm>
          <a:prstGeom prst="rect">
            <a:avLst/>
          </a:prstGeom>
          <a:noFill/>
        </p:spPr>
        <p:txBody>
          <a:bodyPr wrap="square" anchor="ctr">
            <a:spAutoFit/>
          </a:bodyPr>
          <a:lstStyle/>
          <a:p>
            <a:pPr algn="l">
              <a:spcAft>
                <a:spcPts val="400"/>
              </a:spcAft>
            </a:pPr>
            <a:r>
              <a:rPr sz="950" b="1">
                <a:solidFill>
                  <a:srgbClr val="161B26"/>
                </a:solidFill>
                <a:latin typeface="Arial"/>
              </a:rPr>
              <a:t>Decode, colour convert, denoise</a:t>
            </a:r>
          </a:p>
        </p:txBody>
      </p:sp>
      <p:sp>
        <p:nvSpPr>
          <p:cNvPr id="15" name="Rectangle 14"/>
          <p:cNvSpPr/>
          <p:nvPr/>
        </p:nvSpPr>
        <p:spPr>
          <a:xfrm>
            <a:off x="4818339" y="2308860"/>
            <a:ext cx="2552273"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28067" y="2308860"/>
            <a:ext cx="2369393" cy="525780"/>
          </a:xfrm>
          <a:prstGeom prst="rect">
            <a:avLst/>
          </a:prstGeom>
          <a:noFill/>
        </p:spPr>
        <p:txBody>
          <a:bodyPr wrap="square" anchor="ctr">
            <a:spAutoFit/>
          </a:bodyPr>
          <a:lstStyle/>
          <a:p>
            <a:pPr algn="l">
              <a:spcAft>
                <a:spcPts val="400"/>
              </a:spcAft>
            </a:pPr>
            <a:r>
              <a:rPr sz="950" b="0">
                <a:solidFill>
                  <a:srgbClr val="161B26"/>
                </a:solidFill>
                <a:latin typeface="Arial"/>
              </a:rPr>
              <a:t>2 Edge</a:t>
            </a:r>
          </a:p>
        </p:txBody>
      </p:sp>
      <p:sp>
        <p:nvSpPr>
          <p:cNvPr id="17" name="Rectangle 16"/>
          <p:cNvSpPr/>
          <p:nvPr/>
        </p:nvSpPr>
        <p:spPr>
          <a:xfrm>
            <a:off x="7370612" y="2308860"/>
            <a:ext cx="4041099"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80340" y="2308860"/>
            <a:ext cx="3858219" cy="525780"/>
          </a:xfrm>
          <a:prstGeom prst="rect">
            <a:avLst/>
          </a:prstGeom>
          <a:noFill/>
        </p:spPr>
        <p:txBody>
          <a:bodyPr wrap="square" anchor="ctr">
            <a:spAutoFit/>
          </a:bodyPr>
          <a:lstStyle/>
          <a:p>
            <a:pPr algn="l">
              <a:spcAft>
                <a:spcPts val="400"/>
              </a:spcAft>
            </a:pPr>
            <a:r>
              <a:rPr sz="950" b="0">
                <a:solidFill>
                  <a:srgbClr val="161B26"/>
                </a:solidFill>
                <a:latin typeface="Arial"/>
              </a:rPr>
              <a:t>Cheap, and it reduces everything downstream</a:t>
            </a:r>
          </a:p>
        </p:txBody>
      </p:sp>
      <p:sp>
        <p:nvSpPr>
          <p:cNvPr id="19" name="Rectangle 18"/>
          <p:cNvSpPr/>
          <p:nvPr/>
        </p:nvSpPr>
        <p:spPr>
          <a:xfrm>
            <a:off x="777240" y="2834640"/>
            <a:ext cx="4041099"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834640"/>
            <a:ext cx="3858219" cy="525780"/>
          </a:xfrm>
          <a:prstGeom prst="rect">
            <a:avLst/>
          </a:prstGeom>
          <a:noFill/>
        </p:spPr>
        <p:txBody>
          <a:bodyPr wrap="square" anchor="ctr">
            <a:spAutoFit/>
          </a:bodyPr>
          <a:lstStyle/>
          <a:p>
            <a:pPr algn="l">
              <a:spcAft>
                <a:spcPts val="400"/>
              </a:spcAft>
            </a:pPr>
            <a:r>
              <a:rPr sz="950" b="1">
                <a:solidFill>
                  <a:srgbClr val="161B26"/>
                </a:solidFill>
                <a:latin typeface="Arial"/>
              </a:rPr>
              <a:t>Background subtraction, edges, ORB features</a:t>
            </a:r>
          </a:p>
        </p:txBody>
      </p:sp>
      <p:sp>
        <p:nvSpPr>
          <p:cNvPr id="21" name="Rectangle 20"/>
          <p:cNvSpPr/>
          <p:nvPr/>
        </p:nvSpPr>
        <p:spPr>
          <a:xfrm>
            <a:off x="4818339" y="2834640"/>
            <a:ext cx="2552273"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28067" y="2834640"/>
            <a:ext cx="2369393" cy="525780"/>
          </a:xfrm>
          <a:prstGeom prst="rect">
            <a:avLst/>
          </a:prstGeom>
          <a:noFill/>
        </p:spPr>
        <p:txBody>
          <a:bodyPr wrap="square" anchor="ctr">
            <a:spAutoFit/>
          </a:bodyPr>
          <a:lstStyle/>
          <a:p>
            <a:pPr algn="l">
              <a:spcAft>
                <a:spcPts val="400"/>
              </a:spcAft>
            </a:pPr>
            <a:r>
              <a:rPr sz="950" b="0">
                <a:solidFill>
                  <a:srgbClr val="161B26"/>
                </a:solidFill>
                <a:latin typeface="Arial"/>
              </a:rPr>
              <a:t>2 Edge</a:t>
            </a:r>
          </a:p>
        </p:txBody>
      </p:sp>
      <p:sp>
        <p:nvSpPr>
          <p:cNvPr id="23" name="Rectangle 22"/>
          <p:cNvSpPr/>
          <p:nvPr/>
        </p:nvSpPr>
        <p:spPr>
          <a:xfrm>
            <a:off x="7370612" y="2834640"/>
            <a:ext cx="4041099"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80340" y="2834640"/>
            <a:ext cx="3858219" cy="525780"/>
          </a:xfrm>
          <a:prstGeom prst="rect">
            <a:avLst/>
          </a:prstGeom>
          <a:noFill/>
        </p:spPr>
        <p:txBody>
          <a:bodyPr wrap="square" anchor="ctr">
            <a:spAutoFit/>
          </a:bodyPr>
          <a:lstStyle/>
          <a:p>
            <a:pPr algn="l">
              <a:spcAft>
                <a:spcPts val="400"/>
              </a:spcAft>
            </a:pPr>
            <a:r>
              <a:rPr sz="950" b="0">
                <a:solidFill>
                  <a:srgbClr val="161B26"/>
                </a:solidFill>
                <a:latin typeface="Arial"/>
              </a:rPr>
              <a:t>Milliseconds per frame; turns pixels into small payloads</a:t>
            </a:r>
          </a:p>
        </p:txBody>
      </p:sp>
      <p:sp>
        <p:nvSpPr>
          <p:cNvPr id="25" name="Rectangle 24"/>
          <p:cNvSpPr/>
          <p:nvPr/>
        </p:nvSpPr>
        <p:spPr>
          <a:xfrm>
            <a:off x="777240" y="3360420"/>
            <a:ext cx="4041099"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360420"/>
            <a:ext cx="3858219" cy="525780"/>
          </a:xfrm>
          <a:prstGeom prst="rect">
            <a:avLst/>
          </a:prstGeom>
          <a:noFill/>
        </p:spPr>
        <p:txBody>
          <a:bodyPr wrap="square" anchor="ctr">
            <a:spAutoFit/>
          </a:bodyPr>
          <a:lstStyle/>
          <a:p>
            <a:pPr algn="l">
              <a:spcAft>
                <a:spcPts val="400"/>
              </a:spcAft>
            </a:pPr>
            <a:r>
              <a:rPr sz="950" b="1">
                <a:solidFill>
                  <a:srgbClr val="161B26"/>
                </a:solidFill>
                <a:latin typeface="Arial"/>
              </a:rPr>
              <a:t>Haar cascade / HOG detection</a:t>
            </a:r>
          </a:p>
        </p:txBody>
      </p:sp>
      <p:sp>
        <p:nvSpPr>
          <p:cNvPr id="27" name="Rectangle 26"/>
          <p:cNvSpPr/>
          <p:nvPr/>
        </p:nvSpPr>
        <p:spPr>
          <a:xfrm>
            <a:off x="4818339" y="3360420"/>
            <a:ext cx="2552273"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28067" y="3360420"/>
            <a:ext cx="2369393" cy="525780"/>
          </a:xfrm>
          <a:prstGeom prst="rect">
            <a:avLst/>
          </a:prstGeom>
          <a:noFill/>
        </p:spPr>
        <p:txBody>
          <a:bodyPr wrap="square" anchor="ctr">
            <a:spAutoFit/>
          </a:bodyPr>
          <a:lstStyle/>
          <a:p>
            <a:pPr algn="l">
              <a:spcAft>
                <a:spcPts val="400"/>
              </a:spcAft>
            </a:pPr>
            <a:r>
              <a:rPr sz="950" b="0">
                <a:solidFill>
                  <a:srgbClr val="161B26"/>
                </a:solidFill>
                <a:latin typeface="Arial"/>
              </a:rPr>
              <a:t>2 Edge, or 3 if the model is large</a:t>
            </a:r>
          </a:p>
        </p:txBody>
      </p:sp>
      <p:sp>
        <p:nvSpPr>
          <p:cNvPr id="29" name="Rectangle 28"/>
          <p:cNvSpPr/>
          <p:nvPr/>
        </p:nvSpPr>
        <p:spPr>
          <a:xfrm>
            <a:off x="7370612" y="3360420"/>
            <a:ext cx="4041099"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80340" y="3360420"/>
            <a:ext cx="3858219" cy="525780"/>
          </a:xfrm>
          <a:prstGeom prst="rect">
            <a:avLst/>
          </a:prstGeom>
          <a:noFill/>
        </p:spPr>
        <p:txBody>
          <a:bodyPr wrap="square" anchor="ctr">
            <a:spAutoFit/>
          </a:bodyPr>
          <a:lstStyle/>
          <a:p>
            <a:pPr algn="l">
              <a:spcAft>
                <a:spcPts val="400"/>
              </a:spcAft>
            </a:pPr>
            <a:r>
              <a:rPr sz="950" b="0">
                <a:solidFill>
                  <a:srgbClr val="161B26"/>
                </a:solidFill>
                <a:latin typeface="Arial"/>
              </a:rPr>
              <a:t>Measured at 16.1 ms per frame here; a large detector may not fit the device</a:t>
            </a:r>
          </a:p>
        </p:txBody>
      </p:sp>
      <p:sp>
        <p:nvSpPr>
          <p:cNvPr id="31" name="Rectangle 30"/>
          <p:cNvSpPr/>
          <p:nvPr/>
        </p:nvSpPr>
        <p:spPr>
          <a:xfrm>
            <a:off x="777240" y="3886200"/>
            <a:ext cx="4041099"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886200"/>
            <a:ext cx="3858219" cy="525780"/>
          </a:xfrm>
          <a:prstGeom prst="rect">
            <a:avLst/>
          </a:prstGeom>
          <a:noFill/>
        </p:spPr>
        <p:txBody>
          <a:bodyPr wrap="square" anchor="ctr">
            <a:spAutoFit/>
          </a:bodyPr>
          <a:lstStyle/>
          <a:p>
            <a:pPr algn="l">
              <a:spcAft>
                <a:spcPts val="400"/>
              </a:spcAft>
            </a:pPr>
            <a:r>
              <a:rPr sz="950" b="1">
                <a:solidFill>
                  <a:srgbClr val="161B26"/>
                </a:solidFill>
                <a:latin typeface="Arial"/>
              </a:rPr>
              <a:t>Tracking and continuity metrics</a:t>
            </a:r>
          </a:p>
        </p:txBody>
      </p:sp>
      <p:sp>
        <p:nvSpPr>
          <p:cNvPr id="33" name="Rectangle 32"/>
          <p:cNvSpPr/>
          <p:nvPr/>
        </p:nvSpPr>
        <p:spPr>
          <a:xfrm>
            <a:off x="4818339" y="3886200"/>
            <a:ext cx="2552273"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28067" y="3886200"/>
            <a:ext cx="2369393" cy="525780"/>
          </a:xfrm>
          <a:prstGeom prst="rect">
            <a:avLst/>
          </a:prstGeom>
          <a:noFill/>
        </p:spPr>
        <p:txBody>
          <a:bodyPr wrap="square" anchor="ctr">
            <a:spAutoFit/>
          </a:bodyPr>
          <a:lstStyle/>
          <a:p>
            <a:pPr algn="l">
              <a:spcAft>
                <a:spcPts val="400"/>
              </a:spcAft>
            </a:pPr>
            <a:r>
              <a:rPr sz="950" b="0">
                <a:solidFill>
                  <a:srgbClr val="161B26"/>
                </a:solidFill>
                <a:latin typeface="Arial"/>
              </a:rPr>
              <a:t>2 Edge</a:t>
            </a:r>
          </a:p>
        </p:txBody>
      </p:sp>
      <p:sp>
        <p:nvSpPr>
          <p:cNvPr id="35" name="Rectangle 34"/>
          <p:cNvSpPr/>
          <p:nvPr/>
        </p:nvSpPr>
        <p:spPr>
          <a:xfrm>
            <a:off x="7370612" y="3886200"/>
            <a:ext cx="4041099"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80340" y="3886200"/>
            <a:ext cx="3858219" cy="525780"/>
          </a:xfrm>
          <a:prstGeom prst="rect">
            <a:avLst/>
          </a:prstGeom>
          <a:noFill/>
        </p:spPr>
        <p:txBody>
          <a:bodyPr wrap="square" anchor="ctr">
            <a:spAutoFit/>
          </a:bodyPr>
          <a:lstStyle/>
          <a:p>
            <a:pPr algn="l">
              <a:spcAft>
                <a:spcPts val="400"/>
              </a:spcAft>
            </a:pPr>
            <a:r>
              <a:rPr sz="950" b="0">
                <a:solidFill>
                  <a:srgbClr val="161B26"/>
                </a:solidFill>
                <a:latin typeface="Arial"/>
              </a:rPr>
              <a:t>Needs every frame, so it must sit where the frames are</a:t>
            </a:r>
          </a:p>
        </p:txBody>
      </p:sp>
      <p:sp>
        <p:nvSpPr>
          <p:cNvPr id="37" name="Rectangle 36"/>
          <p:cNvSpPr/>
          <p:nvPr/>
        </p:nvSpPr>
        <p:spPr>
          <a:xfrm>
            <a:off x="777240" y="4411980"/>
            <a:ext cx="4041099"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4411980"/>
            <a:ext cx="3858219" cy="525780"/>
          </a:xfrm>
          <a:prstGeom prst="rect">
            <a:avLst/>
          </a:prstGeom>
          <a:noFill/>
        </p:spPr>
        <p:txBody>
          <a:bodyPr wrap="square" anchor="ctr">
            <a:spAutoFit/>
          </a:bodyPr>
          <a:lstStyle/>
          <a:p>
            <a:pPr algn="l">
              <a:spcAft>
                <a:spcPts val="400"/>
              </a:spcAft>
            </a:pPr>
            <a:r>
              <a:rPr sz="950" b="1">
                <a:solidFill>
                  <a:srgbClr val="161B26"/>
                </a:solidFill>
                <a:latin typeface="Arial"/>
              </a:rPr>
              <a:t>Image generation, inpainting, outpainting</a:t>
            </a:r>
          </a:p>
        </p:txBody>
      </p:sp>
      <p:sp>
        <p:nvSpPr>
          <p:cNvPr id="39" name="Rectangle 38"/>
          <p:cNvSpPr/>
          <p:nvPr/>
        </p:nvSpPr>
        <p:spPr>
          <a:xfrm>
            <a:off x="4818339" y="4411980"/>
            <a:ext cx="2552273"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928067" y="4411980"/>
            <a:ext cx="2369393" cy="525780"/>
          </a:xfrm>
          <a:prstGeom prst="rect">
            <a:avLst/>
          </a:prstGeom>
          <a:noFill/>
        </p:spPr>
        <p:txBody>
          <a:bodyPr wrap="square" anchor="ctr">
            <a:spAutoFit/>
          </a:bodyPr>
          <a:lstStyle/>
          <a:p>
            <a:pPr algn="l">
              <a:spcAft>
                <a:spcPts val="400"/>
              </a:spcAft>
            </a:pPr>
            <a:r>
              <a:rPr sz="950" b="0">
                <a:solidFill>
                  <a:srgbClr val="161B26"/>
                </a:solidFill>
                <a:latin typeface="Arial"/>
              </a:rPr>
              <a:t>3 Cloud</a:t>
            </a:r>
          </a:p>
        </p:txBody>
      </p:sp>
      <p:sp>
        <p:nvSpPr>
          <p:cNvPr id="41" name="Rectangle 40"/>
          <p:cNvSpPr/>
          <p:nvPr/>
        </p:nvSpPr>
        <p:spPr>
          <a:xfrm>
            <a:off x="7370612" y="4411980"/>
            <a:ext cx="4041099"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80340" y="4411980"/>
            <a:ext cx="3858219" cy="525780"/>
          </a:xfrm>
          <a:prstGeom prst="rect">
            <a:avLst/>
          </a:prstGeom>
          <a:noFill/>
        </p:spPr>
        <p:txBody>
          <a:bodyPr wrap="square" anchor="ctr">
            <a:spAutoFit/>
          </a:bodyPr>
          <a:lstStyle/>
          <a:p>
            <a:pPr algn="l">
              <a:spcAft>
                <a:spcPts val="400"/>
              </a:spcAft>
            </a:pPr>
            <a:r>
              <a:rPr sz="950" b="0">
                <a:solidFill>
                  <a:srgbClr val="161B26"/>
                </a:solidFill>
                <a:latin typeface="Arial"/>
              </a:rPr>
              <a:t>Sampling cost scales with denoising steps; placement depends on measured device capacity</a:t>
            </a:r>
          </a:p>
        </p:txBody>
      </p:sp>
      <p:sp>
        <p:nvSpPr>
          <p:cNvPr id="43" name="Rectangle 42"/>
          <p:cNvSpPr/>
          <p:nvPr/>
        </p:nvSpPr>
        <p:spPr>
          <a:xfrm>
            <a:off x="777240" y="4937760"/>
            <a:ext cx="4041099"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4937760"/>
            <a:ext cx="3858219" cy="525780"/>
          </a:xfrm>
          <a:prstGeom prst="rect">
            <a:avLst/>
          </a:prstGeom>
          <a:noFill/>
        </p:spPr>
        <p:txBody>
          <a:bodyPr wrap="square" anchor="ctr">
            <a:spAutoFit/>
          </a:bodyPr>
          <a:lstStyle/>
          <a:p>
            <a:pPr algn="l">
              <a:spcAft>
                <a:spcPts val="400"/>
              </a:spcAft>
            </a:pPr>
            <a:r>
              <a:rPr sz="950" b="1">
                <a:solidFill>
                  <a:srgbClr val="161B26"/>
                </a:solidFill>
                <a:latin typeface="Arial"/>
              </a:rPr>
              <a:t>Video generation</a:t>
            </a:r>
          </a:p>
        </p:txBody>
      </p:sp>
      <p:sp>
        <p:nvSpPr>
          <p:cNvPr id="45" name="Rectangle 44"/>
          <p:cNvSpPr/>
          <p:nvPr/>
        </p:nvSpPr>
        <p:spPr>
          <a:xfrm>
            <a:off x="4818339" y="4937760"/>
            <a:ext cx="2552273"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928067" y="4937760"/>
            <a:ext cx="2369393" cy="525780"/>
          </a:xfrm>
          <a:prstGeom prst="rect">
            <a:avLst/>
          </a:prstGeom>
          <a:noFill/>
        </p:spPr>
        <p:txBody>
          <a:bodyPr wrap="square" anchor="ctr">
            <a:spAutoFit/>
          </a:bodyPr>
          <a:lstStyle/>
          <a:p>
            <a:pPr algn="l">
              <a:spcAft>
                <a:spcPts val="400"/>
              </a:spcAft>
            </a:pPr>
            <a:r>
              <a:rPr sz="950" b="0">
                <a:solidFill>
                  <a:srgbClr val="161B26"/>
                </a:solidFill>
                <a:latin typeface="Arial"/>
              </a:rPr>
              <a:t>3 Cloud</a:t>
            </a:r>
          </a:p>
        </p:txBody>
      </p:sp>
      <p:sp>
        <p:nvSpPr>
          <p:cNvPr id="47" name="Rectangle 46"/>
          <p:cNvSpPr/>
          <p:nvPr/>
        </p:nvSpPr>
        <p:spPr>
          <a:xfrm>
            <a:off x="7370612" y="4937760"/>
            <a:ext cx="4041099"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80340" y="4937760"/>
            <a:ext cx="3858219" cy="525780"/>
          </a:xfrm>
          <a:prstGeom prst="rect">
            <a:avLst/>
          </a:prstGeom>
          <a:noFill/>
        </p:spPr>
        <p:txBody>
          <a:bodyPr wrap="square" anchor="ctr">
            <a:spAutoFit/>
          </a:bodyPr>
          <a:lstStyle/>
          <a:p>
            <a:pPr algn="l">
              <a:spcAft>
                <a:spcPts val="400"/>
              </a:spcAft>
            </a:pPr>
            <a:r>
              <a:rPr sz="950" b="0">
                <a:solidFill>
                  <a:srgbClr val="161B26"/>
                </a:solidFill>
                <a:latin typeface="Arial"/>
              </a:rPr>
              <a:t>Cost scales with steps × frames — modelled at 200x the image cost</a:t>
            </a:r>
          </a:p>
        </p:txBody>
      </p:sp>
      <p:sp>
        <p:nvSpPr>
          <p:cNvPr id="49" name="Rectangle 48"/>
          <p:cNvSpPr/>
          <p:nvPr/>
        </p:nvSpPr>
        <p:spPr>
          <a:xfrm>
            <a:off x="777240" y="5463540"/>
            <a:ext cx="4041099"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86968" y="5463540"/>
            <a:ext cx="3858219" cy="525780"/>
          </a:xfrm>
          <a:prstGeom prst="rect">
            <a:avLst/>
          </a:prstGeom>
          <a:noFill/>
        </p:spPr>
        <p:txBody>
          <a:bodyPr wrap="square" anchor="ctr">
            <a:spAutoFit/>
          </a:bodyPr>
          <a:lstStyle/>
          <a:p>
            <a:pPr algn="l">
              <a:spcAft>
                <a:spcPts val="400"/>
              </a:spcAft>
            </a:pPr>
            <a:r>
              <a:rPr sz="950" b="1">
                <a:solidFill>
                  <a:srgbClr val="161B26"/>
                </a:solidFill>
                <a:latin typeface="Arial"/>
              </a:rPr>
              <a:t>Consistency gate, review queue, asset store</a:t>
            </a:r>
          </a:p>
        </p:txBody>
      </p:sp>
      <p:sp>
        <p:nvSpPr>
          <p:cNvPr id="51" name="Rectangle 50"/>
          <p:cNvSpPr/>
          <p:nvPr/>
        </p:nvSpPr>
        <p:spPr>
          <a:xfrm>
            <a:off x="4818339" y="5463540"/>
            <a:ext cx="2552273"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928067" y="5463540"/>
            <a:ext cx="2369393" cy="525780"/>
          </a:xfrm>
          <a:prstGeom prst="rect">
            <a:avLst/>
          </a:prstGeom>
          <a:noFill/>
        </p:spPr>
        <p:txBody>
          <a:bodyPr wrap="square" anchor="ctr">
            <a:spAutoFit/>
          </a:bodyPr>
          <a:lstStyle/>
          <a:p>
            <a:pPr algn="l">
              <a:spcAft>
                <a:spcPts val="400"/>
              </a:spcAft>
            </a:pPr>
            <a:r>
              <a:rPr sz="950" b="0">
                <a:solidFill>
                  <a:srgbClr val="161B26"/>
                </a:solidFill>
                <a:latin typeface="Arial"/>
              </a:rPr>
              <a:t>4 Application</a:t>
            </a:r>
          </a:p>
        </p:txBody>
      </p:sp>
      <p:sp>
        <p:nvSpPr>
          <p:cNvPr id="53" name="Rectangle 52"/>
          <p:cNvSpPr/>
          <p:nvPr/>
        </p:nvSpPr>
        <p:spPr>
          <a:xfrm>
            <a:off x="7370612" y="5463540"/>
            <a:ext cx="4041099"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480340" y="5463540"/>
            <a:ext cx="3858219" cy="525780"/>
          </a:xfrm>
          <a:prstGeom prst="rect">
            <a:avLst/>
          </a:prstGeom>
          <a:noFill/>
        </p:spPr>
        <p:txBody>
          <a:bodyPr wrap="square" anchor="ctr">
            <a:spAutoFit/>
          </a:bodyPr>
          <a:lstStyle/>
          <a:p>
            <a:pPr algn="l">
              <a:spcAft>
                <a:spcPts val="400"/>
              </a:spcAft>
            </a:pPr>
            <a:r>
              <a:rPr sz="950" b="0">
                <a:solidFill>
                  <a:srgbClr val="161B26"/>
                </a:solidFill>
                <a:latin typeface="Arial"/>
              </a:rPr>
              <a:t>Where a human or a policy makes the decision</a:t>
            </a:r>
          </a:p>
        </p:txBody>
      </p:sp>
      <p:sp>
        <p:nvSpPr>
          <p:cNvPr id="55" name="TextBox 54"/>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The placement is a hypothesis until you measure it. Lab 12 measures the edge stages on the machine in front of you and records the CPU alongside the numbers.</a:t>
            </a:r>
          </a:p>
        </p:txBody>
      </p:sp>
      <p:sp>
        <p:nvSpPr>
          <p:cNvPr id="56" name="TextBox 5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57" name="TextBox 5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8" name="TextBox 5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transition spd="fast">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K13, A8 · LAB 12 · 1280x720 CLIP, FIRST 5 FRAMES DISCARDED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Measured — Per-Stage Latency on the Course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One stage dominates</a:t>
            </a:r>
          </a:p>
          <a:p>
            <a:pPr algn="l">
              <a:spcAft>
                <a:spcPts val="200"/>
              </a:spcAft>
            </a:pPr>
            <a:r>
              <a:rPr sz="1100" b="0">
                <a:solidFill>
                  <a:srgbClr val="161B26"/>
                </a:solidFill>
                <a:latin typeface="Arial"/>
              </a:rPr>
              <a:t>Dense optical flow at 54.2 ms is 69% of the 78.6 ms sum of isolated stage medians.</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Detection is second</a:t>
            </a:r>
          </a:p>
          <a:p>
            <a:pPr algn="l">
              <a:spcAft>
                <a:spcPts val="200"/>
              </a:spcAft>
            </a:pPr>
            <a:r>
              <a:rPr sz="1100" b="0">
                <a:solidFill>
                  <a:srgbClr val="161B26"/>
                </a:solidFill>
                <a:latin typeface="Arial"/>
              </a:rPr>
              <a:t>16.1 ms for the Haar cascade — an order of magnitude above the cheap stages.</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The cheap stages cost less</a:t>
            </a:r>
          </a:p>
          <a:p>
            <a:pPr algn="l">
              <a:spcAft>
                <a:spcPts val="200"/>
              </a:spcAft>
            </a:pPr>
            <a:r>
              <a:rPr sz="1100" b="0">
                <a:solidFill>
                  <a:srgbClr val="161B26"/>
                </a:solidFill>
                <a:latin typeface="Arial"/>
              </a:rPr>
              <a:t>Decode, colour convert, denoise and Canny together are under 1 ms.</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Budget met, with margin</a:t>
            </a:r>
          </a:p>
          <a:p>
            <a:pPr algn="l">
              <a:spcAft>
                <a:spcPts val="200"/>
              </a:spcAft>
            </a:pPr>
            <a:r>
              <a:rPr sz="1100" b="0">
                <a:solidFill>
                  <a:srgbClr val="161B26"/>
                </a:solidFill>
                <a:latin typeface="Arial"/>
              </a:rPr>
              <a:t>Isolated medians sum to 78.6 ms versus a 400 ms budget — verify the directly timed end-to-end row and 40 ms frame interval.</a:t>
            </a:r>
          </a:p>
        </p:txBody>
      </p:sp>
      <p:sp>
        <p:nvSpPr>
          <p:cNvPr id="20" name="Rectangle 19"/>
          <p:cNvSpPr/>
          <p:nvPr/>
        </p:nvSpPr>
        <p:spPr>
          <a:xfrm>
            <a:off x="777240" y="5925312"/>
            <a:ext cx="1417320"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MEASURED</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Measured in Lab 12 with opencv-python 4.13 on the course development machine, 250 frames, median reported. A latency number without its hardware is not a measurement — your store device will differ, and the harness records the CPU string in the CSV header.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transition spd="fast">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K13 · SOURCE S18 · CH.7 PP.98–99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Where Generative Latency Comes From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12263"/>
            <a:ext cx="2996184" cy="457200"/>
          </a:xfrm>
          <a:prstGeom prst="rect">
            <a:avLst/>
          </a:prstGeom>
          <a:noFill/>
        </p:spPr>
        <p:txBody>
          <a:bodyPr wrap="square" anchor="t">
            <a:spAutoFit/>
          </a:bodyPr>
          <a:lstStyle/>
          <a:p>
            <a:pPr algn="l">
              <a:spcAft>
                <a:spcPts val="400"/>
              </a:spcAft>
            </a:pPr>
            <a:r>
              <a:rPr sz="1500" b="1">
                <a:solidFill>
                  <a:srgbClr val="1F6FEB"/>
                </a:solidFill>
                <a:latin typeface="Arial"/>
              </a:rPr>
              <a:t>Image</a:t>
            </a:r>
          </a:p>
        </p:txBody>
      </p:sp>
      <p:sp>
        <p:nvSpPr>
          <p:cNvPr id="10" name="Rectangle 9"/>
          <p:cNvSpPr/>
          <p:nvPr/>
        </p:nvSpPr>
        <p:spPr>
          <a:xfrm>
            <a:off x="960120" y="2715767"/>
            <a:ext cx="2996184" cy="6766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15767"/>
            <a:ext cx="2813304" cy="676656"/>
          </a:xfrm>
          <a:prstGeom prst="rect">
            <a:avLst/>
          </a:prstGeom>
          <a:noFill/>
        </p:spPr>
        <p:txBody>
          <a:bodyPr wrap="none" lIns="0" rIns="0" tIns="0" bIns="0" anchor="ctr">
            <a:noAutofit/>
          </a:bodyPr>
          <a:lstStyle/>
          <a:p>
            <a:pPr>
              <a:spcAft>
                <a:spcPts val="100"/>
              </a:spcAft>
            </a:pPr>
            <a:r>
              <a:rPr sz="1400">
                <a:solidFill>
                  <a:srgbClr val="9CDCFE"/>
                </a:solidFill>
                <a:latin typeface="Consolas"/>
              </a:rPr>
              <a:t>lat ∝ S · c_step</a:t>
            </a:r>
          </a:p>
        </p:txBody>
      </p:sp>
      <p:sp>
        <p:nvSpPr>
          <p:cNvPr id="12" name="TextBox 11"/>
          <p:cNvSpPr txBox="1"/>
          <p:nvPr/>
        </p:nvSpPr>
        <p:spPr>
          <a:xfrm>
            <a:off x="960120" y="3502151"/>
            <a:ext cx="2996184" cy="1856232"/>
          </a:xfrm>
          <a:prstGeom prst="rect">
            <a:avLst/>
          </a:prstGeom>
          <a:noFill/>
        </p:spPr>
        <p:txBody>
          <a:bodyPr wrap="square" anchor="t">
            <a:spAutoFit/>
          </a:bodyPr>
          <a:lstStyle/>
          <a:p>
            <a:pPr algn="l">
              <a:spcAft>
                <a:spcPts val="400"/>
              </a:spcAft>
            </a:pPr>
            <a:r>
              <a:rPr sz="1200" b="0">
                <a:solidFill>
                  <a:srgbClr val="5B6372"/>
                </a:solidFill>
                <a:latin typeface="Arial"/>
              </a:rPr>
              <a:t>S denoising steps, each costing c_step. Under fixed per-step cost, halving steps approximately halves latency — which is exactly what step distillation sells.</a:t>
            </a:r>
          </a:p>
        </p:txBody>
      </p:sp>
      <p:sp>
        <p:nvSpPr>
          <p:cNvPr id="13" name="Rectangle 12"/>
          <p:cNvSpPr/>
          <p:nvPr/>
        </p:nvSpPr>
        <p:spPr>
          <a:xfrm>
            <a:off x="4413504"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6384" y="2112263"/>
            <a:ext cx="2996184" cy="457200"/>
          </a:xfrm>
          <a:prstGeom prst="rect">
            <a:avLst/>
          </a:prstGeom>
          <a:noFill/>
        </p:spPr>
        <p:txBody>
          <a:bodyPr wrap="square" anchor="t">
            <a:spAutoFit/>
          </a:bodyPr>
          <a:lstStyle/>
          <a:p>
            <a:pPr algn="l">
              <a:spcAft>
                <a:spcPts val="400"/>
              </a:spcAft>
            </a:pPr>
            <a:r>
              <a:rPr sz="1500" b="1">
                <a:solidFill>
                  <a:srgbClr val="10B981"/>
                </a:solidFill>
                <a:latin typeface="Arial"/>
              </a:rPr>
              <a:t>Video</a:t>
            </a:r>
          </a:p>
        </p:txBody>
      </p:sp>
      <p:sp>
        <p:nvSpPr>
          <p:cNvPr id="16" name="Rectangle 15"/>
          <p:cNvSpPr/>
          <p:nvPr/>
        </p:nvSpPr>
        <p:spPr>
          <a:xfrm>
            <a:off x="4596384" y="2715767"/>
            <a:ext cx="2996184" cy="6766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7824" y="2715767"/>
            <a:ext cx="2813304" cy="676656"/>
          </a:xfrm>
          <a:prstGeom prst="rect">
            <a:avLst/>
          </a:prstGeom>
          <a:noFill/>
        </p:spPr>
        <p:txBody>
          <a:bodyPr wrap="none" lIns="0" rIns="0" tIns="0" bIns="0" anchor="ctr">
            <a:noAutofit/>
          </a:bodyPr>
          <a:lstStyle/>
          <a:p>
            <a:pPr>
              <a:spcAft>
                <a:spcPts val="100"/>
              </a:spcAft>
            </a:pPr>
            <a:r>
              <a:rPr sz="1400">
                <a:solidFill>
                  <a:srgbClr val="9CDCFE"/>
                </a:solidFill>
                <a:latin typeface="Consolas"/>
              </a:rPr>
              <a:t>lat ∝ S · F · c_step</a:t>
            </a:r>
          </a:p>
        </p:txBody>
      </p:sp>
      <p:sp>
        <p:nvSpPr>
          <p:cNvPr id="18" name="TextBox 17"/>
          <p:cNvSpPr txBox="1"/>
          <p:nvPr/>
        </p:nvSpPr>
        <p:spPr>
          <a:xfrm>
            <a:off x="4596384" y="3502151"/>
            <a:ext cx="2996184" cy="1856232"/>
          </a:xfrm>
          <a:prstGeom prst="rect">
            <a:avLst/>
          </a:prstGeom>
          <a:noFill/>
        </p:spPr>
        <p:txBody>
          <a:bodyPr wrap="square" anchor="t">
            <a:spAutoFit/>
          </a:bodyPr>
          <a:lstStyle/>
          <a:p>
            <a:pPr algn="l">
              <a:spcAft>
                <a:spcPts val="400"/>
              </a:spcAft>
            </a:pPr>
            <a:r>
              <a:rPr sz="1200" b="0">
                <a:solidFill>
                  <a:srgbClr val="5B6372"/>
                </a:solidFill>
                <a:latin typeface="Arial"/>
              </a:rPr>
              <a:t>S steps for each of F frames. A 25-step, 200-frame clip is 200x the sampling work of a 25-step image. This simplified ratio does not decide edge feasibility.</a:t>
            </a:r>
          </a:p>
        </p:txBody>
      </p:sp>
      <p:sp>
        <p:nvSpPr>
          <p:cNvPr id="19" name="Rectangle 18"/>
          <p:cNvSpPr/>
          <p:nvPr/>
        </p:nvSpPr>
        <p:spPr>
          <a:xfrm>
            <a:off x="8049768"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2648" y="2112263"/>
            <a:ext cx="2996184" cy="457200"/>
          </a:xfrm>
          <a:prstGeom prst="rect">
            <a:avLst/>
          </a:prstGeom>
          <a:noFill/>
        </p:spPr>
        <p:txBody>
          <a:bodyPr wrap="square" anchor="t">
            <a:spAutoFit/>
          </a:bodyPr>
          <a:lstStyle/>
          <a:p>
            <a:pPr algn="l">
              <a:spcAft>
                <a:spcPts val="400"/>
              </a:spcAft>
            </a:pPr>
            <a:r>
              <a:rPr sz="1500" b="1">
                <a:solidFill>
                  <a:srgbClr val="7C3AED"/>
                </a:solidFill>
                <a:latin typeface="Arial"/>
              </a:rPr>
              <a:t>Peak memory</a:t>
            </a:r>
          </a:p>
        </p:txBody>
      </p:sp>
      <p:sp>
        <p:nvSpPr>
          <p:cNvPr id="22" name="Rectangle 21"/>
          <p:cNvSpPr/>
          <p:nvPr/>
        </p:nvSpPr>
        <p:spPr>
          <a:xfrm>
            <a:off x="8232648" y="2715767"/>
            <a:ext cx="2996184" cy="14081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4088" y="2715767"/>
            <a:ext cx="2813304" cy="1408176"/>
          </a:xfrm>
          <a:prstGeom prst="rect">
            <a:avLst/>
          </a:prstGeom>
          <a:noFill/>
        </p:spPr>
        <p:txBody>
          <a:bodyPr wrap="none" lIns="0" rIns="0" tIns="0" bIns="0" anchor="ctr">
            <a:noAutofit/>
          </a:bodyPr>
          <a:lstStyle/>
          <a:p>
            <a:pPr>
              <a:spcAft>
                <a:spcPts val="100"/>
              </a:spcAft>
            </a:pPr>
            <a:r>
              <a:rPr sz="1400">
                <a:solidFill>
                  <a:srgbClr val="9CDCFE"/>
                </a:solidFill>
                <a:latin typeface="Consolas"/>
              </a:rPr>
              <a:t>M ≈ M_param</a:t>
            </a:r>
          </a:p>
          <a:p>
            <a:pPr>
              <a:spcAft>
                <a:spcPts val="100"/>
              </a:spcAft>
            </a:pPr>
            <a:r>
              <a:rPr sz="1400">
                <a:solidFill>
                  <a:srgbClr val="9CDCFE"/>
                </a:solidFill>
                <a:latin typeface="Consolas"/>
              </a:rPr>
              <a:t>  + Σ activations</a:t>
            </a:r>
          </a:p>
          <a:p>
            <a:pPr>
              <a:spcAft>
                <a:spcPts val="100"/>
              </a:spcAft>
            </a:pPr>
            <a:r>
              <a:rPr sz="1400">
                <a:solidFill>
                  <a:srgbClr val="9CDCFE"/>
                </a:solidFill>
                <a:latin typeface="Consolas"/>
              </a:rPr>
              <a:t>  (+ optimiser)</a:t>
            </a:r>
          </a:p>
        </p:txBody>
      </p:sp>
      <p:sp>
        <p:nvSpPr>
          <p:cNvPr id="24" name="TextBox 23"/>
          <p:cNvSpPr txBox="1"/>
          <p:nvPr/>
        </p:nvSpPr>
        <p:spPr>
          <a:xfrm>
            <a:off x="8232648" y="4233671"/>
            <a:ext cx="2996184" cy="1124712"/>
          </a:xfrm>
          <a:prstGeom prst="rect">
            <a:avLst/>
          </a:prstGeom>
          <a:noFill/>
        </p:spPr>
        <p:txBody>
          <a:bodyPr wrap="square" anchor="t">
            <a:spAutoFit/>
          </a:bodyPr>
          <a:lstStyle/>
          <a:p>
            <a:pPr algn="l">
              <a:spcAft>
                <a:spcPts val="400"/>
              </a:spcAft>
            </a:pPr>
            <a:r>
              <a:rPr sz="1200" b="0">
                <a:solidFill>
                  <a:srgbClr val="5B6372"/>
                </a:solidFill>
                <a:latin typeface="Arial"/>
              </a:rPr>
              <a:t>Parameter memory plus the activation footprint at your batch size and resolution. Optimiser state is present only during training.</a:t>
            </a:r>
          </a:p>
        </p:txBody>
      </p:sp>
      <p:sp>
        <p:nvSpPr>
          <p:cNvPr id="25" name="TextBox 2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Latent diffusion attacks c_step by working on a compressed representation; distillation attacks S; quantisation attacks M_param. Three different levers on three different terms.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transition spd="fast">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K13 · THE 200x THAT DECIDES WHERE VIDEO RUNS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Modelled — Image Against Video Sampling Cost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The ratio is F</a:t>
            </a:r>
          </a:p>
          <a:p>
            <a:pPr algn="l">
              <a:spcAft>
                <a:spcPts val="200"/>
              </a:spcAft>
            </a:pPr>
            <a:r>
              <a:rPr sz="1100" b="0">
                <a:solidFill>
                  <a:srgbClr val="161B26"/>
                </a:solidFill>
                <a:latin typeface="Arial"/>
              </a:rPr>
              <a:t>200 frames means 200x the sampling work at the same step count and step cost.</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Steps are the other lever</a:t>
            </a:r>
          </a:p>
          <a:p>
            <a:pPr algn="l">
              <a:spcAft>
                <a:spcPts val="200"/>
              </a:spcAft>
            </a:pPr>
            <a:r>
              <a:rPr sz="1100" b="0">
                <a:solidFill>
                  <a:srgbClr val="161B26"/>
                </a:solidFill>
                <a:latin typeface="Arial"/>
              </a:rPr>
              <a:t>Distillation reduces S while preserving FID or FVD at fixed guidance.</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Temporal modules must stay</a:t>
            </a:r>
          </a:p>
          <a:p>
            <a:pPr algn="l">
              <a:spcAft>
                <a:spcPts val="200"/>
              </a:spcAft>
            </a:pPr>
            <a:r>
              <a:rPr sz="1100" b="0">
                <a:solidFill>
                  <a:srgbClr val="161B26"/>
                </a:solidFill>
                <a:latin typeface="Arial"/>
              </a:rPr>
              <a:t>For video, the temporal attention or 3-D blocks are retained in the distilled student, or motion falls apart.</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Hence the split</a:t>
            </a:r>
          </a:p>
          <a:p>
            <a:pPr algn="l">
              <a:spcAft>
                <a:spcPts val="200"/>
              </a:spcAft>
            </a:pPr>
            <a:r>
              <a:rPr sz="1100" b="0">
                <a:solidFill>
                  <a:srgbClr val="161B26"/>
                </a:solidFill>
                <a:latin typeface="Arial"/>
              </a:rPr>
              <a:t>Analysis at the edge, generation in the cloud — an arithmetic conclusion, not a preference.</a:t>
            </a:r>
          </a:p>
        </p:txBody>
      </p:sp>
      <p:sp>
        <p:nvSpPr>
          <p:cNvPr id="20" name="Rectangle 19"/>
          <p:cNvSpPr/>
          <p:nvPr/>
        </p:nvSpPr>
        <p:spPr>
          <a:xfrm>
            <a:off x="777240" y="5925312"/>
            <a:ext cx="1417320"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MODELLED</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Derived from the documented relationship lat ∝ S for images and lat ∝ S × F for video, using the classroom parameters in Lab 12's deployment-constraints.json (S = 25, F = 200, 40 ms per step). The RATIO is the finding; the absolute seconds are illustrative.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transition spd="fast">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K12 · VISION COMMUNICATION PROTOCOLS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Vision Communication Protocols — Chosen by Payload and Latency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701515" cy="525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1518635" cy="525780"/>
          </a:xfrm>
          <a:prstGeom prst="rect">
            <a:avLst/>
          </a:prstGeom>
          <a:noFill/>
        </p:spPr>
        <p:txBody>
          <a:bodyPr wrap="square" anchor="ctr">
            <a:spAutoFit/>
          </a:bodyPr>
          <a:lstStyle/>
          <a:p>
            <a:pPr algn="l">
              <a:spcAft>
                <a:spcPts val="400"/>
              </a:spcAft>
            </a:pPr>
            <a:r>
              <a:rPr sz="1050" b="1">
                <a:solidFill>
                  <a:srgbClr val="FFFFFF"/>
                </a:solidFill>
                <a:latin typeface="Arial"/>
              </a:rPr>
              <a:t>Protocol</a:t>
            </a:r>
          </a:p>
        </p:txBody>
      </p:sp>
      <p:sp>
        <p:nvSpPr>
          <p:cNvPr id="9" name="Rectangle 8"/>
          <p:cNvSpPr/>
          <p:nvPr/>
        </p:nvSpPr>
        <p:spPr>
          <a:xfrm>
            <a:off x="2478755" y="1783080"/>
            <a:ext cx="2552273" cy="525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88483" y="1783080"/>
            <a:ext cx="2369393" cy="525780"/>
          </a:xfrm>
          <a:prstGeom prst="rect">
            <a:avLst/>
          </a:prstGeom>
          <a:noFill/>
        </p:spPr>
        <p:txBody>
          <a:bodyPr wrap="square" anchor="ctr">
            <a:spAutoFit/>
          </a:bodyPr>
          <a:lstStyle/>
          <a:p>
            <a:pPr algn="l">
              <a:spcAft>
                <a:spcPts val="400"/>
              </a:spcAft>
            </a:pPr>
            <a:r>
              <a:rPr sz="1050" b="1">
                <a:solidFill>
                  <a:srgbClr val="FFFFFF"/>
                </a:solidFill>
                <a:latin typeface="Arial"/>
              </a:rPr>
              <a:t>Payload class</a:t>
            </a:r>
          </a:p>
        </p:txBody>
      </p:sp>
      <p:sp>
        <p:nvSpPr>
          <p:cNvPr id="11" name="Rectangle 10"/>
          <p:cNvSpPr/>
          <p:nvPr/>
        </p:nvSpPr>
        <p:spPr>
          <a:xfrm>
            <a:off x="5031028" y="1783080"/>
            <a:ext cx="1914204" cy="525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40756" y="1783080"/>
            <a:ext cx="1731324" cy="525780"/>
          </a:xfrm>
          <a:prstGeom prst="rect">
            <a:avLst/>
          </a:prstGeom>
          <a:noFill/>
        </p:spPr>
        <p:txBody>
          <a:bodyPr wrap="square" anchor="ctr">
            <a:spAutoFit/>
          </a:bodyPr>
          <a:lstStyle/>
          <a:p>
            <a:pPr algn="l">
              <a:spcAft>
                <a:spcPts val="400"/>
              </a:spcAft>
            </a:pPr>
            <a:r>
              <a:rPr sz="1050" b="1">
                <a:solidFill>
                  <a:srgbClr val="FFFFFF"/>
                </a:solidFill>
                <a:latin typeface="Arial"/>
              </a:rPr>
              <a:t>Latency class</a:t>
            </a:r>
          </a:p>
        </p:txBody>
      </p:sp>
      <p:sp>
        <p:nvSpPr>
          <p:cNvPr id="13" name="Rectangle 12"/>
          <p:cNvSpPr/>
          <p:nvPr/>
        </p:nvSpPr>
        <p:spPr>
          <a:xfrm>
            <a:off x="6945232" y="1783080"/>
            <a:ext cx="4466478" cy="525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54960" y="1783080"/>
            <a:ext cx="4283598" cy="525780"/>
          </a:xfrm>
          <a:prstGeom prst="rect">
            <a:avLst/>
          </a:prstGeom>
          <a:noFill/>
        </p:spPr>
        <p:txBody>
          <a:bodyPr wrap="square" anchor="ctr">
            <a:spAutoFit/>
          </a:bodyPr>
          <a:lstStyle/>
          <a:p>
            <a:pPr algn="l">
              <a:spcAft>
                <a:spcPts val="400"/>
              </a:spcAft>
            </a:pPr>
            <a:r>
              <a:rPr sz="1050" b="1">
                <a:solidFill>
                  <a:srgbClr val="FFFFFF"/>
                </a:solidFill>
                <a:latin typeface="Arial"/>
              </a:rPr>
              <a:t>Typical link</a:t>
            </a:r>
          </a:p>
        </p:txBody>
      </p:sp>
      <p:sp>
        <p:nvSpPr>
          <p:cNvPr id="15" name="Rectangle 14"/>
          <p:cNvSpPr/>
          <p:nvPr/>
        </p:nvSpPr>
        <p:spPr>
          <a:xfrm>
            <a:off x="777240" y="2308860"/>
            <a:ext cx="1701515"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308860"/>
            <a:ext cx="1518635" cy="525780"/>
          </a:xfrm>
          <a:prstGeom prst="rect">
            <a:avLst/>
          </a:prstGeom>
          <a:noFill/>
        </p:spPr>
        <p:txBody>
          <a:bodyPr wrap="square" anchor="ctr">
            <a:spAutoFit/>
          </a:bodyPr>
          <a:lstStyle/>
          <a:p>
            <a:pPr algn="l">
              <a:spcAft>
                <a:spcPts val="400"/>
              </a:spcAft>
            </a:pPr>
            <a:r>
              <a:rPr sz="950" b="1">
                <a:solidFill>
                  <a:srgbClr val="161B26"/>
                </a:solidFill>
                <a:latin typeface="Arial"/>
              </a:rPr>
              <a:t>RTSP</a:t>
            </a:r>
          </a:p>
        </p:txBody>
      </p:sp>
      <p:sp>
        <p:nvSpPr>
          <p:cNvPr id="17" name="Rectangle 16"/>
          <p:cNvSpPr/>
          <p:nvPr/>
        </p:nvSpPr>
        <p:spPr>
          <a:xfrm>
            <a:off x="2478755" y="2308860"/>
            <a:ext cx="2552273"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88483" y="2308860"/>
            <a:ext cx="2369393" cy="525780"/>
          </a:xfrm>
          <a:prstGeom prst="rect">
            <a:avLst/>
          </a:prstGeom>
          <a:noFill/>
        </p:spPr>
        <p:txBody>
          <a:bodyPr wrap="square" anchor="ctr">
            <a:spAutoFit/>
          </a:bodyPr>
          <a:lstStyle/>
          <a:p>
            <a:pPr algn="l">
              <a:spcAft>
                <a:spcPts val="400"/>
              </a:spcAft>
            </a:pPr>
            <a:r>
              <a:rPr sz="950" b="0">
                <a:solidFill>
                  <a:srgbClr val="161B26"/>
                </a:solidFill>
                <a:latin typeface="Arial"/>
              </a:rPr>
              <a:t>Live video</a:t>
            </a:r>
          </a:p>
        </p:txBody>
      </p:sp>
      <p:sp>
        <p:nvSpPr>
          <p:cNvPr id="19" name="Rectangle 18"/>
          <p:cNvSpPr/>
          <p:nvPr/>
        </p:nvSpPr>
        <p:spPr>
          <a:xfrm>
            <a:off x="5031028" y="2308860"/>
            <a:ext cx="1914204"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40756" y="2308860"/>
            <a:ext cx="1731324" cy="525780"/>
          </a:xfrm>
          <a:prstGeom prst="rect">
            <a:avLst/>
          </a:prstGeom>
          <a:noFill/>
        </p:spPr>
        <p:txBody>
          <a:bodyPr wrap="square" anchor="ctr">
            <a:spAutoFit/>
          </a:bodyPr>
          <a:lstStyle/>
          <a:p>
            <a:pPr algn="l">
              <a:spcAft>
                <a:spcPts val="400"/>
              </a:spcAft>
            </a:pPr>
            <a:r>
              <a:rPr sz="950" b="0">
                <a:solidFill>
                  <a:srgbClr val="161B26"/>
                </a:solidFill>
                <a:latin typeface="Arial"/>
              </a:rPr>
              <a:t>Real-time</a:t>
            </a:r>
          </a:p>
        </p:txBody>
      </p:sp>
      <p:sp>
        <p:nvSpPr>
          <p:cNvPr id="21" name="Rectangle 20"/>
          <p:cNvSpPr/>
          <p:nvPr/>
        </p:nvSpPr>
        <p:spPr>
          <a:xfrm>
            <a:off x="6945232" y="2308860"/>
            <a:ext cx="4466478"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54960" y="2308860"/>
            <a:ext cx="4283598" cy="525780"/>
          </a:xfrm>
          <a:prstGeom prst="rect">
            <a:avLst/>
          </a:prstGeom>
          <a:noFill/>
        </p:spPr>
        <p:txBody>
          <a:bodyPr wrap="square" anchor="ctr">
            <a:spAutoFit/>
          </a:bodyPr>
          <a:lstStyle/>
          <a:p>
            <a:pPr algn="l">
              <a:spcAft>
                <a:spcPts val="400"/>
              </a:spcAft>
            </a:pPr>
            <a:r>
              <a:rPr sz="950" b="0">
                <a:solidFill>
                  <a:srgbClr val="161B26"/>
                </a:solidFill>
                <a:latin typeface="Arial"/>
              </a:rPr>
              <a:t>Camera → edge node; the standard IP-camera transport</a:t>
            </a:r>
          </a:p>
        </p:txBody>
      </p:sp>
      <p:sp>
        <p:nvSpPr>
          <p:cNvPr id="23" name="Rectangle 22"/>
          <p:cNvSpPr/>
          <p:nvPr/>
        </p:nvSpPr>
        <p:spPr>
          <a:xfrm>
            <a:off x="777240" y="2834640"/>
            <a:ext cx="1701515"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2834640"/>
            <a:ext cx="1518635" cy="525780"/>
          </a:xfrm>
          <a:prstGeom prst="rect">
            <a:avLst/>
          </a:prstGeom>
          <a:noFill/>
        </p:spPr>
        <p:txBody>
          <a:bodyPr wrap="square" anchor="ctr">
            <a:spAutoFit/>
          </a:bodyPr>
          <a:lstStyle/>
          <a:p>
            <a:pPr algn="l">
              <a:spcAft>
                <a:spcPts val="400"/>
              </a:spcAft>
            </a:pPr>
            <a:r>
              <a:rPr sz="950" b="1">
                <a:solidFill>
                  <a:srgbClr val="161B26"/>
                </a:solidFill>
                <a:latin typeface="Arial"/>
              </a:rPr>
              <a:t>WebRTC</a:t>
            </a:r>
          </a:p>
        </p:txBody>
      </p:sp>
      <p:sp>
        <p:nvSpPr>
          <p:cNvPr id="25" name="Rectangle 24"/>
          <p:cNvSpPr/>
          <p:nvPr/>
        </p:nvSpPr>
        <p:spPr>
          <a:xfrm>
            <a:off x="2478755" y="2834640"/>
            <a:ext cx="2552273"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88483" y="2834640"/>
            <a:ext cx="2369393" cy="525780"/>
          </a:xfrm>
          <a:prstGeom prst="rect">
            <a:avLst/>
          </a:prstGeom>
          <a:noFill/>
        </p:spPr>
        <p:txBody>
          <a:bodyPr wrap="square" anchor="ctr">
            <a:spAutoFit/>
          </a:bodyPr>
          <a:lstStyle/>
          <a:p>
            <a:pPr algn="l">
              <a:spcAft>
                <a:spcPts val="400"/>
              </a:spcAft>
            </a:pPr>
            <a:r>
              <a:rPr sz="950" b="0">
                <a:solidFill>
                  <a:srgbClr val="161B26"/>
                </a:solidFill>
                <a:latin typeface="Arial"/>
              </a:rPr>
              <a:t>Live video</a:t>
            </a:r>
          </a:p>
        </p:txBody>
      </p:sp>
      <p:sp>
        <p:nvSpPr>
          <p:cNvPr id="27" name="Rectangle 26"/>
          <p:cNvSpPr/>
          <p:nvPr/>
        </p:nvSpPr>
        <p:spPr>
          <a:xfrm>
            <a:off x="5031028" y="2834640"/>
            <a:ext cx="1914204"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40756" y="2834640"/>
            <a:ext cx="1731324" cy="525780"/>
          </a:xfrm>
          <a:prstGeom prst="rect">
            <a:avLst/>
          </a:prstGeom>
          <a:noFill/>
        </p:spPr>
        <p:txBody>
          <a:bodyPr wrap="square" anchor="ctr">
            <a:spAutoFit/>
          </a:bodyPr>
          <a:lstStyle/>
          <a:p>
            <a:pPr algn="l">
              <a:spcAft>
                <a:spcPts val="400"/>
              </a:spcAft>
            </a:pPr>
            <a:r>
              <a:rPr sz="950" b="0">
                <a:solidFill>
                  <a:srgbClr val="161B26"/>
                </a:solidFill>
                <a:latin typeface="Arial"/>
              </a:rPr>
              <a:t>Interactive, sub-second</a:t>
            </a:r>
          </a:p>
        </p:txBody>
      </p:sp>
      <p:sp>
        <p:nvSpPr>
          <p:cNvPr id="29" name="Rectangle 28"/>
          <p:cNvSpPr/>
          <p:nvPr/>
        </p:nvSpPr>
        <p:spPr>
          <a:xfrm>
            <a:off x="6945232" y="2834640"/>
            <a:ext cx="4466478"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54960" y="2834640"/>
            <a:ext cx="4283598" cy="525780"/>
          </a:xfrm>
          <a:prstGeom prst="rect">
            <a:avLst/>
          </a:prstGeom>
          <a:noFill/>
        </p:spPr>
        <p:txBody>
          <a:bodyPr wrap="square" anchor="ctr">
            <a:spAutoFit/>
          </a:bodyPr>
          <a:lstStyle/>
          <a:p>
            <a:pPr algn="l">
              <a:spcAft>
                <a:spcPts val="400"/>
              </a:spcAft>
            </a:pPr>
            <a:r>
              <a:rPr sz="950" b="0">
                <a:solidFill>
                  <a:srgbClr val="161B26"/>
                </a:solidFill>
                <a:latin typeface="Arial"/>
              </a:rPr>
              <a:t>Camera or edge → browser preview; NAT traversal built in</a:t>
            </a:r>
          </a:p>
        </p:txBody>
      </p:sp>
      <p:sp>
        <p:nvSpPr>
          <p:cNvPr id="31" name="Rectangle 30"/>
          <p:cNvSpPr/>
          <p:nvPr/>
        </p:nvSpPr>
        <p:spPr>
          <a:xfrm>
            <a:off x="777240" y="3360420"/>
            <a:ext cx="1701515"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360420"/>
            <a:ext cx="1518635" cy="525780"/>
          </a:xfrm>
          <a:prstGeom prst="rect">
            <a:avLst/>
          </a:prstGeom>
          <a:noFill/>
        </p:spPr>
        <p:txBody>
          <a:bodyPr wrap="square" anchor="ctr">
            <a:spAutoFit/>
          </a:bodyPr>
          <a:lstStyle/>
          <a:p>
            <a:pPr algn="l">
              <a:spcAft>
                <a:spcPts val="400"/>
              </a:spcAft>
            </a:pPr>
            <a:r>
              <a:rPr sz="950" b="1">
                <a:solidFill>
                  <a:srgbClr val="161B26"/>
                </a:solidFill>
                <a:latin typeface="Arial"/>
              </a:rPr>
              <a:t>MQTT</a:t>
            </a:r>
          </a:p>
        </p:txBody>
      </p:sp>
      <p:sp>
        <p:nvSpPr>
          <p:cNvPr id="33" name="Rectangle 32"/>
          <p:cNvSpPr/>
          <p:nvPr/>
        </p:nvSpPr>
        <p:spPr>
          <a:xfrm>
            <a:off x="2478755" y="3360420"/>
            <a:ext cx="2552273"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588483" y="3360420"/>
            <a:ext cx="2369393" cy="525780"/>
          </a:xfrm>
          <a:prstGeom prst="rect">
            <a:avLst/>
          </a:prstGeom>
          <a:noFill/>
        </p:spPr>
        <p:txBody>
          <a:bodyPr wrap="square" anchor="ctr">
            <a:spAutoFit/>
          </a:bodyPr>
          <a:lstStyle/>
          <a:p>
            <a:pPr algn="l">
              <a:spcAft>
                <a:spcPts val="400"/>
              </a:spcAft>
            </a:pPr>
            <a:r>
              <a:rPr sz="950" b="0">
                <a:solidFill>
                  <a:srgbClr val="161B26"/>
                </a:solidFill>
                <a:latin typeface="Arial"/>
              </a:rPr>
              <a:t>Small events and telemetry</a:t>
            </a:r>
          </a:p>
        </p:txBody>
      </p:sp>
      <p:sp>
        <p:nvSpPr>
          <p:cNvPr id="35" name="Rectangle 34"/>
          <p:cNvSpPr/>
          <p:nvPr/>
        </p:nvSpPr>
        <p:spPr>
          <a:xfrm>
            <a:off x="5031028" y="3360420"/>
            <a:ext cx="1914204"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40756" y="3360420"/>
            <a:ext cx="1731324" cy="525780"/>
          </a:xfrm>
          <a:prstGeom prst="rect">
            <a:avLst/>
          </a:prstGeom>
          <a:noFill/>
        </p:spPr>
        <p:txBody>
          <a:bodyPr wrap="square" anchor="ctr">
            <a:spAutoFit/>
          </a:bodyPr>
          <a:lstStyle/>
          <a:p>
            <a:pPr algn="l">
              <a:spcAft>
                <a:spcPts val="400"/>
              </a:spcAft>
            </a:pPr>
            <a:r>
              <a:rPr sz="950" b="0">
                <a:solidFill>
                  <a:srgbClr val="161B26"/>
                </a:solidFill>
                <a:latin typeface="Arial"/>
              </a:rPr>
              <a:t>Seconds</a:t>
            </a:r>
          </a:p>
        </p:txBody>
      </p:sp>
      <p:sp>
        <p:nvSpPr>
          <p:cNvPr id="37" name="Rectangle 36"/>
          <p:cNvSpPr/>
          <p:nvPr/>
        </p:nvSpPr>
        <p:spPr>
          <a:xfrm>
            <a:off x="6945232" y="3360420"/>
            <a:ext cx="4466478"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54960" y="3360420"/>
            <a:ext cx="4283598" cy="525780"/>
          </a:xfrm>
          <a:prstGeom prst="rect">
            <a:avLst/>
          </a:prstGeom>
          <a:noFill/>
        </p:spPr>
        <p:txBody>
          <a:bodyPr wrap="square" anchor="ctr">
            <a:spAutoFit/>
          </a:bodyPr>
          <a:lstStyle/>
          <a:p>
            <a:pPr algn="l">
              <a:spcAft>
                <a:spcPts val="400"/>
              </a:spcAft>
            </a:pPr>
            <a:r>
              <a:rPr sz="950" b="0">
                <a:solidFill>
                  <a:srgbClr val="161B26"/>
                </a:solidFill>
                <a:latin typeface="Arial"/>
              </a:rPr>
              <a:t>Edge → cloud; publish/subscribe, tiny header, survives a poor link</a:t>
            </a:r>
          </a:p>
        </p:txBody>
      </p:sp>
      <p:sp>
        <p:nvSpPr>
          <p:cNvPr id="39" name="Rectangle 38"/>
          <p:cNvSpPr/>
          <p:nvPr/>
        </p:nvSpPr>
        <p:spPr>
          <a:xfrm>
            <a:off x="777240" y="3886200"/>
            <a:ext cx="1701515"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3886200"/>
            <a:ext cx="1518635" cy="525780"/>
          </a:xfrm>
          <a:prstGeom prst="rect">
            <a:avLst/>
          </a:prstGeom>
          <a:noFill/>
        </p:spPr>
        <p:txBody>
          <a:bodyPr wrap="square" anchor="ctr">
            <a:spAutoFit/>
          </a:bodyPr>
          <a:lstStyle/>
          <a:p>
            <a:pPr algn="l">
              <a:spcAft>
                <a:spcPts val="400"/>
              </a:spcAft>
            </a:pPr>
            <a:r>
              <a:rPr sz="950" b="1">
                <a:solidFill>
                  <a:srgbClr val="161B26"/>
                </a:solidFill>
                <a:latin typeface="Arial"/>
              </a:rPr>
              <a:t>CoAP</a:t>
            </a:r>
          </a:p>
        </p:txBody>
      </p:sp>
      <p:sp>
        <p:nvSpPr>
          <p:cNvPr id="41" name="Rectangle 40"/>
          <p:cNvSpPr/>
          <p:nvPr/>
        </p:nvSpPr>
        <p:spPr>
          <a:xfrm>
            <a:off x="2478755" y="3886200"/>
            <a:ext cx="2552273"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88483" y="3886200"/>
            <a:ext cx="2369393" cy="525780"/>
          </a:xfrm>
          <a:prstGeom prst="rect">
            <a:avLst/>
          </a:prstGeom>
          <a:noFill/>
        </p:spPr>
        <p:txBody>
          <a:bodyPr wrap="square" anchor="ctr">
            <a:spAutoFit/>
          </a:bodyPr>
          <a:lstStyle/>
          <a:p>
            <a:pPr algn="l">
              <a:spcAft>
                <a:spcPts val="400"/>
              </a:spcAft>
            </a:pPr>
            <a:r>
              <a:rPr sz="950" b="0">
                <a:solidFill>
                  <a:srgbClr val="161B26"/>
                </a:solidFill>
                <a:latin typeface="Arial"/>
              </a:rPr>
              <a:t>Tiny events</a:t>
            </a:r>
          </a:p>
        </p:txBody>
      </p:sp>
      <p:sp>
        <p:nvSpPr>
          <p:cNvPr id="43" name="Rectangle 42"/>
          <p:cNvSpPr/>
          <p:nvPr/>
        </p:nvSpPr>
        <p:spPr>
          <a:xfrm>
            <a:off x="5031028" y="3886200"/>
            <a:ext cx="1914204"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140756" y="3886200"/>
            <a:ext cx="1731324" cy="525780"/>
          </a:xfrm>
          <a:prstGeom prst="rect">
            <a:avLst/>
          </a:prstGeom>
          <a:noFill/>
        </p:spPr>
        <p:txBody>
          <a:bodyPr wrap="square" anchor="ctr">
            <a:spAutoFit/>
          </a:bodyPr>
          <a:lstStyle/>
          <a:p>
            <a:pPr algn="l">
              <a:spcAft>
                <a:spcPts val="400"/>
              </a:spcAft>
            </a:pPr>
            <a:r>
              <a:rPr sz="950" b="0">
                <a:solidFill>
                  <a:srgbClr val="161B26"/>
                </a:solidFill>
                <a:latin typeface="Arial"/>
              </a:rPr>
              <a:t>Seconds</a:t>
            </a:r>
          </a:p>
        </p:txBody>
      </p:sp>
      <p:sp>
        <p:nvSpPr>
          <p:cNvPr id="45" name="Rectangle 44"/>
          <p:cNvSpPr/>
          <p:nvPr/>
        </p:nvSpPr>
        <p:spPr>
          <a:xfrm>
            <a:off x="6945232" y="3886200"/>
            <a:ext cx="4466478"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054960" y="3886200"/>
            <a:ext cx="4283598" cy="525780"/>
          </a:xfrm>
          <a:prstGeom prst="rect">
            <a:avLst/>
          </a:prstGeom>
          <a:noFill/>
        </p:spPr>
        <p:txBody>
          <a:bodyPr wrap="square" anchor="ctr">
            <a:spAutoFit/>
          </a:bodyPr>
          <a:lstStyle/>
          <a:p>
            <a:pPr algn="l">
              <a:spcAft>
                <a:spcPts val="400"/>
              </a:spcAft>
            </a:pPr>
            <a:r>
              <a:rPr sz="950" b="0">
                <a:solidFill>
                  <a:srgbClr val="161B26"/>
                </a:solidFill>
                <a:latin typeface="Arial"/>
              </a:rPr>
              <a:t>Constrained low-power sensor → edge node; UDP-based</a:t>
            </a:r>
          </a:p>
        </p:txBody>
      </p:sp>
      <p:sp>
        <p:nvSpPr>
          <p:cNvPr id="47" name="Rectangle 46"/>
          <p:cNvSpPr/>
          <p:nvPr/>
        </p:nvSpPr>
        <p:spPr>
          <a:xfrm>
            <a:off x="777240" y="4411980"/>
            <a:ext cx="1701515"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6968" y="4411980"/>
            <a:ext cx="1518635" cy="525780"/>
          </a:xfrm>
          <a:prstGeom prst="rect">
            <a:avLst/>
          </a:prstGeom>
          <a:noFill/>
        </p:spPr>
        <p:txBody>
          <a:bodyPr wrap="square" anchor="ctr">
            <a:spAutoFit/>
          </a:bodyPr>
          <a:lstStyle/>
          <a:p>
            <a:pPr algn="l">
              <a:spcAft>
                <a:spcPts val="400"/>
              </a:spcAft>
            </a:pPr>
            <a:r>
              <a:rPr sz="950" b="1">
                <a:solidFill>
                  <a:srgbClr val="161B26"/>
                </a:solidFill>
                <a:latin typeface="Arial"/>
              </a:rPr>
              <a:t>HTTPS / REST</a:t>
            </a:r>
          </a:p>
        </p:txBody>
      </p:sp>
      <p:sp>
        <p:nvSpPr>
          <p:cNvPr id="49" name="Rectangle 48"/>
          <p:cNvSpPr/>
          <p:nvPr/>
        </p:nvSpPr>
        <p:spPr>
          <a:xfrm>
            <a:off x="2478755" y="4411980"/>
            <a:ext cx="2552273"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588483" y="4411980"/>
            <a:ext cx="2369393" cy="525780"/>
          </a:xfrm>
          <a:prstGeom prst="rect">
            <a:avLst/>
          </a:prstGeom>
          <a:noFill/>
        </p:spPr>
        <p:txBody>
          <a:bodyPr wrap="square" anchor="ctr">
            <a:spAutoFit/>
          </a:bodyPr>
          <a:lstStyle/>
          <a:p>
            <a:pPr algn="l">
              <a:spcAft>
                <a:spcPts val="400"/>
              </a:spcAft>
            </a:pPr>
            <a:r>
              <a:rPr sz="950" b="0">
                <a:solidFill>
                  <a:srgbClr val="161B26"/>
                </a:solidFill>
                <a:latin typeface="Arial"/>
              </a:rPr>
              <a:t>Request and reply</a:t>
            </a:r>
          </a:p>
        </p:txBody>
      </p:sp>
      <p:sp>
        <p:nvSpPr>
          <p:cNvPr id="51" name="Rectangle 50"/>
          <p:cNvSpPr/>
          <p:nvPr/>
        </p:nvSpPr>
        <p:spPr>
          <a:xfrm>
            <a:off x="5031028" y="4411980"/>
            <a:ext cx="1914204"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40756" y="4411980"/>
            <a:ext cx="1731324" cy="525780"/>
          </a:xfrm>
          <a:prstGeom prst="rect">
            <a:avLst/>
          </a:prstGeom>
          <a:noFill/>
        </p:spPr>
        <p:txBody>
          <a:bodyPr wrap="square" anchor="ctr">
            <a:spAutoFit/>
          </a:bodyPr>
          <a:lstStyle/>
          <a:p>
            <a:pPr algn="l">
              <a:spcAft>
                <a:spcPts val="400"/>
              </a:spcAft>
            </a:pPr>
            <a:r>
              <a:rPr sz="950" b="0">
                <a:solidFill>
                  <a:srgbClr val="161B26"/>
                </a:solidFill>
                <a:latin typeface="Arial"/>
              </a:rPr>
              <a:t>Seconds</a:t>
            </a:r>
          </a:p>
        </p:txBody>
      </p:sp>
      <p:sp>
        <p:nvSpPr>
          <p:cNvPr id="53" name="Rectangle 52"/>
          <p:cNvSpPr/>
          <p:nvPr/>
        </p:nvSpPr>
        <p:spPr>
          <a:xfrm>
            <a:off x="6945232" y="4411980"/>
            <a:ext cx="4466478"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054960" y="4411980"/>
            <a:ext cx="4283598" cy="525780"/>
          </a:xfrm>
          <a:prstGeom prst="rect">
            <a:avLst/>
          </a:prstGeom>
          <a:noFill/>
        </p:spPr>
        <p:txBody>
          <a:bodyPr wrap="square" anchor="ctr">
            <a:spAutoFit/>
          </a:bodyPr>
          <a:lstStyle/>
          <a:p>
            <a:pPr algn="l">
              <a:spcAft>
                <a:spcPts val="400"/>
              </a:spcAft>
            </a:pPr>
            <a:r>
              <a:rPr sz="950" b="0">
                <a:solidFill>
                  <a:srgbClr val="161B26"/>
                </a:solidFill>
                <a:latin typeface="Arial"/>
              </a:rPr>
              <a:t>Application → model endpoint; simple, cacheable, universal</a:t>
            </a:r>
          </a:p>
        </p:txBody>
      </p:sp>
      <p:sp>
        <p:nvSpPr>
          <p:cNvPr id="55" name="Rectangle 54"/>
          <p:cNvSpPr/>
          <p:nvPr/>
        </p:nvSpPr>
        <p:spPr>
          <a:xfrm>
            <a:off x="777240" y="4937760"/>
            <a:ext cx="1701515"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 y="4937760"/>
            <a:ext cx="1518635" cy="525780"/>
          </a:xfrm>
          <a:prstGeom prst="rect">
            <a:avLst/>
          </a:prstGeom>
          <a:noFill/>
        </p:spPr>
        <p:txBody>
          <a:bodyPr wrap="square" anchor="ctr">
            <a:spAutoFit/>
          </a:bodyPr>
          <a:lstStyle/>
          <a:p>
            <a:pPr algn="l">
              <a:spcAft>
                <a:spcPts val="400"/>
              </a:spcAft>
            </a:pPr>
            <a:r>
              <a:rPr sz="950" b="1">
                <a:solidFill>
                  <a:srgbClr val="161B26"/>
                </a:solidFill>
                <a:latin typeface="Arial"/>
              </a:rPr>
              <a:t>gRPC</a:t>
            </a:r>
          </a:p>
        </p:txBody>
      </p:sp>
      <p:sp>
        <p:nvSpPr>
          <p:cNvPr id="57" name="Rectangle 56"/>
          <p:cNvSpPr/>
          <p:nvPr/>
        </p:nvSpPr>
        <p:spPr>
          <a:xfrm>
            <a:off x="2478755" y="4937760"/>
            <a:ext cx="2552273"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588483" y="4937760"/>
            <a:ext cx="2369393" cy="525780"/>
          </a:xfrm>
          <a:prstGeom prst="rect">
            <a:avLst/>
          </a:prstGeom>
          <a:noFill/>
        </p:spPr>
        <p:txBody>
          <a:bodyPr wrap="square" anchor="ctr">
            <a:spAutoFit/>
          </a:bodyPr>
          <a:lstStyle/>
          <a:p>
            <a:pPr algn="l">
              <a:spcAft>
                <a:spcPts val="400"/>
              </a:spcAft>
            </a:pPr>
            <a:r>
              <a:rPr sz="950" b="0">
                <a:solidFill>
                  <a:srgbClr val="161B26"/>
                </a:solidFill>
                <a:latin typeface="Arial"/>
              </a:rPr>
              <a:t>Request/reply and streaming</a:t>
            </a:r>
          </a:p>
        </p:txBody>
      </p:sp>
      <p:sp>
        <p:nvSpPr>
          <p:cNvPr id="59" name="Rectangle 58"/>
          <p:cNvSpPr/>
          <p:nvPr/>
        </p:nvSpPr>
        <p:spPr>
          <a:xfrm>
            <a:off x="5031028" y="4937760"/>
            <a:ext cx="1914204"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140756" y="4937760"/>
            <a:ext cx="1731324" cy="525780"/>
          </a:xfrm>
          <a:prstGeom prst="rect">
            <a:avLst/>
          </a:prstGeom>
          <a:noFill/>
        </p:spPr>
        <p:txBody>
          <a:bodyPr wrap="square" anchor="ctr">
            <a:spAutoFit/>
          </a:bodyPr>
          <a:lstStyle/>
          <a:p>
            <a:pPr algn="l">
              <a:spcAft>
                <a:spcPts val="400"/>
              </a:spcAft>
            </a:pPr>
            <a:r>
              <a:rPr sz="950" b="0">
                <a:solidFill>
                  <a:srgbClr val="161B26"/>
                </a:solidFill>
                <a:latin typeface="Arial"/>
              </a:rPr>
              <a:t>Sub-second</a:t>
            </a:r>
          </a:p>
        </p:txBody>
      </p:sp>
      <p:sp>
        <p:nvSpPr>
          <p:cNvPr id="61" name="Rectangle 60"/>
          <p:cNvSpPr/>
          <p:nvPr/>
        </p:nvSpPr>
        <p:spPr>
          <a:xfrm>
            <a:off x="6945232" y="4937760"/>
            <a:ext cx="4466478"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054960" y="4937760"/>
            <a:ext cx="4283598" cy="525780"/>
          </a:xfrm>
          <a:prstGeom prst="rect">
            <a:avLst/>
          </a:prstGeom>
          <a:noFill/>
        </p:spPr>
        <p:txBody>
          <a:bodyPr wrap="square" anchor="ctr">
            <a:spAutoFit/>
          </a:bodyPr>
          <a:lstStyle/>
          <a:p>
            <a:pPr algn="l">
              <a:spcAft>
                <a:spcPts val="400"/>
              </a:spcAft>
            </a:pPr>
            <a:r>
              <a:rPr sz="950" b="0">
                <a:solidFill>
                  <a:srgbClr val="161B26"/>
                </a:solidFill>
                <a:latin typeface="Arial"/>
              </a:rPr>
              <a:t>Service → service; binary, typed contracts</a:t>
            </a:r>
          </a:p>
        </p:txBody>
      </p:sp>
      <p:sp>
        <p:nvSpPr>
          <p:cNvPr id="63" name="Rectangle 62"/>
          <p:cNvSpPr/>
          <p:nvPr/>
        </p:nvSpPr>
        <p:spPr>
          <a:xfrm>
            <a:off x="777240" y="5463540"/>
            <a:ext cx="1701515"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86968" y="5463540"/>
            <a:ext cx="1518635" cy="525780"/>
          </a:xfrm>
          <a:prstGeom prst="rect">
            <a:avLst/>
          </a:prstGeom>
          <a:noFill/>
        </p:spPr>
        <p:txBody>
          <a:bodyPr wrap="square" anchor="ctr">
            <a:spAutoFit/>
          </a:bodyPr>
          <a:lstStyle/>
          <a:p>
            <a:pPr algn="l">
              <a:spcAft>
                <a:spcPts val="400"/>
              </a:spcAft>
            </a:pPr>
            <a:r>
              <a:rPr sz="950" b="1">
                <a:solidFill>
                  <a:srgbClr val="161B26"/>
                </a:solidFill>
                <a:latin typeface="Arial"/>
              </a:rPr>
              <a:t>HTTPS object storage</a:t>
            </a:r>
          </a:p>
        </p:txBody>
      </p:sp>
      <p:sp>
        <p:nvSpPr>
          <p:cNvPr id="65" name="Rectangle 64"/>
          <p:cNvSpPr/>
          <p:nvPr/>
        </p:nvSpPr>
        <p:spPr>
          <a:xfrm>
            <a:off x="2478755" y="5463540"/>
            <a:ext cx="2552273"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588483" y="5463540"/>
            <a:ext cx="2369393" cy="525780"/>
          </a:xfrm>
          <a:prstGeom prst="rect">
            <a:avLst/>
          </a:prstGeom>
          <a:noFill/>
        </p:spPr>
        <p:txBody>
          <a:bodyPr wrap="square" anchor="ctr">
            <a:spAutoFit/>
          </a:bodyPr>
          <a:lstStyle/>
          <a:p>
            <a:pPr algn="l">
              <a:spcAft>
                <a:spcPts val="400"/>
              </a:spcAft>
            </a:pPr>
            <a:r>
              <a:rPr sz="950" b="0">
                <a:solidFill>
                  <a:srgbClr val="161B26"/>
                </a:solidFill>
                <a:latin typeface="Arial"/>
              </a:rPr>
              <a:t>Large blobs</a:t>
            </a:r>
          </a:p>
        </p:txBody>
      </p:sp>
      <p:sp>
        <p:nvSpPr>
          <p:cNvPr id="67" name="Rectangle 66"/>
          <p:cNvSpPr/>
          <p:nvPr/>
        </p:nvSpPr>
        <p:spPr>
          <a:xfrm>
            <a:off x="5031028" y="5463540"/>
            <a:ext cx="1914204"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140756" y="5463540"/>
            <a:ext cx="1731324" cy="525780"/>
          </a:xfrm>
          <a:prstGeom prst="rect">
            <a:avLst/>
          </a:prstGeom>
          <a:noFill/>
        </p:spPr>
        <p:txBody>
          <a:bodyPr wrap="square" anchor="ctr">
            <a:spAutoFit/>
          </a:bodyPr>
          <a:lstStyle/>
          <a:p>
            <a:pPr algn="l">
              <a:spcAft>
                <a:spcPts val="400"/>
              </a:spcAft>
            </a:pPr>
            <a:r>
              <a:rPr sz="950" b="0">
                <a:solidFill>
                  <a:srgbClr val="161B26"/>
                </a:solidFill>
                <a:latin typeface="Arial"/>
              </a:rPr>
              <a:t>Batch</a:t>
            </a:r>
          </a:p>
        </p:txBody>
      </p:sp>
      <p:sp>
        <p:nvSpPr>
          <p:cNvPr id="69" name="Rectangle 68"/>
          <p:cNvSpPr/>
          <p:nvPr/>
        </p:nvSpPr>
        <p:spPr>
          <a:xfrm>
            <a:off x="6945232" y="5463540"/>
            <a:ext cx="4466478"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054960" y="5463540"/>
            <a:ext cx="4283598" cy="525780"/>
          </a:xfrm>
          <a:prstGeom prst="rect">
            <a:avLst/>
          </a:prstGeom>
          <a:noFill/>
        </p:spPr>
        <p:txBody>
          <a:bodyPr wrap="square" anchor="ctr">
            <a:spAutoFit/>
          </a:bodyPr>
          <a:lstStyle/>
          <a:p>
            <a:pPr algn="l">
              <a:spcAft>
                <a:spcPts val="400"/>
              </a:spcAft>
            </a:pPr>
            <a:r>
              <a:rPr sz="950" b="0">
                <a:solidFill>
                  <a:srgbClr val="161B26"/>
                </a:solidFill>
                <a:latin typeface="Arial"/>
              </a:rPr>
              <a:t>Rendered assets → storage; resumable upload</a:t>
            </a:r>
          </a:p>
        </p:txBody>
      </p:sp>
      <p:sp>
        <p:nvSpPr>
          <p:cNvPr id="71" name="TextBox 70"/>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Every choice must state a payload class AND a latency class. A protocol chosen without reference to payload size is a preference, not a decision. MQTT and CoAP are named in the source as the lightweight sensor-to-edge transports.</a:t>
            </a:r>
          </a:p>
        </p:txBody>
      </p:sp>
      <p:sp>
        <p:nvSpPr>
          <p:cNvPr id="72" name="TextBox 7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73" name="TextBox 7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74" name="TextBox 7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transition spd="fast">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7C3AED"/>
                </a:solidFill>
                <a:latin typeface="Arial"/>
              </a:rPr>
              <a:t>A8 · DESIGN, DEVELOP AND EVALUATE EDGE-BASED AND CLOUD-BASED SYSTEMS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Four Candidate Split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2452878" cy="2606040"/>
          </a:xfrm>
          <a:prstGeom prst="round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52878" cy="3840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48840"/>
            <a:ext cx="2452878" cy="384048"/>
          </a:xfrm>
          <a:prstGeom prst="rect">
            <a:avLst/>
          </a:prstGeom>
          <a:noFill/>
        </p:spPr>
        <p:txBody>
          <a:bodyPr wrap="square" anchor="ctr">
            <a:spAutoFit/>
          </a:bodyPr>
          <a:lstStyle/>
          <a:p>
            <a:pPr algn="ctr">
              <a:spcAft>
                <a:spcPts val="400"/>
              </a:spcAft>
            </a:pPr>
            <a:r>
              <a:rPr sz="1250" b="1">
                <a:solidFill>
                  <a:srgbClr val="FFFFFF"/>
                </a:solidFill>
                <a:latin typeface="Arial"/>
              </a:rPr>
              <a:t>A — RAW FRAMES</a:t>
            </a:r>
          </a:p>
        </p:txBody>
      </p:sp>
      <p:sp>
        <p:nvSpPr>
          <p:cNvPr id="10" name="TextBox 9"/>
          <p:cNvSpPr txBox="1"/>
          <p:nvPr/>
        </p:nvSpPr>
        <p:spPr>
          <a:xfrm>
            <a:off x="923544" y="2651760"/>
            <a:ext cx="2160270" cy="1965960"/>
          </a:xfrm>
          <a:prstGeom prst="rect">
            <a:avLst/>
          </a:prstGeom>
          <a:noFill/>
        </p:spPr>
        <p:txBody>
          <a:bodyPr wrap="square" anchor="t">
            <a:spAutoFit/>
          </a:bodyPr>
          <a:lstStyle/>
          <a:p>
            <a:pPr algn="l">
              <a:spcAft>
                <a:spcPts val="400"/>
              </a:spcAft>
            </a:pPr>
            <a:r>
              <a:rPr sz="1150" b="0">
                <a:solidFill>
                  <a:srgbClr val="161B26"/>
                </a:solidFill>
                <a:latin typeface="Arial"/>
              </a:rPr>
              <a:t>Cut above decode. The edge does nothing but capture. Payload = W × H × 3 × fps bytes per second, per camera.</a:t>
            </a:r>
          </a:p>
        </p:txBody>
      </p:sp>
      <p:cxnSp>
        <p:nvCxnSpPr>
          <p:cNvPr id="11" name="Connector 10"/>
          <p:cNvCxnSpPr/>
          <p:nvPr/>
        </p:nvCxnSpPr>
        <p:spPr>
          <a:xfrm>
            <a:off x="3230118" y="3451860"/>
            <a:ext cx="274320" cy="0"/>
          </a:xfrm>
          <a:prstGeom prst="line">
            <a:avLst/>
          </a:prstGeom>
          <a:ln w="2222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504438" y="2148840"/>
            <a:ext cx="2452878" cy="2606040"/>
          </a:xfrm>
          <a:prstGeom prst="roundRect">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04438" y="2148840"/>
            <a:ext cx="2452878"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4438" y="2148840"/>
            <a:ext cx="2452878" cy="384048"/>
          </a:xfrm>
          <a:prstGeom prst="rect">
            <a:avLst/>
          </a:prstGeom>
          <a:noFill/>
        </p:spPr>
        <p:txBody>
          <a:bodyPr wrap="square" anchor="ctr">
            <a:spAutoFit/>
          </a:bodyPr>
          <a:lstStyle/>
          <a:p>
            <a:pPr algn="ctr">
              <a:spcAft>
                <a:spcPts val="400"/>
              </a:spcAft>
            </a:pPr>
            <a:r>
              <a:rPr sz="1250" b="1">
                <a:solidFill>
                  <a:srgbClr val="FFFFFF"/>
                </a:solidFill>
                <a:latin typeface="Arial"/>
              </a:rPr>
              <a:t>B — ENCODED VIDEO</a:t>
            </a:r>
          </a:p>
        </p:txBody>
      </p:sp>
      <p:sp>
        <p:nvSpPr>
          <p:cNvPr id="15" name="TextBox 14"/>
          <p:cNvSpPr txBox="1"/>
          <p:nvPr/>
        </p:nvSpPr>
        <p:spPr>
          <a:xfrm>
            <a:off x="3650742" y="2651760"/>
            <a:ext cx="2160270" cy="1965960"/>
          </a:xfrm>
          <a:prstGeom prst="rect">
            <a:avLst/>
          </a:prstGeom>
          <a:noFill/>
        </p:spPr>
        <p:txBody>
          <a:bodyPr wrap="square" anchor="t">
            <a:spAutoFit/>
          </a:bodyPr>
          <a:lstStyle/>
          <a:p>
            <a:pPr algn="l">
              <a:spcAft>
                <a:spcPts val="400"/>
              </a:spcAft>
            </a:pPr>
            <a:r>
              <a:rPr sz="1150" b="0">
                <a:solidFill>
                  <a:srgbClr val="161B26"/>
                </a:solidFill>
                <a:latin typeface="Arial"/>
              </a:rPr>
              <a:t>Cut above analysis. The edge captures and encodes. Payload = the encoded bit-rate.</a:t>
            </a:r>
          </a:p>
        </p:txBody>
      </p:sp>
      <p:cxnSp>
        <p:nvCxnSpPr>
          <p:cNvPr id="16" name="Connector 15"/>
          <p:cNvCxnSpPr/>
          <p:nvPr/>
        </p:nvCxnSpPr>
        <p:spPr>
          <a:xfrm>
            <a:off x="5957316" y="3451860"/>
            <a:ext cx="274320" cy="0"/>
          </a:xfrm>
          <a:prstGeom prst="line">
            <a:avLst/>
          </a:prstGeom>
          <a:ln w="2222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31636" y="2148840"/>
            <a:ext cx="2452878" cy="2606040"/>
          </a:xfrm>
          <a:prstGeom prst="roundRect">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31636" y="2148840"/>
            <a:ext cx="2452878"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1636" y="2148840"/>
            <a:ext cx="2452878" cy="384048"/>
          </a:xfrm>
          <a:prstGeom prst="rect">
            <a:avLst/>
          </a:prstGeom>
          <a:noFill/>
        </p:spPr>
        <p:txBody>
          <a:bodyPr wrap="square" anchor="ctr">
            <a:spAutoFit/>
          </a:bodyPr>
          <a:lstStyle/>
          <a:p>
            <a:pPr algn="ctr">
              <a:spcAft>
                <a:spcPts val="400"/>
              </a:spcAft>
            </a:pPr>
            <a:r>
              <a:rPr sz="1250" b="1">
                <a:solidFill>
                  <a:srgbClr val="FFFFFF"/>
                </a:solidFill>
                <a:latin typeface="Arial"/>
              </a:rPr>
              <a:t>C — FEATURE VECTORS</a:t>
            </a:r>
          </a:p>
        </p:txBody>
      </p:sp>
      <p:sp>
        <p:nvSpPr>
          <p:cNvPr id="20" name="TextBox 19"/>
          <p:cNvSpPr txBox="1"/>
          <p:nvPr/>
        </p:nvSpPr>
        <p:spPr>
          <a:xfrm>
            <a:off x="6377940" y="2651760"/>
            <a:ext cx="2160270" cy="1965960"/>
          </a:xfrm>
          <a:prstGeom prst="rect">
            <a:avLst/>
          </a:prstGeom>
          <a:noFill/>
        </p:spPr>
        <p:txBody>
          <a:bodyPr wrap="square" anchor="t">
            <a:spAutoFit/>
          </a:bodyPr>
          <a:lstStyle/>
          <a:p>
            <a:pPr algn="l">
              <a:spcAft>
                <a:spcPts val="400"/>
              </a:spcAft>
            </a:pPr>
            <a:r>
              <a:rPr sz="1150" b="0">
                <a:solidFill>
                  <a:srgbClr val="161B26"/>
                </a:solidFill>
                <a:latin typeface="Arial"/>
              </a:rPr>
              <a:t>Cut above detection. The edge decodes, pre-processes and extracts features. Payload = keypoints × descriptor bytes × fps.</a:t>
            </a:r>
          </a:p>
        </p:txBody>
      </p:sp>
      <p:cxnSp>
        <p:nvCxnSpPr>
          <p:cNvPr id="21" name="Connector 20"/>
          <p:cNvCxnSpPr/>
          <p:nvPr/>
        </p:nvCxnSpPr>
        <p:spPr>
          <a:xfrm>
            <a:off x="8684514" y="3451860"/>
            <a:ext cx="274320" cy="0"/>
          </a:xfrm>
          <a:prstGeom prst="line">
            <a:avLst/>
          </a:prstGeom>
          <a:ln w="2222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958834" y="2148840"/>
            <a:ext cx="2452878" cy="2606040"/>
          </a:xfrm>
          <a:prstGeom prst="roundRect">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58834" y="2148840"/>
            <a:ext cx="2452878"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58834" y="2148840"/>
            <a:ext cx="2452878" cy="384048"/>
          </a:xfrm>
          <a:prstGeom prst="rect">
            <a:avLst/>
          </a:prstGeom>
          <a:noFill/>
        </p:spPr>
        <p:txBody>
          <a:bodyPr wrap="square" anchor="ctr">
            <a:spAutoFit/>
          </a:bodyPr>
          <a:lstStyle/>
          <a:p>
            <a:pPr algn="ctr">
              <a:spcAft>
                <a:spcPts val="400"/>
              </a:spcAft>
            </a:pPr>
            <a:r>
              <a:rPr sz="1250" b="1">
                <a:solidFill>
                  <a:srgbClr val="FFFFFF"/>
                </a:solidFill>
                <a:latin typeface="Arial"/>
              </a:rPr>
              <a:t>D — EVENTS ONLY</a:t>
            </a:r>
          </a:p>
        </p:txBody>
      </p:sp>
      <p:sp>
        <p:nvSpPr>
          <p:cNvPr id="25" name="TextBox 24"/>
          <p:cNvSpPr txBox="1"/>
          <p:nvPr/>
        </p:nvSpPr>
        <p:spPr>
          <a:xfrm>
            <a:off x="9105138" y="2651760"/>
            <a:ext cx="2160270" cy="1965960"/>
          </a:xfrm>
          <a:prstGeom prst="rect">
            <a:avLst/>
          </a:prstGeom>
          <a:noFill/>
        </p:spPr>
        <p:txBody>
          <a:bodyPr wrap="square" anchor="t">
            <a:spAutoFit/>
          </a:bodyPr>
          <a:lstStyle/>
          <a:p>
            <a:pPr algn="l">
              <a:spcAft>
                <a:spcPts val="400"/>
              </a:spcAft>
            </a:pPr>
            <a:r>
              <a:rPr sz="1150" b="0">
                <a:solidFill>
                  <a:srgbClr val="161B26"/>
                </a:solidFill>
                <a:latin typeface="Arial"/>
              </a:rPr>
              <a:t>Cut above the application layer. The edge runs the whole analytic pipeline. Payload = a few hundred bytes when something happens.</a:t>
            </a:r>
          </a:p>
        </p:txBody>
      </p:sp>
      <p:sp>
        <p:nvSpPr>
          <p:cNvPr id="26" name="Rectangle 25"/>
          <p:cNvSpPr/>
          <p:nvPr/>
        </p:nvSpPr>
        <p:spPr>
          <a:xfrm>
            <a:off x="777240" y="5120640"/>
            <a:ext cx="10634472"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5120640"/>
            <a:ext cx="10241280" cy="914400"/>
          </a:xfrm>
          <a:prstGeom prst="rect">
            <a:avLst/>
          </a:prstGeom>
          <a:noFill/>
        </p:spPr>
        <p:txBody>
          <a:bodyPr wrap="square" anchor="ctr">
            <a:spAutoFit/>
          </a:bodyPr>
          <a:lstStyle/>
          <a:p>
            <a:pPr algn="l">
              <a:spcAft>
                <a:spcPts val="400"/>
              </a:spcAft>
            </a:pPr>
            <a:r>
              <a:rPr sz="1150" b="1">
                <a:solidFill>
                  <a:srgbClr val="127A3E"/>
                </a:solidFill>
                <a:latin typeface="Arial"/>
              </a:rPr>
              <a:t>SO WHAT   </a:t>
            </a:r>
            <a:r>
              <a:rPr sz="1300" b="0">
                <a:solidFill>
                  <a:srgbClr val="161B26"/>
                </a:solidFill>
                <a:latin typeface="Arial"/>
              </a:rPr>
              <a:t>The further right you cut, the less crosses the link and the more the edge device has to do. Split A is included precisely so it can be shown to be arithmetically impossible.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transition spd="fast">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K13, A8 · LAB 12 · 41 STORES, 20 Mbit/s PER STORE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Modelled — Bandwidth per Store at Each Split Point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Split A is impossible</a:t>
            </a:r>
          </a:p>
          <a:p>
            <a:pPr algn="l">
              <a:spcAft>
                <a:spcPts val="200"/>
              </a:spcAft>
            </a:pPr>
            <a:r>
              <a:rPr sz="1100" b="0">
                <a:solidFill>
                  <a:srgbClr val="161B26"/>
                </a:solidFill>
                <a:latin typeface="Arial"/>
              </a:rPr>
              <a:t>553 Mbit/s against a 20 Mbit/s uplink — 27x over, per camera. It is eliminated by arithmetic, not by opinion.</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B and C are comparable</a:t>
            </a:r>
          </a:p>
          <a:p>
            <a:pPr algn="l">
              <a:spcAft>
                <a:spcPts val="200"/>
              </a:spcAft>
            </a:pPr>
            <a:r>
              <a:rPr sz="1100" b="0">
                <a:solidFill>
                  <a:srgbClr val="161B26"/>
                </a:solidFill>
                <a:latin typeface="Arial"/>
              </a:rPr>
              <a:t>2.5 and 3.2 Mbit/s. Feature vectors are not automatically cheaper than encoded video.</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D has much lower payload</a:t>
            </a:r>
          </a:p>
          <a:p>
            <a:pPr algn="l">
              <a:spcAft>
                <a:spcPts val="200"/>
              </a:spcAft>
            </a:pPr>
            <a:r>
              <a:rPr sz="1100" b="0">
                <a:solidFill>
                  <a:srgbClr val="161B26"/>
                </a:solidFill>
                <a:latin typeface="Arial"/>
              </a:rPr>
              <a:t>0.00032 Mbit/s. Sending events instead of encoded video is about 7,813x lower under these assumptions.</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Then apply the privacy gate</a:t>
            </a:r>
          </a:p>
          <a:p>
            <a:pPr algn="l">
              <a:spcAft>
                <a:spcPts val="200"/>
              </a:spcAft>
            </a:pPr>
            <a:r>
              <a:rPr sz="1100" b="0">
                <a:solidFill>
                  <a:srgbClr val="161B26"/>
                </a:solidFill>
                <a:latin typeface="Arial"/>
              </a:rPr>
              <a:t>The camera feed is classified 'personal', which eliminates A, B and C before cost is even discussed.</a:t>
            </a:r>
          </a:p>
        </p:txBody>
      </p:sp>
      <p:sp>
        <p:nvSpPr>
          <p:cNvPr id="20" name="Rectangle 19"/>
          <p:cNvSpPr/>
          <p:nvPr/>
        </p:nvSpPr>
        <p:spPr>
          <a:xfrm>
            <a:off x="777240" y="5925312"/>
            <a:ext cx="1417320"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MODELLED</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Computed in Lab 12 from the measured clip geometry (1280 × 720 × 3 × 25) and the classroom constraint file. The uplink figure is the stated site constraint. Geometry is measured; encoded rate, feature count and event rate are assumptions. Check bits versus bytes yourself.</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transition spd="fast">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500" b="1">
                <a:solidFill>
                  <a:srgbClr val="DC2626"/>
                </a:solidFill>
                <a:latin typeface="Arial"/>
              </a:rPr>
              <a:t>K13, A8 · THE ORDER OF OPERATIONS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400" b="1">
                <a:solidFill>
                  <a:srgbClr val="161B26"/>
                </a:solidFill>
                <a:latin typeface="Arial"/>
              </a:rPr>
              <a:t>Eliminate on constraint first. Optimise on cost among what survives.</a:t>
            </a:r>
          </a:p>
        </p:txBody>
      </p:sp>
      <p:sp>
        <p:nvSpPr>
          <p:cNvPr id="6" name="TextBox 5"/>
          <p:cNvSpPr txBox="1"/>
          <p:nvPr/>
        </p:nvSpPr>
        <p:spPr>
          <a:xfrm>
            <a:off x="1024128" y="4480560"/>
            <a:ext cx="10058400" cy="1280160"/>
          </a:xfrm>
          <a:prstGeom prst="rect">
            <a:avLst/>
          </a:prstGeom>
          <a:noFill/>
        </p:spPr>
        <p:txBody>
          <a:bodyPr wrap="square" anchor="t">
            <a:spAutoFit/>
          </a:bodyPr>
          <a:lstStyle/>
          <a:p>
            <a:pPr algn="l">
              <a:spcAft>
                <a:spcPts val="400"/>
              </a:spcAft>
            </a:pPr>
            <a:r>
              <a:rPr sz="1700" b="0">
                <a:solidFill>
                  <a:srgbClr val="5B6372"/>
                </a:solidFill>
                <a:latin typeface="Arial"/>
              </a:rPr>
              <a:t>A privacy classification is a gate. A stated uplink is a gate. Only after both have been applied does a latency or cost comparison mean anything — and in this case they leave exactly one candidate.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transition spd="fast">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A7, A8 · THE DELIVERABLE FROM LAB 12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Split Decision, Written Down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701515"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1518635" cy="841248"/>
          </a:xfrm>
          <a:prstGeom prst="rect">
            <a:avLst/>
          </a:prstGeom>
          <a:noFill/>
        </p:spPr>
        <p:txBody>
          <a:bodyPr wrap="square" anchor="ctr">
            <a:spAutoFit/>
          </a:bodyPr>
          <a:lstStyle/>
          <a:p>
            <a:pPr algn="l">
              <a:spcAft>
                <a:spcPts val="400"/>
              </a:spcAft>
            </a:pPr>
            <a:r>
              <a:rPr sz="1050" b="1">
                <a:solidFill>
                  <a:srgbClr val="FFFFFF"/>
                </a:solidFill>
                <a:latin typeface="Arial"/>
              </a:rPr>
              <a:t>Split</a:t>
            </a:r>
          </a:p>
        </p:txBody>
      </p:sp>
      <p:sp>
        <p:nvSpPr>
          <p:cNvPr id="9" name="Rectangle 8"/>
          <p:cNvSpPr/>
          <p:nvPr/>
        </p:nvSpPr>
        <p:spPr>
          <a:xfrm>
            <a:off x="2478755" y="1783080"/>
            <a:ext cx="1701515"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88483" y="1783080"/>
            <a:ext cx="1518635" cy="841248"/>
          </a:xfrm>
          <a:prstGeom prst="rect">
            <a:avLst/>
          </a:prstGeom>
          <a:noFill/>
        </p:spPr>
        <p:txBody>
          <a:bodyPr wrap="square" anchor="ctr">
            <a:spAutoFit/>
          </a:bodyPr>
          <a:lstStyle/>
          <a:p>
            <a:pPr algn="l">
              <a:spcAft>
                <a:spcPts val="400"/>
              </a:spcAft>
            </a:pPr>
            <a:r>
              <a:rPr sz="1050" b="1">
                <a:solidFill>
                  <a:srgbClr val="FFFFFF"/>
                </a:solidFill>
                <a:latin typeface="Arial"/>
              </a:rPr>
              <a:t>Mbit/s per store</a:t>
            </a:r>
          </a:p>
        </p:txBody>
      </p:sp>
      <p:sp>
        <p:nvSpPr>
          <p:cNvPr id="11" name="Rectangle 10"/>
          <p:cNvSpPr/>
          <p:nvPr/>
        </p:nvSpPr>
        <p:spPr>
          <a:xfrm>
            <a:off x="4180270" y="1783080"/>
            <a:ext cx="191420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89998" y="1783080"/>
            <a:ext cx="1731324" cy="841248"/>
          </a:xfrm>
          <a:prstGeom prst="rect">
            <a:avLst/>
          </a:prstGeom>
          <a:noFill/>
        </p:spPr>
        <p:txBody>
          <a:bodyPr wrap="square" anchor="ctr">
            <a:spAutoFit/>
          </a:bodyPr>
          <a:lstStyle/>
          <a:p>
            <a:pPr algn="l">
              <a:spcAft>
                <a:spcPts val="400"/>
              </a:spcAft>
            </a:pPr>
            <a:r>
              <a:rPr sz="1050" b="1">
                <a:solidFill>
                  <a:srgbClr val="FFFFFF"/>
                </a:solidFill>
                <a:latin typeface="Arial"/>
              </a:rPr>
              <a:t>Feasible on uplink</a:t>
            </a:r>
          </a:p>
        </p:txBody>
      </p:sp>
      <p:sp>
        <p:nvSpPr>
          <p:cNvPr id="13" name="Rectangle 12"/>
          <p:cNvSpPr/>
          <p:nvPr/>
        </p:nvSpPr>
        <p:spPr>
          <a:xfrm>
            <a:off x="6094474" y="1783080"/>
            <a:ext cx="3403031"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04202" y="1783080"/>
            <a:ext cx="3220151" cy="841248"/>
          </a:xfrm>
          <a:prstGeom prst="rect">
            <a:avLst/>
          </a:prstGeom>
          <a:noFill/>
        </p:spPr>
        <p:txBody>
          <a:bodyPr wrap="square" anchor="ctr">
            <a:spAutoFit/>
          </a:bodyPr>
          <a:lstStyle/>
          <a:p>
            <a:pPr algn="l">
              <a:spcAft>
                <a:spcPts val="400"/>
              </a:spcAft>
            </a:pPr>
            <a:r>
              <a:rPr sz="1050" b="1">
                <a:solidFill>
                  <a:srgbClr val="FFFFFF"/>
                </a:solidFill>
                <a:latin typeface="Arial"/>
              </a:rPr>
              <a:t>Privacy gate</a:t>
            </a:r>
          </a:p>
        </p:txBody>
      </p:sp>
      <p:sp>
        <p:nvSpPr>
          <p:cNvPr id="15" name="Rectangle 14"/>
          <p:cNvSpPr/>
          <p:nvPr/>
        </p:nvSpPr>
        <p:spPr>
          <a:xfrm>
            <a:off x="9497505" y="1783080"/>
            <a:ext cx="191420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7233" y="1783080"/>
            <a:ext cx="1731324" cy="841248"/>
          </a:xfrm>
          <a:prstGeom prst="rect">
            <a:avLst/>
          </a:prstGeom>
          <a:noFill/>
        </p:spPr>
        <p:txBody>
          <a:bodyPr wrap="square" anchor="ctr">
            <a:spAutoFit/>
          </a:bodyPr>
          <a:lstStyle/>
          <a:p>
            <a:pPr algn="l">
              <a:spcAft>
                <a:spcPts val="400"/>
              </a:spcAft>
            </a:pPr>
            <a:r>
              <a:rPr sz="1050" b="1">
                <a:solidFill>
                  <a:srgbClr val="FFFFFF"/>
                </a:solidFill>
                <a:latin typeface="Arial"/>
              </a:rPr>
              <a:t>Verdict</a:t>
            </a:r>
          </a:p>
        </p:txBody>
      </p:sp>
      <p:sp>
        <p:nvSpPr>
          <p:cNvPr id="17" name="Rectangle 16"/>
          <p:cNvSpPr/>
          <p:nvPr/>
        </p:nvSpPr>
        <p:spPr>
          <a:xfrm>
            <a:off x="777240" y="2624328"/>
            <a:ext cx="1701515"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2624328"/>
            <a:ext cx="1518635" cy="841248"/>
          </a:xfrm>
          <a:prstGeom prst="rect">
            <a:avLst/>
          </a:prstGeom>
          <a:noFill/>
        </p:spPr>
        <p:txBody>
          <a:bodyPr wrap="square" anchor="ctr">
            <a:spAutoFit/>
          </a:bodyPr>
          <a:lstStyle/>
          <a:p>
            <a:pPr algn="l">
              <a:spcAft>
                <a:spcPts val="400"/>
              </a:spcAft>
            </a:pPr>
            <a:r>
              <a:rPr sz="950" b="1">
                <a:solidFill>
                  <a:srgbClr val="161B26"/>
                </a:solidFill>
                <a:latin typeface="Arial"/>
              </a:rPr>
              <a:t>A raw frames</a:t>
            </a:r>
          </a:p>
        </p:txBody>
      </p:sp>
      <p:sp>
        <p:nvSpPr>
          <p:cNvPr id="19" name="Rectangle 18"/>
          <p:cNvSpPr/>
          <p:nvPr/>
        </p:nvSpPr>
        <p:spPr>
          <a:xfrm>
            <a:off x="2478755" y="2624328"/>
            <a:ext cx="1701515"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88483" y="2624328"/>
            <a:ext cx="1518635" cy="841248"/>
          </a:xfrm>
          <a:prstGeom prst="rect">
            <a:avLst/>
          </a:prstGeom>
          <a:noFill/>
        </p:spPr>
        <p:txBody>
          <a:bodyPr wrap="square" anchor="ctr">
            <a:spAutoFit/>
          </a:bodyPr>
          <a:lstStyle/>
          <a:p>
            <a:pPr algn="l">
              <a:spcAft>
                <a:spcPts val="400"/>
              </a:spcAft>
            </a:pPr>
            <a:r>
              <a:rPr sz="950" b="0">
                <a:solidFill>
                  <a:srgbClr val="161B26"/>
                </a:solidFill>
                <a:latin typeface="Arial"/>
              </a:rPr>
              <a:t>552.96</a:t>
            </a:r>
          </a:p>
        </p:txBody>
      </p:sp>
      <p:sp>
        <p:nvSpPr>
          <p:cNvPr id="21" name="Rectangle 20"/>
          <p:cNvSpPr/>
          <p:nvPr/>
        </p:nvSpPr>
        <p:spPr>
          <a:xfrm>
            <a:off x="4180270" y="2624328"/>
            <a:ext cx="1914204"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89998" y="2624328"/>
            <a:ext cx="1731324" cy="841248"/>
          </a:xfrm>
          <a:prstGeom prst="rect">
            <a:avLst/>
          </a:prstGeom>
          <a:noFill/>
        </p:spPr>
        <p:txBody>
          <a:bodyPr wrap="square" anchor="ctr">
            <a:spAutoFit/>
          </a:bodyPr>
          <a:lstStyle/>
          <a:p>
            <a:pPr algn="l">
              <a:spcAft>
                <a:spcPts val="400"/>
              </a:spcAft>
            </a:pPr>
            <a:r>
              <a:rPr sz="950" b="0">
                <a:solidFill>
                  <a:srgbClr val="161B26"/>
                </a:solidFill>
                <a:latin typeface="Arial"/>
              </a:rPr>
              <a:t>NO — 27x over</a:t>
            </a:r>
          </a:p>
        </p:txBody>
      </p:sp>
      <p:sp>
        <p:nvSpPr>
          <p:cNvPr id="23" name="Rectangle 22"/>
          <p:cNvSpPr/>
          <p:nvPr/>
        </p:nvSpPr>
        <p:spPr>
          <a:xfrm>
            <a:off x="6094474" y="2624328"/>
            <a:ext cx="3403031"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04202" y="2624328"/>
            <a:ext cx="3220151" cy="841248"/>
          </a:xfrm>
          <a:prstGeom prst="rect">
            <a:avLst/>
          </a:prstGeom>
          <a:noFill/>
        </p:spPr>
        <p:txBody>
          <a:bodyPr wrap="square" anchor="ctr">
            <a:spAutoFit/>
          </a:bodyPr>
          <a:lstStyle/>
          <a:p>
            <a:pPr algn="l">
              <a:spcAft>
                <a:spcPts val="400"/>
              </a:spcAft>
            </a:pPr>
            <a:r>
              <a:rPr sz="950" b="0">
                <a:solidFill>
                  <a:srgbClr val="161B26"/>
                </a:solidFill>
                <a:latin typeface="Arial"/>
              </a:rPr>
              <a:t>FAILS — raw frames leave the network</a:t>
            </a:r>
          </a:p>
        </p:txBody>
      </p:sp>
      <p:sp>
        <p:nvSpPr>
          <p:cNvPr id="25" name="Rectangle 24"/>
          <p:cNvSpPr/>
          <p:nvPr/>
        </p:nvSpPr>
        <p:spPr>
          <a:xfrm>
            <a:off x="9497505" y="2624328"/>
            <a:ext cx="1914204"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7233" y="2624328"/>
            <a:ext cx="1731324" cy="841248"/>
          </a:xfrm>
          <a:prstGeom prst="rect">
            <a:avLst/>
          </a:prstGeom>
          <a:noFill/>
        </p:spPr>
        <p:txBody>
          <a:bodyPr wrap="square" anchor="ctr">
            <a:spAutoFit/>
          </a:bodyPr>
          <a:lstStyle/>
          <a:p>
            <a:pPr algn="l">
              <a:spcAft>
                <a:spcPts val="400"/>
              </a:spcAft>
            </a:pPr>
            <a:r>
              <a:rPr sz="950" b="0">
                <a:solidFill>
                  <a:srgbClr val="161B26"/>
                </a:solidFill>
                <a:latin typeface="Arial"/>
              </a:rPr>
              <a:t>Eliminated twice</a:t>
            </a:r>
          </a:p>
        </p:txBody>
      </p:sp>
      <p:sp>
        <p:nvSpPr>
          <p:cNvPr id="27" name="Rectangle 26"/>
          <p:cNvSpPr/>
          <p:nvPr/>
        </p:nvSpPr>
        <p:spPr>
          <a:xfrm>
            <a:off x="777240" y="3465576"/>
            <a:ext cx="1701515"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6968" y="3465576"/>
            <a:ext cx="1518635" cy="841248"/>
          </a:xfrm>
          <a:prstGeom prst="rect">
            <a:avLst/>
          </a:prstGeom>
          <a:noFill/>
        </p:spPr>
        <p:txBody>
          <a:bodyPr wrap="square" anchor="ctr">
            <a:spAutoFit/>
          </a:bodyPr>
          <a:lstStyle/>
          <a:p>
            <a:pPr algn="l">
              <a:spcAft>
                <a:spcPts val="400"/>
              </a:spcAft>
            </a:pPr>
            <a:r>
              <a:rPr sz="950" b="1">
                <a:solidFill>
                  <a:srgbClr val="161B26"/>
                </a:solidFill>
                <a:latin typeface="Arial"/>
              </a:rPr>
              <a:t>B encoded video</a:t>
            </a:r>
          </a:p>
        </p:txBody>
      </p:sp>
      <p:sp>
        <p:nvSpPr>
          <p:cNvPr id="29" name="Rectangle 28"/>
          <p:cNvSpPr/>
          <p:nvPr/>
        </p:nvSpPr>
        <p:spPr>
          <a:xfrm>
            <a:off x="2478755" y="3465576"/>
            <a:ext cx="1701515"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88483" y="3465576"/>
            <a:ext cx="1518635" cy="841248"/>
          </a:xfrm>
          <a:prstGeom prst="rect">
            <a:avLst/>
          </a:prstGeom>
          <a:noFill/>
        </p:spPr>
        <p:txBody>
          <a:bodyPr wrap="square" anchor="ctr">
            <a:spAutoFit/>
          </a:bodyPr>
          <a:lstStyle/>
          <a:p>
            <a:pPr algn="l">
              <a:spcAft>
                <a:spcPts val="400"/>
              </a:spcAft>
            </a:pPr>
            <a:r>
              <a:rPr sz="950" b="0">
                <a:solidFill>
                  <a:srgbClr val="161B26"/>
                </a:solidFill>
                <a:latin typeface="Arial"/>
              </a:rPr>
              <a:t>2.50</a:t>
            </a:r>
          </a:p>
        </p:txBody>
      </p:sp>
      <p:sp>
        <p:nvSpPr>
          <p:cNvPr id="31" name="Rectangle 30"/>
          <p:cNvSpPr/>
          <p:nvPr/>
        </p:nvSpPr>
        <p:spPr>
          <a:xfrm>
            <a:off x="4180270" y="3465576"/>
            <a:ext cx="1914204"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89998" y="3465576"/>
            <a:ext cx="1731324" cy="841248"/>
          </a:xfrm>
          <a:prstGeom prst="rect">
            <a:avLst/>
          </a:prstGeom>
          <a:noFill/>
        </p:spPr>
        <p:txBody>
          <a:bodyPr wrap="square" anchor="ctr">
            <a:spAutoFit/>
          </a:bodyPr>
          <a:lstStyle/>
          <a:p>
            <a:pPr algn="l">
              <a:spcAft>
                <a:spcPts val="400"/>
              </a:spcAft>
            </a:pPr>
            <a:r>
              <a:rPr sz="950" b="0">
                <a:solidFill>
                  <a:srgbClr val="161B26"/>
                </a:solidFill>
                <a:latin typeface="Arial"/>
              </a:rPr>
              <a:t>YES</a:t>
            </a:r>
          </a:p>
        </p:txBody>
      </p:sp>
      <p:sp>
        <p:nvSpPr>
          <p:cNvPr id="33" name="Rectangle 32"/>
          <p:cNvSpPr/>
          <p:nvPr/>
        </p:nvSpPr>
        <p:spPr>
          <a:xfrm>
            <a:off x="6094474" y="3465576"/>
            <a:ext cx="3403031"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04202" y="3465576"/>
            <a:ext cx="3220151" cy="841248"/>
          </a:xfrm>
          <a:prstGeom prst="rect">
            <a:avLst/>
          </a:prstGeom>
          <a:noFill/>
        </p:spPr>
        <p:txBody>
          <a:bodyPr wrap="square" anchor="ctr">
            <a:spAutoFit/>
          </a:bodyPr>
          <a:lstStyle/>
          <a:p>
            <a:pPr algn="l">
              <a:spcAft>
                <a:spcPts val="400"/>
              </a:spcAft>
            </a:pPr>
            <a:r>
              <a:rPr sz="950" b="0">
                <a:solidFill>
                  <a:srgbClr val="161B26"/>
                </a:solidFill>
                <a:latin typeface="Arial"/>
              </a:rPr>
              <a:t>FAILS — identifiable customers leave the network</a:t>
            </a:r>
          </a:p>
        </p:txBody>
      </p:sp>
      <p:sp>
        <p:nvSpPr>
          <p:cNvPr id="35" name="Rectangle 34"/>
          <p:cNvSpPr/>
          <p:nvPr/>
        </p:nvSpPr>
        <p:spPr>
          <a:xfrm>
            <a:off x="9497505" y="3465576"/>
            <a:ext cx="1914204"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07233" y="3465576"/>
            <a:ext cx="1731324" cy="841248"/>
          </a:xfrm>
          <a:prstGeom prst="rect">
            <a:avLst/>
          </a:prstGeom>
          <a:noFill/>
        </p:spPr>
        <p:txBody>
          <a:bodyPr wrap="square" anchor="ctr">
            <a:spAutoFit/>
          </a:bodyPr>
          <a:lstStyle/>
          <a:p>
            <a:pPr algn="l">
              <a:spcAft>
                <a:spcPts val="400"/>
              </a:spcAft>
            </a:pPr>
            <a:r>
              <a:rPr sz="950" b="0">
                <a:solidFill>
                  <a:srgbClr val="161B26"/>
                </a:solidFill>
                <a:latin typeface="Arial"/>
              </a:rPr>
              <a:t>Eliminated on privacy</a:t>
            </a:r>
          </a:p>
        </p:txBody>
      </p:sp>
      <p:sp>
        <p:nvSpPr>
          <p:cNvPr id="37" name="Rectangle 36"/>
          <p:cNvSpPr/>
          <p:nvPr/>
        </p:nvSpPr>
        <p:spPr>
          <a:xfrm>
            <a:off x="777240" y="4306824"/>
            <a:ext cx="1701515"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4306824"/>
            <a:ext cx="1518635" cy="841248"/>
          </a:xfrm>
          <a:prstGeom prst="rect">
            <a:avLst/>
          </a:prstGeom>
          <a:noFill/>
        </p:spPr>
        <p:txBody>
          <a:bodyPr wrap="square" anchor="ctr">
            <a:spAutoFit/>
          </a:bodyPr>
          <a:lstStyle/>
          <a:p>
            <a:pPr algn="l">
              <a:spcAft>
                <a:spcPts val="400"/>
              </a:spcAft>
            </a:pPr>
            <a:r>
              <a:rPr sz="950" b="1">
                <a:solidFill>
                  <a:srgbClr val="161B26"/>
                </a:solidFill>
                <a:latin typeface="Arial"/>
              </a:rPr>
              <a:t>C ORB features</a:t>
            </a:r>
          </a:p>
        </p:txBody>
      </p:sp>
      <p:sp>
        <p:nvSpPr>
          <p:cNvPr id="39" name="Rectangle 38"/>
          <p:cNvSpPr/>
          <p:nvPr/>
        </p:nvSpPr>
        <p:spPr>
          <a:xfrm>
            <a:off x="2478755" y="4306824"/>
            <a:ext cx="1701515"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588483" y="4306824"/>
            <a:ext cx="1518635" cy="841248"/>
          </a:xfrm>
          <a:prstGeom prst="rect">
            <a:avLst/>
          </a:prstGeom>
          <a:noFill/>
        </p:spPr>
        <p:txBody>
          <a:bodyPr wrap="square" anchor="ctr">
            <a:spAutoFit/>
          </a:bodyPr>
          <a:lstStyle/>
          <a:p>
            <a:pPr algn="l">
              <a:spcAft>
                <a:spcPts val="400"/>
              </a:spcAft>
            </a:pPr>
            <a:r>
              <a:rPr sz="950" b="0">
                <a:solidFill>
                  <a:srgbClr val="161B26"/>
                </a:solidFill>
                <a:latin typeface="Arial"/>
              </a:rPr>
              <a:t>3.20</a:t>
            </a:r>
          </a:p>
        </p:txBody>
      </p:sp>
      <p:sp>
        <p:nvSpPr>
          <p:cNvPr id="41" name="Rectangle 40"/>
          <p:cNvSpPr/>
          <p:nvPr/>
        </p:nvSpPr>
        <p:spPr>
          <a:xfrm>
            <a:off x="4180270" y="4306824"/>
            <a:ext cx="1914204"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289998" y="4306824"/>
            <a:ext cx="1731324" cy="841248"/>
          </a:xfrm>
          <a:prstGeom prst="rect">
            <a:avLst/>
          </a:prstGeom>
          <a:noFill/>
        </p:spPr>
        <p:txBody>
          <a:bodyPr wrap="square" anchor="ctr">
            <a:spAutoFit/>
          </a:bodyPr>
          <a:lstStyle/>
          <a:p>
            <a:pPr algn="l">
              <a:spcAft>
                <a:spcPts val="400"/>
              </a:spcAft>
            </a:pPr>
            <a:r>
              <a:rPr sz="950" b="0">
                <a:solidFill>
                  <a:srgbClr val="161B26"/>
                </a:solidFill>
                <a:latin typeface="Arial"/>
              </a:rPr>
              <a:t>YES</a:t>
            </a:r>
          </a:p>
        </p:txBody>
      </p:sp>
      <p:sp>
        <p:nvSpPr>
          <p:cNvPr id="43" name="Rectangle 42"/>
          <p:cNvSpPr/>
          <p:nvPr/>
        </p:nvSpPr>
        <p:spPr>
          <a:xfrm>
            <a:off x="6094474" y="4306824"/>
            <a:ext cx="3403031"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04202" y="4306824"/>
            <a:ext cx="3220151" cy="841248"/>
          </a:xfrm>
          <a:prstGeom prst="rect">
            <a:avLst/>
          </a:prstGeom>
          <a:noFill/>
        </p:spPr>
        <p:txBody>
          <a:bodyPr wrap="square" anchor="ctr">
            <a:spAutoFit/>
          </a:bodyPr>
          <a:lstStyle/>
          <a:p>
            <a:pPr algn="l">
              <a:spcAft>
                <a:spcPts val="400"/>
              </a:spcAft>
            </a:pPr>
            <a:r>
              <a:rPr sz="950" b="0">
                <a:solidFill>
                  <a:srgbClr val="161B26"/>
                </a:solidFill>
                <a:latin typeface="Arial"/>
              </a:rPr>
              <a:t>MARGINAL — descriptors are derived, but re-identification risk must be argued</a:t>
            </a:r>
          </a:p>
        </p:txBody>
      </p:sp>
      <p:sp>
        <p:nvSpPr>
          <p:cNvPr id="45" name="Rectangle 44"/>
          <p:cNvSpPr/>
          <p:nvPr/>
        </p:nvSpPr>
        <p:spPr>
          <a:xfrm>
            <a:off x="9497505" y="4306824"/>
            <a:ext cx="1914204"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607233" y="4306824"/>
            <a:ext cx="1731324" cy="841248"/>
          </a:xfrm>
          <a:prstGeom prst="rect">
            <a:avLst/>
          </a:prstGeom>
          <a:noFill/>
        </p:spPr>
        <p:txBody>
          <a:bodyPr wrap="square" anchor="ctr">
            <a:spAutoFit/>
          </a:bodyPr>
          <a:lstStyle/>
          <a:p>
            <a:pPr algn="l">
              <a:spcAft>
                <a:spcPts val="400"/>
              </a:spcAft>
            </a:pPr>
            <a:r>
              <a:rPr sz="950" b="0">
                <a:solidFill>
                  <a:srgbClr val="161B26"/>
                </a:solidFill>
                <a:latin typeface="Arial"/>
              </a:rPr>
              <a:t>Hold pending assessment</a:t>
            </a:r>
          </a:p>
        </p:txBody>
      </p:sp>
      <p:sp>
        <p:nvSpPr>
          <p:cNvPr id="47" name="Rectangle 46"/>
          <p:cNvSpPr/>
          <p:nvPr/>
        </p:nvSpPr>
        <p:spPr>
          <a:xfrm>
            <a:off x="777240" y="5148072"/>
            <a:ext cx="1701515"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6968" y="5148072"/>
            <a:ext cx="1518635" cy="841248"/>
          </a:xfrm>
          <a:prstGeom prst="rect">
            <a:avLst/>
          </a:prstGeom>
          <a:noFill/>
        </p:spPr>
        <p:txBody>
          <a:bodyPr wrap="square" anchor="ctr">
            <a:spAutoFit/>
          </a:bodyPr>
          <a:lstStyle/>
          <a:p>
            <a:pPr algn="l">
              <a:spcAft>
                <a:spcPts val="400"/>
              </a:spcAft>
            </a:pPr>
            <a:r>
              <a:rPr sz="950" b="1">
                <a:solidFill>
                  <a:srgbClr val="161B26"/>
                </a:solidFill>
                <a:latin typeface="Arial"/>
              </a:rPr>
              <a:t>D events only</a:t>
            </a:r>
          </a:p>
        </p:txBody>
      </p:sp>
      <p:sp>
        <p:nvSpPr>
          <p:cNvPr id="49" name="Rectangle 48"/>
          <p:cNvSpPr/>
          <p:nvPr/>
        </p:nvSpPr>
        <p:spPr>
          <a:xfrm>
            <a:off x="2478755" y="5148072"/>
            <a:ext cx="1701515"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588483" y="5148072"/>
            <a:ext cx="1518635" cy="841248"/>
          </a:xfrm>
          <a:prstGeom prst="rect">
            <a:avLst/>
          </a:prstGeom>
          <a:noFill/>
        </p:spPr>
        <p:txBody>
          <a:bodyPr wrap="square" anchor="ctr">
            <a:spAutoFit/>
          </a:bodyPr>
          <a:lstStyle/>
          <a:p>
            <a:pPr algn="l">
              <a:spcAft>
                <a:spcPts val="400"/>
              </a:spcAft>
            </a:pPr>
            <a:r>
              <a:rPr sz="950" b="0">
                <a:solidFill>
                  <a:srgbClr val="161B26"/>
                </a:solidFill>
                <a:latin typeface="Arial"/>
              </a:rPr>
              <a:t>0.00032</a:t>
            </a:r>
          </a:p>
        </p:txBody>
      </p:sp>
      <p:sp>
        <p:nvSpPr>
          <p:cNvPr id="51" name="Rectangle 50"/>
          <p:cNvSpPr/>
          <p:nvPr/>
        </p:nvSpPr>
        <p:spPr>
          <a:xfrm>
            <a:off x="4180270" y="5148072"/>
            <a:ext cx="1914204"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289998" y="5148072"/>
            <a:ext cx="1731324" cy="841248"/>
          </a:xfrm>
          <a:prstGeom prst="rect">
            <a:avLst/>
          </a:prstGeom>
          <a:noFill/>
        </p:spPr>
        <p:txBody>
          <a:bodyPr wrap="square" anchor="ctr">
            <a:spAutoFit/>
          </a:bodyPr>
          <a:lstStyle/>
          <a:p>
            <a:pPr algn="l">
              <a:spcAft>
                <a:spcPts val="400"/>
              </a:spcAft>
            </a:pPr>
            <a:r>
              <a:rPr sz="950" b="0">
                <a:solidFill>
                  <a:srgbClr val="161B26"/>
                </a:solidFill>
                <a:latin typeface="Arial"/>
              </a:rPr>
              <a:t>YES</a:t>
            </a:r>
          </a:p>
        </p:txBody>
      </p:sp>
      <p:sp>
        <p:nvSpPr>
          <p:cNvPr id="53" name="Rectangle 52"/>
          <p:cNvSpPr/>
          <p:nvPr/>
        </p:nvSpPr>
        <p:spPr>
          <a:xfrm>
            <a:off x="6094474" y="5148072"/>
            <a:ext cx="3403031"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204202" y="5148072"/>
            <a:ext cx="3220151" cy="841248"/>
          </a:xfrm>
          <a:prstGeom prst="rect">
            <a:avLst/>
          </a:prstGeom>
          <a:noFill/>
        </p:spPr>
        <p:txBody>
          <a:bodyPr wrap="square" anchor="ctr">
            <a:spAutoFit/>
          </a:bodyPr>
          <a:lstStyle/>
          <a:p>
            <a:pPr algn="l">
              <a:spcAft>
                <a:spcPts val="400"/>
              </a:spcAft>
            </a:pPr>
            <a:r>
              <a:rPr sz="950" b="0">
                <a:solidFill>
                  <a:srgbClr val="161B26"/>
                </a:solidFill>
                <a:latin typeface="Arial"/>
              </a:rPr>
              <a:t>PASSES — no image leaves the store network</a:t>
            </a:r>
          </a:p>
        </p:txBody>
      </p:sp>
      <p:sp>
        <p:nvSpPr>
          <p:cNvPr id="55" name="Rectangle 54"/>
          <p:cNvSpPr/>
          <p:nvPr/>
        </p:nvSpPr>
        <p:spPr>
          <a:xfrm>
            <a:off x="9497505" y="5148072"/>
            <a:ext cx="1914204"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607233" y="5148072"/>
            <a:ext cx="1731324" cy="841248"/>
          </a:xfrm>
          <a:prstGeom prst="rect">
            <a:avLst/>
          </a:prstGeom>
          <a:noFill/>
        </p:spPr>
        <p:txBody>
          <a:bodyPr wrap="square" anchor="ctr">
            <a:spAutoFit/>
          </a:bodyPr>
          <a:lstStyle/>
          <a:p>
            <a:pPr algn="l">
              <a:spcAft>
                <a:spcPts val="400"/>
              </a:spcAft>
            </a:pPr>
            <a:r>
              <a:rPr sz="950" b="0">
                <a:solidFill>
                  <a:srgbClr val="161B26"/>
                </a:solidFill>
                <a:latin typeface="Arial"/>
              </a:rPr>
              <a:t>SELECTED</a:t>
            </a:r>
          </a:p>
        </p:txBody>
      </p:sp>
      <p:sp>
        <p:nvSpPr>
          <p:cNvPr id="57" name="TextBox 56"/>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Runner-up: split C. The deciding number is the privacy classification, not the 0.7 Mbit/s bandwidth difference — and saying so is what makes the decision defensible six months later.</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transition spd="fast">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K13 · SOURCE S15 · CH.3 P.43, TABLE 3.4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Real-World Design Constraints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LATENCY</a:t>
            </a:r>
          </a:p>
          <a:p>
            <a:pPr algn="l">
              <a:spcAft>
                <a:spcPts val="200"/>
              </a:spcAft>
            </a:pPr>
            <a:r>
              <a:rPr sz="1000" b="0">
                <a:solidFill>
                  <a:srgbClr val="5B6372"/>
                </a:solidFill>
                <a:latin typeface="Arial"/>
              </a:rPr>
              <a:t>Delay-sensitive applications — AR/VR, autonomous systems, live alerting — set a hard budget. Measure against it; do not assume it.</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BANDWIDTH</a:t>
            </a:r>
          </a:p>
          <a:p>
            <a:pPr algn="l">
              <a:spcAft>
                <a:spcPts val="200"/>
              </a:spcAft>
            </a:pPr>
            <a:r>
              <a:rPr sz="1000" b="0">
                <a:solidFill>
                  <a:srgbClr val="5B6372"/>
                </a:solidFill>
                <a:latin typeface="Arial"/>
              </a:rPr>
              <a:t>The uplink is fixed and shared. Payload size at the split point is the single biggest lever you control.</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COMPUTE AND ENERGY</a:t>
            </a:r>
          </a:p>
          <a:p>
            <a:pPr algn="l">
              <a:spcAft>
                <a:spcPts val="200"/>
              </a:spcAft>
            </a:pPr>
            <a:r>
              <a:rPr sz="1000" b="0">
                <a:solidFill>
                  <a:srgbClr val="5B6372"/>
                </a:solidFill>
                <a:latin typeface="Arial"/>
              </a:rPr>
              <a:t>Generative models, especially GANs and diffusion, are computationally heavy and memory-hungry against edge hardware and battery life.</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PRIVACY AND SECURITY</a:t>
            </a:r>
          </a:p>
          <a:p>
            <a:pPr algn="l">
              <a:spcAft>
                <a:spcPts val="200"/>
              </a:spcAft>
            </a:pPr>
            <a:r>
              <a:rPr sz="1000" b="0">
                <a:solidFill>
                  <a:srgbClr val="5B6372"/>
                </a:solidFill>
                <a:latin typeface="Arial"/>
              </a:rPr>
              <a:t>Adversarial attacks, model and data leakage. Federated learning, differential privacy and secure multiparty computation are the named mitigations.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SCALABILITY AND INTEROP</a:t>
            </a:r>
          </a:p>
          <a:p>
            <a:pPr algn="l">
              <a:spcAft>
                <a:spcPts val="200"/>
              </a:spcAft>
            </a:pPr>
            <a:r>
              <a:rPr sz="1000" b="0">
                <a:solidFill>
                  <a:srgbClr val="5B6372"/>
                </a:solidFill>
                <a:latin typeface="Arial"/>
              </a:rPr>
              <a:t>Heterogeneous devices and no standards. Standardised APIs, containerised deployment and trust frameworks are the named directions.</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ETHICS AND GOVERNANCE</a:t>
            </a:r>
          </a:p>
          <a:p>
            <a:pPr algn="l">
              <a:spcAft>
                <a:spcPts val="200"/>
              </a:spcAft>
            </a:pPr>
            <a:r>
              <a:rPr sz="1000" b="0">
                <a:solidFill>
                  <a:srgbClr val="5B6372"/>
                </a:solidFill>
                <a:latin typeface="Arial"/>
              </a:rPr>
              <a:t>Misuse of generative visuals and lack of explainability. Responsible-AI frameworks, interpretability and transparency.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transition spd="fast">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K13 · SOURCE S17 · CH.7 P.95, TABLE 7.2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Scaling Strategies and What Each Targets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582082" cy="600891"/>
          </a:xfrm>
          <a:prstGeom prst="rect">
            <a:avLst/>
          </a:prstGeom>
          <a:noFill/>
        </p:spPr>
        <p:txBody>
          <a:bodyPr wrap="square" anchor="ctr">
            <a:spAutoFit/>
          </a:bodyPr>
          <a:lstStyle/>
          <a:p>
            <a:pPr algn="l">
              <a:spcAft>
                <a:spcPts val="400"/>
              </a:spcAft>
            </a:pPr>
            <a:r>
              <a:rPr sz="1100" b="1">
                <a:solidFill>
                  <a:srgbClr val="FFFFFF"/>
                </a:solidFill>
                <a:latin typeface="Arial"/>
              </a:rPr>
              <a:t>Strategy</a:t>
            </a:r>
          </a:p>
        </p:txBody>
      </p:sp>
      <p:sp>
        <p:nvSpPr>
          <p:cNvPr id="9" name="Rectangle 8"/>
          <p:cNvSpPr/>
          <p:nvPr/>
        </p:nvSpPr>
        <p:spPr>
          <a:xfrm>
            <a:off x="3542202" y="1783080"/>
            <a:ext cx="2977652"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1930" y="1783080"/>
            <a:ext cx="2794772" cy="600891"/>
          </a:xfrm>
          <a:prstGeom prst="rect">
            <a:avLst/>
          </a:prstGeom>
          <a:noFill/>
        </p:spPr>
        <p:txBody>
          <a:bodyPr wrap="square" anchor="ctr">
            <a:spAutoFit/>
          </a:bodyPr>
          <a:lstStyle/>
          <a:p>
            <a:pPr algn="l">
              <a:spcAft>
                <a:spcPts val="400"/>
              </a:spcAft>
            </a:pPr>
            <a:r>
              <a:rPr sz="1100" b="1">
                <a:solidFill>
                  <a:srgbClr val="FFFFFF"/>
                </a:solidFill>
                <a:latin typeface="Arial"/>
              </a:rPr>
              <a:t>Target</a:t>
            </a:r>
          </a:p>
        </p:txBody>
      </p:sp>
      <p:sp>
        <p:nvSpPr>
          <p:cNvPr id="11" name="Rectangle 10"/>
          <p:cNvSpPr/>
          <p:nvPr/>
        </p:nvSpPr>
        <p:spPr>
          <a:xfrm>
            <a:off x="6519854" y="1783080"/>
            <a:ext cx="4891857"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582" y="1783080"/>
            <a:ext cx="4708977" cy="600891"/>
          </a:xfrm>
          <a:prstGeom prst="rect">
            <a:avLst/>
          </a:prstGeom>
          <a:noFill/>
        </p:spPr>
        <p:txBody>
          <a:bodyPr wrap="square" anchor="ctr">
            <a:spAutoFit/>
          </a:bodyPr>
          <a:lstStyle/>
          <a:p>
            <a:pPr algn="l">
              <a:spcAft>
                <a:spcPts val="400"/>
              </a:spcAft>
            </a:pPr>
            <a:r>
              <a:rPr sz="1100" b="1">
                <a:solidFill>
                  <a:srgbClr val="FFFFFF"/>
                </a:solidFill>
                <a:latin typeface="Arial"/>
              </a:rPr>
              <a:t>Typical gain</a:t>
            </a:r>
          </a:p>
        </p:txBody>
      </p:sp>
      <p:sp>
        <p:nvSpPr>
          <p:cNvPr id="13" name="Rectangle 12"/>
          <p:cNvSpPr/>
          <p:nvPr/>
        </p:nvSpPr>
        <p:spPr>
          <a:xfrm>
            <a:off x="777240" y="2383971"/>
            <a:ext cx="2764962"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383971"/>
            <a:ext cx="2582082" cy="600891"/>
          </a:xfrm>
          <a:prstGeom prst="rect">
            <a:avLst/>
          </a:prstGeom>
          <a:noFill/>
        </p:spPr>
        <p:txBody>
          <a:bodyPr wrap="square" anchor="ctr">
            <a:spAutoFit/>
          </a:bodyPr>
          <a:lstStyle/>
          <a:p>
            <a:pPr algn="l">
              <a:spcAft>
                <a:spcPts val="400"/>
              </a:spcAft>
            </a:pPr>
            <a:r>
              <a:rPr sz="1000" b="1">
                <a:solidFill>
                  <a:srgbClr val="161B26"/>
                </a:solidFill>
                <a:latin typeface="Arial"/>
              </a:rPr>
              <a:t>Trajectory distillation</a:t>
            </a:r>
          </a:p>
        </p:txBody>
      </p:sp>
      <p:sp>
        <p:nvSpPr>
          <p:cNvPr id="15" name="Rectangle 14"/>
          <p:cNvSpPr/>
          <p:nvPr/>
        </p:nvSpPr>
        <p:spPr>
          <a:xfrm>
            <a:off x="3542202" y="2383971"/>
            <a:ext cx="2977652"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1930" y="2383971"/>
            <a:ext cx="2794772" cy="600891"/>
          </a:xfrm>
          <a:prstGeom prst="rect">
            <a:avLst/>
          </a:prstGeom>
          <a:noFill/>
        </p:spPr>
        <p:txBody>
          <a:bodyPr wrap="square" anchor="ctr">
            <a:spAutoFit/>
          </a:bodyPr>
          <a:lstStyle/>
          <a:p>
            <a:pPr algn="l">
              <a:spcAft>
                <a:spcPts val="400"/>
              </a:spcAft>
            </a:pPr>
            <a:r>
              <a:rPr sz="1000" b="0">
                <a:solidFill>
                  <a:srgbClr val="161B26"/>
                </a:solidFill>
                <a:latin typeface="Arial"/>
              </a:rPr>
              <a:t>Diffusion steps S</a:t>
            </a:r>
          </a:p>
        </p:txBody>
      </p:sp>
      <p:sp>
        <p:nvSpPr>
          <p:cNvPr id="17" name="Rectangle 16"/>
          <p:cNvSpPr/>
          <p:nvPr/>
        </p:nvSpPr>
        <p:spPr>
          <a:xfrm>
            <a:off x="6519854" y="2383971"/>
            <a:ext cx="4891857"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582" y="2383971"/>
            <a:ext cx="4708977" cy="600891"/>
          </a:xfrm>
          <a:prstGeom prst="rect">
            <a:avLst/>
          </a:prstGeom>
          <a:noFill/>
        </p:spPr>
        <p:txBody>
          <a:bodyPr wrap="square" anchor="ctr">
            <a:spAutoFit/>
          </a:bodyPr>
          <a:lstStyle/>
          <a:p>
            <a:pPr algn="l">
              <a:spcAft>
                <a:spcPts val="400"/>
              </a:spcAft>
            </a:pPr>
            <a:r>
              <a:rPr sz="1000" b="0">
                <a:solidFill>
                  <a:srgbClr val="161B26"/>
                </a:solidFill>
                <a:latin typeface="Arial"/>
              </a:rPr>
              <a:t>Fewer sampling steps at similar FID / FVD</a:t>
            </a:r>
          </a:p>
        </p:txBody>
      </p:sp>
      <p:sp>
        <p:nvSpPr>
          <p:cNvPr id="19" name="Rectangle 18"/>
          <p:cNvSpPr/>
          <p:nvPr/>
        </p:nvSpPr>
        <p:spPr>
          <a:xfrm>
            <a:off x="777240" y="2984862"/>
            <a:ext cx="2764962"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984862"/>
            <a:ext cx="2582082" cy="600891"/>
          </a:xfrm>
          <a:prstGeom prst="rect">
            <a:avLst/>
          </a:prstGeom>
          <a:noFill/>
        </p:spPr>
        <p:txBody>
          <a:bodyPr wrap="square" anchor="ctr">
            <a:spAutoFit/>
          </a:bodyPr>
          <a:lstStyle/>
          <a:p>
            <a:pPr algn="l">
              <a:spcAft>
                <a:spcPts val="400"/>
              </a:spcAft>
            </a:pPr>
            <a:r>
              <a:rPr sz="1000" b="1">
                <a:solidFill>
                  <a:srgbClr val="161B26"/>
                </a:solidFill>
                <a:latin typeface="Arial"/>
              </a:rPr>
              <a:t>Logit distillation</a:t>
            </a:r>
          </a:p>
        </p:txBody>
      </p:sp>
      <p:sp>
        <p:nvSpPr>
          <p:cNvPr id="21" name="Rectangle 20"/>
          <p:cNvSpPr/>
          <p:nvPr/>
        </p:nvSpPr>
        <p:spPr>
          <a:xfrm>
            <a:off x="3542202" y="2984862"/>
            <a:ext cx="2977652"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1930" y="2984862"/>
            <a:ext cx="2794772" cy="600891"/>
          </a:xfrm>
          <a:prstGeom prst="rect">
            <a:avLst/>
          </a:prstGeom>
          <a:noFill/>
        </p:spPr>
        <p:txBody>
          <a:bodyPr wrap="square" anchor="ctr">
            <a:spAutoFit/>
          </a:bodyPr>
          <a:lstStyle/>
          <a:p>
            <a:pPr algn="l">
              <a:spcAft>
                <a:spcPts val="400"/>
              </a:spcAft>
            </a:pPr>
            <a:r>
              <a:rPr sz="1000" b="0">
                <a:solidFill>
                  <a:srgbClr val="161B26"/>
                </a:solidFill>
                <a:latin typeface="Arial"/>
              </a:rPr>
              <a:t>Autoregressive decoding</a:t>
            </a:r>
          </a:p>
        </p:txBody>
      </p:sp>
      <p:sp>
        <p:nvSpPr>
          <p:cNvPr id="23" name="Rectangle 22"/>
          <p:cNvSpPr/>
          <p:nvPr/>
        </p:nvSpPr>
        <p:spPr>
          <a:xfrm>
            <a:off x="6519854" y="2984862"/>
            <a:ext cx="4891857"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29582" y="2984862"/>
            <a:ext cx="4708977" cy="600891"/>
          </a:xfrm>
          <a:prstGeom prst="rect">
            <a:avLst/>
          </a:prstGeom>
          <a:noFill/>
        </p:spPr>
        <p:txBody>
          <a:bodyPr wrap="square" anchor="ctr">
            <a:spAutoFit/>
          </a:bodyPr>
          <a:lstStyle/>
          <a:p>
            <a:pPr algn="l">
              <a:spcAft>
                <a:spcPts val="400"/>
              </a:spcAft>
            </a:pPr>
            <a:r>
              <a:rPr sz="1000" b="0">
                <a:solidFill>
                  <a:srgbClr val="161B26"/>
                </a:solidFill>
                <a:latin typeface="Arial"/>
              </a:rPr>
              <a:t>A smaller decoder at matched negative log-likelihood</a:t>
            </a:r>
          </a:p>
        </p:txBody>
      </p:sp>
      <p:sp>
        <p:nvSpPr>
          <p:cNvPr id="25" name="Rectangle 24"/>
          <p:cNvSpPr/>
          <p:nvPr/>
        </p:nvSpPr>
        <p:spPr>
          <a:xfrm>
            <a:off x="777240" y="3585753"/>
            <a:ext cx="2764962"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585753"/>
            <a:ext cx="2582082" cy="600891"/>
          </a:xfrm>
          <a:prstGeom prst="rect">
            <a:avLst/>
          </a:prstGeom>
          <a:noFill/>
        </p:spPr>
        <p:txBody>
          <a:bodyPr wrap="square" anchor="ctr">
            <a:spAutoFit/>
          </a:bodyPr>
          <a:lstStyle/>
          <a:p>
            <a:pPr algn="l">
              <a:spcAft>
                <a:spcPts val="400"/>
              </a:spcAft>
            </a:pPr>
            <a:r>
              <a:rPr sz="1000" b="1">
                <a:solidFill>
                  <a:srgbClr val="161B26"/>
                </a:solidFill>
                <a:latin typeface="Arial"/>
              </a:rPr>
              <a:t>Quantisation (8 / 4-bit)</a:t>
            </a:r>
          </a:p>
        </p:txBody>
      </p:sp>
      <p:sp>
        <p:nvSpPr>
          <p:cNvPr id="27" name="Rectangle 26"/>
          <p:cNvSpPr/>
          <p:nvPr/>
        </p:nvSpPr>
        <p:spPr>
          <a:xfrm>
            <a:off x="3542202" y="3585753"/>
            <a:ext cx="2977652"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1930" y="3585753"/>
            <a:ext cx="2794772" cy="600891"/>
          </a:xfrm>
          <a:prstGeom prst="rect">
            <a:avLst/>
          </a:prstGeom>
          <a:noFill/>
        </p:spPr>
        <p:txBody>
          <a:bodyPr wrap="square" anchor="ctr">
            <a:spAutoFit/>
          </a:bodyPr>
          <a:lstStyle/>
          <a:p>
            <a:pPr algn="l">
              <a:spcAft>
                <a:spcPts val="400"/>
              </a:spcAft>
            </a:pPr>
            <a:r>
              <a:rPr sz="1000" b="0">
                <a:solidFill>
                  <a:srgbClr val="161B26"/>
                </a:solidFill>
                <a:latin typeface="Arial"/>
              </a:rPr>
              <a:t>Weights and activations</a:t>
            </a:r>
          </a:p>
        </p:txBody>
      </p:sp>
      <p:sp>
        <p:nvSpPr>
          <p:cNvPr id="29" name="Rectangle 28"/>
          <p:cNvSpPr/>
          <p:nvPr/>
        </p:nvSpPr>
        <p:spPr>
          <a:xfrm>
            <a:off x="6519854" y="3585753"/>
            <a:ext cx="4891857"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29582" y="3585753"/>
            <a:ext cx="4708977" cy="600891"/>
          </a:xfrm>
          <a:prstGeom prst="rect">
            <a:avLst/>
          </a:prstGeom>
          <a:noFill/>
        </p:spPr>
        <p:txBody>
          <a:bodyPr wrap="square" anchor="ctr">
            <a:spAutoFit/>
          </a:bodyPr>
          <a:lstStyle/>
          <a:p>
            <a:pPr algn="l">
              <a:spcAft>
                <a:spcPts val="400"/>
              </a:spcAft>
            </a:pPr>
            <a:r>
              <a:rPr sz="1000" b="0">
                <a:solidFill>
                  <a:srgbClr val="161B26"/>
                </a:solidFill>
                <a:latin typeface="Arial"/>
              </a:rPr>
              <a:t>Reduced latency and memory footprint</a:t>
            </a:r>
          </a:p>
        </p:txBody>
      </p:sp>
      <p:sp>
        <p:nvSpPr>
          <p:cNvPr id="31" name="Rectangle 30"/>
          <p:cNvSpPr/>
          <p:nvPr/>
        </p:nvSpPr>
        <p:spPr>
          <a:xfrm>
            <a:off x="777240" y="4186644"/>
            <a:ext cx="2764962"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186644"/>
            <a:ext cx="2582082" cy="600891"/>
          </a:xfrm>
          <a:prstGeom prst="rect">
            <a:avLst/>
          </a:prstGeom>
          <a:noFill/>
        </p:spPr>
        <p:txBody>
          <a:bodyPr wrap="square" anchor="ctr">
            <a:spAutoFit/>
          </a:bodyPr>
          <a:lstStyle/>
          <a:p>
            <a:pPr algn="l">
              <a:spcAft>
                <a:spcPts val="400"/>
              </a:spcAft>
            </a:pPr>
            <a:r>
              <a:rPr sz="1000" b="1">
                <a:solidFill>
                  <a:srgbClr val="161B26"/>
                </a:solidFill>
                <a:latin typeface="Arial"/>
              </a:rPr>
              <a:t>Low-rank adapters</a:t>
            </a:r>
          </a:p>
        </p:txBody>
      </p:sp>
      <p:sp>
        <p:nvSpPr>
          <p:cNvPr id="33" name="Rectangle 32"/>
          <p:cNvSpPr/>
          <p:nvPr/>
        </p:nvSpPr>
        <p:spPr>
          <a:xfrm>
            <a:off x="3542202" y="4186644"/>
            <a:ext cx="2977652"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1930" y="4186644"/>
            <a:ext cx="2794772" cy="600891"/>
          </a:xfrm>
          <a:prstGeom prst="rect">
            <a:avLst/>
          </a:prstGeom>
          <a:noFill/>
        </p:spPr>
        <p:txBody>
          <a:bodyPr wrap="square" anchor="ctr">
            <a:spAutoFit/>
          </a:bodyPr>
          <a:lstStyle/>
          <a:p>
            <a:pPr algn="l">
              <a:spcAft>
                <a:spcPts val="400"/>
              </a:spcAft>
            </a:pPr>
            <a:r>
              <a:rPr sz="1000" b="0">
                <a:solidFill>
                  <a:srgbClr val="161B26"/>
                </a:solidFill>
                <a:latin typeface="Arial"/>
              </a:rPr>
              <a:t>Task transfer</a:t>
            </a:r>
          </a:p>
        </p:txBody>
      </p:sp>
      <p:sp>
        <p:nvSpPr>
          <p:cNvPr id="35" name="Rectangle 34"/>
          <p:cNvSpPr/>
          <p:nvPr/>
        </p:nvSpPr>
        <p:spPr>
          <a:xfrm>
            <a:off x="6519854" y="4186644"/>
            <a:ext cx="4891857"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29582" y="4186644"/>
            <a:ext cx="4708977" cy="600891"/>
          </a:xfrm>
          <a:prstGeom prst="rect">
            <a:avLst/>
          </a:prstGeom>
          <a:noFill/>
        </p:spPr>
        <p:txBody>
          <a:bodyPr wrap="square" anchor="ctr">
            <a:spAutoFit/>
          </a:bodyPr>
          <a:lstStyle/>
          <a:p>
            <a:pPr algn="l">
              <a:spcAft>
                <a:spcPts val="400"/>
              </a:spcAft>
            </a:pPr>
            <a:r>
              <a:rPr sz="1000" b="0">
                <a:solidFill>
                  <a:srgbClr val="161B26"/>
                </a:solidFill>
                <a:latin typeface="Arial"/>
              </a:rPr>
              <a:t>Only a small percentage of parameters trainable</a:t>
            </a:r>
          </a:p>
        </p:txBody>
      </p:sp>
      <p:sp>
        <p:nvSpPr>
          <p:cNvPr id="37" name="Rectangle 36"/>
          <p:cNvSpPr/>
          <p:nvPr/>
        </p:nvSpPr>
        <p:spPr>
          <a:xfrm>
            <a:off x="777240" y="4787535"/>
            <a:ext cx="2764962"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4787535"/>
            <a:ext cx="2582082" cy="600891"/>
          </a:xfrm>
          <a:prstGeom prst="rect">
            <a:avLst/>
          </a:prstGeom>
          <a:noFill/>
        </p:spPr>
        <p:txBody>
          <a:bodyPr wrap="square" anchor="ctr">
            <a:spAutoFit/>
          </a:bodyPr>
          <a:lstStyle/>
          <a:p>
            <a:pPr algn="l">
              <a:spcAft>
                <a:spcPts val="400"/>
              </a:spcAft>
            </a:pPr>
            <a:r>
              <a:rPr sz="1000" b="1">
                <a:solidFill>
                  <a:srgbClr val="161B26"/>
                </a:solidFill>
                <a:latin typeface="Arial"/>
              </a:rPr>
              <a:t>Latent diffusion</a:t>
            </a:r>
          </a:p>
        </p:txBody>
      </p:sp>
      <p:sp>
        <p:nvSpPr>
          <p:cNvPr id="39" name="Rectangle 38"/>
          <p:cNvSpPr/>
          <p:nvPr/>
        </p:nvSpPr>
        <p:spPr>
          <a:xfrm>
            <a:off x="3542202" y="4787535"/>
            <a:ext cx="2977652"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1930" y="4787535"/>
            <a:ext cx="2794772" cy="600891"/>
          </a:xfrm>
          <a:prstGeom prst="rect">
            <a:avLst/>
          </a:prstGeom>
          <a:noFill/>
        </p:spPr>
        <p:txBody>
          <a:bodyPr wrap="square" anchor="ctr">
            <a:spAutoFit/>
          </a:bodyPr>
          <a:lstStyle/>
          <a:p>
            <a:pPr algn="l">
              <a:spcAft>
                <a:spcPts val="400"/>
              </a:spcAft>
            </a:pPr>
            <a:r>
              <a:rPr sz="1000" b="0">
                <a:solidFill>
                  <a:srgbClr val="161B26"/>
                </a:solidFill>
                <a:latin typeface="Arial"/>
              </a:rPr>
              <a:t>Resolution scaling</a:t>
            </a:r>
          </a:p>
        </p:txBody>
      </p:sp>
      <p:sp>
        <p:nvSpPr>
          <p:cNvPr id="41" name="Rectangle 40"/>
          <p:cNvSpPr/>
          <p:nvPr/>
        </p:nvSpPr>
        <p:spPr>
          <a:xfrm>
            <a:off x="6519854" y="4787535"/>
            <a:ext cx="4891857"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29582" y="4787535"/>
            <a:ext cx="4708977" cy="600891"/>
          </a:xfrm>
          <a:prstGeom prst="rect">
            <a:avLst/>
          </a:prstGeom>
          <a:noFill/>
        </p:spPr>
        <p:txBody>
          <a:bodyPr wrap="square" anchor="ctr">
            <a:spAutoFit/>
          </a:bodyPr>
          <a:lstStyle/>
          <a:p>
            <a:pPr algn="l">
              <a:spcAft>
                <a:spcPts val="400"/>
              </a:spcAft>
            </a:pPr>
            <a:r>
              <a:rPr sz="1000" b="0">
                <a:solidFill>
                  <a:srgbClr val="161B26"/>
                </a:solidFill>
                <a:latin typeface="Arial"/>
              </a:rPr>
              <a:t>Lower bandwidth and memory cost at high resolution</a:t>
            </a:r>
          </a:p>
        </p:txBody>
      </p:sp>
      <p:sp>
        <p:nvSpPr>
          <p:cNvPr id="43" name="Rectangle 42"/>
          <p:cNvSpPr/>
          <p:nvPr/>
        </p:nvSpPr>
        <p:spPr>
          <a:xfrm>
            <a:off x="777240" y="5388426"/>
            <a:ext cx="2764962"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5388426"/>
            <a:ext cx="2582082" cy="600891"/>
          </a:xfrm>
          <a:prstGeom prst="rect">
            <a:avLst/>
          </a:prstGeom>
          <a:noFill/>
        </p:spPr>
        <p:txBody>
          <a:bodyPr wrap="square" anchor="ctr">
            <a:spAutoFit/>
          </a:bodyPr>
          <a:lstStyle/>
          <a:p>
            <a:pPr algn="l">
              <a:spcAft>
                <a:spcPts val="400"/>
              </a:spcAft>
            </a:pPr>
            <a:r>
              <a:rPr sz="1000" b="1">
                <a:solidFill>
                  <a:srgbClr val="161B26"/>
                </a:solidFill>
                <a:latin typeface="Arial"/>
              </a:rPr>
              <a:t>Retrieval conditioning</a:t>
            </a:r>
          </a:p>
        </p:txBody>
      </p:sp>
      <p:sp>
        <p:nvSpPr>
          <p:cNvPr id="45" name="Rectangle 44"/>
          <p:cNvSpPr/>
          <p:nvPr/>
        </p:nvSpPr>
        <p:spPr>
          <a:xfrm>
            <a:off x="3542202" y="5388426"/>
            <a:ext cx="2977652"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51930" y="5388426"/>
            <a:ext cx="2794772" cy="600891"/>
          </a:xfrm>
          <a:prstGeom prst="rect">
            <a:avLst/>
          </a:prstGeom>
          <a:noFill/>
        </p:spPr>
        <p:txBody>
          <a:bodyPr wrap="square" anchor="ctr">
            <a:spAutoFit/>
          </a:bodyPr>
          <a:lstStyle/>
          <a:p>
            <a:pPr algn="l">
              <a:spcAft>
                <a:spcPts val="400"/>
              </a:spcAft>
            </a:pPr>
            <a:r>
              <a:rPr sz="1000" b="0">
                <a:solidFill>
                  <a:srgbClr val="161B26"/>
                </a:solidFill>
                <a:latin typeface="Arial"/>
              </a:rPr>
              <a:t>Style and domain control</a:t>
            </a:r>
          </a:p>
        </p:txBody>
      </p:sp>
      <p:sp>
        <p:nvSpPr>
          <p:cNvPr id="47" name="Rectangle 46"/>
          <p:cNvSpPr/>
          <p:nvPr/>
        </p:nvSpPr>
        <p:spPr>
          <a:xfrm>
            <a:off x="6519854" y="5388426"/>
            <a:ext cx="4891857"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629582" y="5388426"/>
            <a:ext cx="4708977" cy="600891"/>
          </a:xfrm>
          <a:prstGeom prst="rect">
            <a:avLst/>
          </a:prstGeom>
          <a:noFill/>
        </p:spPr>
        <p:txBody>
          <a:bodyPr wrap="square" anchor="ctr">
            <a:spAutoFit/>
          </a:bodyPr>
          <a:lstStyle/>
          <a:p>
            <a:pPr algn="l">
              <a:spcAft>
                <a:spcPts val="400"/>
              </a:spcAft>
            </a:pPr>
            <a:r>
              <a:rPr sz="1000" b="0">
                <a:solidFill>
                  <a:srgbClr val="161B26"/>
                </a:solidFill>
                <a:latin typeface="Arial"/>
              </a:rPr>
              <a:t>Higher faithfulness without increasing model size</a:t>
            </a:r>
          </a:p>
        </p:txBody>
      </p:sp>
      <p:sp>
        <p:nvSpPr>
          <p:cNvPr id="49" name="TextBox 48"/>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Each of these reports a quality delta as well as a speed-up in the source. A compression lever quoted without its measured quality cost is half a result.</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transition spd="fast">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K13 · SOURCE S18 · CH.7 PP.99–100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Two Edge-Fit Levers, With Arithmetic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12263"/>
            <a:ext cx="2996184" cy="457200"/>
          </a:xfrm>
          <a:prstGeom prst="rect">
            <a:avLst/>
          </a:prstGeom>
          <a:noFill/>
        </p:spPr>
        <p:txBody>
          <a:bodyPr wrap="square" anchor="t">
            <a:spAutoFit/>
          </a:bodyPr>
          <a:lstStyle/>
          <a:p>
            <a:pPr algn="l">
              <a:spcAft>
                <a:spcPts val="400"/>
              </a:spcAft>
            </a:pPr>
            <a:r>
              <a:rPr sz="1500" b="1">
                <a:solidFill>
                  <a:srgbClr val="1F6FEB"/>
                </a:solidFill>
                <a:latin typeface="Arial"/>
              </a:rPr>
              <a:t>Quantisation</a:t>
            </a:r>
          </a:p>
        </p:txBody>
      </p:sp>
      <p:sp>
        <p:nvSpPr>
          <p:cNvPr id="10" name="Rectangle 9"/>
          <p:cNvSpPr/>
          <p:nvPr/>
        </p:nvSpPr>
        <p:spPr>
          <a:xfrm>
            <a:off x="960120"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15767"/>
            <a:ext cx="2813304" cy="1042416"/>
          </a:xfrm>
          <a:prstGeom prst="rect">
            <a:avLst/>
          </a:prstGeom>
          <a:noFill/>
        </p:spPr>
        <p:txBody>
          <a:bodyPr wrap="none" lIns="0" rIns="0" tIns="0" bIns="0" anchor="ctr">
            <a:noAutofit/>
          </a:bodyPr>
          <a:lstStyle/>
          <a:p>
            <a:pPr>
              <a:spcAft>
                <a:spcPts val="100"/>
              </a:spcAft>
            </a:pPr>
            <a:r>
              <a:rPr sz="1400">
                <a:solidFill>
                  <a:srgbClr val="9CDCFE"/>
                </a:solidFill>
                <a:latin typeface="Consolas"/>
              </a:rPr>
              <a:t>M_param = P · b/8</a:t>
            </a:r>
          </a:p>
          <a:p>
            <a:pPr>
              <a:spcAft>
                <a:spcPts val="100"/>
              </a:spcAft>
            </a:pPr>
            <a:r>
              <a:rPr sz="1400">
                <a:solidFill>
                  <a:srgbClr val="9CDCFE"/>
                </a:solidFill>
                <a:latin typeface="Consolas"/>
              </a:rPr>
              <a:t>ratio = b / 32</a:t>
            </a:r>
          </a:p>
        </p:txBody>
      </p:sp>
      <p:sp>
        <p:nvSpPr>
          <p:cNvPr id="12" name="TextBox 11"/>
          <p:cNvSpPr txBox="1"/>
          <p:nvPr/>
        </p:nvSpPr>
        <p:spPr>
          <a:xfrm>
            <a:off x="960120"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Moving weights from 32-bit to b-bit scales parameter memory by b/32. For a 2.6-billion-parameter model: 10.40 GB at FP32 becomes 2.60 GB at INT8, a ratio of 0.25.</a:t>
            </a:r>
          </a:p>
        </p:txBody>
      </p:sp>
      <p:sp>
        <p:nvSpPr>
          <p:cNvPr id="13" name="Rectangle 12"/>
          <p:cNvSpPr/>
          <p:nvPr/>
        </p:nvSpPr>
        <p:spPr>
          <a:xfrm>
            <a:off x="4413504"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6384" y="2112263"/>
            <a:ext cx="2996184" cy="457200"/>
          </a:xfrm>
          <a:prstGeom prst="rect">
            <a:avLst/>
          </a:prstGeom>
          <a:noFill/>
        </p:spPr>
        <p:txBody>
          <a:bodyPr wrap="square" anchor="t">
            <a:spAutoFit/>
          </a:bodyPr>
          <a:lstStyle/>
          <a:p>
            <a:pPr algn="l">
              <a:spcAft>
                <a:spcPts val="400"/>
              </a:spcAft>
            </a:pPr>
            <a:r>
              <a:rPr sz="1500" b="1">
                <a:solidFill>
                  <a:srgbClr val="10B981"/>
                </a:solidFill>
                <a:latin typeface="Arial"/>
              </a:rPr>
              <a:t>Low-rank adapters</a:t>
            </a:r>
          </a:p>
        </p:txBody>
      </p:sp>
      <p:sp>
        <p:nvSpPr>
          <p:cNvPr id="16" name="Rectangle 15"/>
          <p:cNvSpPr/>
          <p:nvPr/>
        </p:nvSpPr>
        <p:spPr>
          <a:xfrm>
            <a:off x="4596384" y="2715767"/>
            <a:ext cx="2996184" cy="17373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7824" y="2715767"/>
            <a:ext cx="2813304" cy="1737360"/>
          </a:xfrm>
          <a:prstGeom prst="rect">
            <a:avLst/>
          </a:prstGeom>
          <a:noFill/>
        </p:spPr>
        <p:txBody>
          <a:bodyPr wrap="none" lIns="0" rIns="0" tIns="0" bIns="0" anchor="ctr">
            <a:noAutofit/>
          </a:bodyPr>
          <a:lstStyle/>
          <a:p>
            <a:pPr>
              <a:spcAft>
                <a:spcPts val="100"/>
              </a:spcAft>
            </a:pPr>
            <a:r>
              <a:rPr sz="1400">
                <a:solidFill>
                  <a:srgbClr val="9CDCFE"/>
                </a:solidFill>
                <a:latin typeface="Consolas"/>
              </a:rPr>
              <a:t>ΔW = A·B</a:t>
            </a:r>
          </a:p>
          <a:p>
            <a:pPr>
              <a:spcAft>
                <a:spcPts val="100"/>
              </a:spcAft>
            </a:pPr>
            <a:r>
              <a:rPr sz="1400">
                <a:solidFill>
                  <a:srgbClr val="9CDCFE"/>
                </a:solidFill>
                <a:latin typeface="Consolas"/>
              </a:rPr>
              <a:t>A ∈ ℝ^(d×r)</a:t>
            </a:r>
          </a:p>
          <a:p>
            <a:pPr>
              <a:spcAft>
                <a:spcPts val="100"/>
              </a:spcAft>
            </a:pPr>
            <a:r>
              <a:rPr sz="1400">
                <a:solidFill>
                  <a:srgbClr val="9CDCFE"/>
                </a:solidFill>
                <a:latin typeface="Consolas"/>
              </a:rPr>
              <a:t>B ∈ ℝ^(r×m)</a:t>
            </a:r>
          </a:p>
          <a:p>
            <a:pPr>
              <a:spcAft>
                <a:spcPts val="100"/>
              </a:spcAft>
            </a:pPr>
            <a:r>
              <a:rPr sz="1400">
                <a:solidFill>
                  <a:srgbClr val="9CDCFE"/>
                </a:solidFill>
                <a:latin typeface="Consolas"/>
              </a:rPr>
              <a:t>trainable = r(d+m)</a:t>
            </a:r>
          </a:p>
        </p:txBody>
      </p:sp>
      <p:sp>
        <p:nvSpPr>
          <p:cNvPr id="18" name="TextBox 17"/>
          <p:cNvSpPr txBox="1"/>
          <p:nvPr/>
        </p:nvSpPr>
        <p:spPr>
          <a:xfrm>
            <a:off x="4596384" y="4562855"/>
            <a:ext cx="2996184" cy="795528"/>
          </a:xfrm>
          <a:prstGeom prst="rect">
            <a:avLst/>
          </a:prstGeom>
          <a:noFill/>
        </p:spPr>
        <p:txBody>
          <a:bodyPr wrap="square" anchor="t">
            <a:spAutoFit/>
          </a:bodyPr>
          <a:lstStyle/>
          <a:p>
            <a:pPr algn="l">
              <a:spcAft>
                <a:spcPts val="400"/>
              </a:spcAft>
            </a:pPr>
            <a:r>
              <a:rPr sz="1150" b="0">
                <a:solidFill>
                  <a:srgbClr val="5B6372"/>
                </a:solidFill>
                <a:latin typeface="Arial"/>
              </a:rPr>
              <a:t>Instead of d×m trainable parameters. For a 4096×4096 layer at rank 16: 131,072 instead of 16,777,216 — 0.78%, and the base weights are not duplicated per task.</a:t>
            </a:r>
          </a:p>
        </p:txBody>
      </p:sp>
      <p:sp>
        <p:nvSpPr>
          <p:cNvPr id="19" name="Rectangle 18"/>
          <p:cNvSpPr/>
          <p:nvPr/>
        </p:nvSpPr>
        <p:spPr>
          <a:xfrm>
            <a:off x="8049768"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2648" y="2112263"/>
            <a:ext cx="2996184" cy="457200"/>
          </a:xfrm>
          <a:prstGeom prst="rect">
            <a:avLst/>
          </a:prstGeom>
          <a:noFill/>
        </p:spPr>
        <p:txBody>
          <a:bodyPr wrap="square" anchor="t">
            <a:spAutoFit/>
          </a:bodyPr>
          <a:lstStyle/>
          <a:p>
            <a:pPr algn="l">
              <a:spcAft>
                <a:spcPts val="400"/>
              </a:spcAft>
            </a:pPr>
            <a:r>
              <a:rPr sz="1500" b="1">
                <a:solidFill>
                  <a:srgbClr val="7C3AED"/>
                </a:solidFill>
                <a:latin typeface="Arial"/>
              </a:rPr>
              <a:t>The stability caveat</a:t>
            </a:r>
          </a:p>
        </p:txBody>
      </p:sp>
      <p:sp>
        <p:nvSpPr>
          <p:cNvPr id="22" name="Rectangle 21"/>
          <p:cNvSpPr/>
          <p:nvPr/>
        </p:nvSpPr>
        <p:spPr>
          <a:xfrm>
            <a:off x="8232648" y="2715767"/>
            <a:ext cx="2996184" cy="14081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4088" y="2715767"/>
            <a:ext cx="2813304" cy="1408176"/>
          </a:xfrm>
          <a:prstGeom prst="rect">
            <a:avLst/>
          </a:prstGeom>
          <a:noFill/>
        </p:spPr>
        <p:txBody>
          <a:bodyPr wrap="none" lIns="0" rIns="0" tIns="0" bIns="0" anchor="ctr">
            <a:noAutofit/>
          </a:bodyPr>
          <a:lstStyle/>
          <a:p>
            <a:pPr>
              <a:spcAft>
                <a:spcPts val="100"/>
              </a:spcAft>
            </a:pPr>
            <a:r>
              <a:rPr sz="1400">
                <a:solidFill>
                  <a:srgbClr val="9CDCFE"/>
                </a:solidFill>
                <a:latin typeface="Consolas"/>
              </a:rPr>
              <a:t>keep sensitive</a:t>
            </a:r>
          </a:p>
          <a:p>
            <a:pPr>
              <a:spcAft>
                <a:spcPts val="100"/>
              </a:spcAft>
            </a:pPr>
            <a:r>
              <a:rPr sz="1400">
                <a:solidFill>
                  <a:srgbClr val="9CDCFE"/>
                </a:solidFill>
                <a:latin typeface="Consolas"/>
              </a:rPr>
              <a:t>activations at</a:t>
            </a:r>
          </a:p>
          <a:p>
            <a:pPr>
              <a:spcAft>
                <a:spcPts val="100"/>
              </a:spcAft>
            </a:pPr>
            <a:r>
              <a:rPr sz="1400">
                <a:solidFill>
                  <a:srgbClr val="9CDCFE"/>
                </a:solidFill>
                <a:latin typeface="Consolas"/>
              </a:rPr>
              <a:t>FP16 / BF16</a:t>
            </a:r>
          </a:p>
        </p:txBody>
      </p:sp>
      <p:sp>
        <p:nvSpPr>
          <p:cNvPr id="24" name="TextBox 23"/>
          <p:cNvSpPr txBox="1"/>
          <p:nvPr/>
        </p:nvSpPr>
        <p:spPr>
          <a:xfrm>
            <a:off x="8232648" y="4233671"/>
            <a:ext cx="2996184" cy="1124712"/>
          </a:xfrm>
          <a:prstGeom prst="rect">
            <a:avLst/>
          </a:prstGeom>
          <a:noFill/>
        </p:spPr>
        <p:txBody>
          <a:bodyPr wrap="square" anchor="t">
            <a:spAutoFit/>
          </a:bodyPr>
          <a:lstStyle/>
          <a:p>
            <a:pPr algn="l">
              <a:spcAft>
                <a:spcPts val="400"/>
              </a:spcAft>
            </a:pPr>
            <a:r>
              <a:rPr sz="1150" b="0">
                <a:solidFill>
                  <a:srgbClr val="5B6372"/>
                </a:solidFill>
                <a:latin typeface="Arial"/>
              </a:rPr>
              <a:t>End-to-end INT8 for diffusion is sensitive to guidance and timestep schedules. Practical systems quantise weights and keep a subset of activations at higher precision at the attention bottlenecks.</a:t>
            </a:r>
          </a:p>
        </p:txBody>
      </p:sp>
      <p:sp>
        <p:nvSpPr>
          <p:cNvPr id="25" name="TextBox 2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Both figures are computed in Lab 12 from the classroom constraint file, and both are labelled MODELLED, not measured.</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transition spd="fast">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K13 · A 2.6B-PARAMETER MODEL, ONE 4096x4096 LAYER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Modelled — What the Edge-Fit Levers Actually Buy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Memory: 4x smaller</a:t>
            </a:r>
          </a:p>
          <a:p>
            <a:pPr algn="l">
              <a:spcAft>
                <a:spcPts val="200"/>
              </a:spcAft>
            </a:pPr>
            <a:r>
              <a:rPr sz="1100" b="0">
                <a:solidFill>
                  <a:srgbClr val="161B26"/>
                </a:solidFill>
                <a:latin typeface="Arial"/>
              </a:rPr>
              <a:t>10.40 GB to 2.60 GB. That is the difference between fitting an edge device and not.</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Trainable params: 128x fewer</a:t>
            </a:r>
          </a:p>
          <a:p>
            <a:pPr algn="l">
              <a:spcAft>
                <a:spcPts val="200"/>
              </a:spcAft>
            </a:pPr>
            <a:r>
              <a:rPr sz="1100" b="0">
                <a:solidFill>
                  <a:srgbClr val="161B26"/>
                </a:solidFill>
                <a:latin typeface="Arial"/>
              </a:rPr>
              <a:t>16.78 M to 0.13 M — 0.78% of the full layer.</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Per-task loading</a:t>
            </a:r>
          </a:p>
          <a:p>
            <a:pPr algn="l">
              <a:spcAft>
                <a:spcPts val="200"/>
              </a:spcAft>
            </a:pPr>
            <a:r>
              <a:rPr sz="1100" b="0">
                <a:solidFill>
                  <a:srgbClr val="161B26"/>
                </a:solidFill>
                <a:latin typeface="Arial"/>
              </a:rPr>
              <a:t>Adapters let you swap task specialisation without duplicating the base weights.</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Measure the quality cost</a:t>
            </a:r>
          </a:p>
          <a:p>
            <a:pPr algn="l">
              <a:spcAft>
                <a:spcPts val="200"/>
              </a:spcAft>
            </a:pPr>
            <a:r>
              <a:rPr sz="1100" b="0">
                <a:solidFill>
                  <a:srgbClr val="161B26"/>
                </a:solidFill>
                <a:latin typeface="Arial"/>
              </a:rPr>
              <a:t>Neither number says what accuracy you lost. Report the before/after quality delta or the lever is unproven.</a:t>
            </a:r>
          </a:p>
        </p:txBody>
      </p:sp>
      <p:sp>
        <p:nvSpPr>
          <p:cNvPr id="20" name="Rectangle 19"/>
          <p:cNvSpPr/>
          <p:nvPr/>
        </p:nvSpPr>
        <p:spPr>
          <a:xfrm>
            <a:off x="777240" y="5925312"/>
            <a:ext cx="1417320"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MODELLED</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Computed in Lab 12 from the documented relationships: parameter memory scales by b/32, and a rank-r adapter on a d×m layer trains r(d+m) parameters. Model size and rank are classroom values in deployment-constraints.json.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transition spd="fast">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A8 · SOURCE S18 · CH.7 P.100, TABLE 7.4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Deployment Decision Matrix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126894"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1944014" cy="600891"/>
          </a:xfrm>
          <a:prstGeom prst="rect">
            <a:avLst/>
          </a:prstGeom>
          <a:noFill/>
        </p:spPr>
        <p:txBody>
          <a:bodyPr wrap="square" anchor="ctr">
            <a:spAutoFit/>
          </a:bodyPr>
          <a:lstStyle/>
          <a:p>
            <a:pPr algn="l">
              <a:spcAft>
                <a:spcPts val="400"/>
              </a:spcAft>
            </a:pPr>
            <a:r>
              <a:rPr sz="1100" b="1">
                <a:solidFill>
                  <a:srgbClr val="FFFFFF"/>
                </a:solidFill>
                <a:latin typeface="Arial"/>
              </a:rPr>
              <a:t>Constraint</a:t>
            </a:r>
          </a:p>
        </p:txBody>
      </p:sp>
      <p:sp>
        <p:nvSpPr>
          <p:cNvPr id="9" name="Rectangle 8"/>
          <p:cNvSpPr/>
          <p:nvPr/>
        </p:nvSpPr>
        <p:spPr>
          <a:xfrm>
            <a:off x="2904134" y="1783080"/>
            <a:ext cx="3615720"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3862" y="1783080"/>
            <a:ext cx="3432840" cy="600891"/>
          </a:xfrm>
          <a:prstGeom prst="rect">
            <a:avLst/>
          </a:prstGeom>
          <a:noFill/>
        </p:spPr>
        <p:txBody>
          <a:bodyPr wrap="square" anchor="ctr">
            <a:spAutoFit/>
          </a:bodyPr>
          <a:lstStyle/>
          <a:p>
            <a:pPr algn="l">
              <a:spcAft>
                <a:spcPts val="400"/>
              </a:spcAft>
            </a:pPr>
            <a:r>
              <a:rPr sz="1100" b="1">
                <a:solidFill>
                  <a:srgbClr val="FFFFFF"/>
                </a:solidFill>
                <a:latin typeface="Arial"/>
              </a:rPr>
              <a:t>Recommended stack</a:t>
            </a:r>
          </a:p>
        </p:txBody>
      </p:sp>
      <p:sp>
        <p:nvSpPr>
          <p:cNvPr id="11" name="Rectangle 10"/>
          <p:cNvSpPr/>
          <p:nvPr/>
        </p:nvSpPr>
        <p:spPr>
          <a:xfrm>
            <a:off x="6519854" y="1783080"/>
            <a:ext cx="4891857"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582" y="1783080"/>
            <a:ext cx="4708977" cy="600891"/>
          </a:xfrm>
          <a:prstGeom prst="rect">
            <a:avLst/>
          </a:prstGeom>
          <a:noFill/>
        </p:spPr>
        <p:txBody>
          <a:bodyPr wrap="square" anchor="ctr">
            <a:spAutoFit/>
          </a:bodyPr>
          <a:lstStyle/>
          <a:p>
            <a:pPr algn="l">
              <a:spcAft>
                <a:spcPts val="400"/>
              </a:spcAft>
            </a:pPr>
            <a:r>
              <a:rPr sz="1100" b="1">
                <a:solidFill>
                  <a:srgbClr val="FFFFFF"/>
                </a:solidFill>
                <a:latin typeface="Arial"/>
              </a:rPr>
              <a:t>Note</a:t>
            </a:r>
          </a:p>
        </p:txBody>
      </p:sp>
      <p:sp>
        <p:nvSpPr>
          <p:cNvPr id="13" name="Rectangle 12"/>
          <p:cNvSpPr/>
          <p:nvPr/>
        </p:nvSpPr>
        <p:spPr>
          <a:xfrm>
            <a:off x="777240" y="2383971"/>
            <a:ext cx="2126894"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383971"/>
            <a:ext cx="1944014" cy="600891"/>
          </a:xfrm>
          <a:prstGeom prst="rect">
            <a:avLst/>
          </a:prstGeom>
          <a:noFill/>
        </p:spPr>
        <p:txBody>
          <a:bodyPr wrap="square" anchor="ctr">
            <a:spAutoFit/>
          </a:bodyPr>
          <a:lstStyle/>
          <a:p>
            <a:pPr algn="l">
              <a:spcAft>
                <a:spcPts val="400"/>
              </a:spcAft>
            </a:pPr>
            <a:r>
              <a:rPr sz="1000" b="1">
                <a:solidFill>
                  <a:srgbClr val="161B26"/>
                </a:solidFill>
                <a:latin typeface="Arial"/>
              </a:rPr>
              <a:t>Low latency, image</a:t>
            </a:r>
          </a:p>
        </p:txBody>
      </p:sp>
      <p:sp>
        <p:nvSpPr>
          <p:cNvPr id="15" name="Rectangle 14"/>
          <p:cNvSpPr/>
          <p:nvPr/>
        </p:nvSpPr>
        <p:spPr>
          <a:xfrm>
            <a:off x="2904134" y="2383971"/>
            <a:ext cx="3615720"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13862" y="2383971"/>
            <a:ext cx="3432840" cy="600891"/>
          </a:xfrm>
          <a:prstGeom prst="rect">
            <a:avLst/>
          </a:prstGeom>
          <a:noFill/>
        </p:spPr>
        <p:txBody>
          <a:bodyPr wrap="square" anchor="ctr">
            <a:spAutoFit/>
          </a:bodyPr>
          <a:lstStyle/>
          <a:p>
            <a:pPr algn="l">
              <a:spcAft>
                <a:spcPts val="400"/>
              </a:spcAft>
            </a:pPr>
            <a:r>
              <a:rPr sz="1000" b="0">
                <a:solidFill>
                  <a:srgbClr val="161B26"/>
                </a:solidFill>
                <a:latin typeface="Arial"/>
              </a:rPr>
              <a:t>Distilled sampler + INT8 weights</a:t>
            </a:r>
          </a:p>
        </p:txBody>
      </p:sp>
      <p:sp>
        <p:nvSpPr>
          <p:cNvPr id="17" name="Rectangle 16"/>
          <p:cNvSpPr/>
          <p:nvPr/>
        </p:nvSpPr>
        <p:spPr>
          <a:xfrm>
            <a:off x="6519854" y="2383971"/>
            <a:ext cx="4891857"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582" y="2383971"/>
            <a:ext cx="4708977" cy="600891"/>
          </a:xfrm>
          <a:prstGeom prst="rect">
            <a:avLst/>
          </a:prstGeom>
          <a:noFill/>
        </p:spPr>
        <p:txBody>
          <a:bodyPr wrap="square" anchor="ctr">
            <a:spAutoFit/>
          </a:bodyPr>
          <a:lstStyle/>
          <a:p>
            <a:pPr algn="l">
              <a:spcAft>
                <a:spcPts val="400"/>
              </a:spcAft>
            </a:pPr>
            <a:r>
              <a:rPr sz="1000" b="0">
                <a:solidFill>
                  <a:srgbClr val="161B26"/>
                </a:solidFill>
                <a:latin typeface="Arial"/>
              </a:rPr>
              <a:t>Keep key activations at FP16 for stability</a:t>
            </a:r>
          </a:p>
        </p:txBody>
      </p:sp>
      <p:sp>
        <p:nvSpPr>
          <p:cNvPr id="19" name="Rectangle 18"/>
          <p:cNvSpPr/>
          <p:nvPr/>
        </p:nvSpPr>
        <p:spPr>
          <a:xfrm>
            <a:off x="777240" y="2984862"/>
            <a:ext cx="2126894"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984862"/>
            <a:ext cx="1944014" cy="600891"/>
          </a:xfrm>
          <a:prstGeom prst="rect">
            <a:avLst/>
          </a:prstGeom>
          <a:noFill/>
        </p:spPr>
        <p:txBody>
          <a:bodyPr wrap="square" anchor="ctr">
            <a:spAutoFit/>
          </a:bodyPr>
          <a:lstStyle/>
          <a:p>
            <a:pPr algn="l">
              <a:spcAft>
                <a:spcPts val="400"/>
              </a:spcAft>
            </a:pPr>
            <a:r>
              <a:rPr sz="1000" b="1">
                <a:solidFill>
                  <a:srgbClr val="161B26"/>
                </a:solidFill>
                <a:latin typeface="Arial"/>
              </a:rPr>
              <a:t>Edge device</a:t>
            </a:r>
          </a:p>
        </p:txBody>
      </p:sp>
      <p:sp>
        <p:nvSpPr>
          <p:cNvPr id="21" name="Rectangle 20"/>
          <p:cNvSpPr/>
          <p:nvPr/>
        </p:nvSpPr>
        <p:spPr>
          <a:xfrm>
            <a:off x="2904134" y="2984862"/>
            <a:ext cx="3615720"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13862" y="2984862"/>
            <a:ext cx="3432840" cy="600891"/>
          </a:xfrm>
          <a:prstGeom prst="rect">
            <a:avLst/>
          </a:prstGeom>
          <a:noFill/>
        </p:spPr>
        <p:txBody>
          <a:bodyPr wrap="square" anchor="ctr">
            <a:spAutoFit/>
          </a:bodyPr>
          <a:lstStyle/>
          <a:p>
            <a:pPr algn="l">
              <a:spcAft>
                <a:spcPts val="400"/>
              </a:spcAft>
            </a:pPr>
            <a:r>
              <a:rPr sz="1000" b="0">
                <a:solidFill>
                  <a:srgbClr val="161B26"/>
                </a:solidFill>
                <a:latin typeface="Arial"/>
              </a:rPr>
              <a:t>INT8 + parameter-efficient adapters</a:t>
            </a:r>
          </a:p>
        </p:txBody>
      </p:sp>
      <p:sp>
        <p:nvSpPr>
          <p:cNvPr id="23" name="Rectangle 22"/>
          <p:cNvSpPr/>
          <p:nvPr/>
        </p:nvSpPr>
        <p:spPr>
          <a:xfrm>
            <a:off x="6519854" y="2984862"/>
            <a:ext cx="4891857"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29582" y="2984862"/>
            <a:ext cx="4708977" cy="600891"/>
          </a:xfrm>
          <a:prstGeom prst="rect">
            <a:avLst/>
          </a:prstGeom>
          <a:noFill/>
        </p:spPr>
        <p:txBody>
          <a:bodyPr wrap="square" anchor="ctr">
            <a:spAutoFit/>
          </a:bodyPr>
          <a:lstStyle/>
          <a:p>
            <a:pPr algn="l">
              <a:spcAft>
                <a:spcPts val="400"/>
              </a:spcAft>
            </a:pPr>
            <a:r>
              <a:rPr sz="1000" b="0">
                <a:solidFill>
                  <a:srgbClr val="161B26"/>
                </a:solidFill>
                <a:latin typeface="Arial"/>
              </a:rPr>
              <a:t>Low-rank adapters on convolution blocks for lightweight adaptation</a:t>
            </a:r>
          </a:p>
        </p:txBody>
      </p:sp>
      <p:sp>
        <p:nvSpPr>
          <p:cNvPr id="25" name="Rectangle 24"/>
          <p:cNvSpPr/>
          <p:nvPr/>
        </p:nvSpPr>
        <p:spPr>
          <a:xfrm>
            <a:off x="777240" y="3585753"/>
            <a:ext cx="2126894"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585753"/>
            <a:ext cx="1944014" cy="600891"/>
          </a:xfrm>
          <a:prstGeom prst="rect">
            <a:avLst/>
          </a:prstGeom>
          <a:noFill/>
        </p:spPr>
        <p:txBody>
          <a:bodyPr wrap="square" anchor="ctr">
            <a:spAutoFit/>
          </a:bodyPr>
          <a:lstStyle/>
          <a:p>
            <a:pPr algn="l">
              <a:spcAft>
                <a:spcPts val="400"/>
              </a:spcAft>
            </a:pPr>
            <a:r>
              <a:rPr sz="1000" b="1">
                <a:solidFill>
                  <a:srgbClr val="161B26"/>
                </a:solidFill>
                <a:latin typeface="Arial"/>
              </a:rPr>
              <a:t>High resolution</a:t>
            </a:r>
          </a:p>
        </p:txBody>
      </p:sp>
      <p:sp>
        <p:nvSpPr>
          <p:cNvPr id="27" name="Rectangle 26"/>
          <p:cNvSpPr/>
          <p:nvPr/>
        </p:nvSpPr>
        <p:spPr>
          <a:xfrm>
            <a:off x="2904134" y="3585753"/>
            <a:ext cx="3615720"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013862" y="3585753"/>
            <a:ext cx="3432840" cy="600891"/>
          </a:xfrm>
          <a:prstGeom prst="rect">
            <a:avLst/>
          </a:prstGeom>
          <a:noFill/>
        </p:spPr>
        <p:txBody>
          <a:bodyPr wrap="square" anchor="ctr">
            <a:spAutoFit/>
          </a:bodyPr>
          <a:lstStyle/>
          <a:p>
            <a:pPr algn="l">
              <a:spcAft>
                <a:spcPts val="400"/>
              </a:spcAft>
            </a:pPr>
            <a:r>
              <a:rPr sz="1000" b="0">
                <a:solidFill>
                  <a:srgbClr val="161B26"/>
                </a:solidFill>
                <a:latin typeface="Arial"/>
              </a:rPr>
              <a:t>Latent diffusion + few-step sampler</a:t>
            </a:r>
          </a:p>
        </p:txBody>
      </p:sp>
      <p:sp>
        <p:nvSpPr>
          <p:cNvPr id="29" name="Rectangle 28"/>
          <p:cNvSpPr/>
          <p:nvPr/>
        </p:nvSpPr>
        <p:spPr>
          <a:xfrm>
            <a:off x="6519854" y="3585753"/>
            <a:ext cx="4891857"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29582" y="3585753"/>
            <a:ext cx="4708977" cy="600891"/>
          </a:xfrm>
          <a:prstGeom prst="rect">
            <a:avLst/>
          </a:prstGeom>
          <a:noFill/>
        </p:spPr>
        <p:txBody>
          <a:bodyPr wrap="square" anchor="ctr">
            <a:spAutoFit/>
          </a:bodyPr>
          <a:lstStyle/>
          <a:p>
            <a:pPr algn="l">
              <a:spcAft>
                <a:spcPts val="400"/>
              </a:spcAft>
            </a:pPr>
            <a:r>
              <a:rPr sz="1000" b="0">
                <a:solidFill>
                  <a:srgbClr val="161B26"/>
                </a:solidFill>
                <a:latin typeface="Arial"/>
              </a:rPr>
              <a:t>Reduces memory traffic at high output resolutions</a:t>
            </a:r>
          </a:p>
        </p:txBody>
      </p:sp>
      <p:sp>
        <p:nvSpPr>
          <p:cNvPr id="31" name="Rectangle 30"/>
          <p:cNvSpPr/>
          <p:nvPr/>
        </p:nvSpPr>
        <p:spPr>
          <a:xfrm>
            <a:off x="777240" y="4186644"/>
            <a:ext cx="2126894"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186644"/>
            <a:ext cx="1944014" cy="600891"/>
          </a:xfrm>
          <a:prstGeom prst="rect">
            <a:avLst/>
          </a:prstGeom>
          <a:noFill/>
        </p:spPr>
        <p:txBody>
          <a:bodyPr wrap="square" anchor="ctr">
            <a:spAutoFit/>
          </a:bodyPr>
          <a:lstStyle/>
          <a:p>
            <a:pPr algn="l">
              <a:spcAft>
                <a:spcPts val="400"/>
              </a:spcAft>
            </a:pPr>
            <a:r>
              <a:rPr sz="1000" b="1">
                <a:solidFill>
                  <a:srgbClr val="161B26"/>
                </a:solidFill>
                <a:latin typeface="Arial"/>
              </a:rPr>
              <a:t>Short video</a:t>
            </a:r>
          </a:p>
        </p:txBody>
      </p:sp>
      <p:sp>
        <p:nvSpPr>
          <p:cNvPr id="33" name="Rectangle 32"/>
          <p:cNvSpPr/>
          <p:nvPr/>
        </p:nvSpPr>
        <p:spPr>
          <a:xfrm>
            <a:off x="2904134" y="4186644"/>
            <a:ext cx="3615720"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13862" y="4186644"/>
            <a:ext cx="3432840" cy="600891"/>
          </a:xfrm>
          <a:prstGeom prst="rect">
            <a:avLst/>
          </a:prstGeom>
          <a:noFill/>
        </p:spPr>
        <p:txBody>
          <a:bodyPr wrap="square" anchor="ctr">
            <a:spAutoFit/>
          </a:bodyPr>
          <a:lstStyle/>
          <a:p>
            <a:pPr algn="l">
              <a:spcAft>
                <a:spcPts val="400"/>
              </a:spcAft>
            </a:pPr>
            <a:r>
              <a:rPr sz="1000" b="0">
                <a:solidFill>
                  <a:srgbClr val="161B26"/>
                </a:solidFill>
                <a:latin typeface="Arial"/>
              </a:rPr>
              <a:t>Temporal attention + distilled steps</a:t>
            </a:r>
          </a:p>
        </p:txBody>
      </p:sp>
      <p:sp>
        <p:nvSpPr>
          <p:cNvPr id="35" name="Rectangle 34"/>
          <p:cNvSpPr/>
          <p:nvPr/>
        </p:nvSpPr>
        <p:spPr>
          <a:xfrm>
            <a:off x="6519854" y="4186644"/>
            <a:ext cx="4891857"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29582" y="4186644"/>
            <a:ext cx="4708977" cy="600891"/>
          </a:xfrm>
          <a:prstGeom prst="rect">
            <a:avLst/>
          </a:prstGeom>
          <a:noFill/>
        </p:spPr>
        <p:txBody>
          <a:bodyPr wrap="square" anchor="ctr">
            <a:spAutoFit/>
          </a:bodyPr>
          <a:lstStyle/>
          <a:p>
            <a:pPr algn="l">
              <a:spcAft>
                <a:spcPts val="400"/>
              </a:spcAft>
            </a:pPr>
            <a:r>
              <a:rPr sz="1000" b="0">
                <a:solidFill>
                  <a:srgbClr val="161B26"/>
                </a:solidFill>
                <a:latin typeface="Arial"/>
              </a:rPr>
              <a:t>Check FVD and temporal consistency across frames, not just per-frame quality</a:t>
            </a:r>
          </a:p>
        </p:txBody>
      </p:sp>
      <p:sp>
        <p:nvSpPr>
          <p:cNvPr id="37" name="Rectangle 36"/>
          <p:cNvSpPr/>
          <p:nvPr/>
        </p:nvSpPr>
        <p:spPr>
          <a:xfrm>
            <a:off x="777240" y="4787535"/>
            <a:ext cx="2126894"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4787535"/>
            <a:ext cx="1944014" cy="600891"/>
          </a:xfrm>
          <a:prstGeom prst="rect">
            <a:avLst/>
          </a:prstGeom>
          <a:noFill/>
        </p:spPr>
        <p:txBody>
          <a:bodyPr wrap="square" anchor="ctr">
            <a:spAutoFit/>
          </a:bodyPr>
          <a:lstStyle/>
          <a:p>
            <a:pPr algn="l">
              <a:spcAft>
                <a:spcPts val="400"/>
              </a:spcAft>
            </a:pPr>
            <a:r>
              <a:rPr sz="1000" b="1">
                <a:solidFill>
                  <a:srgbClr val="161B26"/>
                </a:solidFill>
                <a:latin typeface="Arial"/>
              </a:rPr>
              <a:t>Brand / style control</a:t>
            </a:r>
          </a:p>
        </p:txBody>
      </p:sp>
      <p:sp>
        <p:nvSpPr>
          <p:cNvPr id="39" name="Rectangle 38"/>
          <p:cNvSpPr/>
          <p:nvPr/>
        </p:nvSpPr>
        <p:spPr>
          <a:xfrm>
            <a:off x="2904134" y="4787535"/>
            <a:ext cx="3615720"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013862" y="4787535"/>
            <a:ext cx="3432840" cy="600891"/>
          </a:xfrm>
          <a:prstGeom prst="rect">
            <a:avLst/>
          </a:prstGeom>
          <a:noFill/>
        </p:spPr>
        <p:txBody>
          <a:bodyPr wrap="square" anchor="ctr">
            <a:spAutoFit/>
          </a:bodyPr>
          <a:lstStyle/>
          <a:p>
            <a:pPr algn="l">
              <a:spcAft>
                <a:spcPts val="400"/>
              </a:spcAft>
            </a:pPr>
            <a:r>
              <a:rPr sz="1000" b="0">
                <a:solidFill>
                  <a:srgbClr val="161B26"/>
                </a:solidFill>
                <a:latin typeface="Arial"/>
              </a:rPr>
              <a:t>Retrieval conditioning + filters</a:t>
            </a:r>
          </a:p>
        </p:txBody>
      </p:sp>
      <p:sp>
        <p:nvSpPr>
          <p:cNvPr id="41" name="Rectangle 40"/>
          <p:cNvSpPr/>
          <p:nvPr/>
        </p:nvSpPr>
        <p:spPr>
          <a:xfrm>
            <a:off x="6519854" y="4787535"/>
            <a:ext cx="4891857"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29582" y="4787535"/>
            <a:ext cx="4708977" cy="600891"/>
          </a:xfrm>
          <a:prstGeom prst="rect">
            <a:avLst/>
          </a:prstGeom>
          <a:noFill/>
        </p:spPr>
        <p:txBody>
          <a:bodyPr wrap="square" anchor="ctr">
            <a:spAutoFit/>
          </a:bodyPr>
          <a:lstStyle/>
          <a:p>
            <a:pPr algn="l">
              <a:spcAft>
                <a:spcPts val="400"/>
              </a:spcAft>
            </a:pPr>
            <a:r>
              <a:rPr sz="1000" b="0">
                <a:solidFill>
                  <a:srgbClr val="161B26"/>
                </a:solidFill>
                <a:latin typeface="Arial"/>
              </a:rPr>
              <a:t>Cross-attention to exemplar images for style control</a:t>
            </a:r>
          </a:p>
        </p:txBody>
      </p:sp>
      <p:sp>
        <p:nvSpPr>
          <p:cNvPr id="43" name="Rectangle 42"/>
          <p:cNvSpPr/>
          <p:nvPr/>
        </p:nvSpPr>
        <p:spPr>
          <a:xfrm>
            <a:off x="777240" y="5388426"/>
            <a:ext cx="2126894"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5388426"/>
            <a:ext cx="1944014" cy="600891"/>
          </a:xfrm>
          <a:prstGeom prst="rect">
            <a:avLst/>
          </a:prstGeom>
          <a:noFill/>
        </p:spPr>
        <p:txBody>
          <a:bodyPr wrap="square" anchor="ctr">
            <a:spAutoFit/>
          </a:bodyPr>
          <a:lstStyle/>
          <a:p>
            <a:pPr algn="l">
              <a:spcAft>
                <a:spcPts val="400"/>
              </a:spcAft>
            </a:pPr>
            <a:r>
              <a:rPr sz="1000" b="1">
                <a:solidFill>
                  <a:srgbClr val="161B26"/>
                </a:solidFill>
                <a:latin typeface="Arial"/>
              </a:rPr>
              <a:t>Tight privacy</a:t>
            </a:r>
          </a:p>
        </p:txBody>
      </p:sp>
      <p:sp>
        <p:nvSpPr>
          <p:cNvPr id="45" name="Rectangle 44"/>
          <p:cNvSpPr/>
          <p:nvPr/>
        </p:nvSpPr>
        <p:spPr>
          <a:xfrm>
            <a:off x="2904134" y="5388426"/>
            <a:ext cx="3615720"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013862" y="5388426"/>
            <a:ext cx="3432840" cy="600891"/>
          </a:xfrm>
          <a:prstGeom prst="rect">
            <a:avLst/>
          </a:prstGeom>
          <a:noFill/>
        </p:spPr>
        <p:txBody>
          <a:bodyPr wrap="square" anchor="ctr">
            <a:spAutoFit/>
          </a:bodyPr>
          <a:lstStyle/>
          <a:p>
            <a:pPr algn="l">
              <a:spcAft>
                <a:spcPts val="400"/>
              </a:spcAft>
            </a:pPr>
            <a:r>
              <a:rPr sz="1000" b="0">
                <a:solidFill>
                  <a:srgbClr val="161B26"/>
                </a:solidFill>
                <a:latin typeface="Arial"/>
              </a:rPr>
              <a:t>Local open model + provenance tracking</a:t>
            </a:r>
          </a:p>
        </p:txBody>
      </p:sp>
      <p:sp>
        <p:nvSpPr>
          <p:cNvPr id="47" name="Rectangle 46"/>
          <p:cNvSpPr/>
          <p:nvPr/>
        </p:nvSpPr>
        <p:spPr>
          <a:xfrm>
            <a:off x="6519854" y="5388426"/>
            <a:ext cx="4891857"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629582" y="5388426"/>
            <a:ext cx="4708977" cy="600891"/>
          </a:xfrm>
          <a:prstGeom prst="rect">
            <a:avLst/>
          </a:prstGeom>
          <a:noFill/>
        </p:spPr>
        <p:txBody>
          <a:bodyPr wrap="square" anchor="ctr">
            <a:spAutoFit/>
          </a:bodyPr>
          <a:lstStyle/>
          <a:p>
            <a:pPr algn="l">
              <a:spcAft>
                <a:spcPts val="400"/>
              </a:spcAft>
            </a:pPr>
            <a:r>
              <a:rPr sz="1000" b="0">
                <a:solidFill>
                  <a:srgbClr val="161B26"/>
                </a:solidFill>
                <a:latin typeface="Arial"/>
              </a:rPr>
              <a:t>On-premises logging and verifiable provenance</a:t>
            </a:r>
          </a:p>
        </p:txBody>
      </p:sp>
      <p:sp>
        <p:nvSpPr>
          <p:cNvPr id="49" name="TextBox 48"/>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Apply this to each of your accepted use cases from Lab 01. The matrix is a starting point that still has to be justified against your measurements.</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transition spd="fast">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F59E0B"/>
                </a:solidFill>
                <a:latin typeface="Arial"/>
              </a:rPr>
              <a:t>K13 · SOURCE S18 · CH.7 P.100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Energy and Carbon Are Reportable Engineering Numbers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12263"/>
            <a:ext cx="2996184" cy="457200"/>
          </a:xfrm>
          <a:prstGeom prst="rect">
            <a:avLst/>
          </a:prstGeom>
          <a:noFill/>
        </p:spPr>
        <p:txBody>
          <a:bodyPr wrap="square" anchor="t">
            <a:spAutoFit/>
          </a:bodyPr>
          <a:lstStyle/>
          <a:p>
            <a:pPr algn="l">
              <a:spcAft>
                <a:spcPts val="400"/>
              </a:spcAft>
            </a:pPr>
            <a:r>
              <a:rPr sz="1500" b="1">
                <a:solidFill>
                  <a:srgbClr val="1F6FEB"/>
                </a:solidFill>
                <a:latin typeface="Arial"/>
              </a:rPr>
              <a:t>Energy per sample</a:t>
            </a:r>
          </a:p>
        </p:txBody>
      </p:sp>
      <p:sp>
        <p:nvSpPr>
          <p:cNvPr id="10" name="Rectangle 9"/>
          <p:cNvSpPr/>
          <p:nvPr/>
        </p:nvSpPr>
        <p:spPr>
          <a:xfrm>
            <a:off x="960120" y="2715767"/>
            <a:ext cx="2996184" cy="17373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15767"/>
            <a:ext cx="2813304" cy="1737360"/>
          </a:xfrm>
          <a:prstGeom prst="rect">
            <a:avLst/>
          </a:prstGeom>
          <a:noFill/>
        </p:spPr>
        <p:txBody>
          <a:bodyPr wrap="none" lIns="0" rIns="0" tIns="0" bIns="0" anchor="ctr">
            <a:noAutofit/>
          </a:bodyPr>
          <a:lstStyle/>
          <a:p>
            <a:pPr>
              <a:spcAft>
                <a:spcPts val="100"/>
              </a:spcAft>
            </a:pPr>
            <a:r>
              <a:rPr sz="1400">
                <a:solidFill>
                  <a:srgbClr val="9CDCFE"/>
                </a:solidFill>
                <a:latin typeface="Consolas"/>
              </a:rPr>
              <a:t>E ≈ κ · η · FLOPs</a:t>
            </a:r>
          </a:p>
          <a:p>
            <a:pPr>
              <a:spcAft>
                <a:spcPts val="100"/>
              </a:spcAft>
            </a:pPr>
            <a:r>
              <a:rPr sz="1400">
                <a:solidFill>
                  <a:srgbClr val="9CDCFE"/>
                </a:solidFill>
                <a:latin typeface="Consolas"/>
              </a:rPr>
              <a:t> </a:t>
            </a:r>
          </a:p>
          <a:p>
            <a:pPr>
              <a:spcAft>
                <a:spcPts val="100"/>
              </a:spcAft>
            </a:pPr>
            <a:r>
              <a:rPr sz="1400">
                <a:solidFill>
                  <a:srgbClr val="9CDCFE"/>
                </a:solidFill>
                <a:latin typeface="Consolas"/>
              </a:rPr>
              <a:t>κ = overhead</a:t>
            </a:r>
          </a:p>
          <a:p>
            <a:pPr>
              <a:spcAft>
                <a:spcPts val="100"/>
              </a:spcAft>
            </a:pPr>
            <a:r>
              <a:rPr sz="1400">
                <a:solidFill>
                  <a:srgbClr val="9CDCFE"/>
                </a:solidFill>
                <a:latin typeface="Consolas"/>
              </a:rPr>
              <a:t>η = J per FLOP</a:t>
            </a:r>
          </a:p>
        </p:txBody>
      </p:sp>
      <p:sp>
        <p:nvSpPr>
          <p:cNvPr id="12" name="TextBox 11"/>
          <p:cNvSpPr txBox="1"/>
          <p:nvPr/>
        </p:nvSpPr>
        <p:spPr>
          <a:xfrm>
            <a:off x="960120" y="4562855"/>
            <a:ext cx="2996184" cy="795528"/>
          </a:xfrm>
          <a:prstGeom prst="rect">
            <a:avLst/>
          </a:prstGeom>
          <a:noFill/>
        </p:spPr>
        <p:txBody>
          <a:bodyPr wrap="square" anchor="t">
            <a:spAutoFit/>
          </a:bodyPr>
          <a:lstStyle/>
          <a:p>
            <a:pPr algn="l">
              <a:spcAft>
                <a:spcPts val="400"/>
              </a:spcAft>
            </a:pPr>
            <a:r>
              <a:rPr sz="1000" b="0">
                <a:solidFill>
                  <a:srgbClr val="5B6372"/>
                </a:solidFill>
                <a:latin typeface="Arial"/>
              </a:rPr>
              <a:t>Datacentre overhead factor times energy per FLOP times FLOPs per sample. The Lab 12 classroom values give 9,800 J per generated sample — labelled ILLUSTRATIVE, and not a figure to quote.</a:t>
            </a:r>
          </a:p>
        </p:txBody>
      </p:sp>
      <p:sp>
        <p:nvSpPr>
          <p:cNvPr id="13" name="Rectangle 12"/>
          <p:cNvSpPr/>
          <p:nvPr/>
        </p:nvSpPr>
        <p:spPr>
          <a:xfrm>
            <a:off x="4413504"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6384" y="2112263"/>
            <a:ext cx="2996184" cy="457200"/>
          </a:xfrm>
          <a:prstGeom prst="rect">
            <a:avLst/>
          </a:prstGeom>
          <a:noFill/>
        </p:spPr>
        <p:txBody>
          <a:bodyPr wrap="square" anchor="t">
            <a:spAutoFit/>
          </a:bodyPr>
          <a:lstStyle/>
          <a:p>
            <a:pPr algn="l">
              <a:spcAft>
                <a:spcPts val="400"/>
              </a:spcAft>
            </a:pPr>
            <a:r>
              <a:rPr sz="1500" b="1">
                <a:solidFill>
                  <a:srgbClr val="10B981"/>
                </a:solidFill>
                <a:latin typeface="Arial"/>
              </a:rPr>
              <a:t>What a real figure needs</a:t>
            </a:r>
          </a:p>
        </p:txBody>
      </p:sp>
      <p:sp>
        <p:nvSpPr>
          <p:cNvPr id="16" name="Rectangle 15"/>
          <p:cNvSpPr/>
          <p:nvPr/>
        </p:nvSpPr>
        <p:spPr>
          <a:xfrm>
            <a:off x="4596384" y="2715767"/>
            <a:ext cx="2996184" cy="17373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7824" y="2715767"/>
            <a:ext cx="2813304" cy="1737360"/>
          </a:xfrm>
          <a:prstGeom prst="rect">
            <a:avLst/>
          </a:prstGeom>
          <a:noFill/>
        </p:spPr>
        <p:txBody>
          <a:bodyPr wrap="none" lIns="0" rIns="0" tIns="0" bIns="0" anchor="ctr">
            <a:noAutofit/>
          </a:bodyPr>
          <a:lstStyle/>
          <a:p>
            <a:pPr>
              <a:spcAft>
                <a:spcPts val="100"/>
              </a:spcAft>
            </a:pPr>
            <a:r>
              <a:rPr sz="1400">
                <a:solidFill>
                  <a:srgbClr val="9CDCFE"/>
                </a:solidFill>
                <a:latin typeface="Consolas"/>
              </a:rPr>
              <a:t>hardware inventory</a:t>
            </a:r>
          </a:p>
          <a:p>
            <a:pPr>
              <a:spcAft>
                <a:spcPts val="100"/>
              </a:spcAft>
            </a:pPr>
            <a:r>
              <a:rPr sz="1400">
                <a:solidFill>
                  <a:srgbClr val="9CDCFE"/>
                </a:solidFill>
                <a:latin typeface="Consolas"/>
              </a:rPr>
              <a:t>count + utilisation</a:t>
            </a:r>
          </a:p>
          <a:p>
            <a:pPr>
              <a:spcAft>
                <a:spcPts val="100"/>
              </a:spcAft>
            </a:pPr>
            <a:r>
              <a:rPr sz="1400">
                <a:solidFill>
                  <a:srgbClr val="9CDCFE"/>
                </a:solidFill>
                <a:latin typeface="Consolas"/>
              </a:rPr>
              <a:t>total kWh</a:t>
            </a:r>
          </a:p>
          <a:p>
            <a:pPr>
              <a:spcAft>
                <a:spcPts val="100"/>
              </a:spcAft>
            </a:pPr>
            <a:r>
              <a:rPr sz="1400">
                <a:solidFill>
                  <a:srgbClr val="9CDCFE"/>
                </a:solidFill>
                <a:latin typeface="Consolas"/>
              </a:rPr>
              <a:t>PUE or κ</a:t>
            </a:r>
          </a:p>
          <a:p>
            <a:pPr>
              <a:spcAft>
                <a:spcPts val="100"/>
              </a:spcAft>
            </a:pPr>
            <a:r>
              <a:rPr sz="1400">
                <a:solidFill>
                  <a:srgbClr val="9CDCFE"/>
                </a:solidFill>
                <a:latin typeface="Consolas"/>
              </a:rPr>
              <a:t>grid CI (kgCO₂e/kWh)</a:t>
            </a:r>
          </a:p>
          <a:p>
            <a:pPr>
              <a:spcAft>
                <a:spcPts val="100"/>
              </a:spcAft>
            </a:pPr>
            <a:r>
              <a:rPr sz="1400">
                <a:solidFill>
                  <a:srgbClr val="9CDCFE"/>
                </a:solidFill>
                <a:latin typeface="Consolas"/>
              </a:rPr>
              <a:t>joules per sample</a:t>
            </a:r>
          </a:p>
        </p:txBody>
      </p:sp>
      <p:sp>
        <p:nvSpPr>
          <p:cNvPr id="18" name="TextBox 17"/>
          <p:cNvSpPr txBox="1"/>
          <p:nvPr/>
        </p:nvSpPr>
        <p:spPr>
          <a:xfrm>
            <a:off x="4596384" y="4562855"/>
            <a:ext cx="2996184" cy="795528"/>
          </a:xfrm>
          <a:prstGeom prst="rect">
            <a:avLst/>
          </a:prstGeom>
          <a:noFill/>
        </p:spPr>
        <p:txBody>
          <a:bodyPr wrap="square" anchor="t">
            <a:spAutoFit/>
          </a:bodyPr>
          <a:lstStyle/>
          <a:p>
            <a:pPr algn="l">
              <a:spcAft>
                <a:spcPts val="400"/>
              </a:spcAft>
            </a:pPr>
            <a:r>
              <a:rPr sz="1200" b="0">
                <a:solidFill>
                  <a:srgbClr val="5B6372"/>
                </a:solidFill>
                <a:latin typeface="Arial"/>
              </a:rPr>
              <a:t>Six items. Publishing energy per sample without them is a number, not a measurement.</a:t>
            </a:r>
          </a:p>
        </p:txBody>
      </p:sp>
      <p:sp>
        <p:nvSpPr>
          <p:cNvPr id="19" name="Rectangle 18"/>
          <p:cNvSpPr/>
          <p:nvPr/>
        </p:nvSpPr>
        <p:spPr>
          <a:xfrm>
            <a:off x="8049768"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2648" y="2112263"/>
            <a:ext cx="2996184" cy="457200"/>
          </a:xfrm>
          <a:prstGeom prst="rect">
            <a:avLst/>
          </a:prstGeom>
          <a:noFill/>
        </p:spPr>
        <p:txBody>
          <a:bodyPr wrap="square" anchor="t">
            <a:spAutoFit/>
          </a:bodyPr>
          <a:lstStyle/>
          <a:p>
            <a:pPr algn="l">
              <a:spcAft>
                <a:spcPts val="400"/>
              </a:spcAft>
            </a:pPr>
            <a:r>
              <a:rPr sz="1500" b="1">
                <a:solidFill>
                  <a:srgbClr val="7C3AED"/>
                </a:solidFill>
                <a:latin typeface="Arial"/>
              </a:rPr>
              <a:t>What reduces it</a:t>
            </a:r>
          </a:p>
        </p:txBody>
      </p:sp>
      <p:sp>
        <p:nvSpPr>
          <p:cNvPr id="22" name="Rectangle 21"/>
          <p:cNvSpPr/>
          <p:nvPr/>
        </p:nvSpPr>
        <p:spPr>
          <a:xfrm>
            <a:off x="8232648"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4088" y="2715767"/>
            <a:ext cx="2813304" cy="1042416"/>
          </a:xfrm>
          <a:prstGeom prst="rect">
            <a:avLst/>
          </a:prstGeom>
          <a:noFill/>
        </p:spPr>
        <p:txBody>
          <a:bodyPr wrap="none" lIns="0" rIns="0" tIns="0" bIns="0" anchor="ctr">
            <a:noAutofit/>
          </a:bodyPr>
          <a:lstStyle/>
          <a:p>
            <a:pPr>
              <a:spcAft>
                <a:spcPts val="100"/>
              </a:spcAft>
            </a:pPr>
            <a:r>
              <a:rPr sz="1400">
                <a:solidFill>
                  <a:srgbClr val="9CDCFE"/>
                </a:solidFill>
                <a:latin typeface="Consolas"/>
              </a:rPr>
              <a:t>↓ FLOPs/sample</a:t>
            </a:r>
          </a:p>
          <a:p>
            <a:pPr>
              <a:spcAft>
                <a:spcPts val="100"/>
              </a:spcAft>
            </a:pPr>
            <a:r>
              <a:rPr sz="1400">
                <a:solidFill>
                  <a:srgbClr val="9CDCFE"/>
                </a:solidFill>
                <a:latin typeface="Consolas"/>
              </a:rPr>
              <a:t>↓ memory traffic</a:t>
            </a:r>
          </a:p>
        </p:txBody>
      </p:sp>
      <p:sp>
        <p:nvSpPr>
          <p:cNvPr id="24" name="TextBox 23"/>
          <p:cNvSpPr txBox="1"/>
          <p:nvPr/>
        </p:nvSpPr>
        <p:spPr>
          <a:xfrm>
            <a:off x="8232648"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Sampler distillation, quantisation and latent-space modelling all reduce one or both, so they reduce E as a side effect of reducing cost.</a:t>
            </a:r>
          </a:p>
        </p:txBody>
      </p:sp>
      <p:sp>
        <p:nvSpPr>
          <p:cNvPr id="25" name="TextBox 2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Also report the sampler configuration (S, guidance), the precision and the adapter rank alongside the energy figure — otherwise it cannot be reproduced.</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transition spd="fast">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DC2626"/>
                </a:solidFill>
                <a:latin typeface="Arial"/>
              </a:rPr>
              <a:t>K13 · SOURCE S13 · MULTIMODAL GENERATIVE AI, CH.9 PP.150–152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Security Risks Specific to Multimodal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Multimodal prompt injection</a:t>
            </a:r>
          </a:p>
          <a:p>
            <a:pPr algn="l">
              <a:spcAft>
                <a:spcPts val="200"/>
              </a:spcAft>
            </a:pPr>
            <a:r>
              <a:rPr sz="1000" b="0">
                <a:solidFill>
                  <a:srgbClr val="5B6372"/>
                </a:solidFill>
                <a:latin typeface="Arial"/>
              </a:rPr>
              <a:t>Instructions hidden in an IMAGE rather than in the text field, reaching a model that reads both.</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Steganography</a:t>
            </a:r>
          </a:p>
          <a:p>
            <a:pPr algn="l">
              <a:spcAft>
                <a:spcPts val="200"/>
              </a:spcAft>
            </a:pPr>
            <a:r>
              <a:rPr sz="1000" b="0">
                <a:solidFill>
                  <a:srgbClr val="5B6372"/>
                </a:solidFill>
                <a:latin typeface="Arial"/>
              </a:rPr>
              <a:t>A payload concealed inside image data, invisible to a human reviewer and carried through the pipeline intact.</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Side-channel attacks</a:t>
            </a:r>
          </a:p>
          <a:p>
            <a:pPr algn="l">
              <a:spcAft>
                <a:spcPts val="200"/>
              </a:spcAft>
            </a:pPr>
            <a:r>
              <a:rPr sz="1000" b="0">
                <a:solidFill>
                  <a:srgbClr val="5B6372"/>
                </a:solidFill>
                <a:latin typeface="Arial"/>
              </a:rPr>
              <a:t>Inferring protected information from timing, size or other observable behaviour rather than from the output.</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Data leakage into a vendor</a:t>
            </a:r>
          </a:p>
          <a:p>
            <a:pPr algn="l">
              <a:spcAft>
                <a:spcPts val="200"/>
              </a:spcAft>
            </a:pPr>
            <a:r>
              <a:rPr sz="1000" b="0">
                <a:solidFill>
                  <a:srgbClr val="5B6372"/>
                </a:solidFill>
                <a:latin typeface="Arial"/>
              </a:rPr>
              <a:t>The named real-world example is the Samsung leak: confidential material pasted into an external assistant.</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Tailor the architecture</a:t>
            </a:r>
          </a:p>
          <a:p>
            <a:pPr algn="l">
              <a:spcAft>
                <a:spcPts val="200"/>
              </a:spcAft>
            </a:pPr>
            <a:r>
              <a:rPr sz="1000" b="0">
                <a:solidFill>
                  <a:srgbClr val="5B6372"/>
                </a:solidFill>
                <a:latin typeface="Arial"/>
              </a:rPr>
              <a:t>Match the deployment to your data-protection obligations. That is an architecture decision, not a policy document.</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Sanitise and filter</a:t>
            </a:r>
          </a:p>
          <a:p>
            <a:pPr algn="l">
              <a:spcAft>
                <a:spcPts val="200"/>
              </a:spcAft>
            </a:pPr>
            <a:r>
              <a:rPr sz="1000" b="0">
                <a:solidFill>
                  <a:srgbClr val="5B6372"/>
                </a:solidFill>
                <a:latin typeface="Arial"/>
              </a:rPr>
              <a:t>Input filters, retrieval sanitation, policy-constrained decoding and output classifiers, re-audited after every model or guardrail change.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transition spd="fast">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7C3AED"/>
                </a:solidFill>
                <a:latin typeface="Arial"/>
              </a:rPr>
              <a:t>K11, K13 · SOURCES S12, S17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Governance That Travels With the Asset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C2PA Content Credentials</a:t>
            </a:r>
          </a:p>
          <a:p>
            <a:pPr algn="l">
              <a:spcAft>
                <a:spcPts val="200"/>
              </a:spcAft>
            </a:pPr>
            <a:r>
              <a:rPr sz="1000" b="0">
                <a:solidFill>
                  <a:srgbClr val="5B6372"/>
                </a:solidFill>
                <a:latin typeface="Arial"/>
              </a:rPr>
              <a:t>Tamper-evident metadata attached to the file: origin, creator and edit history, verifiable by a consumer or a platform.</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Robust watermarking</a:t>
            </a:r>
          </a:p>
          <a:p>
            <a:pPr algn="l">
              <a:spcAft>
                <a:spcPts val="200"/>
              </a:spcAft>
            </a:pPr>
            <a:r>
              <a:rPr sz="1000" b="0">
                <a:solidFill>
                  <a:srgbClr val="5B6372"/>
                </a:solidFill>
                <a:latin typeface="Arial"/>
              </a:rPr>
              <a:t>An invisible signal in the content itself, designed to survive compression, resizing and format change. Test detectability under YOUR edits.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Model cards</a:t>
            </a:r>
          </a:p>
          <a:p>
            <a:pPr algn="l">
              <a:spcAft>
                <a:spcPts val="200"/>
              </a:spcAft>
            </a:pPr>
            <a:r>
              <a:rPr sz="1000" b="0">
                <a:solidFill>
                  <a:srgbClr val="5B6372"/>
                </a:solidFill>
                <a:latin typeface="Arial"/>
              </a:rPr>
              <a:t>A standardised 'nutrition label for AI': version, architecture, developer, intended use, known limitations.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Dataset governance</a:t>
            </a:r>
          </a:p>
          <a:p>
            <a:pPr algn="l">
              <a:spcAft>
                <a:spcPts val="200"/>
              </a:spcAft>
            </a:pPr>
            <a:r>
              <a:rPr sz="1000" b="0">
                <a:solidFill>
                  <a:srgbClr val="5B6372"/>
                </a:solidFill>
                <a:latin typeface="Arial"/>
              </a:rPr>
              <a:t>Licences, consent and attribution recorded for every training and conditioning input. Outputs must respect source licences.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Red-teaming</a:t>
            </a:r>
          </a:p>
          <a:p>
            <a:pPr algn="l">
              <a:spcAft>
                <a:spcPts val="200"/>
              </a:spcAft>
            </a:pPr>
            <a:r>
              <a:rPr sz="1000" b="0">
                <a:solidFill>
                  <a:srgbClr val="5B6372"/>
                </a:solidFill>
                <a:latin typeface="Arial"/>
              </a:rPr>
              <a:t>Adversarial prompt sets probing toxicity, bias, impersonation and unsafe content — re-run after every model, data or guardrail change.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Provenance in the pipeline</a:t>
            </a:r>
          </a:p>
          <a:p>
            <a:pPr algn="l">
              <a:spcAft>
                <a:spcPts val="200"/>
              </a:spcAft>
            </a:pPr>
            <a:r>
              <a:rPr sz="1000" b="0">
                <a:solidFill>
                  <a:srgbClr val="5B6372"/>
                </a:solidFill>
                <a:latin typeface="Arial"/>
              </a:rPr>
              <a:t>Every asset carries model ID, prompt version, watermark expectation and reviewer. This is the same discipline the labs enforce.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transition spd="fast">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7C3AED"/>
                </a:solidFill>
                <a:latin typeface="Arial"/>
              </a:rPr>
              <a:t>A7 · THE OUTPUT OF LAB 12, ANNOTATED WITH MEASUREMENTS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Reference Architecture You Will Defend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10512"/>
            <a:ext cx="7315200" cy="877824"/>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2331720" cy="8778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1810512"/>
            <a:ext cx="2103120" cy="877824"/>
          </a:xfrm>
          <a:prstGeom prst="rect">
            <a:avLst/>
          </a:prstGeom>
          <a:noFill/>
        </p:spPr>
        <p:txBody>
          <a:bodyPr wrap="square" anchor="ctr">
            <a:spAutoFit/>
          </a:bodyPr>
          <a:lstStyle/>
          <a:p>
            <a:pPr algn="l">
              <a:spcAft>
                <a:spcPts val="400"/>
              </a:spcAft>
            </a:pPr>
            <a:r>
              <a:rPr sz="1250" b="1">
                <a:solidFill>
                  <a:srgbClr val="FFFFFF"/>
                </a:solidFill>
                <a:latin typeface="Arial"/>
              </a:rPr>
              <a:t>STORE (edge)</a:t>
            </a:r>
          </a:p>
        </p:txBody>
      </p:sp>
      <p:sp>
        <p:nvSpPr>
          <p:cNvPr id="10" name="TextBox 9"/>
          <p:cNvSpPr txBox="1"/>
          <p:nvPr/>
        </p:nvSpPr>
        <p:spPr>
          <a:xfrm>
            <a:off x="3291840" y="1810512"/>
            <a:ext cx="4617720" cy="877824"/>
          </a:xfrm>
          <a:prstGeom prst="rect">
            <a:avLst/>
          </a:prstGeom>
          <a:noFill/>
        </p:spPr>
        <p:txBody>
          <a:bodyPr wrap="square" anchor="ctr">
            <a:spAutoFit/>
          </a:bodyPr>
          <a:lstStyle/>
          <a:p>
            <a:pPr algn="l">
              <a:spcAft>
                <a:spcPts val="400"/>
              </a:spcAft>
            </a:pPr>
            <a:r>
              <a:rPr sz="1200" b="0">
                <a:solidFill>
                  <a:srgbClr val="161B26"/>
                </a:solidFill>
                <a:latin typeface="Arial"/>
              </a:rPr>
              <a:t>Camera → decode → pre-process → detect → track → EVENT. Nothing leaves the store network but a few hundred bytes per event.</a:t>
            </a:r>
          </a:p>
        </p:txBody>
      </p:sp>
      <p:cxnSp>
        <p:nvCxnSpPr>
          <p:cNvPr id="11" name="Connector 10"/>
          <p:cNvCxnSpPr/>
          <p:nvPr/>
        </p:nvCxnSpPr>
        <p:spPr>
          <a:xfrm>
            <a:off x="4434840" y="2688336"/>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77240" y="2889504"/>
            <a:ext cx="7315200" cy="877824"/>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89504"/>
            <a:ext cx="2331720" cy="8778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889504"/>
            <a:ext cx="2103120" cy="877824"/>
          </a:xfrm>
          <a:prstGeom prst="rect">
            <a:avLst/>
          </a:prstGeom>
          <a:noFill/>
        </p:spPr>
        <p:txBody>
          <a:bodyPr wrap="square" anchor="ctr">
            <a:spAutoFit/>
          </a:bodyPr>
          <a:lstStyle/>
          <a:p>
            <a:pPr algn="l">
              <a:spcAft>
                <a:spcPts val="400"/>
              </a:spcAft>
            </a:pPr>
            <a:r>
              <a:rPr sz="1250" b="1">
                <a:solidFill>
                  <a:srgbClr val="FFFFFF"/>
                </a:solidFill>
                <a:latin typeface="Arial"/>
              </a:rPr>
              <a:t>REGIONAL GATEWAY</a:t>
            </a:r>
          </a:p>
        </p:txBody>
      </p:sp>
      <p:sp>
        <p:nvSpPr>
          <p:cNvPr id="15" name="TextBox 14"/>
          <p:cNvSpPr txBox="1"/>
          <p:nvPr/>
        </p:nvSpPr>
        <p:spPr>
          <a:xfrm>
            <a:off x="3291840" y="2889504"/>
            <a:ext cx="4617720" cy="877824"/>
          </a:xfrm>
          <a:prstGeom prst="rect">
            <a:avLst/>
          </a:prstGeom>
          <a:noFill/>
        </p:spPr>
        <p:txBody>
          <a:bodyPr wrap="square" anchor="ctr">
            <a:spAutoFit/>
          </a:bodyPr>
          <a:lstStyle/>
          <a:p>
            <a:pPr algn="l">
              <a:spcAft>
                <a:spcPts val="400"/>
              </a:spcAft>
            </a:pPr>
            <a:r>
              <a:rPr sz="1200" b="0">
                <a:solidFill>
                  <a:srgbClr val="161B26"/>
                </a:solidFill>
                <a:latin typeface="Arial"/>
              </a:rPr>
              <a:t>MQTT broker aggregating events from 41 stores; buffers through link outages; no image payload.</a:t>
            </a:r>
          </a:p>
        </p:txBody>
      </p:sp>
      <p:cxnSp>
        <p:nvCxnSpPr>
          <p:cNvPr id="16" name="Connector 15"/>
          <p:cNvCxnSpPr/>
          <p:nvPr/>
        </p:nvCxnSpPr>
        <p:spPr>
          <a:xfrm>
            <a:off x="4434840" y="3767328"/>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77240" y="3968496"/>
            <a:ext cx="7315200" cy="877824"/>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968496"/>
            <a:ext cx="2331720" cy="8778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3544" y="3968496"/>
            <a:ext cx="2103120" cy="877824"/>
          </a:xfrm>
          <a:prstGeom prst="rect">
            <a:avLst/>
          </a:prstGeom>
          <a:noFill/>
        </p:spPr>
        <p:txBody>
          <a:bodyPr wrap="square" anchor="ctr">
            <a:spAutoFit/>
          </a:bodyPr>
          <a:lstStyle/>
          <a:p>
            <a:pPr algn="l">
              <a:spcAft>
                <a:spcPts val="400"/>
              </a:spcAft>
            </a:pPr>
            <a:r>
              <a:rPr sz="1250" b="1">
                <a:solidFill>
                  <a:srgbClr val="FFFFFF"/>
                </a:solidFill>
                <a:latin typeface="Arial"/>
              </a:rPr>
              <a:t>CLOUD — MODELLING</a:t>
            </a:r>
          </a:p>
        </p:txBody>
      </p:sp>
      <p:sp>
        <p:nvSpPr>
          <p:cNvPr id="20" name="TextBox 19"/>
          <p:cNvSpPr txBox="1"/>
          <p:nvPr/>
        </p:nvSpPr>
        <p:spPr>
          <a:xfrm>
            <a:off x="3291840" y="3968496"/>
            <a:ext cx="4617720" cy="877824"/>
          </a:xfrm>
          <a:prstGeom prst="rect">
            <a:avLst/>
          </a:prstGeom>
          <a:noFill/>
        </p:spPr>
        <p:txBody>
          <a:bodyPr wrap="square" anchor="ctr">
            <a:spAutoFit/>
          </a:bodyPr>
          <a:lstStyle/>
          <a:p>
            <a:pPr algn="l">
              <a:spcAft>
                <a:spcPts val="400"/>
              </a:spcAft>
            </a:pPr>
            <a:r>
              <a:rPr sz="1200" b="0">
                <a:solidFill>
                  <a:srgbClr val="161B26"/>
                </a:solidFill>
                <a:latin typeface="Arial"/>
              </a:rPr>
              <a:t>Generation, heavy editing and training. Consumes approved catalogue assets, never store camera frames.</a:t>
            </a:r>
          </a:p>
        </p:txBody>
      </p:sp>
      <p:cxnSp>
        <p:nvCxnSpPr>
          <p:cNvPr id="21" name="Connector 20"/>
          <p:cNvCxnSpPr/>
          <p:nvPr/>
        </p:nvCxnSpPr>
        <p:spPr>
          <a:xfrm>
            <a:off x="4434840" y="4846320"/>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 y="5047488"/>
            <a:ext cx="7315200" cy="877824"/>
          </a:xfrm>
          <a:prstGeom prst="roundRect">
            <a:avLst/>
          </a:prstGeom>
          <a:solidFill>
            <a:srgbClr val="F5F8FC"/>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047488"/>
            <a:ext cx="2331720" cy="8778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 y="5047488"/>
            <a:ext cx="2103120" cy="877824"/>
          </a:xfrm>
          <a:prstGeom prst="rect">
            <a:avLst/>
          </a:prstGeom>
          <a:noFill/>
        </p:spPr>
        <p:txBody>
          <a:bodyPr wrap="square" anchor="ctr">
            <a:spAutoFit/>
          </a:bodyPr>
          <a:lstStyle/>
          <a:p>
            <a:pPr algn="l">
              <a:spcAft>
                <a:spcPts val="400"/>
              </a:spcAft>
            </a:pPr>
            <a:r>
              <a:rPr sz="1250" b="1">
                <a:solidFill>
                  <a:srgbClr val="FFFFFF"/>
                </a:solidFill>
                <a:latin typeface="Arial"/>
              </a:rPr>
              <a:t>CLOUD — APPLICATION</a:t>
            </a:r>
          </a:p>
        </p:txBody>
      </p:sp>
      <p:sp>
        <p:nvSpPr>
          <p:cNvPr id="25" name="TextBox 24"/>
          <p:cNvSpPr txBox="1"/>
          <p:nvPr/>
        </p:nvSpPr>
        <p:spPr>
          <a:xfrm>
            <a:off x="3291840" y="5047488"/>
            <a:ext cx="4617720" cy="877824"/>
          </a:xfrm>
          <a:prstGeom prst="rect">
            <a:avLst/>
          </a:prstGeom>
          <a:noFill/>
        </p:spPr>
        <p:txBody>
          <a:bodyPr wrap="square" anchor="ctr">
            <a:spAutoFit/>
          </a:bodyPr>
          <a:lstStyle/>
          <a:p>
            <a:pPr algn="l">
              <a:spcAft>
                <a:spcPts val="400"/>
              </a:spcAft>
            </a:pPr>
            <a:r>
              <a:rPr sz="1200" b="0">
                <a:solidFill>
                  <a:srgbClr val="161B26"/>
                </a:solidFill>
                <a:latin typeface="Arial"/>
              </a:rPr>
              <a:t>Consistency gate, review queue, asset store with provenance records, and the dashboards the business actually looks at.</a:t>
            </a:r>
          </a:p>
        </p:txBody>
      </p:sp>
      <p:sp>
        <p:nvSpPr>
          <p:cNvPr id="26" name="Rectangle 25"/>
          <p:cNvSpPr/>
          <p:nvPr/>
        </p:nvSpPr>
        <p:spPr>
          <a:xfrm>
            <a:off x="8366760" y="1810512"/>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366760" y="1810512"/>
            <a:ext cx="82296" cy="9052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67928" y="1810512"/>
            <a:ext cx="2679192" cy="905256"/>
          </a:xfrm>
          <a:prstGeom prst="rect">
            <a:avLst/>
          </a:prstGeom>
          <a:noFill/>
        </p:spPr>
        <p:txBody>
          <a:bodyPr wrap="square" anchor="ctr">
            <a:spAutoFit/>
          </a:bodyPr>
          <a:lstStyle/>
          <a:p>
            <a:pPr algn="l">
              <a:spcAft>
                <a:spcPts val="200"/>
              </a:spcAft>
            </a:pPr>
            <a:r>
              <a:rPr sz="1200" b="1">
                <a:solidFill>
                  <a:srgbClr val="1F6FEB"/>
                </a:solidFill>
                <a:latin typeface="Arial"/>
              </a:rPr>
              <a:t>Measured</a:t>
            </a:r>
          </a:p>
          <a:p>
            <a:pPr algn="l">
              <a:spcAft>
                <a:spcPts val="200"/>
              </a:spcAft>
            </a:pPr>
            <a:r>
              <a:rPr sz="1100" b="0">
                <a:solidFill>
                  <a:srgbClr val="161B26"/>
                </a:solidFill>
                <a:latin typeface="Arial"/>
              </a:rPr>
              <a:t>78.6 ms end-to-end edge latency against a 400 ms budget.</a:t>
            </a:r>
          </a:p>
        </p:txBody>
      </p:sp>
      <p:sp>
        <p:nvSpPr>
          <p:cNvPr id="29" name="Rectangle 28"/>
          <p:cNvSpPr/>
          <p:nvPr/>
        </p:nvSpPr>
        <p:spPr>
          <a:xfrm>
            <a:off x="8366760" y="2880360"/>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66760" y="2880360"/>
            <a:ext cx="82296" cy="9052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67928" y="2880360"/>
            <a:ext cx="2679192" cy="905256"/>
          </a:xfrm>
          <a:prstGeom prst="rect">
            <a:avLst/>
          </a:prstGeom>
          <a:noFill/>
        </p:spPr>
        <p:txBody>
          <a:bodyPr wrap="square" anchor="ctr">
            <a:spAutoFit/>
          </a:bodyPr>
          <a:lstStyle/>
          <a:p>
            <a:pPr algn="l">
              <a:spcAft>
                <a:spcPts val="200"/>
              </a:spcAft>
            </a:pPr>
            <a:r>
              <a:rPr sz="1200" b="1">
                <a:solidFill>
                  <a:srgbClr val="10B981"/>
                </a:solidFill>
                <a:latin typeface="Arial"/>
              </a:rPr>
              <a:t>Computed</a:t>
            </a:r>
          </a:p>
          <a:p>
            <a:pPr algn="l">
              <a:spcAft>
                <a:spcPts val="200"/>
              </a:spcAft>
            </a:pPr>
            <a:r>
              <a:rPr sz="1100" b="0">
                <a:solidFill>
                  <a:srgbClr val="161B26"/>
                </a:solidFill>
                <a:latin typeface="Arial"/>
              </a:rPr>
              <a:t>0.00032 Mbit/s per store; 0.0000131 Gbit/s across the estate.</a:t>
            </a:r>
          </a:p>
        </p:txBody>
      </p:sp>
      <p:sp>
        <p:nvSpPr>
          <p:cNvPr id="32" name="Rectangle 31"/>
          <p:cNvSpPr/>
          <p:nvPr/>
        </p:nvSpPr>
        <p:spPr>
          <a:xfrm>
            <a:off x="8366760" y="3950208"/>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366760" y="3950208"/>
            <a:ext cx="82296" cy="9052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67928" y="3950208"/>
            <a:ext cx="2679192" cy="905256"/>
          </a:xfrm>
          <a:prstGeom prst="rect">
            <a:avLst/>
          </a:prstGeom>
          <a:noFill/>
        </p:spPr>
        <p:txBody>
          <a:bodyPr wrap="square" anchor="ctr">
            <a:spAutoFit/>
          </a:bodyPr>
          <a:lstStyle/>
          <a:p>
            <a:pPr algn="l">
              <a:spcAft>
                <a:spcPts val="200"/>
              </a:spcAft>
            </a:pPr>
            <a:r>
              <a:rPr sz="1200" b="1">
                <a:solidFill>
                  <a:srgbClr val="7C3AED"/>
                </a:solidFill>
                <a:latin typeface="Arial"/>
              </a:rPr>
              <a:t>Gated</a:t>
            </a:r>
          </a:p>
          <a:p>
            <a:pPr algn="l">
              <a:spcAft>
                <a:spcPts val="200"/>
              </a:spcAft>
            </a:pPr>
            <a:r>
              <a:rPr sz="1100" b="0">
                <a:solidFill>
                  <a:srgbClr val="161B26"/>
                </a:solidFill>
                <a:latin typeface="Arial"/>
              </a:rPr>
              <a:t>Privacy classification eliminates every split that moves a frame.</a:t>
            </a:r>
          </a:p>
        </p:txBody>
      </p:sp>
      <p:sp>
        <p:nvSpPr>
          <p:cNvPr id="35" name="Rectangle 34"/>
          <p:cNvSpPr/>
          <p:nvPr/>
        </p:nvSpPr>
        <p:spPr>
          <a:xfrm>
            <a:off x="8366760" y="5020056"/>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366760" y="5020056"/>
            <a:ext cx="82296" cy="9052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67928" y="5020056"/>
            <a:ext cx="2679192" cy="905256"/>
          </a:xfrm>
          <a:prstGeom prst="rect">
            <a:avLst/>
          </a:prstGeom>
          <a:noFill/>
        </p:spPr>
        <p:txBody>
          <a:bodyPr wrap="square" anchor="ctr">
            <a:spAutoFit/>
          </a:bodyPr>
          <a:lstStyle/>
          <a:p>
            <a:pPr algn="l">
              <a:spcAft>
                <a:spcPts val="200"/>
              </a:spcAft>
            </a:pPr>
            <a:r>
              <a:rPr sz="1200" b="1">
                <a:solidFill>
                  <a:srgbClr val="F59E0B"/>
                </a:solidFill>
                <a:latin typeface="Arial"/>
              </a:rPr>
              <a:t>Residual risk</a:t>
            </a:r>
          </a:p>
          <a:p>
            <a:pPr algn="l">
              <a:spcAft>
                <a:spcPts val="200"/>
              </a:spcAft>
            </a:pPr>
            <a:r>
              <a:rPr sz="1100" b="0">
                <a:solidFill>
                  <a:srgbClr val="161B26"/>
                </a:solidFill>
                <a:latin typeface="Arial"/>
              </a:rPr>
              <a:t>Measured on developer hardware; event rate assumed; the model may be replaced.</a:t>
            </a:r>
          </a:p>
        </p:txBody>
      </p:sp>
      <p:sp>
        <p:nvSpPr>
          <p:cNvPr id="38" name="TextBox 37"/>
          <p:cNvSpPr txBox="1"/>
          <p:nvPr/>
        </p:nvSpPr>
        <p:spPr>
          <a:xfrm>
            <a:off x="777240" y="5989320"/>
            <a:ext cx="10634472" cy="457200"/>
          </a:xfrm>
          <a:prstGeom prst="rect">
            <a:avLst/>
          </a:prstGeom>
          <a:noFill/>
        </p:spPr>
        <p:txBody>
          <a:bodyPr wrap="square" anchor="ctr">
            <a:spAutoFit/>
          </a:bodyPr>
          <a:lstStyle/>
          <a:p>
            <a:pPr algn="ctr">
              <a:spcAft>
                <a:spcPts val="400"/>
              </a:spcAft>
            </a:pPr>
            <a:r>
              <a:rPr sz="1250" b="0">
                <a:solidFill>
                  <a:srgbClr val="5B6372"/>
                </a:solidFill>
                <a:latin typeface="Arial"/>
              </a:rPr>
              <a:t>Every figure on this slide is labelled MEASURED, COMPUTED or ASSUMED. An unlabelled figure in an architecture document is a defect.</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transition spd="fast">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F59E0B"/>
                </a:solidFill>
                <a:latin typeface="Arial"/>
              </a:rPr>
              <a:t>A8 · A DECISION WITHOUT ITS RESIDUAL RISKS IS NOT FINISHED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Residual Risks You Must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Wrong hardware</a:t>
            </a:r>
          </a:p>
          <a:p>
            <a:pPr algn="l">
              <a:spcAft>
                <a:spcPts val="200"/>
              </a:spcAft>
            </a:pPr>
            <a:r>
              <a:rPr sz="1000" b="0">
                <a:solidFill>
                  <a:srgbClr val="5B6372"/>
                </a:solidFill>
                <a:latin typeface="Arial"/>
              </a:rPr>
              <a:t>The latency was measured on a developer laptop, not on the store device. Close it by re-running the harness on the target.</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Assumed event rate</a:t>
            </a:r>
          </a:p>
          <a:p>
            <a:pPr algn="l">
              <a:spcAft>
                <a:spcPts val="200"/>
              </a:spcAft>
            </a:pPr>
            <a:r>
              <a:rPr sz="1000" b="0">
                <a:solidFill>
                  <a:srgbClr val="5B6372"/>
                </a:solidFill>
                <a:latin typeface="Arial"/>
              </a:rPr>
              <a:t>The bandwidth model uses an assumed 6 events per minute. Close it with a two-week measurement in three representative stores.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The model will change</a:t>
            </a:r>
          </a:p>
          <a:p>
            <a:pPr algn="l">
              <a:spcAft>
                <a:spcPts val="200"/>
              </a:spcAft>
            </a:pPr>
            <a:r>
              <a:rPr sz="1000" b="0">
                <a:solidFill>
                  <a:srgbClr val="5B6372"/>
                </a:solidFill>
                <a:latin typeface="Arial"/>
              </a:rPr>
              <a:t>Latency and memory terms are model-specific. Close it by re-running the arithmetic whenever the model is swapped.</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Illustrative cost</a:t>
            </a:r>
          </a:p>
          <a:p>
            <a:pPr algn="l">
              <a:spcAft>
                <a:spcPts val="200"/>
              </a:spcAft>
            </a:pPr>
            <a:r>
              <a:rPr sz="1000" b="0">
                <a:solidFill>
                  <a:srgbClr val="5B6372"/>
                </a:solidFill>
                <a:latin typeface="Arial"/>
              </a:rPr>
              <a:t>Built on a classroom per-GB rate. Close it with current vendor pricing and a measured egress volume.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Re-identification risk</a:t>
            </a:r>
          </a:p>
          <a:p>
            <a:pPr algn="l">
              <a:spcAft>
                <a:spcPts val="200"/>
              </a:spcAft>
            </a:pPr>
            <a:r>
              <a:rPr sz="1000" b="0">
                <a:solidFill>
                  <a:srgbClr val="5B6372"/>
                </a:solidFill>
                <a:latin typeface="Arial"/>
              </a:rPr>
              <a:t>Feature vectors are derived, but a re-identification argument must be made, not assumed. Close it with a privacy assessment.</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Synthetic evaluation</a:t>
            </a:r>
          </a:p>
          <a:p>
            <a:pPr algn="l">
              <a:spcAft>
                <a:spcPts val="200"/>
              </a:spcAft>
            </a:pPr>
            <a:r>
              <a:rPr sz="1000" b="0">
                <a:solidFill>
                  <a:srgbClr val="5B6372"/>
                </a:solidFill>
                <a:latin typeface="Arial"/>
              </a:rPr>
              <a:t>The detector numbers were measured on synthetic frames. Close it by labelling a real sample and re-measuring.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transition spd="fast">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K11, K13 · SOURCE S15 · CH.3 PP.38–39, 43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Federated Learning — Improve the Model, Keep the Data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2452878" cy="2606040"/>
          </a:xfrm>
          <a:prstGeom prst="round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52878" cy="3840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48840"/>
            <a:ext cx="2452878" cy="384048"/>
          </a:xfrm>
          <a:prstGeom prst="rect">
            <a:avLst/>
          </a:prstGeom>
          <a:noFill/>
        </p:spPr>
        <p:txBody>
          <a:bodyPr wrap="square" anchor="ctr">
            <a:spAutoFit/>
          </a:bodyPr>
          <a:lstStyle/>
          <a:p>
            <a:pPr algn="ctr">
              <a:spcAft>
                <a:spcPts val="400"/>
              </a:spcAft>
            </a:pPr>
            <a:r>
              <a:rPr sz="1250" b="1">
                <a:solidFill>
                  <a:srgbClr val="FFFFFF"/>
                </a:solidFill>
                <a:latin typeface="Arial"/>
              </a:rPr>
              <a:t>LOCAL TRAINING</a:t>
            </a:r>
          </a:p>
        </p:txBody>
      </p:sp>
      <p:sp>
        <p:nvSpPr>
          <p:cNvPr id="10" name="TextBox 9"/>
          <p:cNvSpPr txBox="1"/>
          <p:nvPr/>
        </p:nvSpPr>
        <p:spPr>
          <a:xfrm>
            <a:off x="923544" y="2651760"/>
            <a:ext cx="2160270" cy="1965960"/>
          </a:xfrm>
          <a:prstGeom prst="rect">
            <a:avLst/>
          </a:prstGeom>
          <a:noFill/>
        </p:spPr>
        <p:txBody>
          <a:bodyPr wrap="square" anchor="t">
            <a:spAutoFit/>
          </a:bodyPr>
          <a:lstStyle/>
          <a:p>
            <a:pPr algn="l">
              <a:spcAft>
                <a:spcPts val="400"/>
              </a:spcAft>
            </a:pPr>
            <a:r>
              <a:rPr sz="1150" b="0">
                <a:solidFill>
                  <a:srgbClr val="161B26"/>
                </a:solidFill>
                <a:latin typeface="Arial"/>
              </a:rPr>
              <a:t>Each edge node trains on its own data. The frames never leave the store network.</a:t>
            </a:r>
          </a:p>
        </p:txBody>
      </p:sp>
      <p:cxnSp>
        <p:nvCxnSpPr>
          <p:cNvPr id="11" name="Connector 10"/>
          <p:cNvCxnSpPr/>
          <p:nvPr/>
        </p:nvCxnSpPr>
        <p:spPr>
          <a:xfrm>
            <a:off x="3230118" y="3451860"/>
            <a:ext cx="274320" cy="0"/>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504438" y="2148840"/>
            <a:ext cx="2452878" cy="2606040"/>
          </a:xfrm>
          <a:prstGeom prst="roundRect">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04438" y="2148840"/>
            <a:ext cx="2452878"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4438" y="2148840"/>
            <a:ext cx="2452878" cy="384048"/>
          </a:xfrm>
          <a:prstGeom prst="rect">
            <a:avLst/>
          </a:prstGeom>
          <a:noFill/>
        </p:spPr>
        <p:txBody>
          <a:bodyPr wrap="square" anchor="ctr">
            <a:spAutoFit/>
          </a:bodyPr>
          <a:lstStyle/>
          <a:p>
            <a:pPr algn="ctr">
              <a:spcAft>
                <a:spcPts val="400"/>
              </a:spcAft>
            </a:pPr>
            <a:r>
              <a:rPr sz="1250" b="1">
                <a:solidFill>
                  <a:srgbClr val="FFFFFF"/>
                </a:solidFill>
                <a:latin typeface="Arial"/>
              </a:rPr>
              <a:t>SEND UPDATES</a:t>
            </a:r>
          </a:p>
        </p:txBody>
      </p:sp>
      <p:sp>
        <p:nvSpPr>
          <p:cNvPr id="15" name="TextBox 14"/>
          <p:cNvSpPr txBox="1"/>
          <p:nvPr/>
        </p:nvSpPr>
        <p:spPr>
          <a:xfrm>
            <a:off x="3650742" y="2651760"/>
            <a:ext cx="2160270" cy="1965960"/>
          </a:xfrm>
          <a:prstGeom prst="rect">
            <a:avLst/>
          </a:prstGeom>
          <a:noFill/>
        </p:spPr>
        <p:txBody>
          <a:bodyPr wrap="square" anchor="t">
            <a:spAutoFit/>
          </a:bodyPr>
          <a:lstStyle/>
          <a:p>
            <a:pPr algn="l">
              <a:spcAft>
                <a:spcPts val="400"/>
              </a:spcAft>
            </a:pPr>
            <a:r>
              <a:rPr sz="1150" b="0">
                <a:solidFill>
                  <a:srgbClr val="161B26"/>
                </a:solidFill>
                <a:latin typeface="Arial"/>
              </a:rPr>
              <a:t>Only model updates — gradients or weight deltas — cross the link. Orders of magnitude smaller than the data that produced them.</a:t>
            </a:r>
          </a:p>
        </p:txBody>
      </p:sp>
      <p:cxnSp>
        <p:nvCxnSpPr>
          <p:cNvPr id="16" name="Connector 15"/>
          <p:cNvCxnSpPr/>
          <p:nvPr/>
        </p:nvCxnSpPr>
        <p:spPr>
          <a:xfrm>
            <a:off x="5957316" y="3451860"/>
            <a:ext cx="274320" cy="0"/>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31636" y="2148840"/>
            <a:ext cx="2452878" cy="2606040"/>
          </a:xfrm>
          <a:prstGeom prst="roundRect">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31636" y="2148840"/>
            <a:ext cx="2452878"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1636" y="2148840"/>
            <a:ext cx="2452878" cy="384048"/>
          </a:xfrm>
          <a:prstGeom prst="rect">
            <a:avLst/>
          </a:prstGeom>
          <a:noFill/>
        </p:spPr>
        <p:txBody>
          <a:bodyPr wrap="square" anchor="ctr">
            <a:spAutoFit/>
          </a:bodyPr>
          <a:lstStyle/>
          <a:p>
            <a:pPr algn="ctr">
              <a:spcAft>
                <a:spcPts val="400"/>
              </a:spcAft>
            </a:pPr>
            <a:r>
              <a:rPr sz="1250" b="1">
                <a:solidFill>
                  <a:srgbClr val="FFFFFF"/>
                </a:solidFill>
                <a:latin typeface="Arial"/>
              </a:rPr>
              <a:t>AGGREGATE</a:t>
            </a:r>
          </a:p>
        </p:txBody>
      </p:sp>
      <p:sp>
        <p:nvSpPr>
          <p:cNvPr id="20" name="TextBox 19"/>
          <p:cNvSpPr txBox="1"/>
          <p:nvPr/>
        </p:nvSpPr>
        <p:spPr>
          <a:xfrm>
            <a:off x="6377940" y="2651760"/>
            <a:ext cx="2160270" cy="1965960"/>
          </a:xfrm>
          <a:prstGeom prst="rect">
            <a:avLst/>
          </a:prstGeom>
          <a:noFill/>
        </p:spPr>
        <p:txBody>
          <a:bodyPr wrap="square" anchor="t">
            <a:spAutoFit/>
          </a:bodyPr>
          <a:lstStyle/>
          <a:p>
            <a:pPr algn="l">
              <a:spcAft>
                <a:spcPts val="400"/>
              </a:spcAft>
            </a:pPr>
            <a:r>
              <a:rPr sz="1150" b="0">
                <a:solidFill>
                  <a:srgbClr val="161B26"/>
                </a:solidFill>
                <a:latin typeface="Arial"/>
              </a:rPr>
              <a:t>The server averages the updates into an improved shared model, without ever seeing an individual example.</a:t>
            </a:r>
          </a:p>
        </p:txBody>
      </p:sp>
      <p:cxnSp>
        <p:nvCxnSpPr>
          <p:cNvPr id="21" name="Connector 20"/>
          <p:cNvCxnSpPr/>
          <p:nvPr/>
        </p:nvCxnSpPr>
        <p:spPr>
          <a:xfrm>
            <a:off x="8684514" y="3451860"/>
            <a:ext cx="274320" cy="0"/>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958834" y="2148840"/>
            <a:ext cx="2452878" cy="2606040"/>
          </a:xfrm>
          <a:prstGeom prst="roundRect">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58834" y="2148840"/>
            <a:ext cx="2452878"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58834" y="2148840"/>
            <a:ext cx="2452878" cy="384048"/>
          </a:xfrm>
          <a:prstGeom prst="rect">
            <a:avLst/>
          </a:prstGeom>
          <a:noFill/>
        </p:spPr>
        <p:txBody>
          <a:bodyPr wrap="square" anchor="ctr">
            <a:spAutoFit/>
          </a:bodyPr>
          <a:lstStyle/>
          <a:p>
            <a:pPr algn="ctr">
              <a:spcAft>
                <a:spcPts val="400"/>
              </a:spcAft>
            </a:pPr>
            <a:r>
              <a:rPr sz="1250" b="1">
                <a:solidFill>
                  <a:srgbClr val="FFFFFF"/>
                </a:solidFill>
                <a:latin typeface="Arial"/>
              </a:rPr>
              <a:t>REDISTRIBUTE</a:t>
            </a:r>
          </a:p>
        </p:txBody>
      </p:sp>
      <p:sp>
        <p:nvSpPr>
          <p:cNvPr id="25" name="TextBox 24"/>
          <p:cNvSpPr txBox="1"/>
          <p:nvPr/>
        </p:nvSpPr>
        <p:spPr>
          <a:xfrm>
            <a:off x="9105138" y="2651760"/>
            <a:ext cx="2160270" cy="1965960"/>
          </a:xfrm>
          <a:prstGeom prst="rect">
            <a:avLst/>
          </a:prstGeom>
          <a:noFill/>
        </p:spPr>
        <p:txBody>
          <a:bodyPr wrap="square" anchor="t">
            <a:spAutoFit/>
          </a:bodyPr>
          <a:lstStyle/>
          <a:p>
            <a:pPr algn="l">
              <a:spcAft>
                <a:spcPts val="400"/>
              </a:spcAft>
            </a:pPr>
            <a:r>
              <a:rPr sz="1150" b="0">
                <a:solidFill>
                  <a:srgbClr val="161B26"/>
                </a:solidFill>
                <a:latin typeface="Arial"/>
              </a:rPr>
              <a:t>The improved model goes back to every node, and the cycle repeats.</a:t>
            </a:r>
          </a:p>
        </p:txBody>
      </p:sp>
      <p:sp>
        <p:nvSpPr>
          <p:cNvPr id="26" name="Rectangle 25"/>
          <p:cNvSpPr/>
          <p:nvPr/>
        </p:nvSpPr>
        <p:spPr>
          <a:xfrm>
            <a:off x="777240" y="5120640"/>
            <a:ext cx="10634472"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5120640"/>
            <a:ext cx="10241280" cy="914400"/>
          </a:xfrm>
          <a:prstGeom prst="rect">
            <a:avLst/>
          </a:prstGeom>
          <a:noFill/>
        </p:spPr>
        <p:txBody>
          <a:bodyPr wrap="square" anchor="ctr">
            <a:spAutoFit/>
          </a:bodyPr>
          <a:lstStyle/>
          <a:p>
            <a:pPr algn="l">
              <a:spcAft>
                <a:spcPts val="400"/>
              </a:spcAft>
            </a:pPr>
            <a:r>
              <a:rPr sz="1150" b="1">
                <a:solidFill>
                  <a:srgbClr val="127A3E"/>
                </a:solidFill>
                <a:latin typeface="Arial"/>
              </a:rPr>
              <a:t>SO WHAT   </a:t>
            </a:r>
            <a:r>
              <a:rPr sz="1300" b="0">
                <a:solidFill>
                  <a:srgbClr val="161B26"/>
                </a:solidFill>
                <a:latin typeface="Arial"/>
              </a:rPr>
              <a:t>It is a privacy-preserving architecture, not a privacy guarantee. Updates can leak information about the data that produced them, which is why differential privacy and secure multiparty computation are named alongside it rather than instead of it.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transition spd="fast">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K2, K11 · SOURCE S15 · CH.3 P.42, TABLE 3.3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Edge-AI Generative Systems Across Domains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701515" cy="7010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1518635" cy="701040"/>
          </a:xfrm>
          <a:prstGeom prst="rect">
            <a:avLst/>
          </a:prstGeom>
          <a:noFill/>
        </p:spPr>
        <p:txBody>
          <a:bodyPr wrap="square" anchor="ctr">
            <a:spAutoFit/>
          </a:bodyPr>
          <a:lstStyle/>
          <a:p>
            <a:pPr algn="l">
              <a:spcAft>
                <a:spcPts val="400"/>
              </a:spcAft>
            </a:pPr>
            <a:r>
              <a:rPr sz="1050" b="1">
                <a:solidFill>
                  <a:srgbClr val="FFFFFF"/>
                </a:solidFill>
                <a:latin typeface="Arial"/>
              </a:rPr>
              <a:t>Domain</a:t>
            </a:r>
          </a:p>
        </p:txBody>
      </p:sp>
      <p:sp>
        <p:nvSpPr>
          <p:cNvPr id="9" name="Rectangle 8"/>
          <p:cNvSpPr/>
          <p:nvPr/>
        </p:nvSpPr>
        <p:spPr>
          <a:xfrm>
            <a:off x="2478755" y="1783080"/>
            <a:ext cx="3615720" cy="7010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88483" y="1783080"/>
            <a:ext cx="3432840" cy="701040"/>
          </a:xfrm>
          <a:prstGeom prst="rect">
            <a:avLst/>
          </a:prstGeom>
          <a:noFill/>
        </p:spPr>
        <p:txBody>
          <a:bodyPr wrap="square" anchor="ctr">
            <a:spAutoFit/>
          </a:bodyPr>
          <a:lstStyle/>
          <a:p>
            <a:pPr algn="l">
              <a:spcAft>
                <a:spcPts val="400"/>
              </a:spcAft>
            </a:pPr>
            <a:r>
              <a:rPr sz="1050" b="1">
                <a:solidFill>
                  <a:srgbClr val="FFFFFF"/>
                </a:solidFill>
                <a:latin typeface="Arial"/>
              </a:rPr>
              <a:t>Use case</a:t>
            </a:r>
          </a:p>
        </p:txBody>
      </p:sp>
      <p:sp>
        <p:nvSpPr>
          <p:cNvPr id="11" name="Rectangle 10"/>
          <p:cNvSpPr/>
          <p:nvPr/>
        </p:nvSpPr>
        <p:spPr>
          <a:xfrm>
            <a:off x="6094475" y="1783080"/>
            <a:ext cx="1914204" cy="7010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04203" y="1783080"/>
            <a:ext cx="1731324" cy="701040"/>
          </a:xfrm>
          <a:prstGeom prst="rect">
            <a:avLst/>
          </a:prstGeom>
          <a:noFill/>
        </p:spPr>
        <p:txBody>
          <a:bodyPr wrap="square" anchor="ctr">
            <a:spAutoFit/>
          </a:bodyPr>
          <a:lstStyle/>
          <a:p>
            <a:pPr algn="l">
              <a:spcAft>
                <a:spcPts val="400"/>
              </a:spcAft>
            </a:pPr>
            <a:r>
              <a:rPr sz="1050" b="1">
                <a:solidFill>
                  <a:srgbClr val="FFFFFF"/>
                </a:solidFill>
                <a:latin typeface="Arial"/>
              </a:rPr>
              <a:t>Models applied</a:t>
            </a:r>
          </a:p>
        </p:txBody>
      </p:sp>
      <p:sp>
        <p:nvSpPr>
          <p:cNvPr id="13" name="Rectangle 12"/>
          <p:cNvSpPr/>
          <p:nvPr/>
        </p:nvSpPr>
        <p:spPr>
          <a:xfrm>
            <a:off x="8008679" y="1783080"/>
            <a:ext cx="3403031" cy="7010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18407" y="1783080"/>
            <a:ext cx="3220151" cy="701040"/>
          </a:xfrm>
          <a:prstGeom prst="rect">
            <a:avLst/>
          </a:prstGeom>
          <a:noFill/>
        </p:spPr>
        <p:txBody>
          <a:bodyPr wrap="square" anchor="ctr">
            <a:spAutoFit/>
          </a:bodyPr>
          <a:lstStyle/>
          <a:p>
            <a:pPr algn="l">
              <a:spcAft>
                <a:spcPts val="400"/>
              </a:spcAft>
            </a:pPr>
            <a:r>
              <a:rPr sz="1050" b="1">
                <a:solidFill>
                  <a:srgbClr val="FFFFFF"/>
                </a:solidFill>
                <a:latin typeface="Arial"/>
              </a:rPr>
              <a:t>The edge advantage</a:t>
            </a:r>
          </a:p>
        </p:txBody>
      </p:sp>
      <p:sp>
        <p:nvSpPr>
          <p:cNvPr id="15" name="Rectangle 14"/>
          <p:cNvSpPr/>
          <p:nvPr/>
        </p:nvSpPr>
        <p:spPr>
          <a:xfrm>
            <a:off x="777240" y="2484120"/>
            <a:ext cx="1701515"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484120"/>
            <a:ext cx="1518635" cy="701040"/>
          </a:xfrm>
          <a:prstGeom prst="rect">
            <a:avLst/>
          </a:prstGeom>
          <a:noFill/>
        </p:spPr>
        <p:txBody>
          <a:bodyPr wrap="square" anchor="ctr">
            <a:spAutoFit/>
          </a:bodyPr>
          <a:lstStyle/>
          <a:p>
            <a:pPr algn="l">
              <a:spcAft>
                <a:spcPts val="400"/>
              </a:spcAft>
            </a:pPr>
            <a:r>
              <a:rPr sz="950" b="1">
                <a:solidFill>
                  <a:srgbClr val="161B26"/>
                </a:solidFill>
                <a:latin typeface="Arial"/>
              </a:rPr>
              <a:t>Healthcare</a:t>
            </a:r>
          </a:p>
        </p:txBody>
      </p:sp>
      <p:sp>
        <p:nvSpPr>
          <p:cNvPr id="17" name="Rectangle 16"/>
          <p:cNvSpPr/>
          <p:nvPr/>
        </p:nvSpPr>
        <p:spPr>
          <a:xfrm>
            <a:off x="2478755" y="2484120"/>
            <a:ext cx="3615720"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88483" y="2484120"/>
            <a:ext cx="3432840" cy="701040"/>
          </a:xfrm>
          <a:prstGeom prst="rect">
            <a:avLst/>
          </a:prstGeom>
          <a:noFill/>
        </p:spPr>
        <p:txBody>
          <a:bodyPr wrap="square" anchor="ctr">
            <a:spAutoFit/>
          </a:bodyPr>
          <a:lstStyle/>
          <a:p>
            <a:pPr algn="l">
              <a:spcAft>
                <a:spcPts val="400"/>
              </a:spcAft>
            </a:pPr>
            <a:r>
              <a:rPr sz="950" b="0">
                <a:solidFill>
                  <a:srgbClr val="161B26"/>
                </a:solidFill>
                <a:latin typeface="Arial"/>
              </a:rPr>
              <a:t>Synthetic medical images, denoising scans, anomaly detection</a:t>
            </a:r>
          </a:p>
        </p:txBody>
      </p:sp>
      <p:sp>
        <p:nvSpPr>
          <p:cNvPr id="19" name="Rectangle 18"/>
          <p:cNvSpPr/>
          <p:nvPr/>
        </p:nvSpPr>
        <p:spPr>
          <a:xfrm>
            <a:off x="6094475" y="2484120"/>
            <a:ext cx="1914204"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04203" y="2484120"/>
            <a:ext cx="1731324" cy="701040"/>
          </a:xfrm>
          <a:prstGeom prst="rect">
            <a:avLst/>
          </a:prstGeom>
          <a:noFill/>
        </p:spPr>
        <p:txBody>
          <a:bodyPr wrap="square" anchor="ctr">
            <a:spAutoFit/>
          </a:bodyPr>
          <a:lstStyle/>
          <a:p>
            <a:pPr algn="l">
              <a:spcAft>
                <a:spcPts val="400"/>
              </a:spcAft>
            </a:pPr>
            <a:r>
              <a:rPr sz="950" b="0">
                <a:solidFill>
                  <a:srgbClr val="161B26"/>
                </a:solidFill>
                <a:latin typeface="Arial"/>
              </a:rPr>
              <a:t>GANs, VAEs</a:t>
            </a:r>
          </a:p>
        </p:txBody>
      </p:sp>
      <p:sp>
        <p:nvSpPr>
          <p:cNvPr id="21" name="Rectangle 20"/>
          <p:cNvSpPr/>
          <p:nvPr/>
        </p:nvSpPr>
        <p:spPr>
          <a:xfrm>
            <a:off x="8008679" y="2484120"/>
            <a:ext cx="3403031"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8407" y="2484120"/>
            <a:ext cx="3220151" cy="701040"/>
          </a:xfrm>
          <a:prstGeom prst="rect">
            <a:avLst/>
          </a:prstGeom>
          <a:noFill/>
        </p:spPr>
        <p:txBody>
          <a:bodyPr wrap="square" anchor="ctr">
            <a:spAutoFit/>
          </a:bodyPr>
          <a:lstStyle/>
          <a:p>
            <a:pPr algn="l">
              <a:spcAft>
                <a:spcPts val="400"/>
              </a:spcAft>
            </a:pPr>
            <a:r>
              <a:rPr sz="950" b="0">
                <a:solidFill>
                  <a:srgbClr val="161B26"/>
                </a:solidFill>
                <a:latin typeface="Arial"/>
              </a:rPr>
              <a:t>Privacy-preserving; patient data never reaches a third-party cloud</a:t>
            </a:r>
          </a:p>
        </p:txBody>
      </p:sp>
      <p:sp>
        <p:nvSpPr>
          <p:cNvPr id="23" name="Rectangle 22"/>
          <p:cNvSpPr/>
          <p:nvPr/>
        </p:nvSpPr>
        <p:spPr>
          <a:xfrm>
            <a:off x="777240" y="3185160"/>
            <a:ext cx="1701515"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3185160"/>
            <a:ext cx="1518635" cy="701040"/>
          </a:xfrm>
          <a:prstGeom prst="rect">
            <a:avLst/>
          </a:prstGeom>
          <a:noFill/>
        </p:spPr>
        <p:txBody>
          <a:bodyPr wrap="square" anchor="ctr">
            <a:spAutoFit/>
          </a:bodyPr>
          <a:lstStyle/>
          <a:p>
            <a:pPr algn="l">
              <a:spcAft>
                <a:spcPts val="400"/>
              </a:spcAft>
            </a:pPr>
            <a:r>
              <a:rPr sz="950" b="1">
                <a:solidFill>
                  <a:srgbClr val="161B26"/>
                </a:solidFill>
                <a:latin typeface="Arial"/>
              </a:rPr>
              <a:t>Smart cities</a:t>
            </a:r>
          </a:p>
        </p:txBody>
      </p:sp>
      <p:sp>
        <p:nvSpPr>
          <p:cNvPr id="25" name="Rectangle 24"/>
          <p:cNvSpPr/>
          <p:nvPr/>
        </p:nvSpPr>
        <p:spPr>
          <a:xfrm>
            <a:off x="2478755" y="3185160"/>
            <a:ext cx="3615720"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88483" y="3185160"/>
            <a:ext cx="3432840" cy="701040"/>
          </a:xfrm>
          <a:prstGeom prst="rect">
            <a:avLst/>
          </a:prstGeom>
          <a:noFill/>
        </p:spPr>
        <p:txBody>
          <a:bodyPr wrap="square" anchor="ctr">
            <a:spAutoFit/>
          </a:bodyPr>
          <a:lstStyle/>
          <a:p>
            <a:pPr algn="l">
              <a:spcAft>
                <a:spcPts val="400"/>
              </a:spcAft>
            </a:pPr>
            <a:r>
              <a:rPr sz="950" b="0">
                <a:solidFill>
                  <a:srgbClr val="161B26"/>
                </a:solidFill>
                <a:latin typeface="Arial"/>
              </a:rPr>
              <a:t>Traffic prediction, surveillance synthesis, digital twins</a:t>
            </a:r>
          </a:p>
        </p:txBody>
      </p:sp>
      <p:sp>
        <p:nvSpPr>
          <p:cNvPr id="27" name="Rectangle 26"/>
          <p:cNvSpPr/>
          <p:nvPr/>
        </p:nvSpPr>
        <p:spPr>
          <a:xfrm>
            <a:off x="6094475" y="3185160"/>
            <a:ext cx="1914204"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04203" y="3185160"/>
            <a:ext cx="1731324" cy="701040"/>
          </a:xfrm>
          <a:prstGeom prst="rect">
            <a:avLst/>
          </a:prstGeom>
          <a:noFill/>
        </p:spPr>
        <p:txBody>
          <a:bodyPr wrap="square" anchor="ctr">
            <a:spAutoFit/>
          </a:bodyPr>
          <a:lstStyle/>
          <a:p>
            <a:pPr algn="l">
              <a:spcAft>
                <a:spcPts val="400"/>
              </a:spcAft>
            </a:pPr>
            <a:r>
              <a:rPr sz="950" b="0">
                <a:solidFill>
                  <a:srgbClr val="161B26"/>
                </a:solidFill>
                <a:latin typeface="Arial"/>
              </a:rPr>
              <a:t>GANs, diffusion</a:t>
            </a:r>
          </a:p>
        </p:txBody>
      </p:sp>
      <p:sp>
        <p:nvSpPr>
          <p:cNvPr id="29" name="Rectangle 28"/>
          <p:cNvSpPr/>
          <p:nvPr/>
        </p:nvSpPr>
        <p:spPr>
          <a:xfrm>
            <a:off x="8008679" y="3185160"/>
            <a:ext cx="3403031"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18407" y="3185160"/>
            <a:ext cx="3220151" cy="701040"/>
          </a:xfrm>
          <a:prstGeom prst="rect">
            <a:avLst/>
          </a:prstGeom>
          <a:noFill/>
        </p:spPr>
        <p:txBody>
          <a:bodyPr wrap="square" anchor="ctr">
            <a:spAutoFit/>
          </a:bodyPr>
          <a:lstStyle/>
          <a:p>
            <a:pPr algn="l">
              <a:spcAft>
                <a:spcPts val="400"/>
              </a:spcAft>
            </a:pPr>
            <a:r>
              <a:rPr sz="950" b="0">
                <a:solidFill>
                  <a:srgbClr val="161B26"/>
                </a:solidFill>
                <a:latin typeface="Arial"/>
              </a:rPr>
              <a:t>Real-time insight and urban simulation without shipping every frame</a:t>
            </a:r>
          </a:p>
        </p:txBody>
      </p:sp>
      <p:sp>
        <p:nvSpPr>
          <p:cNvPr id="31" name="Rectangle 30"/>
          <p:cNvSpPr/>
          <p:nvPr/>
        </p:nvSpPr>
        <p:spPr>
          <a:xfrm>
            <a:off x="777240" y="3886200"/>
            <a:ext cx="1701515"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886200"/>
            <a:ext cx="1518635" cy="701040"/>
          </a:xfrm>
          <a:prstGeom prst="rect">
            <a:avLst/>
          </a:prstGeom>
          <a:noFill/>
        </p:spPr>
        <p:txBody>
          <a:bodyPr wrap="square" anchor="ctr">
            <a:spAutoFit/>
          </a:bodyPr>
          <a:lstStyle/>
          <a:p>
            <a:pPr algn="l">
              <a:spcAft>
                <a:spcPts val="400"/>
              </a:spcAft>
            </a:pPr>
            <a:r>
              <a:rPr sz="950" b="1">
                <a:solidFill>
                  <a:srgbClr val="161B26"/>
                </a:solidFill>
                <a:latin typeface="Arial"/>
              </a:rPr>
              <a:t>AR / VR</a:t>
            </a:r>
          </a:p>
        </p:txBody>
      </p:sp>
      <p:sp>
        <p:nvSpPr>
          <p:cNvPr id="33" name="Rectangle 32"/>
          <p:cNvSpPr/>
          <p:nvPr/>
        </p:nvSpPr>
        <p:spPr>
          <a:xfrm>
            <a:off x="2478755" y="3886200"/>
            <a:ext cx="3615720"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588483" y="3886200"/>
            <a:ext cx="3432840" cy="701040"/>
          </a:xfrm>
          <a:prstGeom prst="rect">
            <a:avLst/>
          </a:prstGeom>
          <a:noFill/>
        </p:spPr>
        <p:txBody>
          <a:bodyPr wrap="square" anchor="ctr">
            <a:spAutoFit/>
          </a:bodyPr>
          <a:lstStyle/>
          <a:p>
            <a:pPr algn="l">
              <a:spcAft>
                <a:spcPts val="400"/>
              </a:spcAft>
            </a:pPr>
            <a:r>
              <a:rPr sz="950" b="0">
                <a:solidFill>
                  <a:srgbClr val="161B26"/>
                </a:solidFill>
                <a:latin typeface="Arial"/>
              </a:rPr>
              <a:t>Realistic textures, avatars, immersive environments</a:t>
            </a:r>
          </a:p>
        </p:txBody>
      </p:sp>
      <p:sp>
        <p:nvSpPr>
          <p:cNvPr id="35" name="Rectangle 34"/>
          <p:cNvSpPr/>
          <p:nvPr/>
        </p:nvSpPr>
        <p:spPr>
          <a:xfrm>
            <a:off x="6094475" y="3886200"/>
            <a:ext cx="1914204"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04203" y="3886200"/>
            <a:ext cx="1731324" cy="701040"/>
          </a:xfrm>
          <a:prstGeom prst="rect">
            <a:avLst/>
          </a:prstGeom>
          <a:noFill/>
        </p:spPr>
        <p:txBody>
          <a:bodyPr wrap="square" anchor="ctr">
            <a:spAutoFit/>
          </a:bodyPr>
          <a:lstStyle/>
          <a:p>
            <a:pPr algn="l">
              <a:spcAft>
                <a:spcPts val="400"/>
              </a:spcAft>
            </a:pPr>
            <a:r>
              <a:rPr sz="950" b="0">
                <a:solidFill>
                  <a:srgbClr val="161B26"/>
                </a:solidFill>
                <a:latin typeface="Arial"/>
              </a:rPr>
              <a:t>GANs, diffusion</a:t>
            </a:r>
          </a:p>
        </p:txBody>
      </p:sp>
      <p:sp>
        <p:nvSpPr>
          <p:cNvPr id="37" name="Rectangle 36"/>
          <p:cNvSpPr/>
          <p:nvPr/>
        </p:nvSpPr>
        <p:spPr>
          <a:xfrm>
            <a:off x="8008679" y="3886200"/>
            <a:ext cx="3403031"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18407" y="3886200"/>
            <a:ext cx="3220151" cy="701040"/>
          </a:xfrm>
          <a:prstGeom prst="rect">
            <a:avLst/>
          </a:prstGeom>
          <a:noFill/>
        </p:spPr>
        <p:txBody>
          <a:bodyPr wrap="square" anchor="ctr">
            <a:spAutoFit/>
          </a:bodyPr>
          <a:lstStyle/>
          <a:p>
            <a:pPr algn="l">
              <a:spcAft>
                <a:spcPts val="400"/>
              </a:spcAft>
            </a:pPr>
            <a:r>
              <a:rPr sz="950" b="0">
                <a:solidFill>
                  <a:srgbClr val="161B26"/>
                </a:solidFill>
                <a:latin typeface="Arial"/>
              </a:rPr>
              <a:t>Low-latency rendering that keeps up with user interaction</a:t>
            </a:r>
          </a:p>
        </p:txBody>
      </p:sp>
      <p:sp>
        <p:nvSpPr>
          <p:cNvPr id="39" name="Rectangle 38"/>
          <p:cNvSpPr/>
          <p:nvPr/>
        </p:nvSpPr>
        <p:spPr>
          <a:xfrm>
            <a:off x="777240" y="4587240"/>
            <a:ext cx="1701515"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4587240"/>
            <a:ext cx="1518635" cy="701040"/>
          </a:xfrm>
          <a:prstGeom prst="rect">
            <a:avLst/>
          </a:prstGeom>
          <a:noFill/>
        </p:spPr>
        <p:txBody>
          <a:bodyPr wrap="square" anchor="ctr">
            <a:spAutoFit/>
          </a:bodyPr>
          <a:lstStyle/>
          <a:p>
            <a:pPr algn="l">
              <a:spcAft>
                <a:spcPts val="400"/>
              </a:spcAft>
            </a:pPr>
            <a:r>
              <a:rPr sz="950" b="1">
                <a:solidFill>
                  <a:srgbClr val="161B26"/>
                </a:solidFill>
                <a:latin typeface="Arial"/>
              </a:rPr>
              <a:t>Industrial IoT</a:t>
            </a:r>
          </a:p>
        </p:txBody>
      </p:sp>
      <p:sp>
        <p:nvSpPr>
          <p:cNvPr id="41" name="Rectangle 40"/>
          <p:cNvSpPr/>
          <p:nvPr/>
        </p:nvSpPr>
        <p:spPr>
          <a:xfrm>
            <a:off x="2478755" y="4587240"/>
            <a:ext cx="3615720"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88483" y="4587240"/>
            <a:ext cx="3432840" cy="701040"/>
          </a:xfrm>
          <a:prstGeom prst="rect">
            <a:avLst/>
          </a:prstGeom>
          <a:noFill/>
        </p:spPr>
        <p:txBody>
          <a:bodyPr wrap="square" anchor="ctr">
            <a:spAutoFit/>
          </a:bodyPr>
          <a:lstStyle/>
          <a:p>
            <a:pPr algn="l">
              <a:spcAft>
                <a:spcPts val="400"/>
              </a:spcAft>
            </a:pPr>
            <a:r>
              <a:rPr sz="950" b="0">
                <a:solidFill>
                  <a:srgbClr val="161B26"/>
                </a:solidFill>
                <a:latin typeface="Arial"/>
              </a:rPr>
              <a:t>Predictive maintenance, defect synthesis, inspection</a:t>
            </a:r>
          </a:p>
        </p:txBody>
      </p:sp>
      <p:sp>
        <p:nvSpPr>
          <p:cNvPr id="43" name="Rectangle 42"/>
          <p:cNvSpPr/>
          <p:nvPr/>
        </p:nvSpPr>
        <p:spPr>
          <a:xfrm>
            <a:off x="6094475" y="4587240"/>
            <a:ext cx="1914204"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04203" y="4587240"/>
            <a:ext cx="1731324" cy="701040"/>
          </a:xfrm>
          <a:prstGeom prst="rect">
            <a:avLst/>
          </a:prstGeom>
          <a:noFill/>
        </p:spPr>
        <p:txBody>
          <a:bodyPr wrap="square" anchor="ctr">
            <a:spAutoFit/>
          </a:bodyPr>
          <a:lstStyle/>
          <a:p>
            <a:pPr algn="l">
              <a:spcAft>
                <a:spcPts val="400"/>
              </a:spcAft>
            </a:pPr>
            <a:r>
              <a:rPr sz="950" b="0">
                <a:solidFill>
                  <a:srgbClr val="161B26"/>
                </a:solidFill>
                <a:latin typeface="Arial"/>
              </a:rPr>
              <a:t>VAEs, GANs</a:t>
            </a:r>
          </a:p>
        </p:txBody>
      </p:sp>
      <p:sp>
        <p:nvSpPr>
          <p:cNvPr id="45" name="Rectangle 44"/>
          <p:cNvSpPr/>
          <p:nvPr/>
        </p:nvSpPr>
        <p:spPr>
          <a:xfrm>
            <a:off x="8008679" y="4587240"/>
            <a:ext cx="3403031"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118407" y="4587240"/>
            <a:ext cx="3220151" cy="701040"/>
          </a:xfrm>
          <a:prstGeom prst="rect">
            <a:avLst/>
          </a:prstGeom>
          <a:noFill/>
        </p:spPr>
        <p:txBody>
          <a:bodyPr wrap="square" anchor="ctr">
            <a:spAutoFit/>
          </a:bodyPr>
          <a:lstStyle/>
          <a:p>
            <a:pPr algn="l">
              <a:spcAft>
                <a:spcPts val="400"/>
              </a:spcAft>
            </a:pPr>
            <a:r>
              <a:rPr sz="950" b="0">
                <a:solidFill>
                  <a:srgbClr val="161B26"/>
                </a:solidFill>
                <a:latin typeface="Arial"/>
              </a:rPr>
              <a:t>Faster decisions and bandwidth-efficient operation</a:t>
            </a:r>
          </a:p>
        </p:txBody>
      </p:sp>
      <p:sp>
        <p:nvSpPr>
          <p:cNvPr id="47" name="Rectangle 46"/>
          <p:cNvSpPr/>
          <p:nvPr/>
        </p:nvSpPr>
        <p:spPr>
          <a:xfrm>
            <a:off x="777240" y="5288280"/>
            <a:ext cx="1701515"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6968" y="5288280"/>
            <a:ext cx="1518635" cy="701040"/>
          </a:xfrm>
          <a:prstGeom prst="rect">
            <a:avLst/>
          </a:prstGeom>
          <a:noFill/>
        </p:spPr>
        <p:txBody>
          <a:bodyPr wrap="square" anchor="ctr">
            <a:spAutoFit/>
          </a:bodyPr>
          <a:lstStyle/>
          <a:p>
            <a:pPr algn="l">
              <a:spcAft>
                <a:spcPts val="400"/>
              </a:spcAft>
            </a:pPr>
            <a:r>
              <a:rPr sz="950" b="1">
                <a:solidFill>
                  <a:srgbClr val="161B26"/>
                </a:solidFill>
                <a:latin typeface="Arial"/>
              </a:rPr>
              <a:t>Agriculture</a:t>
            </a:r>
          </a:p>
        </p:txBody>
      </p:sp>
      <p:sp>
        <p:nvSpPr>
          <p:cNvPr id="49" name="Rectangle 48"/>
          <p:cNvSpPr/>
          <p:nvPr/>
        </p:nvSpPr>
        <p:spPr>
          <a:xfrm>
            <a:off x="2478755" y="5288280"/>
            <a:ext cx="3615720"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588483" y="5288280"/>
            <a:ext cx="3432840" cy="701040"/>
          </a:xfrm>
          <a:prstGeom prst="rect">
            <a:avLst/>
          </a:prstGeom>
          <a:noFill/>
        </p:spPr>
        <p:txBody>
          <a:bodyPr wrap="square" anchor="ctr">
            <a:spAutoFit/>
          </a:bodyPr>
          <a:lstStyle/>
          <a:p>
            <a:pPr algn="l">
              <a:spcAft>
                <a:spcPts val="400"/>
              </a:spcAft>
            </a:pPr>
            <a:r>
              <a:rPr sz="950" b="0">
                <a:solidFill>
                  <a:srgbClr val="161B26"/>
                </a:solidFill>
                <a:latin typeface="Arial"/>
              </a:rPr>
              <a:t>Crop monitoring, climate prediction, image super-resolution</a:t>
            </a:r>
          </a:p>
        </p:txBody>
      </p:sp>
      <p:sp>
        <p:nvSpPr>
          <p:cNvPr id="51" name="Rectangle 50"/>
          <p:cNvSpPr/>
          <p:nvPr/>
        </p:nvSpPr>
        <p:spPr>
          <a:xfrm>
            <a:off x="6094475" y="5288280"/>
            <a:ext cx="1914204"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04203" y="5288280"/>
            <a:ext cx="1731324" cy="701040"/>
          </a:xfrm>
          <a:prstGeom prst="rect">
            <a:avLst/>
          </a:prstGeom>
          <a:noFill/>
        </p:spPr>
        <p:txBody>
          <a:bodyPr wrap="square" anchor="ctr">
            <a:spAutoFit/>
          </a:bodyPr>
          <a:lstStyle/>
          <a:p>
            <a:pPr algn="l">
              <a:spcAft>
                <a:spcPts val="400"/>
              </a:spcAft>
            </a:pPr>
            <a:r>
              <a:rPr sz="950" b="0">
                <a:solidFill>
                  <a:srgbClr val="161B26"/>
                </a:solidFill>
                <a:latin typeface="Arial"/>
              </a:rPr>
              <a:t>VAEs, diffusion</a:t>
            </a:r>
          </a:p>
        </p:txBody>
      </p:sp>
      <p:sp>
        <p:nvSpPr>
          <p:cNvPr id="53" name="Rectangle 52"/>
          <p:cNvSpPr/>
          <p:nvPr/>
        </p:nvSpPr>
        <p:spPr>
          <a:xfrm>
            <a:off x="8008679" y="5288280"/>
            <a:ext cx="3403031"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118407" y="5288280"/>
            <a:ext cx="3220151" cy="701040"/>
          </a:xfrm>
          <a:prstGeom prst="rect">
            <a:avLst/>
          </a:prstGeom>
          <a:noFill/>
        </p:spPr>
        <p:txBody>
          <a:bodyPr wrap="square" anchor="ctr">
            <a:spAutoFit/>
          </a:bodyPr>
          <a:lstStyle/>
          <a:p>
            <a:pPr algn="l">
              <a:spcAft>
                <a:spcPts val="400"/>
              </a:spcAft>
            </a:pPr>
            <a:r>
              <a:rPr sz="950" b="0">
                <a:solidFill>
                  <a:srgbClr val="161B26"/>
                </a:solidFill>
                <a:latin typeface="Arial"/>
              </a:rPr>
              <a:t>Precision farming with localised analytics</a:t>
            </a:r>
          </a:p>
        </p:txBody>
      </p:sp>
      <p:sp>
        <p:nvSpPr>
          <p:cNvPr id="55" name="TextBox 54"/>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Every row is the same architectural argument in a different industry: the generative stage sits where the constraint — privacy, latency or bandwidth — says it must.</a:t>
            </a:r>
          </a:p>
        </p:txBody>
      </p:sp>
      <p:sp>
        <p:nvSpPr>
          <p:cNvPr id="56" name="TextBox 5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57" name="TextBox 5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8" name="TextBox 5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transition spd="fast">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K11, K13 · SOURCE S15 · CH.3 PP.43–44, TABLE 3.4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Scalability and Interoperability — the Unglamorous Half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Standardised APIs</a:t>
            </a:r>
          </a:p>
          <a:p>
            <a:pPr algn="l">
              <a:spcAft>
                <a:spcPts val="200"/>
              </a:spcAft>
            </a:pPr>
            <a:r>
              <a:rPr sz="1000" b="0">
                <a:solidFill>
                  <a:srgbClr val="5B6372"/>
                </a:solidFill>
                <a:latin typeface="Arial"/>
              </a:rPr>
              <a:t>Thousands of heterogeneous devices need one contract. Without it, every device type becomes its own integration project.</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Containerised deployment</a:t>
            </a:r>
          </a:p>
          <a:p>
            <a:pPr algn="l">
              <a:spcAft>
                <a:spcPts val="200"/>
              </a:spcAft>
            </a:pPr>
            <a:r>
              <a:rPr sz="1000" b="0">
                <a:solidFill>
                  <a:srgbClr val="5B6372"/>
                </a:solidFill>
                <a:latin typeface="Arial"/>
              </a:rPr>
              <a:t>Ship the model and its runtime together. This is what makes a model update a deployment rather than a site visit.</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Device synchronisation</a:t>
            </a:r>
          </a:p>
          <a:p>
            <a:pPr algn="l">
              <a:spcAft>
                <a:spcPts val="200"/>
              </a:spcAft>
            </a:pPr>
            <a:r>
              <a:rPr sz="1000" b="0">
                <a:solidFill>
                  <a:srgbClr val="5B6372"/>
                </a:solidFill>
                <a:latin typeface="Arial"/>
              </a:rPr>
              <a:t>Time, model version and configuration must agree across the estate, or your measurements are not comparable between stores.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Trust frameworks</a:t>
            </a:r>
          </a:p>
          <a:p>
            <a:pPr algn="l">
              <a:spcAft>
                <a:spcPts val="200"/>
              </a:spcAft>
            </a:pPr>
            <a:r>
              <a:rPr sz="1000" b="0">
                <a:solidFill>
                  <a:srgbClr val="5B6372"/>
                </a:solidFill>
                <a:latin typeface="Arial"/>
              </a:rPr>
              <a:t>Named directions include blockchain-based approaches for verifying which device produced which artefact.</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Hardware-software co-design</a:t>
            </a:r>
          </a:p>
          <a:p>
            <a:pPr algn="l">
              <a:spcAft>
                <a:spcPts val="200"/>
              </a:spcAft>
            </a:pPr>
            <a:r>
              <a:rPr sz="1000" b="0">
                <a:solidFill>
                  <a:srgbClr val="5B6372"/>
                </a:solidFill>
                <a:latin typeface="Arial"/>
              </a:rPr>
              <a:t>Neuromorphic processors and FPGA accelerators are the named routes to latency without losing generative quality.</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Version everything</a:t>
            </a:r>
          </a:p>
          <a:p>
            <a:pPr algn="l">
              <a:spcAft>
                <a:spcPts val="200"/>
              </a:spcAft>
            </a:pPr>
            <a:r>
              <a:rPr sz="1000" b="0">
                <a:solidFill>
                  <a:srgbClr val="5B6372"/>
                </a:solidFill>
                <a:latin typeface="Arial"/>
              </a:rPr>
              <a:t>Model ID, adapter, sampler configuration and prompt version. A measurement without them cannot be reproduced next quarter.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transition spd="fast">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F59E0B"/>
                </a:solidFill>
                <a:latin typeface="Arial"/>
              </a:rPr>
              <a:t>K13, A8 · 41 STORES, 340 OPERATING HOURS/MONTH, S$0.16/GB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An Illustrative Cost Model, and Why It Is Labelled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91420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1731324" cy="841248"/>
          </a:xfrm>
          <a:prstGeom prst="rect">
            <a:avLst/>
          </a:prstGeom>
          <a:noFill/>
        </p:spPr>
        <p:txBody>
          <a:bodyPr wrap="square" anchor="ctr">
            <a:spAutoFit/>
          </a:bodyPr>
          <a:lstStyle/>
          <a:p>
            <a:pPr algn="l">
              <a:spcAft>
                <a:spcPts val="400"/>
              </a:spcAft>
            </a:pPr>
            <a:r>
              <a:rPr sz="1100" b="1">
                <a:solidFill>
                  <a:srgbClr val="FFFFFF"/>
                </a:solidFill>
                <a:latin typeface="Arial"/>
              </a:rPr>
              <a:t>Split</a:t>
            </a:r>
          </a:p>
        </p:txBody>
      </p:sp>
      <p:sp>
        <p:nvSpPr>
          <p:cNvPr id="9" name="Rectangle 8"/>
          <p:cNvSpPr/>
          <p:nvPr/>
        </p:nvSpPr>
        <p:spPr>
          <a:xfrm>
            <a:off x="2691444" y="1783080"/>
            <a:ext cx="2552273"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01172" y="1783080"/>
            <a:ext cx="2369393" cy="841248"/>
          </a:xfrm>
          <a:prstGeom prst="rect">
            <a:avLst/>
          </a:prstGeom>
          <a:noFill/>
        </p:spPr>
        <p:txBody>
          <a:bodyPr wrap="square" anchor="ctr">
            <a:spAutoFit/>
          </a:bodyPr>
          <a:lstStyle/>
          <a:p>
            <a:pPr algn="l">
              <a:spcAft>
                <a:spcPts val="400"/>
              </a:spcAft>
            </a:pPr>
            <a:r>
              <a:rPr sz="1100" b="1">
                <a:solidFill>
                  <a:srgbClr val="FFFFFF"/>
                </a:solidFill>
                <a:latin typeface="Arial"/>
              </a:rPr>
              <a:t>Bytes/s per camera</a:t>
            </a:r>
          </a:p>
        </p:txBody>
      </p:sp>
      <p:sp>
        <p:nvSpPr>
          <p:cNvPr id="11" name="Rectangle 10"/>
          <p:cNvSpPr/>
          <p:nvPr/>
        </p:nvSpPr>
        <p:spPr>
          <a:xfrm>
            <a:off x="5243717" y="1783080"/>
            <a:ext cx="2764962"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53445" y="1783080"/>
            <a:ext cx="2582082" cy="841248"/>
          </a:xfrm>
          <a:prstGeom prst="rect">
            <a:avLst/>
          </a:prstGeom>
          <a:noFill/>
        </p:spPr>
        <p:txBody>
          <a:bodyPr wrap="square" anchor="ctr">
            <a:spAutoFit/>
          </a:bodyPr>
          <a:lstStyle/>
          <a:p>
            <a:pPr algn="l">
              <a:spcAft>
                <a:spcPts val="400"/>
              </a:spcAft>
            </a:pPr>
            <a:r>
              <a:rPr sz="1100" b="1">
                <a:solidFill>
                  <a:srgbClr val="FFFFFF"/>
                </a:solidFill>
                <a:latin typeface="Arial"/>
              </a:rPr>
              <a:t>Monthly GB per camera</a:t>
            </a:r>
          </a:p>
        </p:txBody>
      </p:sp>
      <p:sp>
        <p:nvSpPr>
          <p:cNvPr id="13" name="Rectangle 12"/>
          <p:cNvSpPr/>
          <p:nvPr/>
        </p:nvSpPr>
        <p:spPr>
          <a:xfrm>
            <a:off x="8008679" y="1783080"/>
            <a:ext cx="3403031"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18407" y="1783080"/>
            <a:ext cx="3220151" cy="841248"/>
          </a:xfrm>
          <a:prstGeom prst="rect">
            <a:avLst/>
          </a:prstGeom>
          <a:noFill/>
        </p:spPr>
        <p:txBody>
          <a:bodyPr wrap="square" anchor="ctr">
            <a:spAutoFit/>
          </a:bodyPr>
          <a:lstStyle/>
          <a:p>
            <a:pPr algn="l">
              <a:spcAft>
                <a:spcPts val="400"/>
              </a:spcAft>
            </a:pPr>
            <a:r>
              <a:rPr sz="1100" b="1">
                <a:solidFill>
                  <a:srgbClr val="FFFFFF"/>
                </a:solidFill>
                <a:latin typeface="Arial"/>
              </a:rPr>
              <a:t>Estate monthly cost</a:t>
            </a:r>
          </a:p>
        </p:txBody>
      </p:sp>
      <p:sp>
        <p:nvSpPr>
          <p:cNvPr id="15" name="Rectangle 14"/>
          <p:cNvSpPr/>
          <p:nvPr/>
        </p:nvSpPr>
        <p:spPr>
          <a:xfrm>
            <a:off x="777240" y="2624328"/>
            <a:ext cx="1914204"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624328"/>
            <a:ext cx="1731324" cy="841248"/>
          </a:xfrm>
          <a:prstGeom prst="rect">
            <a:avLst/>
          </a:prstGeom>
          <a:noFill/>
        </p:spPr>
        <p:txBody>
          <a:bodyPr wrap="square" anchor="ctr">
            <a:spAutoFit/>
          </a:bodyPr>
          <a:lstStyle/>
          <a:p>
            <a:pPr algn="l">
              <a:spcAft>
                <a:spcPts val="400"/>
              </a:spcAft>
            </a:pPr>
            <a:r>
              <a:rPr sz="1000" b="1">
                <a:solidFill>
                  <a:srgbClr val="161B26"/>
                </a:solidFill>
                <a:latin typeface="Arial"/>
              </a:rPr>
              <a:t>A raw frames</a:t>
            </a:r>
          </a:p>
        </p:txBody>
      </p:sp>
      <p:sp>
        <p:nvSpPr>
          <p:cNvPr id="17" name="Rectangle 16"/>
          <p:cNvSpPr/>
          <p:nvPr/>
        </p:nvSpPr>
        <p:spPr>
          <a:xfrm>
            <a:off x="2691444" y="2624328"/>
            <a:ext cx="2552273"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01172" y="2624328"/>
            <a:ext cx="2369393" cy="841248"/>
          </a:xfrm>
          <a:prstGeom prst="rect">
            <a:avLst/>
          </a:prstGeom>
          <a:noFill/>
        </p:spPr>
        <p:txBody>
          <a:bodyPr wrap="square" anchor="ctr">
            <a:spAutoFit/>
          </a:bodyPr>
          <a:lstStyle/>
          <a:p>
            <a:pPr algn="l">
              <a:spcAft>
                <a:spcPts val="400"/>
              </a:spcAft>
            </a:pPr>
            <a:r>
              <a:rPr sz="1000" b="0">
                <a:solidFill>
                  <a:srgbClr val="161B26"/>
                </a:solidFill>
                <a:latin typeface="Arial"/>
              </a:rPr>
              <a:t>69,120,000</a:t>
            </a:r>
          </a:p>
        </p:txBody>
      </p:sp>
      <p:sp>
        <p:nvSpPr>
          <p:cNvPr id="19" name="Rectangle 18"/>
          <p:cNvSpPr/>
          <p:nvPr/>
        </p:nvSpPr>
        <p:spPr>
          <a:xfrm>
            <a:off x="5243717" y="2624328"/>
            <a:ext cx="2764962"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53445" y="2624328"/>
            <a:ext cx="2582082" cy="841248"/>
          </a:xfrm>
          <a:prstGeom prst="rect">
            <a:avLst/>
          </a:prstGeom>
          <a:noFill/>
        </p:spPr>
        <p:txBody>
          <a:bodyPr wrap="square" anchor="ctr">
            <a:spAutoFit/>
          </a:bodyPr>
          <a:lstStyle/>
          <a:p>
            <a:pPr algn="l">
              <a:spcAft>
                <a:spcPts val="400"/>
              </a:spcAft>
            </a:pPr>
            <a:r>
              <a:rPr sz="1000" b="0">
                <a:solidFill>
                  <a:srgbClr val="161B26"/>
                </a:solidFill>
                <a:latin typeface="Arial"/>
              </a:rPr>
              <a:t>84,602.9</a:t>
            </a:r>
          </a:p>
        </p:txBody>
      </p:sp>
      <p:sp>
        <p:nvSpPr>
          <p:cNvPr id="21" name="Rectangle 20"/>
          <p:cNvSpPr/>
          <p:nvPr/>
        </p:nvSpPr>
        <p:spPr>
          <a:xfrm>
            <a:off x="8008679" y="2624328"/>
            <a:ext cx="3403031"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8407" y="2624328"/>
            <a:ext cx="3220151" cy="841248"/>
          </a:xfrm>
          <a:prstGeom prst="rect">
            <a:avLst/>
          </a:prstGeom>
          <a:noFill/>
        </p:spPr>
        <p:txBody>
          <a:bodyPr wrap="square" anchor="ctr">
            <a:spAutoFit/>
          </a:bodyPr>
          <a:lstStyle/>
          <a:p>
            <a:pPr algn="l">
              <a:spcAft>
                <a:spcPts val="400"/>
              </a:spcAft>
            </a:pPr>
            <a:r>
              <a:rPr sz="1000" b="0">
                <a:solidFill>
                  <a:srgbClr val="161B26"/>
                </a:solidFill>
                <a:latin typeface="Arial"/>
              </a:rPr>
              <a:t>S$554,798 — and it does not fit the uplink anyway</a:t>
            </a:r>
          </a:p>
        </p:txBody>
      </p:sp>
      <p:sp>
        <p:nvSpPr>
          <p:cNvPr id="23" name="Rectangle 22"/>
          <p:cNvSpPr/>
          <p:nvPr/>
        </p:nvSpPr>
        <p:spPr>
          <a:xfrm>
            <a:off x="777240" y="3465576"/>
            <a:ext cx="1914204"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3465576"/>
            <a:ext cx="1731324" cy="841248"/>
          </a:xfrm>
          <a:prstGeom prst="rect">
            <a:avLst/>
          </a:prstGeom>
          <a:noFill/>
        </p:spPr>
        <p:txBody>
          <a:bodyPr wrap="square" anchor="ctr">
            <a:spAutoFit/>
          </a:bodyPr>
          <a:lstStyle/>
          <a:p>
            <a:pPr algn="l">
              <a:spcAft>
                <a:spcPts val="400"/>
              </a:spcAft>
            </a:pPr>
            <a:r>
              <a:rPr sz="1000" b="1">
                <a:solidFill>
                  <a:srgbClr val="161B26"/>
                </a:solidFill>
                <a:latin typeface="Arial"/>
              </a:rPr>
              <a:t>B encoded video</a:t>
            </a:r>
          </a:p>
        </p:txBody>
      </p:sp>
      <p:sp>
        <p:nvSpPr>
          <p:cNvPr id="25" name="Rectangle 24"/>
          <p:cNvSpPr/>
          <p:nvPr/>
        </p:nvSpPr>
        <p:spPr>
          <a:xfrm>
            <a:off x="2691444" y="3465576"/>
            <a:ext cx="2552273"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01172" y="3465576"/>
            <a:ext cx="2369393" cy="841248"/>
          </a:xfrm>
          <a:prstGeom prst="rect">
            <a:avLst/>
          </a:prstGeom>
          <a:noFill/>
        </p:spPr>
        <p:txBody>
          <a:bodyPr wrap="square" anchor="ctr">
            <a:spAutoFit/>
          </a:bodyPr>
          <a:lstStyle/>
          <a:p>
            <a:pPr algn="l">
              <a:spcAft>
                <a:spcPts val="400"/>
              </a:spcAft>
            </a:pPr>
            <a:r>
              <a:rPr sz="1000" b="0">
                <a:solidFill>
                  <a:srgbClr val="161B26"/>
                </a:solidFill>
                <a:latin typeface="Arial"/>
              </a:rPr>
              <a:t>312,500</a:t>
            </a:r>
          </a:p>
        </p:txBody>
      </p:sp>
      <p:sp>
        <p:nvSpPr>
          <p:cNvPr id="27" name="Rectangle 26"/>
          <p:cNvSpPr/>
          <p:nvPr/>
        </p:nvSpPr>
        <p:spPr>
          <a:xfrm>
            <a:off x="5243717" y="3465576"/>
            <a:ext cx="2764962"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53445" y="3465576"/>
            <a:ext cx="2582082" cy="841248"/>
          </a:xfrm>
          <a:prstGeom prst="rect">
            <a:avLst/>
          </a:prstGeom>
          <a:noFill/>
        </p:spPr>
        <p:txBody>
          <a:bodyPr wrap="square" anchor="ctr">
            <a:spAutoFit/>
          </a:bodyPr>
          <a:lstStyle/>
          <a:p>
            <a:pPr algn="l">
              <a:spcAft>
                <a:spcPts val="400"/>
              </a:spcAft>
            </a:pPr>
            <a:r>
              <a:rPr sz="1000" b="0">
                <a:solidFill>
                  <a:srgbClr val="161B26"/>
                </a:solidFill>
                <a:latin typeface="Arial"/>
              </a:rPr>
              <a:t>382.5</a:t>
            </a:r>
          </a:p>
        </p:txBody>
      </p:sp>
      <p:sp>
        <p:nvSpPr>
          <p:cNvPr id="29" name="Rectangle 28"/>
          <p:cNvSpPr/>
          <p:nvPr/>
        </p:nvSpPr>
        <p:spPr>
          <a:xfrm>
            <a:off x="8008679" y="3465576"/>
            <a:ext cx="3403031"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18407" y="3465576"/>
            <a:ext cx="3220151" cy="841248"/>
          </a:xfrm>
          <a:prstGeom prst="rect">
            <a:avLst/>
          </a:prstGeom>
          <a:noFill/>
        </p:spPr>
        <p:txBody>
          <a:bodyPr wrap="square" anchor="ctr">
            <a:spAutoFit/>
          </a:bodyPr>
          <a:lstStyle/>
          <a:p>
            <a:pPr algn="l">
              <a:spcAft>
                <a:spcPts val="400"/>
              </a:spcAft>
            </a:pPr>
            <a:r>
              <a:rPr sz="1000" b="0">
                <a:solidFill>
                  <a:srgbClr val="161B26"/>
                </a:solidFill>
                <a:latin typeface="Arial"/>
              </a:rPr>
              <a:t>S$2,509</a:t>
            </a:r>
          </a:p>
        </p:txBody>
      </p:sp>
      <p:sp>
        <p:nvSpPr>
          <p:cNvPr id="31" name="Rectangle 30"/>
          <p:cNvSpPr/>
          <p:nvPr/>
        </p:nvSpPr>
        <p:spPr>
          <a:xfrm>
            <a:off x="777240" y="4306824"/>
            <a:ext cx="1914204"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306824"/>
            <a:ext cx="1731324" cy="841248"/>
          </a:xfrm>
          <a:prstGeom prst="rect">
            <a:avLst/>
          </a:prstGeom>
          <a:noFill/>
        </p:spPr>
        <p:txBody>
          <a:bodyPr wrap="square" anchor="ctr">
            <a:spAutoFit/>
          </a:bodyPr>
          <a:lstStyle/>
          <a:p>
            <a:pPr algn="l">
              <a:spcAft>
                <a:spcPts val="400"/>
              </a:spcAft>
            </a:pPr>
            <a:r>
              <a:rPr sz="1000" b="1">
                <a:solidFill>
                  <a:srgbClr val="161B26"/>
                </a:solidFill>
                <a:latin typeface="Arial"/>
              </a:rPr>
              <a:t>C ORB features</a:t>
            </a:r>
          </a:p>
        </p:txBody>
      </p:sp>
      <p:sp>
        <p:nvSpPr>
          <p:cNvPr id="33" name="Rectangle 32"/>
          <p:cNvSpPr/>
          <p:nvPr/>
        </p:nvSpPr>
        <p:spPr>
          <a:xfrm>
            <a:off x="2691444" y="4306824"/>
            <a:ext cx="2552273"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01172" y="4306824"/>
            <a:ext cx="2369393" cy="841248"/>
          </a:xfrm>
          <a:prstGeom prst="rect">
            <a:avLst/>
          </a:prstGeom>
          <a:noFill/>
        </p:spPr>
        <p:txBody>
          <a:bodyPr wrap="square" anchor="ctr">
            <a:spAutoFit/>
          </a:bodyPr>
          <a:lstStyle/>
          <a:p>
            <a:pPr algn="l">
              <a:spcAft>
                <a:spcPts val="400"/>
              </a:spcAft>
            </a:pPr>
            <a:r>
              <a:rPr sz="1000" b="0">
                <a:solidFill>
                  <a:srgbClr val="161B26"/>
                </a:solidFill>
                <a:latin typeface="Arial"/>
              </a:rPr>
              <a:t>400,000</a:t>
            </a:r>
          </a:p>
        </p:txBody>
      </p:sp>
      <p:sp>
        <p:nvSpPr>
          <p:cNvPr id="35" name="Rectangle 34"/>
          <p:cNvSpPr/>
          <p:nvPr/>
        </p:nvSpPr>
        <p:spPr>
          <a:xfrm>
            <a:off x="5243717" y="4306824"/>
            <a:ext cx="2764962"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53445" y="4306824"/>
            <a:ext cx="2582082" cy="841248"/>
          </a:xfrm>
          <a:prstGeom prst="rect">
            <a:avLst/>
          </a:prstGeom>
          <a:noFill/>
        </p:spPr>
        <p:txBody>
          <a:bodyPr wrap="square" anchor="ctr">
            <a:spAutoFit/>
          </a:bodyPr>
          <a:lstStyle/>
          <a:p>
            <a:pPr algn="l">
              <a:spcAft>
                <a:spcPts val="400"/>
              </a:spcAft>
            </a:pPr>
            <a:r>
              <a:rPr sz="1000" b="0">
                <a:solidFill>
                  <a:srgbClr val="161B26"/>
                </a:solidFill>
                <a:latin typeface="Arial"/>
              </a:rPr>
              <a:t>489.6</a:t>
            </a:r>
          </a:p>
        </p:txBody>
      </p:sp>
      <p:sp>
        <p:nvSpPr>
          <p:cNvPr id="37" name="Rectangle 36"/>
          <p:cNvSpPr/>
          <p:nvPr/>
        </p:nvSpPr>
        <p:spPr>
          <a:xfrm>
            <a:off x="8008679" y="4306824"/>
            <a:ext cx="3403031"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18407" y="4306824"/>
            <a:ext cx="3220151" cy="841248"/>
          </a:xfrm>
          <a:prstGeom prst="rect">
            <a:avLst/>
          </a:prstGeom>
          <a:noFill/>
        </p:spPr>
        <p:txBody>
          <a:bodyPr wrap="square" anchor="ctr">
            <a:spAutoFit/>
          </a:bodyPr>
          <a:lstStyle/>
          <a:p>
            <a:pPr algn="l">
              <a:spcAft>
                <a:spcPts val="400"/>
              </a:spcAft>
            </a:pPr>
            <a:r>
              <a:rPr sz="1000" b="0">
                <a:solidFill>
                  <a:srgbClr val="161B26"/>
                </a:solidFill>
                <a:latin typeface="Arial"/>
              </a:rPr>
              <a:t>S$3,212</a:t>
            </a:r>
          </a:p>
        </p:txBody>
      </p:sp>
      <p:sp>
        <p:nvSpPr>
          <p:cNvPr id="39" name="Rectangle 38"/>
          <p:cNvSpPr/>
          <p:nvPr/>
        </p:nvSpPr>
        <p:spPr>
          <a:xfrm>
            <a:off x="777240" y="5148072"/>
            <a:ext cx="1914204"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5148072"/>
            <a:ext cx="1731324" cy="841248"/>
          </a:xfrm>
          <a:prstGeom prst="rect">
            <a:avLst/>
          </a:prstGeom>
          <a:noFill/>
        </p:spPr>
        <p:txBody>
          <a:bodyPr wrap="square" anchor="ctr">
            <a:spAutoFit/>
          </a:bodyPr>
          <a:lstStyle/>
          <a:p>
            <a:pPr algn="l">
              <a:spcAft>
                <a:spcPts val="400"/>
              </a:spcAft>
            </a:pPr>
            <a:r>
              <a:rPr sz="1000" b="1">
                <a:solidFill>
                  <a:srgbClr val="161B26"/>
                </a:solidFill>
                <a:latin typeface="Arial"/>
              </a:rPr>
              <a:t>D events only</a:t>
            </a:r>
          </a:p>
        </p:txBody>
      </p:sp>
      <p:sp>
        <p:nvSpPr>
          <p:cNvPr id="41" name="Rectangle 40"/>
          <p:cNvSpPr/>
          <p:nvPr/>
        </p:nvSpPr>
        <p:spPr>
          <a:xfrm>
            <a:off x="2691444" y="5148072"/>
            <a:ext cx="2552273"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01172" y="5148072"/>
            <a:ext cx="2369393" cy="841248"/>
          </a:xfrm>
          <a:prstGeom prst="rect">
            <a:avLst/>
          </a:prstGeom>
          <a:noFill/>
        </p:spPr>
        <p:txBody>
          <a:bodyPr wrap="square" anchor="ctr">
            <a:spAutoFit/>
          </a:bodyPr>
          <a:lstStyle/>
          <a:p>
            <a:pPr algn="l">
              <a:spcAft>
                <a:spcPts val="400"/>
              </a:spcAft>
            </a:pPr>
            <a:r>
              <a:rPr sz="1000" b="0">
                <a:solidFill>
                  <a:srgbClr val="161B26"/>
                </a:solidFill>
                <a:latin typeface="Arial"/>
              </a:rPr>
              <a:t>40</a:t>
            </a:r>
          </a:p>
        </p:txBody>
      </p:sp>
      <p:sp>
        <p:nvSpPr>
          <p:cNvPr id="43" name="Rectangle 42"/>
          <p:cNvSpPr/>
          <p:nvPr/>
        </p:nvSpPr>
        <p:spPr>
          <a:xfrm>
            <a:off x="5243717" y="5148072"/>
            <a:ext cx="2764962"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353445" y="5148072"/>
            <a:ext cx="2582082" cy="841248"/>
          </a:xfrm>
          <a:prstGeom prst="rect">
            <a:avLst/>
          </a:prstGeom>
          <a:noFill/>
        </p:spPr>
        <p:txBody>
          <a:bodyPr wrap="square" anchor="ctr">
            <a:spAutoFit/>
          </a:bodyPr>
          <a:lstStyle/>
          <a:p>
            <a:pPr algn="l">
              <a:spcAft>
                <a:spcPts val="400"/>
              </a:spcAft>
            </a:pPr>
            <a:r>
              <a:rPr sz="1000" b="0">
                <a:solidFill>
                  <a:srgbClr val="161B26"/>
                </a:solidFill>
                <a:latin typeface="Arial"/>
              </a:rPr>
              <a:t>0.049</a:t>
            </a:r>
          </a:p>
        </p:txBody>
      </p:sp>
      <p:sp>
        <p:nvSpPr>
          <p:cNvPr id="45" name="Rectangle 44"/>
          <p:cNvSpPr/>
          <p:nvPr/>
        </p:nvSpPr>
        <p:spPr>
          <a:xfrm>
            <a:off x="8008679" y="5148072"/>
            <a:ext cx="3403031"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118407" y="5148072"/>
            <a:ext cx="3220151" cy="841248"/>
          </a:xfrm>
          <a:prstGeom prst="rect">
            <a:avLst/>
          </a:prstGeom>
          <a:noFill/>
        </p:spPr>
        <p:txBody>
          <a:bodyPr wrap="square" anchor="ctr">
            <a:spAutoFit/>
          </a:bodyPr>
          <a:lstStyle/>
          <a:p>
            <a:pPr algn="l">
              <a:spcAft>
                <a:spcPts val="400"/>
              </a:spcAft>
            </a:pPr>
            <a:r>
              <a:rPr sz="1000" b="0">
                <a:solidFill>
                  <a:srgbClr val="161B26"/>
                </a:solidFill>
                <a:latin typeface="Arial"/>
              </a:rPr>
              <a:t>S$0.32</a:t>
            </a:r>
          </a:p>
        </p:txBody>
      </p:sp>
      <p:sp>
        <p:nvSpPr>
          <p:cNvPr id="47" name="TextBox 46"/>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ILLUSTRATIVE. Built on the classroom unit rate in deployment-constraints.json and an assumed event rate. Not a quotation and not a forecast. A real figure requires current vendor pricing and a measured event rate — which is one of the residual risks you must state.</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transition spd="fast">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K13, A8 · A BUDGET IS A SUM OF TERMS, NOT A SINGLE NUMBER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Decomposing a Latency Budget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F6FEB"/>
                </a:solidFill>
                <a:latin typeface="Arial"/>
              </a:rPr>
              <a:t>The terms</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The discipline</a:t>
            </a:r>
          </a:p>
        </p:txBody>
      </p:sp>
      <p:sp>
        <p:nvSpPr>
          <p:cNvPr id="13" name="TextBox 12"/>
          <p:cNvSpPr txBox="1"/>
          <p:nvPr/>
        </p:nvSpPr>
        <p:spPr>
          <a:xfrm>
            <a:off x="1005840" y="2423160"/>
            <a:ext cx="4754880" cy="3017520"/>
          </a:xfrm>
          <a:prstGeom prst="rect">
            <a:avLst/>
          </a:prstGeom>
          <a:noFill/>
        </p:spPr>
        <p:txBody>
          <a:bodyPr wrap="square">
            <a:spAutoFit/>
          </a:bodyPr>
          <a:lstStyle/>
          <a:p>
            <a:pPr>
              <a:spcAft>
                <a:spcPts val="800"/>
              </a:spcAft>
            </a:pPr>
            <a:r>
              <a:rPr sz="1300" b="1">
                <a:solidFill>
                  <a:srgbClr val="161B26"/>
                </a:solidFill>
                <a:latin typeface="Arial"/>
              </a:rPr>
              <a:t>•  Where the milliseconds go</a:t>
            </a:r>
          </a:p>
          <a:p>
            <a:pPr>
              <a:spcAft>
                <a:spcPts val="800"/>
              </a:spcAft>
            </a:pPr>
            <a:r>
              <a:rPr sz="1100" b="0">
                <a:solidFill>
                  <a:srgbClr val="5B6372"/>
                </a:solidFill>
                <a:latin typeface="Arial"/>
              </a:rPr>
              <a:t>–  Capture and decode: fixed by the camera and codec.</a:t>
            </a:r>
          </a:p>
          <a:p>
            <a:pPr>
              <a:spcAft>
                <a:spcPts val="800"/>
              </a:spcAft>
            </a:pPr>
            <a:r>
              <a:rPr sz="1100" b="0">
                <a:solidFill>
                  <a:srgbClr val="5B6372"/>
                </a:solidFill>
                <a:latin typeface="Arial"/>
              </a:rPr>
              <a:t>–  Edge processing: COMPUTED — 78.6 ms sum of isolated stage medians; time end-to-end separately.</a:t>
            </a:r>
          </a:p>
          <a:p>
            <a:pPr>
              <a:spcAft>
                <a:spcPts val="800"/>
              </a:spcAft>
            </a:pPr>
            <a:r>
              <a:rPr sz="1100" b="0">
                <a:solidFill>
                  <a:srgbClr val="5B6372"/>
                </a:solidFill>
                <a:latin typeface="Arial"/>
              </a:rPr>
              <a:t>–  Network transit: round-trip time plus serialisation of the payload.</a:t>
            </a:r>
          </a:p>
          <a:p>
            <a:pPr>
              <a:spcAft>
                <a:spcPts val="800"/>
              </a:spcAft>
            </a:pPr>
            <a:r>
              <a:rPr sz="1100" b="0">
                <a:solidFill>
                  <a:srgbClr val="5B6372"/>
                </a:solidFill>
                <a:latin typeface="Arial"/>
              </a:rPr>
              <a:t>–  Queueing: the part everyone forgets, and the part that dominates under load.</a:t>
            </a:r>
          </a:p>
          <a:p>
            <a:pPr>
              <a:spcAft>
                <a:spcPts val="800"/>
              </a:spcAft>
            </a:pPr>
            <a:r>
              <a:rPr sz="1100" b="0">
                <a:solidFill>
                  <a:srgbClr val="5B6372"/>
                </a:solidFill>
                <a:latin typeface="Arial"/>
              </a:rPr>
              <a:t>–  Model inference: S x c_step for an image; S x F x c_step for video.</a:t>
            </a:r>
          </a:p>
          <a:p>
            <a:pPr>
              <a:spcAft>
                <a:spcPts val="800"/>
              </a:spcAft>
            </a:pPr>
            <a:r>
              <a:rPr sz="1100" b="0">
                <a:solidFill>
                  <a:srgbClr val="5B6372"/>
                </a:solidFill>
                <a:latin typeface="Arial"/>
              </a:rPr>
              <a:t>–  Application and display: rendering the alert a human sees.</a:t>
            </a:r>
          </a:p>
        </p:txBody>
      </p:sp>
      <p:sp>
        <p:nvSpPr>
          <p:cNvPr id="14" name="TextBox 13"/>
          <p:cNvSpPr txBox="1"/>
          <p:nvPr/>
        </p:nvSpPr>
        <p:spPr>
          <a:xfrm>
            <a:off x="6583680" y="2423160"/>
            <a:ext cx="4617720" cy="3017520"/>
          </a:xfrm>
          <a:prstGeom prst="rect">
            <a:avLst/>
          </a:prstGeom>
          <a:noFill/>
        </p:spPr>
        <p:txBody>
          <a:bodyPr wrap="square">
            <a:spAutoFit/>
          </a:bodyPr>
          <a:lstStyle/>
          <a:p>
            <a:pPr>
              <a:spcAft>
                <a:spcPts val="800"/>
              </a:spcAft>
            </a:pPr>
            <a:r>
              <a:rPr sz="1300" b="1">
                <a:solidFill>
                  <a:srgbClr val="161B26"/>
                </a:solidFill>
                <a:latin typeface="Arial"/>
              </a:rPr>
              <a:t>•  How to use the decomposition</a:t>
            </a:r>
          </a:p>
          <a:p>
            <a:pPr>
              <a:spcAft>
                <a:spcPts val="800"/>
              </a:spcAft>
            </a:pPr>
            <a:r>
              <a:rPr sz="1100" b="0">
                <a:solidFill>
                  <a:srgbClr val="5B6372"/>
                </a:solidFill>
                <a:latin typeface="Arial"/>
              </a:rPr>
              <a:t>–  Measure what you can measure, and label the rest MODELLED.</a:t>
            </a:r>
          </a:p>
          <a:p>
            <a:pPr>
              <a:spcAft>
                <a:spcPts val="800"/>
              </a:spcAft>
            </a:pPr>
            <a:r>
              <a:rPr sz="1100" b="0">
                <a:solidFill>
                  <a:srgbClr val="5B6372"/>
                </a:solidFill>
                <a:latin typeface="Arial"/>
              </a:rPr>
              <a:t>–  Attack the largest term first. Here that is dense optical flow at 54.2 ms — 69% of the edge total.</a:t>
            </a:r>
          </a:p>
          <a:p>
            <a:pPr>
              <a:spcAft>
                <a:spcPts val="800"/>
              </a:spcAft>
            </a:pPr>
            <a:r>
              <a:rPr sz="1100" b="0">
                <a:solidFill>
                  <a:srgbClr val="5B6372"/>
                </a:solidFill>
                <a:latin typeface="Arial"/>
              </a:rPr>
              <a:t>–  Report a percentile, not a mean. A p95 of 81.7 ms is the number the user experiences on a bad frame.</a:t>
            </a:r>
          </a:p>
          <a:p>
            <a:pPr>
              <a:spcAft>
                <a:spcPts val="800"/>
              </a:spcAft>
            </a:pPr>
            <a:r>
              <a:rPr sz="1100" b="0">
                <a:solidFill>
                  <a:srgbClr val="5B6372"/>
                </a:solidFill>
                <a:latin typeface="Arial"/>
              </a:rPr>
              <a:t>–  State the hardware. The same code on a store device will not produce these numbers.</a:t>
            </a:r>
          </a:p>
        </p:txBody>
      </p:sp>
      <p:sp>
        <p:nvSpPr>
          <p:cNvPr id="15" name="TextBox 14"/>
          <p:cNvSpPr txBox="1"/>
          <p:nvPr/>
        </p:nvSpPr>
        <p:spPr>
          <a:xfrm>
            <a:off x="777240" y="5669280"/>
            <a:ext cx="10698480" cy="640080"/>
          </a:xfrm>
          <a:prstGeom prst="rect">
            <a:avLst/>
          </a:prstGeom>
          <a:noFill/>
        </p:spPr>
        <p:txBody>
          <a:bodyPr wrap="square" anchor="ctr">
            <a:spAutoFit/>
          </a:bodyPr>
          <a:lstStyle/>
          <a:p>
            <a:pPr algn="ctr">
              <a:spcAft>
                <a:spcPts val="400"/>
              </a:spcAft>
            </a:pPr>
            <a:r>
              <a:rPr sz="1250" b="0">
                <a:solidFill>
                  <a:srgbClr val="5B6372"/>
                </a:solidFill>
                <a:latin typeface="Arial"/>
              </a:rPr>
              <a:t>Lab 12's harness discards the first five frames, reports median and p95, and writes the CPU string into the CSV header — because a latency number without its hardware and its percentile is not a measurement.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transition spd="fast">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A7, A8 · THE FORMAT YOUR DECISION HAS TO SURVIVE IN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Architecture Decision Record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CONTEXT</a:t>
            </a:r>
          </a:p>
          <a:p>
            <a:pPr algn="l">
              <a:spcAft>
                <a:spcPts val="200"/>
              </a:spcAft>
            </a:pPr>
            <a:r>
              <a:rPr sz="1000" b="0">
                <a:solidFill>
                  <a:srgbClr val="5B6372"/>
                </a:solidFill>
                <a:latin typeface="Arial"/>
              </a:rPr>
              <a:t>The estate, the uplink, the privacy classification and the latency budget. Written before any option is discussed.</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CONSTRAINT GATES</a:t>
            </a:r>
          </a:p>
          <a:p>
            <a:pPr algn="l">
              <a:spcAft>
                <a:spcPts val="200"/>
              </a:spcAft>
            </a:pPr>
            <a:r>
              <a:rPr sz="1000" b="0">
                <a:solidFill>
                  <a:srgbClr val="5B6372"/>
                </a:solidFill>
                <a:latin typeface="Arial"/>
              </a:rPr>
              <a:t>Applied FIRST, not weighted. Which options does privacy eliminate? Which are arithmetically infeasible on the uplink?</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MEASURED / MODELLED / ILLUSTRATIVE</a:t>
            </a:r>
          </a:p>
          <a:p>
            <a:pPr algn="l">
              <a:spcAft>
                <a:spcPts val="200"/>
              </a:spcAft>
            </a:pPr>
            <a:r>
              <a:rPr sz="1000" b="0">
                <a:solidFill>
                  <a:srgbClr val="5B6372"/>
                </a:solidFill>
                <a:latin typeface="Arial"/>
              </a:rPr>
              <a:t>Three separate sections. Mixing them in one table is the mistake this whole topic exists to prevent.</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DECISION AND RUNNER-UP</a:t>
            </a:r>
          </a:p>
          <a:p>
            <a:pPr algn="l">
              <a:spcAft>
                <a:spcPts val="200"/>
              </a:spcAft>
            </a:pPr>
            <a:r>
              <a:rPr sz="1000" b="0">
                <a:solidFill>
                  <a:srgbClr val="5B6372"/>
                </a:solidFill>
                <a:latin typeface="Arial"/>
              </a:rPr>
              <a:t>Name the chosen split, name the runner-up, and state the single number that decided between them.</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CONSEQUENCES</a:t>
            </a:r>
          </a:p>
          <a:p>
            <a:pPr algn="l">
              <a:spcAft>
                <a:spcPts val="200"/>
              </a:spcAft>
            </a:pPr>
            <a:r>
              <a:rPr sz="1000" b="0">
                <a:solidFill>
                  <a:srgbClr val="5B6372"/>
                </a:solidFill>
                <a:latin typeface="Arial"/>
              </a:rPr>
              <a:t>What becomes easy, what becomes hard, and what now has to be built that would not otherwise exist.</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RESIDUAL RISK</a:t>
            </a:r>
          </a:p>
          <a:p>
            <a:pPr algn="l">
              <a:spcAft>
                <a:spcPts val="200"/>
              </a:spcAft>
            </a:pPr>
            <a:r>
              <a:rPr sz="1000" b="0">
                <a:solidFill>
                  <a:srgbClr val="5B6372"/>
                </a:solidFill>
                <a:latin typeface="Arial"/>
              </a:rPr>
              <a:t>At least three, each with the specific action that would close it. A decision without its residual risks is not finished.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transition spd="fast">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TOPIC 05 · ELO6 · A7, A8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Lab 12 — Cloud-Edge Architecture Design and Measured Trade-offs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INPUTS</a:t>
            </a:r>
          </a:p>
        </p:txBody>
      </p:sp>
      <p:sp>
        <p:nvSpPr>
          <p:cNvPr id="10" name="TextBox 9"/>
          <p:cNvSpPr txBox="1"/>
          <p:nvPr/>
        </p:nvSpPr>
        <p:spPr>
          <a:xfrm>
            <a:off x="978408"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Synthetic 10-second 1280x720 25 fps clip used as the pipeline input for timing (deterministically rendered with OpenCV — SIMULATED, not generative-model output)</a:t>
            </a:r>
          </a:p>
        </p:txBody>
      </p:sp>
      <p:sp>
        <p:nvSpPr>
          <p:cNvPr id="11" name="Rounded Rectangle 10"/>
          <p:cNvSpPr/>
          <p:nvPr/>
        </p:nvSpPr>
        <p:spPr>
          <a:xfrm>
            <a:off x="4379976"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TECHNICAL QUESTION</a:t>
            </a:r>
          </a:p>
        </p:txBody>
      </p:sp>
      <p:sp>
        <p:nvSpPr>
          <p:cNvPr id="14" name="TextBox 13"/>
          <p:cNvSpPr txBox="1"/>
          <p:nvPr/>
        </p:nvSpPr>
        <p:spPr>
          <a:xfrm>
            <a:off x="4581144"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Can the architecture meet both latency and throughput targets within the uplink budget?</a:t>
            </a:r>
          </a:p>
        </p:txBody>
      </p:sp>
      <p:sp>
        <p:nvSpPr>
          <p:cNvPr id="15" name="Rounded Rectangle 14"/>
          <p:cNvSpPr/>
          <p:nvPr/>
        </p:nvSpPr>
        <p:spPr>
          <a:xfrm>
            <a:off x="7982712"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EVIDENCE TO PRODUCE</a:t>
            </a:r>
          </a:p>
        </p:txBody>
      </p:sp>
      <p:sp>
        <p:nvSpPr>
          <p:cNvPr id="18" name="TextBox 17"/>
          <p:cNvSpPr txBox="1"/>
          <p:nvPr/>
        </p:nvSpPr>
        <p:spPr>
          <a:xfrm>
            <a:off x="8183880"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`out/stage-latency.csv` (measured, not estimated), `out/bandwidth-model.csv` for four upload strategies at 41 stores, `out/split-decision.md` naming the chosen split point with its latency, bandwidth, privacy and cost consequences, and a labelled four-layer architecture diagram.</a:t>
            </a:r>
          </a:p>
        </p:txBody>
      </p:sp>
      <p:sp>
        <p:nvSpPr>
          <p:cNvPr id="19" name="TextBox 18"/>
          <p:cNvSpPr txBox="1"/>
          <p:nvPr/>
        </p:nvSpPr>
        <p:spPr>
          <a:xfrm>
            <a:off x="777240" y="5623560"/>
            <a:ext cx="10607040" cy="685800"/>
          </a:xfrm>
          <a:prstGeom prst="rect">
            <a:avLst/>
          </a:prstGeom>
          <a:noFill/>
        </p:spPr>
        <p:txBody>
          <a:bodyPr wrap="square" anchor="t">
            <a:spAutoFit/>
          </a:bodyPr>
          <a:lstStyle/>
          <a:p>
            <a:pPr algn="l">
              <a:spcAft>
                <a:spcPts val="400"/>
              </a:spcAft>
            </a:pPr>
            <a:r>
              <a:rPr sz="1150" b="0">
                <a:solidFill>
                  <a:srgbClr val="5B6372"/>
                </a:solidFill>
                <a:latin typeface="Arial"/>
              </a:rPr>
              <a:t>LAB 12  ·  60 MIN · Python 3 · opencv-python · NumPy · offline with prepared dependencies; no paid service</a:t>
            </a:r>
          </a:p>
          <a:p>
            <a:pPr algn="l">
              <a:spcAft>
                <a:spcPts val="400"/>
              </a:spcAft>
            </a:pPr>
            <a:r>
              <a:rPr sz="1150" b="0">
                <a:solidFill>
                  <a:srgbClr val="5B6372"/>
                </a:solidFill>
                <a:latin typeface="Arial"/>
              </a:rPr>
              <a:t>Detailed procedures and prompts: Learner Guide / labs/lab-12-cloud-edge-architecture-tradeoffs/README.md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transition spd="fast">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TOPIC 05 · ELO6 · K11, K12, K13, A7, A8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Recap — Topic 05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250" b="0">
                <a:solidFill>
                  <a:srgbClr val="161B26"/>
                </a:solidFill>
                <a:latin typeface="Arial"/>
              </a:rPr>
              <a:t>•  A generative visual system has four layers: IoT sensing, edge intelligence, generative visual modelling, and application. Place your own stages on it.</a:t>
            </a:r>
          </a:p>
          <a:p>
            <a:pPr>
              <a:spcAft>
                <a:spcPts val="1000"/>
              </a:spcAft>
            </a:pPr>
            <a:r>
              <a:rPr sz="1250" b="0">
                <a:solidFill>
                  <a:srgbClr val="161B26"/>
                </a:solidFill>
                <a:latin typeface="Arial"/>
              </a:rPr>
              <a:t>•  Split computing is the real architecture decision, and you choose the split point by measuring per-stage latency and the payload that crosses it.</a:t>
            </a:r>
          </a:p>
          <a:p>
            <a:pPr>
              <a:spcAft>
                <a:spcPts val="1000"/>
              </a:spcAft>
            </a:pPr>
            <a:r>
              <a:rPr sz="1250" b="0">
                <a:solidFill>
                  <a:srgbClr val="161B26"/>
                </a:solidFill>
                <a:latin typeface="Arial"/>
              </a:rPr>
              <a:t>•  Protocols are chosen by payload class and latency class: RTSP and WebRTC for live video, MQTT and CoAP for events, HTTPS/REST and gRPC for model calls.</a:t>
            </a:r>
          </a:p>
          <a:p>
            <a:pPr>
              <a:spcAft>
                <a:spcPts val="1000"/>
              </a:spcAft>
            </a:pPr>
            <a:r>
              <a:rPr sz="1250" b="0">
                <a:solidFill>
                  <a:srgbClr val="161B26"/>
                </a:solidFill>
                <a:latin typeface="Arial"/>
              </a:rPr>
              <a:t>•  Diffusion latency is proportional to S for images and to S x F for video — modelled at 200x for a 200-frame clip, which is why video generation is not an edge workload.</a:t>
            </a:r>
          </a:p>
          <a:p>
            <a:pPr>
              <a:spcAft>
                <a:spcPts val="1000"/>
              </a:spcAft>
            </a:pPr>
            <a:r>
              <a:rPr sz="1250" b="0">
                <a:solidFill>
                  <a:srgbClr val="161B26"/>
                </a:solidFill>
                <a:latin typeface="Arial"/>
              </a:rPr>
              <a:t>•  Measured: raw frames need 553 Mbit/s per store against a 20 Mbit/s uplink, and events need 0.00032 — a decision of three orders of magnitude.</a:t>
            </a:r>
          </a:p>
          <a:p>
            <a:pPr>
              <a:spcAft>
                <a:spcPts val="1000"/>
              </a:spcAft>
            </a:pPr>
            <a:r>
              <a:rPr sz="1250" b="0">
                <a:solidFill>
                  <a:srgbClr val="161B26"/>
                </a:solidFill>
                <a:latin typeface="Arial"/>
              </a:rPr>
              <a:t>•  INT8 quantisation cuts parameter memory to a quarter; a rank-16 adapter trains 0.78% of a layer's parameters. Both are modelled, and both need a measured quality cost.</a:t>
            </a:r>
          </a:p>
          <a:p>
            <a:pPr>
              <a:spcAft>
                <a:spcPts val="1000"/>
              </a:spcAft>
            </a:pPr>
            <a:r>
              <a:rPr sz="1250" b="0">
                <a:solidFill>
                  <a:srgbClr val="161B26"/>
                </a:solidFill>
                <a:latin typeface="Arial"/>
              </a:rPr>
              <a:t>•  Eliminate on constraint first — privacy is a gate, not a weight — then optimise on cost among what survives, and state your residual risks. (A7, A8, K11, K12, K13)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transition spd="fast">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IMAGEGEN · ACTUAL BEFORE / AFTER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 colour edit can change more than the bottle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ral-bottle-reference.png"/>
          <p:cNvPicPr>
            <a:picLocks noChangeAspect="1"/>
          </p:cNvPicPr>
          <p:nvPr/>
        </p:nvPicPr>
        <p:blipFill>
          <a:blip r:embed="rId2"/>
          <a:stretch>
            <a:fillRect/>
          </a:stretch>
        </p:blipFill>
        <p:spPr>
          <a:xfrm>
            <a:off x="777240" y="1938528"/>
            <a:ext cx="5166360" cy="2907622"/>
          </a:xfrm>
          <a:prstGeom prst="rect">
            <a:avLst/>
          </a:prstGeom>
        </p:spPr>
      </p:pic>
      <p:sp>
        <p:nvSpPr>
          <p:cNvPr id="8" name="TextBox 7"/>
          <p:cNvSpPr txBox="1"/>
          <p:nvPr/>
        </p:nvSpPr>
        <p:spPr>
          <a:xfrm>
            <a:off x="777240" y="4965192"/>
            <a:ext cx="5166360" cy="365760"/>
          </a:xfrm>
          <a:prstGeom prst="rect">
            <a:avLst/>
          </a:prstGeom>
          <a:noFill/>
        </p:spPr>
        <p:txBody>
          <a:bodyPr wrap="square" anchor="t">
            <a:spAutoFit/>
          </a:bodyPr>
          <a:lstStyle/>
          <a:p>
            <a:pPr algn="l">
              <a:spcAft>
                <a:spcPts val="400"/>
              </a:spcAft>
            </a:pPr>
            <a:r>
              <a:rPr sz="1700" b="1">
                <a:solidFill>
                  <a:srgbClr val="161B26"/>
                </a:solidFill>
                <a:latin typeface="Arial"/>
              </a:rPr>
              <a:t>Original generated reference</a:t>
            </a:r>
          </a:p>
        </p:txBody>
      </p:sp>
      <p:pic>
        <p:nvPicPr>
          <p:cNvPr id="9" name="Picture 8" descr="teal-bottle-edited.png"/>
          <p:cNvPicPr>
            <a:picLocks noChangeAspect="1"/>
          </p:cNvPicPr>
          <p:nvPr/>
        </p:nvPicPr>
        <p:blipFill>
          <a:blip r:embed="rId3"/>
          <a:stretch>
            <a:fillRect/>
          </a:stretch>
        </p:blipFill>
        <p:spPr>
          <a:xfrm>
            <a:off x="6263640" y="1938528"/>
            <a:ext cx="5166360" cy="2907622"/>
          </a:xfrm>
          <a:prstGeom prst="rect">
            <a:avLst/>
          </a:prstGeom>
        </p:spPr>
      </p:pic>
      <p:sp>
        <p:nvSpPr>
          <p:cNvPr id="10" name="TextBox 9"/>
          <p:cNvSpPr txBox="1"/>
          <p:nvPr/>
        </p:nvSpPr>
        <p:spPr>
          <a:xfrm>
            <a:off x="6263640" y="4965192"/>
            <a:ext cx="5166360" cy="365760"/>
          </a:xfrm>
          <a:prstGeom prst="rect">
            <a:avLst/>
          </a:prstGeom>
          <a:noFill/>
        </p:spPr>
        <p:txBody>
          <a:bodyPr wrap="square" anchor="t">
            <a:spAutoFit/>
          </a:bodyPr>
          <a:lstStyle/>
          <a:p>
            <a:pPr algn="l">
              <a:spcAft>
                <a:spcPts val="400"/>
              </a:spcAft>
            </a:pPr>
            <a:r>
              <a:rPr sz="1700" b="1">
                <a:solidFill>
                  <a:srgbClr val="161B26"/>
                </a:solidFill>
                <a:latin typeface="Arial"/>
              </a:rPr>
              <a:t>Edited: bottle body requested in teal</a:t>
            </a:r>
          </a:p>
        </p:txBody>
      </p:sp>
      <p:sp>
        <p:nvSpPr>
          <p:cNvPr id="11" name="TextBox 10"/>
          <p:cNvSpPr txBox="1"/>
          <p:nvPr/>
        </p:nvSpPr>
        <p:spPr>
          <a:xfrm>
            <a:off x="777240" y="5532120"/>
            <a:ext cx="10515600" cy="640080"/>
          </a:xfrm>
          <a:prstGeom prst="rect">
            <a:avLst/>
          </a:prstGeom>
          <a:noFill/>
        </p:spPr>
        <p:txBody>
          <a:bodyPr wrap="square" anchor="t">
            <a:spAutoFit/>
          </a:bodyPr>
          <a:lstStyle/>
          <a:p>
            <a:pPr algn="l">
              <a:spcAft>
                <a:spcPts val="400"/>
              </a:spcAft>
            </a:pPr>
            <a:r>
              <a:rPr sz="1700" b="0">
                <a:solidFill>
                  <a:srgbClr val="5B6372"/>
                </a:solidFill>
                <a:latin typeface="Arial"/>
              </a:rPr>
              <a:t>Compare the cap, leaf, shadows and background as well as the requested colour. A correct-looking subject does not prove preservation elsewhere.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transition spd="fast">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IMAGEGEN · PRESERVATION MEASUREMENT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Where did the edited pixels change?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121615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121615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1216151"/>
          </a:xfrm>
          <a:prstGeom prst="rect">
            <a:avLst/>
          </a:prstGeom>
          <a:noFill/>
        </p:spPr>
        <p:txBody>
          <a:bodyPr wrap="square" anchor="ctr">
            <a:spAutoFit/>
          </a:bodyPr>
          <a:lstStyle/>
          <a:p>
            <a:pPr algn="l">
              <a:spcAft>
                <a:spcPts val="200"/>
              </a:spcAft>
            </a:pPr>
            <a:r>
              <a:rPr sz="1250" b="1">
                <a:solidFill>
                  <a:srgbClr val="1F6FEB"/>
                </a:solidFill>
                <a:latin typeface="Arial"/>
              </a:rPr>
              <a:t>35.99 inside</a:t>
            </a:r>
          </a:p>
          <a:p>
            <a:pPr algn="l">
              <a:spcAft>
                <a:spcPts val="200"/>
              </a:spcAft>
            </a:pPr>
            <a:r>
              <a:rPr sz="1100" b="0">
                <a:solidFill>
                  <a:srgbClr val="161B26"/>
                </a:solidFill>
                <a:latin typeface="Arial"/>
              </a:rPr>
              <a:t>The requested colour change dominates the bottle rectangle.</a:t>
            </a:r>
          </a:p>
        </p:txBody>
      </p:sp>
      <p:sp>
        <p:nvSpPr>
          <p:cNvPr id="11" name="Rectangle 10"/>
          <p:cNvSpPr/>
          <p:nvPr/>
        </p:nvSpPr>
        <p:spPr>
          <a:xfrm>
            <a:off x="7680960" y="3163823"/>
            <a:ext cx="3730752" cy="121615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3163823"/>
            <a:ext cx="82296" cy="121615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3163823"/>
            <a:ext cx="3346704" cy="1216151"/>
          </a:xfrm>
          <a:prstGeom prst="rect">
            <a:avLst/>
          </a:prstGeom>
          <a:noFill/>
        </p:spPr>
        <p:txBody>
          <a:bodyPr wrap="square" anchor="ctr">
            <a:spAutoFit/>
          </a:bodyPr>
          <a:lstStyle/>
          <a:p>
            <a:pPr algn="l">
              <a:spcAft>
                <a:spcPts val="200"/>
              </a:spcAft>
            </a:pPr>
            <a:r>
              <a:rPr sz="1250" b="1">
                <a:solidFill>
                  <a:srgbClr val="10B981"/>
                </a:solidFill>
                <a:latin typeface="Arial"/>
              </a:rPr>
              <a:t>2.74 outside</a:t>
            </a:r>
          </a:p>
          <a:p>
            <a:pPr algn="l">
              <a:spcAft>
                <a:spcPts val="200"/>
              </a:spcAft>
            </a:pPr>
            <a:r>
              <a:rPr sz="1100" b="0">
                <a:solidFill>
                  <a:srgbClr val="161B26"/>
                </a:solidFill>
                <a:latin typeface="Arial"/>
              </a:rPr>
              <a:t>Other pixels also changed. Inspect their visual importance.</a:t>
            </a:r>
          </a:p>
        </p:txBody>
      </p:sp>
      <p:sp>
        <p:nvSpPr>
          <p:cNvPr id="14" name="Rectangle 13"/>
          <p:cNvSpPr/>
          <p:nvPr/>
        </p:nvSpPr>
        <p:spPr>
          <a:xfrm>
            <a:off x="7680960" y="4544566"/>
            <a:ext cx="3730752" cy="121615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4544566"/>
            <a:ext cx="82296" cy="121615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4544566"/>
            <a:ext cx="3346704" cy="1216151"/>
          </a:xfrm>
          <a:prstGeom prst="rect">
            <a:avLst/>
          </a:prstGeom>
          <a:noFill/>
        </p:spPr>
        <p:txBody>
          <a:bodyPr wrap="square" anchor="ctr">
            <a:spAutoFit/>
          </a:bodyPr>
          <a:lstStyle/>
          <a:p>
            <a:pPr algn="l">
              <a:spcAft>
                <a:spcPts val="200"/>
              </a:spcAft>
            </a:pPr>
            <a:r>
              <a:rPr sz="1250" b="1">
                <a:solidFill>
                  <a:srgbClr val="7C3AED"/>
                </a:solidFill>
                <a:latin typeface="Arial"/>
              </a:rPr>
              <a:t>A limited metric</a:t>
            </a:r>
          </a:p>
          <a:p>
            <a:pPr algn="l">
              <a:spcAft>
                <a:spcPts val="200"/>
              </a:spcAft>
            </a:pPr>
            <a:r>
              <a:rPr sz="1100" b="0">
                <a:solidFill>
                  <a:srgbClr val="161B26"/>
                </a:solidFill>
                <a:latin typeface="Arial"/>
              </a:rPr>
              <a:t>Pixel error measures change, not semantic or perceptual quality.</a:t>
            </a:r>
          </a:p>
        </p:txBody>
      </p:sp>
      <p:sp>
        <p:nvSpPr>
          <p:cNvPr id="17" name="Rectangle 16"/>
          <p:cNvSpPr/>
          <p:nvPr/>
        </p:nvSpPr>
        <p:spPr>
          <a:xfrm>
            <a:off x="777240" y="5925312"/>
            <a:ext cx="1417320"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MEASURED</a:t>
            </a:r>
          </a:p>
        </p:txBody>
      </p:sp>
      <p:sp>
        <p:nvSpPr>
          <p:cNvPr id="19" name="TextBox 18"/>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Same-size original/edit pair; RGB difference on a 0–255 scale. Rectangle is approximate, not a segmentation mask.</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transition spd="fast">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IMAGEGEN · DOMAIN SHIFT AND ONE-SAMPLE LIMITS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 realistic reference tests the detector differently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etail-adults-reference.png"/>
          <p:cNvPicPr>
            <a:picLocks noChangeAspect="1"/>
          </p:cNvPicPr>
          <p:nvPr/>
        </p:nvPicPr>
        <p:blipFill>
          <a:blip r:embed="rId2"/>
          <a:stretch>
            <a:fillRect/>
          </a:stretch>
        </p:blipFill>
        <p:spPr>
          <a:xfrm>
            <a:off x="777240" y="1828800"/>
            <a:ext cx="6858000" cy="3859676"/>
          </a:xfrm>
          <a:prstGeom prst="rect">
            <a:avLst/>
          </a:prstGeom>
        </p:spPr>
      </p:pic>
      <p:sp>
        <p:nvSpPr>
          <p:cNvPr id="8" name="Rectangle 7"/>
          <p:cNvSpPr/>
          <p:nvPr/>
        </p:nvSpPr>
        <p:spPr>
          <a:xfrm>
            <a:off x="2803467" y="2476864"/>
            <a:ext cx="348642" cy="373252"/>
          </a:xfrm>
          <a:prstGeom prst="rect">
            <a:avLst/>
          </a:prstGeom>
          <a:no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77759" y="2226662"/>
            <a:ext cx="348642" cy="385557"/>
          </a:xfrm>
          <a:prstGeom prst="rect">
            <a:avLst/>
          </a:prstGeom>
          <a:no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1965960"/>
            <a:ext cx="3429000" cy="3566160"/>
          </a:xfrm>
          <a:prstGeom prst="rect">
            <a:avLst/>
          </a:prstGeom>
          <a:noFill/>
        </p:spPr>
        <p:txBody>
          <a:bodyPr wrap="square" anchor="t">
            <a:spAutoFit/>
          </a:bodyPr>
          <a:lstStyle/>
          <a:p>
            <a:pPr algn="l">
              <a:spcAft>
                <a:spcPts val="1200"/>
              </a:spcAft>
            </a:pPr>
            <a:r>
              <a:rPr sz="2000" b="1">
                <a:solidFill>
                  <a:srgbClr val="1F6FEB"/>
                </a:solidFill>
                <a:latin typeface="Arial"/>
              </a:rPr>
              <a:t>2 fictional adults</a:t>
            </a:r>
          </a:p>
          <a:p>
            <a:pPr algn="l">
              <a:spcAft>
                <a:spcPts val="1200"/>
              </a:spcAft>
            </a:pPr>
            <a:r>
              <a:rPr sz="1700" b="0">
                <a:solidFill>
                  <a:srgbClr val="161B26"/>
                </a:solidFill>
                <a:latin typeface="Arial"/>
              </a:rPr>
              <a:t>Green boxes: approximate manual face annotations.</a:t>
            </a:r>
          </a:p>
          <a:p>
            <a:pPr algn="l">
              <a:spcAft>
                <a:spcPts val="1200"/>
              </a:spcAft>
            </a:pPr>
            <a:r>
              <a:rPr sz="1700" b="0">
                <a:solidFill>
                  <a:srgbClr val="161B26"/>
                </a:solidFill>
                <a:latin typeface="Arial"/>
              </a:rPr>
              <a:t>Evaluate class, IoU, unmatched boxes and misses. Compare with the schematic reference set.</a:t>
            </a:r>
          </a:p>
          <a:p>
            <a:pPr algn="l">
              <a:spcAft>
                <a:spcPts val="1200"/>
              </a:spcAft>
            </a:pPr>
            <a:r>
              <a:rPr sz="1700" b="1">
                <a:solidFill>
                  <a:srgbClr val="5B6372"/>
                </a:solidFill>
                <a:latin typeface="Arial"/>
              </a:rPr>
              <a:t>One synthetic image cannot establish real-world accuracy.</a:t>
            </a:r>
          </a:p>
        </p:txBody>
      </p:sp>
      <p:sp>
        <p:nvSpPr>
          <p:cNvPr id="11" name="TextBox 10"/>
          <p:cNvSpPr txBox="1"/>
          <p:nvPr/>
        </p:nvSpPr>
        <p:spPr>
          <a:xfrm>
            <a:off x="777240" y="5943600"/>
            <a:ext cx="10515600" cy="365760"/>
          </a:xfrm>
          <a:prstGeom prst="rect">
            <a:avLst/>
          </a:prstGeom>
          <a:noFill/>
        </p:spPr>
        <p:txBody>
          <a:bodyPr wrap="square" anchor="t">
            <a:spAutoFit/>
          </a:bodyPr>
          <a:lstStyle/>
          <a:p>
            <a:pPr algn="l">
              <a:spcAft>
                <a:spcPts val="400"/>
              </a:spcAft>
            </a:pPr>
            <a:r>
              <a:rPr sz="1300" b="0">
                <a:solidFill>
                  <a:srgbClr val="5B6372"/>
                </a:solidFill>
                <a:latin typeface="Arial"/>
              </a:rPr>
              <a:t>Lab08 positive-control folder · AI-generated people · manual truth is separate from detector predictions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transition spd="fast">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700" b="1">
                <a:solidFill>
                  <a:srgbClr val="1F6FEB"/>
                </a:solidFill>
                <a:latin typeface="Arial"/>
              </a:rPr>
              <a:t>WRAP-UP</a:t>
            </a:r>
          </a:p>
        </p:txBody>
      </p:sp>
      <p:sp>
        <p:nvSpPr>
          <p:cNvPr id="6" name="TextBox 5"/>
          <p:cNvSpPr txBox="1"/>
          <p:nvPr/>
        </p:nvSpPr>
        <p:spPr>
          <a:xfrm>
            <a:off x="1143000" y="2743200"/>
            <a:ext cx="9144000" cy="1463040"/>
          </a:xfrm>
          <a:prstGeom prst="rect">
            <a:avLst/>
          </a:prstGeom>
          <a:noFill/>
        </p:spPr>
        <p:txBody>
          <a:bodyPr wrap="square" anchor="t">
            <a:spAutoFit/>
          </a:bodyPr>
          <a:lstStyle/>
          <a:p>
            <a:pPr algn="l">
              <a:spcAft>
                <a:spcPts val="400"/>
              </a:spcAft>
            </a:pPr>
            <a:r>
              <a:rPr sz="3600" b="1">
                <a:solidFill>
                  <a:srgbClr val="161B26"/>
                </a:solidFill>
                <a:latin typeface="Arial"/>
              </a:rPr>
              <a:t>What You Achieved, and What Comes Next</a:t>
            </a:r>
          </a:p>
        </p:txBody>
      </p:sp>
      <p:sp>
        <p:nvSpPr>
          <p:cNvPr id="7" name="TextBox 6"/>
          <p:cNvSpPr txBox="1"/>
          <p:nvPr/>
        </p:nvSpPr>
        <p:spPr>
          <a:xfrm>
            <a:off x="9326880" y="640080"/>
            <a:ext cx="2377440" cy="1463040"/>
          </a:xfrm>
          <a:prstGeom prst="rect">
            <a:avLst/>
          </a:prstGeom>
          <a:noFill/>
        </p:spPr>
        <p:txBody>
          <a:bodyPr wrap="square" anchor="t">
            <a:spAutoFit/>
          </a:bodyPr>
          <a:lstStyle/>
          <a:p>
            <a:pPr algn="r">
              <a:spcAft>
                <a:spcPts val="400"/>
              </a:spcAft>
            </a:pPr>
            <a:r>
              <a:rPr sz="68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transition spd="fast">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LEARNING OUTCOMES DELIVERED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455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799844"/>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79984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9482328" cy="399288"/>
          </a:xfrm>
          <a:prstGeom prst="rect">
            <a:avLst/>
          </a:prstGeom>
          <a:noFill/>
        </p:spPr>
        <p:txBody>
          <a:bodyPr wrap="square" anchor="ctr">
            <a:spAutoFit/>
          </a:bodyPr>
          <a:lstStyle/>
          <a:p>
            <a:pPr algn="l">
              <a:spcAft>
                <a:spcPts val="200"/>
              </a:spcAft>
            </a:pPr>
            <a:r>
              <a:rPr sz="1350" b="1">
                <a:solidFill>
                  <a:srgbClr val="161B26"/>
                </a:solidFill>
                <a:latin typeface="Arial"/>
              </a:rPr>
              <a:t>LO1 · Vision system concepts and applications</a:t>
            </a:r>
          </a:p>
          <a:p>
            <a:pPr algn="l">
              <a:spcAft>
                <a:spcPts val="200"/>
              </a:spcAft>
            </a:pPr>
            <a:r>
              <a:rPr sz="1050" b="0">
                <a:solidFill>
                  <a:srgbClr val="5B6372"/>
                </a:solidFill>
                <a:latin typeface="Arial"/>
              </a:rPr>
              <a:t>Scored six candidate use cases against measurable need criteria and specified the five-stage pipeline for the survivors. (Lab 01)</a:t>
            </a:r>
          </a:p>
        </p:txBody>
      </p:sp>
      <p:sp>
        <p:nvSpPr>
          <p:cNvPr id="12" name="Rectangle 11"/>
          <p:cNvSpPr/>
          <p:nvPr/>
        </p:nvSpPr>
        <p:spPr>
          <a:xfrm>
            <a:off x="777240" y="2548128"/>
            <a:ext cx="10634472"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48128"/>
            <a:ext cx="91440" cy="5455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2639568"/>
            <a:ext cx="9482328" cy="399288"/>
          </a:xfrm>
          <a:prstGeom prst="rect">
            <a:avLst/>
          </a:prstGeom>
          <a:noFill/>
        </p:spPr>
        <p:txBody>
          <a:bodyPr wrap="square" anchor="ctr">
            <a:spAutoFit/>
          </a:bodyPr>
          <a:lstStyle/>
          <a:p>
            <a:pPr algn="l">
              <a:spcAft>
                <a:spcPts val="200"/>
              </a:spcAft>
            </a:pPr>
            <a:r>
              <a:rPr sz="1350" b="1">
                <a:solidFill>
                  <a:srgbClr val="161B26"/>
                </a:solidFill>
                <a:latin typeface="Arial"/>
              </a:rPr>
              <a:t>LO2 · Image processing</a:t>
            </a:r>
          </a:p>
          <a:p>
            <a:pPr algn="l">
              <a:spcAft>
                <a:spcPts val="200"/>
              </a:spcAft>
            </a:pPr>
            <a:r>
              <a:rPr sz="1050" b="0">
                <a:solidFill>
                  <a:srgbClr val="5B6372"/>
                </a:solidFill>
                <a:latin typeface="Arial"/>
              </a:rPr>
              <a:t>Read image and video data correctly, built masks, ran controlled edits, and ranked five filters with PSNR and SSIM. (Labs 02–05)</a:t>
            </a:r>
          </a:p>
        </p:txBody>
      </p:sp>
      <p:sp>
        <p:nvSpPr>
          <p:cNvPr id="17" name="Rectangle 16"/>
          <p:cNvSpPr/>
          <p:nvPr/>
        </p:nvSpPr>
        <p:spPr>
          <a:xfrm>
            <a:off x="777240" y="3313176"/>
            <a:ext cx="10634472"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5455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329940"/>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32994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9482328" cy="399288"/>
          </a:xfrm>
          <a:prstGeom prst="rect">
            <a:avLst/>
          </a:prstGeom>
          <a:noFill/>
        </p:spPr>
        <p:txBody>
          <a:bodyPr wrap="square" anchor="ctr">
            <a:spAutoFit/>
          </a:bodyPr>
          <a:lstStyle/>
          <a:p>
            <a:pPr algn="l">
              <a:spcAft>
                <a:spcPts val="200"/>
              </a:spcAft>
            </a:pPr>
            <a:r>
              <a:rPr sz="1350" b="1">
                <a:solidFill>
                  <a:srgbClr val="161B26"/>
                </a:solidFill>
                <a:latin typeface="Arial"/>
              </a:rPr>
              <a:t>LO3 · Feature extraction</a:t>
            </a:r>
          </a:p>
          <a:p>
            <a:pPr algn="l">
              <a:spcAft>
                <a:spcPts val="200"/>
              </a:spcAft>
            </a:pPr>
            <a:r>
              <a:rPr sz="1050" b="0">
                <a:solidFill>
                  <a:srgbClr val="5B6372"/>
                </a:solidFill>
                <a:latin typeface="Arial"/>
              </a:rPr>
              <a:t>Extracted colour, edge and keypoint features, and audited a 12-asset campaign with global descriptors and template matching. (Labs 06–07)</a:t>
            </a:r>
          </a:p>
        </p:txBody>
      </p:sp>
      <p:sp>
        <p:nvSpPr>
          <p:cNvPr id="22" name="Rectangle 21"/>
          <p:cNvSpPr/>
          <p:nvPr/>
        </p:nvSpPr>
        <p:spPr>
          <a:xfrm>
            <a:off x="777240" y="4078224"/>
            <a:ext cx="10634472"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78224"/>
            <a:ext cx="91440" cy="5455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4094988"/>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409498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4169664"/>
            <a:ext cx="9482328" cy="399288"/>
          </a:xfrm>
          <a:prstGeom prst="rect">
            <a:avLst/>
          </a:prstGeom>
          <a:noFill/>
        </p:spPr>
        <p:txBody>
          <a:bodyPr wrap="square" anchor="ctr">
            <a:spAutoFit/>
          </a:bodyPr>
          <a:lstStyle/>
          <a:p>
            <a:pPr algn="l">
              <a:spcAft>
                <a:spcPts val="200"/>
              </a:spcAft>
            </a:pPr>
            <a:r>
              <a:rPr sz="1350" b="1">
                <a:solidFill>
                  <a:srgbClr val="161B26"/>
                </a:solidFill>
                <a:latin typeface="Arial"/>
              </a:rPr>
              <a:t>LO4 · Machine-learning computer vision</a:t>
            </a:r>
          </a:p>
          <a:p>
            <a:pPr algn="l">
              <a:spcAft>
                <a:spcPts val="200"/>
              </a:spcAft>
            </a:pPr>
            <a:r>
              <a:rPr sz="1050" b="0">
                <a:solidFill>
                  <a:srgbClr val="5B6372"/>
                </a:solidFill>
                <a:latin typeface="Arial"/>
              </a:rPr>
              <a:t>Ran two built-in ML detectors, implemented IoU, and reported precision, recall and F1 at three thresholds. (Lab 08)</a:t>
            </a:r>
          </a:p>
        </p:txBody>
      </p:sp>
      <p:sp>
        <p:nvSpPr>
          <p:cNvPr id="27" name="Rectangle 26"/>
          <p:cNvSpPr/>
          <p:nvPr/>
        </p:nvSpPr>
        <p:spPr>
          <a:xfrm>
            <a:off x="777240" y="4843272"/>
            <a:ext cx="10634472"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5455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486003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9482328" cy="399288"/>
          </a:xfrm>
          <a:prstGeom prst="rect">
            <a:avLst/>
          </a:prstGeom>
          <a:noFill/>
        </p:spPr>
        <p:txBody>
          <a:bodyPr wrap="square" anchor="ctr">
            <a:spAutoFit/>
          </a:bodyPr>
          <a:lstStyle/>
          <a:p>
            <a:pPr algn="l">
              <a:spcAft>
                <a:spcPts val="200"/>
              </a:spcAft>
            </a:pPr>
            <a:r>
              <a:rPr sz="1300" b="1">
                <a:solidFill>
                  <a:srgbClr val="161B26"/>
                </a:solidFill>
                <a:latin typeface="Arial"/>
              </a:rPr>
              <a:t>LO5 · Video analytics</a:t>
            </a:r>
          </a:p>
          <a:p>
            <a:pPr algn="l">
              <a:spcAft>
                <a:spcPts val="200"/>
              </a:spcAft>
            </a:pPr>
            <a:r>
              <a:rPr sz="1000" b="0">
                <a:solidFill>
                  <a:srgbClr val="5B6372"/>
                </a:solidFill>
                <a:latin typeface="Arial"/>
              </a:rPr>
              <a:t>Specified a three-shot film with a continuity bible, measured tracking jitter and scale drift, and shipped a verified export ladder. (Labs 09–11)</a:t>
            </a:r>
          </a:p>
        </p:txBody>
      </p:sp>
      <p:sp>
        <p:nvSpPr>
          <p:cNvPr id="32" name="Rectangle 31"/>
          <p:cNvSpPr/>
          <p:nvPr/>
        </p:nvSpPr>
        <p:spPr>
          <a:xfrm>
            <a:off x="777240" y="5608320"/>
            <a:ext cx="10634472"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608320"/>
            <a:ext cx="91440" cy="5455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14984" y="5625084"/>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4984" y="562508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1709928" y="5699760"/>
            <a:ext cx="9482328" cy="399288"/>
          </a:xfrm>
          <a:prstGeom prst="rect">
            <a:avLst/>
          </a:prstGeom>
          <a:noFill/>
        </p:spPr>
        <p:txBody>
          <a:bodyPr wrap="square" anchor="ctr">
            <a:spAutoFit/>
          </a:bodyPr>
          <a:lstStyle/>
          <a:p>
            <a:pPr algn="l">
              <a:spcAft>
                <a:spcPts val="200"/>
              </a:spcAft>
            </a:pPr>
            <a:r>
              <a:rPr sz="1350" b="1">
                <a:solidFill>
                  <a:srgbClr val="161B26"/>
                </a:solidFill>
                <a:latin typeface="Arial"/>
              </a:rPr>
              <a:t>LO6 · Edge versus cloud evaluation</a:t>
            </a:r>
          </a:p>
          <a:p>
            <a:pPr algn="l">
              <a:spcAft>
                <a:spcPts val="200"/>
              </a:spcAft>
            </a:pPr>
            <a:r>
              <a:rPr sz="1050" b="0">
                <a:solidFill>
                  <a:srgbClr val="5B6372"/>
                </a:solidFill>
                <a:latin typeface="Arial"/>
              </a:rPr>
              <a:t>Measured per-stage latency, modelled four split points and defended one with bandwidth, privacy and cost numbers. (Lab 12)</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transition spd="fast">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EVERY EXTERNAL CLAIM IN THIS DECK IS TRACEABLE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Source Register — Primary Sources Used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38068" cy="3235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455188" cy="323556"/>
          </a:xfrm>
          <a:prstGeom prst="rect">
            <a:avLst/>
          </a:prstGeom>
          <a:noFill/>
        </p:spPr>
        <p:txBody>
          <a:bodyPr wrap="square" anchor="ctr">
            <a:spAutoFit/>
          </a:bodyPr>
          <a:lstStyle/>
          <a:p>
            <a:pPr algn="l">
              <a:spcAft>
                <a:spcPts val="400"/>
              </a:spcAft>
            </a:pPr>
            <a:r>
              <a:rPr sz="950" b="1">
                <a:solidFill>
                  <a:srgbClr val="FFFFFF"/>
                </a:solidFill>
                <a:latin typeface="Arial"/>
              </a:rPr>
              <a:t>Ref</a:t>
            </a:r>
          </a:p>
        </p:txBody>
      </p:sp>
      <p:sp>
        <p:nvSpPr>
          <p:cNvPr id="9" name="Rectangle 8"/>
          <p:cNvSpPr/>
          <p:nvPr/>
        </p:nvSpPr>
        <p:spPr>
          <a:xfrm>
            <a:off x="1415308" y="1783080"/>
            <a:ext cx="6380683" cy="3235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25036" y="1783080"/>
            <a:ext cx="6197803" cy="323556"/>
          </a:xfrm>
          <a:prstGeom prst="rect">
            <a:avLst/>
          </a:prstGeom>
          <a:noFill/>
        </p:spPr>
        <p:txBody>
          <a:bodyPr wrap="square" anchor="ctr">
            <a:spAutoFit/>
          </a:bodyPr>
          <a:lstStyle/>
          <a:p>
            <a:pPr algn="l">
              <a:spcAft>
                <a:spcPts val="400"/>
              </a:spcAft>
            </a:pPr>
            <a:r>
              <a:rPr sz="950" b="1">
                <a:solidFill>
                  <a:srgbClr val="FFFFFF"/>
                </a:solidFill>
                <a:latin typeface="Arial"/>
              </a:rPr>
              <a:t>Source</a:t>
            </a:r>
          </a:p>
        </p:txBody>
      </p:sp>
      <p:sp>
        <p:nvSpPr>
          <p:cNvPr id="11" name="Rectangle 10"/>
          <p:cNvSpPr/>
          <p:nvPr/>
        </p:nvSpPr>
        <p:spPr>
          <a:xfrm>
            <a:off x="7795991" y="1783080"/>
            <a:ext cx="3615720" cy="3235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5719" y="1783080"/>
            <a:ext cx="3432840" cy="323556"/>
          </a:xfrm>
          <a:prstGeom prst="rect">
            <a:avLst/>
          </a:prstGeom>
          <a:noFill/>
        </p:spPr>
        <p:txBody>
          <a:bodyPr wrap="square" anchor="ctr">
            <a:spAutoFit/>
          </a:bodyPr>
          <a:lstStyle/>
          <a:p>
            <a:pPr algn="l">
              <a:spcAft>
                <a:spcPts val="400"/>
              </a:spcAft>
            </a:pPr>
            <a:r>
              <a:rPr sz="950" b="1">
                <a:solidFill>
                  <a:srgbClr val="FFFFFF"/>
                </a:solidFill>
                <a:latin typeface="Arial"/>
              </a:rPr>
              <a:t>Locator</a:t>
            </a:r>
          </a:p>
        </p:txBody>
      </p:sp>
      <p:sp>
        <p:nvSpPr>
          <p:cNvPr id="13" name="Rectangle 12"/>
          <p:cNvSpPr/>
          <p:nvPr/>
        </p:nvSpPr>
        <p:spPr>
          <a:xfrm>
            <a:off x="777240" y="2106636"/>
            <a:ext cx="638068"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106636"/>
            <a:ext cx="455188" cy="323556"/>
          </a:xfrm>
          <a:prstGeom prst="rect">
            <a:avLst/>
          </a:prstGeom>
          <a:noFill/>
        </p:spPr>
        <p:txBody>
          <a:bodyPr wrap="square" anchor="ctr">
            <a:spAutoFit/>
          </a:bodyPr>
          <a:lstStyle/>
          <a:p>
            <a:pPr algn="l">
              <a:spcAft>
                <a:spcPts val="400"/>
              </a:spcAft>
            </a:pPr>
            <a:r>
              <a:rPr sz="850" b="1">
                <a:solidFill>
                  <a:srgbClr val="161B26"/>
                </a:solidFill>
                <a:latin typeface="Arial"/>
              </a:rPr>
              <a:t>S1</a:t>
            </a:r>
          </a:p>
        </p:txBody>
      </p:sp>
      <p:sp>
        <p:nvSpPr>
          <p:cNvPr id="15" name="Rectangle 14"/>
          <p:cNvSpPr/>
          <p:nvPr/>
        </p:nvSpPr>
        <p:spPr>
          <a:xfrm>
            <a:off x="1415308" y="2106636"/>
            <a:ext cx="638068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5036" y="2106636"/>
            <a:ext cx="6197803" cy="323556"/>
          </a:xfrm>
          <a:prstGeom prst="rect">
            <a:avLst/>
          </a:prstGeom>
          <a:noFill/>
        </p:spPr>
        <p:txBody>
          <a:bodyPr wrap="square" anchor="ctr">
            <a:spAutoFit/>
          </a:bodyPr>
          <a:lstStyle/>
          <a:p>
            <a:pPr algn="l">
              <a:spcAft>
                <a:spcPts val="400"/>
              </a:spcAft>
            </a:pPr>
            <a:r>
              <a:rPr sz="850" b="0">
                <a:solidFill>
                  <a:srgbClr val="161B26"/>
                </a:solidFill>
                <a:latin typeface="Arial"/>
              </a:rPr>
              <a:t>Course Proposal Tertiary Infotech CA-WSQ-2020-013290-v2 (SSG-approved)</a:t>
            </a:r>
          </a:p>
        </p:txBody>
      </p:sp>
      <p:sp>
        <p:nvSpPr>
          <p:cNvPr id="17" name="Rectangle 16"/>
          <p:cNvSpPr/>
          <p:nvPr/>
        </p:nvSpPr>
        <p:spPr>
          <a:xfrm>
            <a:off x="7795991" y="2106636"/>
            <a:ext cx="361572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5719" y="2106636"/>
            <a:ext cx="3432840" cy="323556"/>
          </a:xfrm>
          <a:prstGeom prst="rect">
            <a:avLst/>
          </a:prstGeom>
          <a:noFill/>
        </p:spPr>
        <p:txBody>
          <a:bodyPr wrap="square" anchor="ctr">
            <a:spAutoFit/>
          </a:bodyPr>
          <a:lstStyle/>
          <a:p>
            <a:pPr algn="l">
              <a:spcAft>
                <a:spcPts val="400"/>
              </a:spcAft>
            </a:pPr>
            <a:r>
              <a:rPr sz="850" b="0">
                <a:solidFill>
                  <a:srgbClr val="161B26"/>
                </a:solidFill>
                <a:latin typeface="Arial"/>
              </a:rPr>
              <a:t>Part 4 Section E, Curriculum Key Features table</a:t>
            </a:r>
          </a:p>
        </p:txBody>
      </p:sp>
      <p:sp>
        <p:nvSpPr>
          <p:cNvPr id="19" name="Rectangle 18"/>
          <p:cNvSpPr/>
          <p:nvPr/>
        </p:nvSpPr>
        <p:spPr>
          <a:xfrm>
            <a:off x="777240" y="2430192"/>
            <a:ext cx="638068"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430192"/>
            <a:ext cx="455188" cy="323556"/>
          </a:xfrm>
          <a:prstGeom prst="rect">
            <a:avLst/>
          </a:prstGeom>
          <a:noFill/>
        </p:spPr>
        <p:txBody>
          <a:bodyPr wrap="square" anchor="ctr">
            <a:spAutoFit/>
          </a:bodyPr>
          <a:lstStyle/>
          <a:p>
            <a:pPr algn="l">
              <a:spcAft>
                <a:spcPts val="400"/>
              </a:spcAft>
            </a:pPr>
            <a:r>
              <a:rPr sz="850" b="1">
                <a:solidFill>
                  <a:srgbClr val="161B26"/>
                </a:solidFill>
                <a:latin typeface="Arial"/>
              </a:rPr>
              <a:t>S2</a:t>
            </a:r>
          </a:p>
        </p:txBody>
      </p:sp>
      <p:sp>
        <p:nvSpPr>
          <p:cNvPr id="21" name="Rectangle 20"/>
          <p:cNvSpPr/>
          <p:nvPr/>
        </p:nvSpPr>
        <p:spPr>
          <a:xfrm>
            <a:off x="1415308" y="2430192"/>
            <a:ext cx="638068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5036" y="2430192"/>
            <a:ext cx="6197803" cy="323556"/>
          </a:xfrm>
          <a:prstGeom prst="rect">
            <a:avLst/>
          </a:prstGeom>
          <a:noFill/>
        </p:spPr>
        <p:txBody>
          <a:bodyPr wrap="square" anchor="ctr">
            <a:spAutoFit/>
          </a:bodyPr>
          <a:lstStyle/>
          <a:p>
            <a:pPr algn="l">
              <a:spcAft>
                <a:spcPts val="400"/>
              </a:spcAft>
            </a:pPr>
            <a:r>
              <a:rPr sz="850" b="0">
                <a:solidFill>
                  <a:srgbClr val="161B26"/>
                </a:solidFill>
                <a:latin typeface="Arial"/>
              </a:rPr>
              <a:t>Assessment Plan_OpenCV_TGS-2020505925_V1.0 (28 Dec 2020)</a:t>
            </a:r>
          </a:p>
        </p:txBody>
      </p:sp>
      <p:sp>
        <p:nvSpPr>
          <p:cNvPr id="23" name="Rectangle 22"/>
          <p:cNvSpPr/>
          <p:nvPr/>
        </p:nvSpPr>
        <p:spPr>
          <a:xfrm>
            <a:off x="7795991" y="2430192"/>
            <a:ext cx="361572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05719" y="2430192"/>
            <a:ext cx="3432840" cy="323556"/>
          </a:xfrm>
          <a:prstGeom prst="rect">
            <a:avLst/>
          </a:prstGeom>
          <a:noFill/>
        </p:spPr>
        <p:txBody>
          <a:bodyPr wrap="square" anchor="ctr">
            <a:spAutoFit/>
          </a:bodyPr>
          <a:lstStyle/>
          <a:p>
            <a:pPr algn="l">
              <a:spcAft>
                <a:spcPts val="400"/>
              </a:spcAft>
            </a:pPr>
            <a:r>
              <a:rPr sz="850" b="0">
                <a:solidFill>
                  <a:srgbClr val="161B26"/>
                </a:solidFill>
                <a:latin typeface="Arial"/>
              </a:rPr>
              <a:t>Assessment Duration table; WA and PP specification table</a:t>
            </a:r>
          </a:p>
        </p:txBody>
      </p:sp>
      <p:sp>
        <p:nvSpPr>
          <p:cNvPr id="25" name="Rectangle 24"/>
          <p:cNvSpPr/>
          <p:nvPr/>
        </p:nvSpPr>
        <p:spPr>
          <a:xfrm>
            <a:off x="777240" y="2753748"/>
            <a:ext cx="638068"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2753748"/>
            <a:ext cx="455188" cy="323556"/>
          </a:xfrm>
          <a:prstGeom prst="rect">
            <a:avLst/>
          </a:prstGeom>
          <a:noFill/>
        </p:spPr>
        <p:txBody>
          <a:bodyPr wrap="square" anchor="ctr">
            <a:spAutoFit/>
          </a:bodyPr>
          <a:lstStyle/>
          <a:p>
            <a:pPr algn="l">
              <a:spcAft>
                <a:spcPts val="400"/>
              </a:spcAft>
            </a:pPr>
            <a:r>
              <a:rPr sz="850" b="1">
                <a:solidFill>
                  <a:srgbClr val="161B26"/>
                </a:solidFill>
                <a:latin typeface="Arial"/>
              </a:rPr>
              <a:t>S3</a:t>
            </a:r>
          </a:p>
        </p:txBody>
      </p:sp>
      <p:sp>
        <p:nvSpPr>
          <p:cNvPr id="27" name="Rectangle 26"/>
          <p:cNvSpPr/>
          <p:nvPr/>
        </p:nvSpPr>
        <p:spPr>
          <a:xfrm>
            <a:off x="1415308" y="2753748"/>
            <a:ext cx="638068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5036" y="2753748"/>
            <a:ext cx="6197803" cy="323556"/>
          </a:xfrm>
          <a:prstGeom prst="rect">
            <a:avLst/>
          </a:prstGeom>
          <a:noFill/>
        </p:spPr>
        <p:txBody>
          <a:bodyPr wrap="square" anchor="ctr">
            <a:spAutoFit/>
          </a:bodyPr>
          <a:lstStyle/>
          <a:p>
            <a:pPr algn="l">
              <a:spcAft>
                <a:spcPts val="400"/>
              </a:spcAft>
            </a:pPr>
            <a:r>
              <a:rPr sz="850" b="0">
                <a:solidFill>
                  <a:srgbClr val="161B26"/>
                </a:solidFill>
                <a:latin typeface="Arial"/>
              </a:rPr>
              <a:t>Competency Mapping.docx (TSC ICT-DIT-4022-1.1)</a:t>
            </a:r>
          </a:p>
        </p:txBody>
      </p:sp>
      <p:sp>
        <p:nvSpPr>
          <p:cNvPr id="29" name="Rectangle 28"/>
          <p:cNvSpPr/>
          <p:nvPr/>
        </p:nvSpPr>
        <p:spPr>
          <a:xfrm>
            <a:off x="7795991" y="2753748"/>
            <a:ext cx="361572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5719" y="2753748"/>
            <a:ext cx="3432840" cy="323556"/>
          </a:xfrm>
          <a:prstGeom prst="rect">
            <a:avLst/>
          </a:prstGeom>
          <a:noFill/>
        </p:spPr>
        <p:txBody>
          <a:bodyPr wrap="square" anchor="ctr">
            <a:spAutoFit/>
          </a:bodyPr>
          <a:lstStyle/>
          <a:p>
            <a:pPr algn="l">
              <a:spcAft>
                <a:spcPts val="400"/>
              </a:spcAft>
            </a:pPr>
            <a:r>
              <a:rPr sz="850" b="0">
                <a:solidFill>
                  <a:srgbClr val="161B26"/>
                </a:solidFill>
                <a:latin typeface="Arial"/>
              </a:rPr>
              <a:t>Course Mapping section and ELO/A-code matrix</a:t>
            </a:r>
          </a:p>
        </p:txBody>
      </p:sp>
      <p:sp>
        <p:nvSpPr>
          <p:cNvPr id="31" name="Rectangle 30"/>
          <p:cNvSpPr/>
          <p:nvPr/>
        </p:nvSpPr>
        <p:spPr>
          <a:xfrm>
            <a:off x="777240" y="3077304"/>
            <a:ext cx="638068"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077304"/>
            <a:ext cx="455188" cy="323556"/>
          </a:xfrm>
          <a:prstGeom prst="rect">
            <a:avLst/>
          </a:prstGeom>
          <a:noFill/>
        </p:spPr>
        <p:txBody>
          <a:bodyPr wrap="square" anchor="ctr">
            <a:spAutoFit/>
          </a:bodyPr>
          <a:lstStyle/>
          <a:p>
            <a:pPr algn="l">
              <a:spcAft>
                <a:spcPts val="400"/>
              </a:spcAft>
            </a:pPr>
            <a:r>
              <a:rPr sz="850" b="1">
                <a:solidFill>
                  <a:srgbClr val="161B26"/>
                </a:solidFill>
                <a:latin typeface="Arial"/>
              </a:rPr>
              <a:t>S4</a:t>
            </a:r>
          </a:p>
        </p:txBody>
      </p:sp>
      <p:sp>
        <p:nvSpPr>
          <p:cNvPr id="33" name="Rectangle 32"/>
          <p:cNvSpPr/>
          <p:nvPr/>
        </p:nvSpPr>
        <p:spPr>
          <a:xfrm>
            <a:off x="1415308" y="3077304"/>
            <a:ext cx="638068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25036" y="3077304"/>
            <a:ext cx="6197803" cy="323556"/>
          </a:xfrm>
          <a:prstGeom prst="rect">
            <a:avLst/>
          </a:prstGeom>
          <a:noFill/>
        </p:spPr>
        <p:txBody>
          <a:bodyPr wrap="square" anchor="ctr">
            <a:spAutoFit/>
          </a:bodyPr>
          <a:lstStyle/>
          <a:p>
            <a:pPr algn="l">
              <a:spcAft>
                <a:spcPts val="400"/>
              </a:spcAft>
            </a:pPr>
            <a:r>
              <a:rPr sz="850" b="0">
                <a:solidFill>
                  <a:srgbClr val="161B26"/>
                </a:solidFill>
                <a:latin typeface="Arial"/>
              </a:rPr>
              <a:t>Computer Vision Technology.docx (Skills Framework TSC extract)</a:t>
            </a:r>
          </a:p>
        </p:txBody>
      </p:sp>
      <p:sp>
        <p:nvSpPr>
          <p:cNvPr id="35" name="Rectangle 34"/>
          <p:cNvSpPr/>
          <p:nvPr/>
        </p:nvSpPr>
        <p:spPr>
          <a:xfrm>
            <a:off x="7795991" y="3077304"/>
            <a:ext cx="361572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05719" y="3077304"/>
            <a:ext cx="3432840" cy="323556"/>
          </a:xfrm>
          <a:prstGeom prst="rect">
            <a:avLst/>
          </a:prstGeom>
          <a:noFill/>
        </p:spPr>
        <p:txBody>
          <a:bodyPr wrap="square" anchor="ctr">
            <a:spAutoFit/>
          </a:bodyPr>
          <a:lstStyle/>
          <a:p>
            <a:pPr algn="l">
              <a:spcAft>
                <a:spcPts val="400"/>
              </a:spcAft>
            </a:pPr>
            <a:r>
              <a:rPr sz="850" b="0">
                <a:solidFill>
                  <a:srgbClr val="161B26"/>
                </a:solidFill>
                <a:latin typeface="Arial"/>
              </a:rPr>
              <a:t>TSC Proficiency Level 4 (ICT-DIT-4022-1.1) knowledge and</a:t>
            </a:r>
          </a:p>
        </p:txBody>
      </p:sp>
      <p:sp>
        <p:nvSpPr>
          <p:cNvPr id="37" name="Rectangle 36"/>
          <p:cNvSpPr/>
          <p:nvPr/>
        </p:nvSpPr>
        <p:spPr>
          <a:xfrm>
            <a:off x="777240" y="3400860"/>
            <a:ext cx="638068"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3400860"/>
            <a:ext cx="455188" cy="323556"/>
          </a:xfrm>
          <a:prstGeom prst="rect">
            <a:avLst/>
          </a:prstGeom>
          <a:noFill/>
        </p:spPr>
        <p:txBody>
          <a:bodyPr wrap="square" anchor="ctr">
            <a:spAutoFit/>
          </a:bodyPr>
          <a:lstStyle/>
          <a:p>
            <a:pPr algn="l">
              <a:spcAft>
                <a:spcPts val="400"/>
              </a:spcAft>
            </a:pPr>
            <a:r>
              <a:rPr sz="850" b="1">
                <a:solidFill>
                  <a:srgbClr val="161B26"/>
                </a:solidFill>
                <a:latin typeface="Arial"/>
              </a:rPr>
              <a:t>S5</a:t>
            </a:r>
          </a:p>
        </p:txBody>
      </p:sp>
      <p:sp>
        <p:nvSpPr>
          <p:cNvPr id="39" name="Rectangle 38"/>
          <p:cNvSpPr/>
          <p:nvPr/>
        </p:nvSpPr>
        <p:spPr>
          <a:xfrm>
            <a:off x="1415308" y="3400860"/>
            <a:ext cx="638068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525036" y="3400860"/>
            <a:ext cx="6197803" cy="323556"/>
          </a:xfrm>
          <a:prstGeom prst="rect">
            <a:avLst/>
          </a:prstGeom>
          <a:noFill/>
        </p:spPr>
        <p:txBody>
          <a:bodyPr wrap="square" anchor="ctr">
            <a:spAutoFit/>
          </a:bodyPr>
          <a:lstStyle/>
          <a:p>
            <a:pPr algn="l">
              <a:spcAft>
                <a:spcPts val="400"/>
              </a:spcAft>
            </a:pPr>
            <a:r>
              <a:rPr sz="850" b="0">
                <a:solidFill>
                  <a:srgbClr val="161B26"/>
                </a:solidFill>
                <a:latin typeface="Arial"/>
              </a:rPr>
              <a:t>Tertiary Courses public registration page</a:t>
            </a:r>
          </a:p>
        </p:txBody>
      </p:sp>
      <p:sp>
        <p:nvSpPr>
          <p:cNvPr id="41" name="Rectangle 40"/>
          <p:cNvSpPr/>
          <p:nvPr/>
        </p:nvSpPr>
        <p:spPr>
          <a:xfrm>
            <a:off x="7795991" y="3400860"/>
            <a:ext cx="361572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05719" y="3400860"/>
            <a:ext cx="3432840" cy="323556"/>
          </a:xfrm>
          <a:prstGeom prst="rect">
            <a:avLst/>
          </a:prstGeom>
          <a:noFill/>
        </p:spPr>
        <p:txBody>
          <a:bodyPr wrap="square" anchor="ctr">
            <a:spAutoFit/>
          </a:bodyPr>
          <a:lstStyle/>
          <a:p>
            <a:pPr algn="l">
              <a:spcAft>
                <a:spcPts val="400"/>
              </a:spcAft>
            </a:pPr>
            <a:r>
              <a:rPr sz="850" b="0">
                <a:solidFill>
                  <a:srgbClr val="161B26"/>
                </a:solidFill>
                <a:latin typeface="Arial"/>
              </a:rPr>
              <a:t>https://www.tertiarycourses.com.sg/wsq-generative-ai-for</a:t>
            </a:r>
          </a:p>
        </p:txBody>
      </p:sp>
      <p:sp>
        <p:nvSpPr>
          <p:cNvPr id="43" name="Rectangle 42"/>
          <p:cNvSpPr/>
          <p:nvPr/>
        </p:nvSpPr>
        <p:spPr>
          <a:xfrm>
            <a:off x="777240" y="3724416"/>
            <a:ext cx="638068"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3724416"/>
            <a:ext cx="455188" cy="323556"/>
          </a:xfrm>
          <a:prstGeom prst="rect">
            <a:avLst/>
          </a:prstGeom>
          <a:noFill/>
        </p:spPr>
        <p:txBody>
          <a:bodyPr wrap="square" anchor="ctr">
            <a:spAutoFit/>
          </a:bodyPr>
          <a:lstStyle/>
          <a:p>
            <a:pPr algn="l">
              <a:spcAft>
                <a:spcPts val="400"/>
              </a:spcAft>
            </a:pPr>
            <a:r>
              <a:rPr sz="850" b="1">
                <a:solidFill>
                  <a:srgbClr val="161B26"/>
                </a:solidFill>
                <a:latin typeface="Arial"/>
              </a:rPr>
              <a:t>S6</a:t>
            </a:r>
          </a:p>
        </p:txBody>
      </p:sp>
      <p:sp>
        <p:nvSpPr>
          <p:cNvPr id="45" name="Rectangle 44"/>
          <p:cNvSpPr/>
          <p:nvPr/>
        </p:nvSpPr>
        <p:spPr>
          <a:xfrm>
            <a:off x="1415308" y="3724416"/>
            <a:ext cx="638068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525036" y="3724416"/>
            <a:ext cx="6197803" cy="323556"/>
          </a:xfrm>
          <a:prstGeom prst="rect">
            <a:avLst/>
          </a:prstGeom>
          <a:noFill/>
        </p:spPr>
        <p:txBody>
          <a:bodyPr wrap="square" anchor="ctr">
            <a:spAutoFit/>
          </a:bodyPr>
          <a:lstStyle/>
          <a:p>
            <a:pPr algn="l">
              <a:spcAft>
                <a:spcPts val="400"/>
              </a:spcAft>
            </a:pPr>
            <a:r>
              <a:rPr sz="850" b="0">
                <a:solidFill>
                  <a:srgbClr val="161B26"/>
                </a:solidFill>
                <a:latin typeface="Arial"/>
              </a:rPr>
              <a:t>M. Tschochohei and F. Schenker, 'Multimodal Generative AI in the Enterpris</a:t>
            </a:r>
          </a:p>
        </p:txBody>
      </p:sp>
      <p:sp>
        <p:nvSpPr>
          <p:cNvPr id="47" name="Rectangle 46"/>
          <p:cNvSpPr/>
          <p:nvPr/>
        </p:nvSpPr>
        <p:spPr>
          <a:xfrm>
            <a:off x="7795991" y="3724416"/>
            <a:ext cx="361572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905719" y="3724416"/>
            <a:ext cx="3432840" cy="323556"/>
          </a:xfrm>
          <a:prstGeom prst="rect">
            <a:avLst/>
          </a:prstGeom>
          <a:noFill/>
        </p:spPr>
        <p:txBody>
          <a:bodyPr wrap="square" anchor="ctr">
            <a:spAutoFit/>
          </a:bodyPr>
          <a:lstStyle/>
          <a:p>
            <a:pPr algn="l">
              <a:spcAft>
                <a:spcPts val="400"/>
              </a:spcAft>
            </a:pPr>
            <a:r>
              <a:rPr sz="850" b="0">
                <a:solidFill>
                  <a:srgbClr val="161B26"/>
                </a:solidFill>
                <a:latin typeface="Arial"/>
              </a:rPr>
              <a:t>Ch.5 pp.56-62</a:t>
            </a:r>
          </a:p>
        </p:txBody>
      </p:sp>
      <p:sp>
        <p:nvSpPr>
          <p:cNvPr id="49" name="Rectangle 48"/>
          <p:cNvSpPr/>
          <p:nvPr/>
        </p:nvSpPr>
        <p:spPr>
          <a:xfrm>
            <a:off x="777240" y="4047972"/>
            <a:ext cx="638068"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86968" y="4047972"/>
            <a:ext cx="455188" cy="323556"/>
          </a:xfrm>
          <a:prstGeom prst="rect">
            <a:avLst/>
          </a:prstGeom>
          <a:noFill/>
        </p:spPr>
        <p:txBody>
          <a:bodyPr wrap="square" anchor="ctr">
            <a:spAutoFit/>
          </a:bodyPr>
          <a:lstStyle/>
          <a:p>
            <a:pPr algn="l">
              <a:spcAft>
                <a:spcPts val="400"/>
              </a:spcAft>
            </a:pPr>
            <a:r>
              <a:rPr sz="850" b="1">
                <a:solidFill>
                  <a:srgbClr val="161B26"/>
                </a:solidFill>
                <a:latin typeface="Arial"/>
              </a:rPr>
              <a:t>S7</a:t>
            </a:r>
          </a:p>
        </p:txBody>
      </p:sp>
      <p:sp>
        <p:nvSpPr>
          <p:cNvPr id="51" name="Rectangle 50"/>
          <p:cNvSpPr/>
          <p:nvPr/>
        </p:nvSpPr>
        <p:spPr>
          <a:xfrm>
            <a:off x="1415308" y="4047972"/>
            <a:ext cx="638068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525036" y="4047972"/>
            <a:ext cx="6197803" cy="323556"/>
          </a:xfrm>
          <a:prstGeom prst="rect">
            <a:avLst/>
          </a:prstGeom>
          <a:noFill/>
        </p:spPr>
        <p:txBody>
          <a:bodyPr wrap="square" anchor="ctr">
            <a:spAutoFit/>
          </a:bodyPr>
          <a:lstStyle/>
          <a:p>
            <a:pPr algn="l">
              <a:spcAft>
                <a:spcPts val="400"/>
              </a:spcAft>
            </a:pPr>
            <a:r>
              <a:rPr sz="850" b="0">
                <a:solidFill>
                  <a:srgbClr val="161B26"/>
                </a:solidFill>
                <a:latin typeface="Arial"/>
              </a:rPr>
              <a:t>Tschochohei and Schenker (2026), as above</a:t>
            </a:r>
          </a:p>
        </p:txBody>
      </p:sp>
      <p:sp>
        <p:nvSpPr>
          <p:cNvPr id="53" name="Rectangle 52"/>
          <p:cNvSpPr/>
          <p:nvPr/>
        </p:nvSpPr>
        <p:spPr>
          <a:xfrm>
            <a:off x="7795991" y="4047972"/>
            <a:ext cx="361572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905719" y="4047972"/>
            <a:ext cx="3432840" cy="323556"/>
          </a:xfrm>
          <a:prstGeom prst="rect">
            <a:avLst/>
          </a:prstGeom>
          <a:noFill/>
        </p:spPr>
        <p:txBody>
          <a:bodyPr wrap="square" anchor="ctr">
            <a:spAutoFit/>
          </a:bodyPr>
          <a:lstStyle/>
          <a:p>
            <a:pPr algn="l">
              <a:spcAft>
                <a:spcPts val="400"/>
              </a:spcAft>
            </a:pPr>
            <a:r>
              <a:rPr sz="850" b="0">
                <a:solidFill>
                  <a:srgbClr val="161B26"/>
                </a:solidFill>
                <a:latin typeface="Arial"/>
              </a:rPr>
              <a:t>Ch.5 pp.65-67</a:t>
            </a:r>
          </a:p>
        </p:txBody>
      </p:sp>
      <p:sp>
        <p:nvSpPr>
          <p:cNvPr id="55" name="Rectangle 54"/>
          <p:cNvSpPr/>
          <p:nvPr/>
        </p:nvSpPr>
        <p:spPr>
          <a:xfrm>
            <a:off x="777240" y="4371528"/>
            <a:ext cx="638068"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 y="4371528"/>
            <a:ext cx="455188" cy="323556"/>
          </a:xfrm>
          <a:prstGeom prst="rect">
            <a:avLst/>
          </a:prstGeom>
          <a:noFill/>
        </p:spPr>
        <p:txBody>
          <a:bodyPr wrap="square" anchor="ctr">
            <a:spAutoFit/>
          </a:bodyPr>
          <a:lstStyle/>
          <a:p>
            <a:pPr algn="l">
              <a:spcAft>
                <a:spcPts val="400"/>
              </a:spcAft>
            </a:pPr>
            <a:r>
              <a:rPr sz="850" b="1">
                <a:solidFill>
                  <a:srgbClr val="161B26"/>
                </a:solidFill>
                <a:latin typeface="Arial"/>
              </a:rPr>
              <a:t>S8</a:t>
            </a:r>
          </a:p>
        </p:txBody>
      </p:sp>
      <p:sp>
        <p:nvSpPr>
          <p:cNvPr id="57" name="Rectangle 56"/>
          <p:cNvSpPr/>
          <p:nvPr/>
        </p:nvSpPr>
        <p:spPr>
          <a:xfrm>
            <a:off x="1415308" y="4371528"/>
            <a:ext cx="638068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525036" y="4371528"/>
            <a:ext cx="6197803" cy="323556"/>
          </a:xfrm>
          <a:prstGeom prst="rect">
            <a:avLst/>
          </a:prstGeom>
          <a:noFill/>
        </p:spPr>
        <p:txBody>
          <a:bodyPr wrap="square" anchor="ctr">
            <a:spAutoFit/>
          </a:bodyPr>
          <a:lstStyle/>
          <a:p>
            <a:pPr algn="l">
              <a:spcAft>
                <a:spcPts val="400"/>
              </a:spcAft>
            </a:pPr>
            <a:r>
              <a:rPr sz="850" b="0">
                <a:solidFill>
                  <a:srgbClr val="161B26"/>
                </a:solidFill>
                <a:latin typeface="Arial"/>
              </a:rPr>
              <a:t>Tschochohei and Schenker (2026), as above</a:t>
            </a:r>
          </a:p>
        </p:txBody>
      </p:sp>
      <p:sp>
        <p:nvSpPr>
          <p:cNvPr id="59" name="Rectangle 58"/>
          <p:cNvSpPr/>
          <p:nvPr/>
        </p:nvSpPr>
        <p:spPr>
          <a:xfrm>
            <a:off x="7795991" y="4371528"/>
            <a:ext cx="361572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905719" y="4371528"/>
            <a:ext cx="3432840" cy="323556"/>
          </a:xfrm>
          <a:prstGeom prst="rect">
            <a:avLst/>
          </a:prstGeom>
          <a:noFill/>
        </p:spPr>
        <p:txBody>
          <a:bodyPr wrap="square" anchor="ctr">
            <a:spAutoFit/>
          </a:bodyPr>
          <a:lstStyle/>
          <a:p>
            <a:pPr algn="l">
              <a:spcAft>
                <a:spcPts val="400"/>
              </a:spcAft>
            </a:pPr>
            <a:r>
              <a:rPr sz="850" b="0">
                <a:solidFill>
                  <a:srgbClr val="161B26"/>
                </a:solidFill>
                <a:latin typeface="Arial"/>
              </a:rPr>
              <a:t>Ch.5 pp.68-75</a:t>
            </a:r>
          </a:p>
        </p:txBody>
      </p:sp>
      <p:sp>
        <p:nvSpPr>
          <p:cNvPr id="61" name="Rectangle 60"/>
          <p:cNvSpPr/>
          <p:nvPr/>
        </p:nvSpPr>
        <p:spPr>
          <a:xfrm>
            <a:off x="777240" y="4695084"/>
            <a:ext cx="638068"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86968" y="4695084"/>
            <a:ext cx="455188" cy="323556"/>
          </a:xfrm>
          <a:prstGeom prst="rect">
            <a:avLst/>
          </a:prstGeom>
          <a:noFill/>
        </p:spPr>
        <p:txBody>
          <a:bodyPr wrap="square" anchor="ctr">
            <a:spAutoFit/>
          </a:bodyPr>
          <a:lstStyle/>
          <a:p>
            <a:pPr algn="l">
              <a:spcAft>
                <a:spcPts val="400"/>
              </a:spcAft>
            </a:pPr>
            <a:r>
              <a:rPr sz="850" b="1">
                <a:solidFill>
                  <a:srgbClr val="161B26"/>
                </a:solidFill>
                <a:latin typeface="Arial"/>
              </a:rPr>
              <a:t>S9</a:t>
            </a:r>
          </a:p>
        </p:txBody>
      </p:sp>
      <p:sp>
        <p:nvSpPr>
          <p:cNvPr id="63" name="Rectangle 62"/>
          <p:cNvSpPr/>
          <p:nvPr/>
        </p:nvSpPr>
        <p:spPr>
          <a:xfrm>
            <a:off x="1415308" y="4695084"/>
            <a:ext cx="638068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525036" y="4695084"/>
            <a:ext cx="6197803" cy="323556"/>
          </a:xfrm>
          <a:prstGeom prst="rect">
            <a:avLst/>
          </a:prstGeom>
          <a:noFill/>
        </p:spPr>
        <p:txBody>
          <a:bodyPr wrap="square" anchor="ctr">
            <a:spAutoFit/>
          </a:bodyPr>
          <a:lstStyle/>
          <a:p>
            <a:pPr algn="l">
              <a:spcAft>
                <a:spcPts val="400"/>
              </a:spcAft>
            </a:pPr>
            <a:r>
              <a:rPr sz="850" b="0">
                <a:solidFill>
                  <a:srgbClr val="161B26"/>
                </a:solidFill>
                <a:latin typeface="Arial"/>
              </a:rPr>
              <a:t>Tschochohei and Schenker (2026), as above</a:t>
            </a:r>
          </a:p>
        </p:txBody>
      </p:sp>
      <p:sp>
        <p:nvSpPr>
          <p:cNvPr id="65" name="Rectangle 64"/>
          <p:cNvSpPr/>
          <p:nvPr/>
        </p:nvSpPr>
        <p:spPr>
          <a:xfrm>
            <a:off x="7795991" y="4695084"/>
            <a:ext cx="361572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905719" y="4695084"/>
            <a:ext cx="3432840" cy="323556"/>
          </a:xfrm>
          <a:prstGeom prst="rect">
            <a:avLst/>
          </a:prstGeom>
          <a:noFill/>
        </p:spPr>
        <p:txBody>
          <a:bodyPr wrap="square" anchor="ctr">
            <a:spAutoFit/>
          </a:bodyPr>
          <a:lstStyle/>
          <a:p>
            <a:pPr algn="l">
              <a:spcAft>
                <a:spcPts val="400"/>
              </a:spcAft>
            </a:pPr>
            <a:r>
              <a:rPr sz="850" b="0">
                <a:solidFill>
                  <a:srgbClr val="161B26"/>
                </a:solidFill>
                <a:latin typeface="Arial"/>
              </a:rPr>
              <a:t>Ch.5 pp.76-77 and pp.82-83</a:t>
            </a:r>
          </a:p>
        </p:txBody>
      </p:sp>
      <p:sp>
        <p:nvSpPr>
          <p:cNvPr id="67" name="Rectangle 66"/>
          <p:cNvSpPr/>
          <p:nvPr/>
        </p:nvSpPr>
        <p:spPr>
          <a:xfrm>
            <a:off x="777240" y="5018640"/>
            <a:ext cx="638068"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86968" y="5018640"/>
            <a:ext cx="455188" cy="323556"/>
          </a:xfrm>
          <a:prstGeom prst="rect">
            <a:avLst/>
          </a:prstGeom>
          <a:noFill/>
        </p:spPr>
        <p:txBody>
          <a:bodyPr wrap="square" anchor="ctr">
            <a:spAutoFit/>
          </a:bodyPr>
          <a:lstStyle/>
          <a:p>
            <a:pPr algn="l">
              <a:spcAft>
                <a:spcPts val="400"/>
              </a:spcAft>
            </a:pPr>
            <a:r>
              <a:rPr sz="850" b="1">
                <a:solidFill>
                  <a:srgbClr val="161B26"/>
                </a:solidFill>
                <a:latin typeface="Arial"/>
              </a:rPr>
              <a:t>S10</a:t>
            </a:r>
          </a:p>
        </p:txBody>
      </p:sp>
      <p:sp>
        <p:nvSpPr>
          <p:cNvPr id="69" name="Rectangle 68"/>
          <p:cNvSpPr/>
          <p:nvPr/>
        </p:nvSpPr>
        <p:spPr>
          <a:xfrm>
            <a:off x="1415308" y="5018640"/>
            <a:ext cx="638068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525036" y="5018640"/>
            <a:ext cx="6197803" cy="323556"/>
          </a:xfrm>
          <a:prstGeom prst="rect">
            <a:avLst/>
          </a:prstGeom>
          <a:noFill/>
        </p:spPr>
        <p:txBody>
          <a:bodyPr wrap="square" anchor="ctr">
            <a:spAutoFit/>
          </a:bodyPr>
          <a:lstStyle/>
          <a:p>
            <a:pPr algn="l">
              <a:spcAft>
                <a:spcPts val="400"/>
              </a:spcAft>
            </a:pPr>
            <a:r>
              <a:rPr sz="850" b="0">
                <a:solidFill>
                  <a:srgbClr val="161B26"/>
                </a:solidFill>
                <a:latin typeface="Arial"/>
              </a:rPr>
              <a:t>Tschochohei and Schenker (2026), as above</a:t>
            </a:r>
          </a:p>
        </p:txBody>
      </p:sp>
      <p:sp>
        <p:nvSpPr>
          <p:cNvPr id="71" name="Rectangle 70"/>
          <p:cNvSpPr/>
          <p:nvPr/>
        </p:nvSpPr>
        <p:spPr>
          <a:xfrm>
            <a:off x="7795991" y="5018640"/>
            <a:ext cx="361572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905719" y="5018640"/>
            <a:ext cx="3432840" cy="323556"/>
          </a:xfrm>
          <a:prstGeom prst="rect">
            <a:avLst/>
          </a:prstGeom>
          <a:noFill/>
        </p:spPr>
        <p:txBody>
          <a:bodyPr wrap="square" anchor="ctr">
            <a:spAutoFit/>
          </a:bodyPr>
          <a:lstStyle/>
          <a:p>
            <a:pPr algn="l">
              <a:spcAft>
                <a:spcPts val="400"/>
              </a:spcAft>
            </a:pPr>
            <a:r>
              <a:rPr sz="850" b="0">
                <a:solidFill>
                  <a:srgbClr val="161B26"/>
                </a:solidFill>
                <a:latin typeface="Arial"/>
              </a:rPr>
              <a:t>Ch.7 pp.106-109</a:t>
            </a:r>
          </a:p>
        </p:txBody>
      </p:sp>
      <p:sp>
        <p:nvSpPr>
          <p:cNvPr id="73" name="Rectangle 72"/>
          <p:cNvSpPr/>
          <p:nvPr/>
        </p:nvSpPr>
        <p:spPr>
          <a:xfrm>
            <a:off x="777240" y="5342196"/>
            <a:ext cx="638068"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86968" y="5342196"/>
            <a:ext cx="455188" cy="323556"/>
          </a:xfrm>
          <a:prstGeom prst="rect">
            <a:avLst/>
          </a:prstGeom>
          <a:noFill/>
        </p:spPr>
        <p:txBody>
          <a:bodyPr wrap="square" anchor="ctr">
            <a:spAutoFit/>
          </a:bodyPr>
          <a:lstStyle/>
          <a:p>
            <a:pPr algn="l">
              <a:spcAft>
                <a:spcPts val="400"/>
              </a:spcAft>
            </a:pPr>
            <a:r>
              <a:rPr sz="850" b="1">
                <a:solidFill>
                  <a:srgbClr val="161B26"/>
                </a:solidFill>
                <a:latin typeface="Arial"/>
              </a:rPr>
              <a:t>S11</a:t>
            </a:r>
          </a:p>
        </p:txBody>
      </p:sp>
      <p:sp>
        <p:nvSpPr>
          <p:cNvPr id="75" name="Rectangle 74"/>
          <p:cNvSpPr/>
          <p:nvPr/>
        </p:nvSpPr>
        <p:spPr>
          <a:xfrm>
            <a:off x="1415308" y="5342196"/>
            <a:ext cx="638068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525036" y="5342196"/>
            <a:ext cx="6197803" cy="323556"/>
          </a:xfrm>
          <a:prstGeom prst="rect">
            <a:avLst/>
          </a:prstGeom>
          <a:noFill/>
        </p:spPr>
        <p:txBody>
          <a:bodyPr wrap="square" anchor="ctr">
            <a:spAutoFit/>
          </a:bodyPr>
          <a:lstStyle/>
          <a:p>
            <a:pPr algn="l">
              <a:spcAft>
                <a:spcPts val="400"/>
              </a:spcAft>
            </a:pPr>
            <a:r>
              <a:rPr sz="850" b="0">
                <a:solidFill>
                  <a:srgbClr val="161B26"/>
                </a:solidFill>
                <a:latin typeface="Arial"/>
              </a:rPr>
              <a:t>Tschochohei and Schenker (2026), as above</a:t>
            </a:r>
          </a:p>
        </p:txBody>
      </p:sp>
      <p:sp>
        <p:nvSpPr>
          <p:cNvPr id="77" name="Rectangle 76"/>
          <p:cNvSpPr/>
          <p:nvPr/>
        </p:nvSpPr>
        <p:spPr>
          <a:xfrm>
            <a:off x="7795991" y="5342196"/>
            <a:ext cx="361572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905719" y="5342196"/>
            <a:ext cx="3432840" cy="323556"/>
          </a:xfrm>
          <a:prstGeom prst="rect">
            <a:avLst/>
          </a:prstGeom>
          <a:noFill/>
        </p:spPr>
        <p:txBody>
          <a:bodyPr wrap="square" anchor="ctr">
            <a:spAutoFit/>
          </a:bodyPr>
          <a:lstStyle/>
          <a:p>
            <a:pPr algn="l">
              <a:spcAft>
                <a:spcPts val="400"/>
              </a:spcAft>
            </a:pPr>
            <a:r>
              <a:rPr sz="850" b="0">
                <a:solidFill>
                  <a:srgbClr val="161B26"/>
                </a:solidFill>
                <a:latin typeface="Arial"/>
              </a:rPr>
              <a:t>Ch.7 pp.110-119</a:t>
            </a:r>
          </a:p>
        </p:txBody>
      </p:sp>
      <p:sp>
        <p:nvSpPr>
          <p:cNvPr id="79" name="Rectangle 78"/>
          <p:cNvSpPr/>
          <p:nvPr/>
        </p:nvSpPr>
        <p:spPr>
          <a:xfrm>
            <a:off x="777240" y="5665752"/>
            <a:ext cx="638068"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86968" y="5665752"/>
            <a:ext cx="455188" cy="323556"/>
          </a:xfrm>
          <a:prstGeom prst="rect">
            <a:avLst/>
          </a:prstGeom>
          <a:noFill/>
        </p:spPr>
        <p:txBody>
          <a:bodyPr wrap="square" anchor="ctr">
            <a:spAutoFit/>
          </a:bodyPr>
          <a:lstStyle/>
          <a:p>
            <a:pPr algn="l">
              <a:spcAft>
                <a:spcPts val="400"/>
              </a:spcAft>
            </a:pPr>
            <a:r>
              <a:rPr sz="850" b="1">
                <a:solidFill>
                  <a:srgbClr val="161B26"/>
                </a:solidFill>
                <a:latin typeface="Arial"/>
              </a:rPr>
              <a:t>S12</a:t>
            </a:r>
          </a:p>
        </p:txBody>
      </p:sp>
      <p:sp>
        <p:nvSpPr>
          <p:cNvPr id="81" name="Rectangle 80"/>
          <p:cNvSpPr/>
          <p:nvPr/>
        </p:nvSpPr>
        <p:spPr>
          <a:xfrm>
            <a:off x="1415308" y="5665752"/>
            <a:ext cx="638068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525036" y="5665752"/>
            <a:ext cx="6197803" cy="323556"/>
          </a:xfrm>
          <a:prstGeom prst="rect">
            <a:avLst/>
          </a:prstGeom>
          <a:noFill/>
        </p:spPr>
        <p:txBody>
          <a:bodyPr wrap="square" anchor="ctr">
            <a:spAutoFit/>
          </a:bodyPr>
          <a:lstStyle/>
          <a:p>
            <a:pPr algn="l">
              <a:spcAft>
                <a:spcPts val="400"/>
              </a:spcAft>
            </a:pPr>
            <a:r>
              <a:rPr sz="850" b="0">
                <a:solidFill>
                  <a:srgbClr val="161B26"/>
                </a:solidFill>
                <a:latin typeface="Arial"/>
              </a:rPr>
              <a:t>Tschochohei and Schenker (2026), as above</a:t>
            </a:r>
          </a:p>
        </p:txBody>
      </p:sp>
      <p:sp>
        <p:nvSpPr>
          <p:cNvPr id="83" name="Rectangle 82"/>
          <p:cNvSpPr/>
          <p:nvPr/>
        </p:nvSpPr>
        <p:spPr>
          <a:xfrm>
            <a:off x="7795991" y="5665752"/>
            <a:ext cx="361572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905719" y="5665752"/>
            <a:ext cx="3432840" cy="323556"/>
          </a:xfrm>
          <a:prstGeom prst="rect">
            <a:avLst/>
          </a:prstGeom>
          <a:noFill/>
        </p:spPr>
        <p:txBody>
          <a:bodyPr wrap="square" anchor="ctr">
            <a:spAutoFit/>
          </a:bodyPr>
          <a:lstStyle/>
          <a:p>
            <a:pPr algn="l">
              <a:spcAft>
                <a:spcPts val="400"/>
              </a:spcAft>
            </a:pPr>
            <a:r>
              <a:rPr sz="850" b="0">
                <a:solidFill>
                  <a:srgbClr val="161B26"/>
                </a:solidFill>
                <a:latin typeface="Arial"/>
              </a:rPr>
              <a:t>Ch.8 pp.127-132 and pp.140-143</a:t>
            </a:r>
          </a:p>
        </p:txBody>
      </p:sp>
      <p:sp>
        <p:nvSpPr>
          <p:cNvPr id="85" name="TextBox 84"/>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The full register, including exactly what each source anchors and where it is used, is reproduced in the Learner Guide.</a:t>
            </a:r>
          </a:p>
        </p:txBody>
      </p:sp>
      <p:sp>
        <p:nvSpPr>
          <p:cNvPr id="86" name="TextBox 8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87" name="TextBox 8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88" name="TextBox 8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transition spd="fast">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INCLUDING THE VENDOR DOCUMENTATION VERIFIED ON 6 SEPTEMBER 2026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Source Register — Primary Sources Used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38068" cy="350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455188" cy="350520"/>
          </a:xfrm>
          <a:prstGeom prst="rect">
            <a:avLst/>
          </a:prstGeom>
          <a:noFill/>
        </p:spPr>
        <p:txBody>
          <a:bodyPr wrap="square" anchor="ctr">
            <a:spAutoFit/>
          </a:bodyPr>
          <a:lstStyle/>
          <a:p>
            <a:pPr algn="l">
              <a:spcAft>
                <a:spcPts val="400"/>
              </a:spcAft>
            </a:pPr>
            <a:r>
              <a:rPr sz="950" b="1">
                <a:solidFill>
                  <a:srgbClr val="FFFFFF"/>
                </a:solidFill>
                <a:latin typeface="Arial"/>
              </a:rPr>
              <a:t>Ref</a:t>
            </a:r>
          </a:p>
        </p:txBody>
      </p:sp>
      <p:sp>
        <p:nvSpPr>
          <p:cNvPr id="9" name="Rectangle 8"/>
          <p:cNvSpPr/>
          <p:nvPr/>
        </p:nvSpPr>
        <p:spPr>
          <a:xfrm>
            <a:off x="1415308" y="1783080"/>
            <a:ext cx="6380683" cy="350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25036" y="1783080"/>
            <a:ext cx="6197803" cy="350520"/>
          </a:xfrm>
          <a:prstGeom prst="rect">
            <a:avLst/>
          </a:prstGeom>
          <a:noFill/>
        </p:spPr>
        <p:txBody>
          <a:bodyPr wrap="square" anchor="ctr">
            <a:spAutoFit/>
          </a:bodyPr>
          <a:lstStyle/>
          <a:p>
            <a:pPr algn="l">
              <a:spcAft>
                <a:spcPts val="400"/>
              </a:spcAft>
            </a:pPr>
            <a:r>
              <a:rPr sz="950" b="1">
                <a:solidFill>
                  <a:srgbClr val="FFFFFF"/>
                </a:solidFill>
                <a:latin typeface="Arial"/>
              </a:rPr>
              <a:t>Source</a:t>
            </a:r>
          </a:p>
        </p:txBody>
      </p:sp>
      <p:sp>
        <p:nvSpPr>
          <p:cNvPr id="11" name="Rectangle 10"/>
          <p:cNvSpPr/>
          <p:nvPr/>
        </p:nvSpPr>
        <p:spPr>
          <a:xfrm>
            <a:off x="7795991" y="1783080"/>
            <a:ext cx="3615720" cy="350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5719" y="1783080"/>
            <a:ext cx="3432840" cy="350520"/>
          </a:xfrm>
          <a:prstGeom prst="rect">
            <a:avLst/>
          </a:prstGeom>
          <a:noFill/>
        </p:spPr>
        <p:txBody>
          <a:bodyPr wrap="square" anchor="ctr">
            <a:spAutoFit/>
          </a:bodyPr>
          <a:lstStyle/>
          <a:p>
            <a:pPr algn="l">
              <a:spcAft>
                <a:spcPts val="400"/>
              </a:spcAft>
            </a:pPr>
            <a:r>
              <a:rPr sz="950" b="1">
                <a:solidFill>
                  <a:srgbClr val="FFFFFF"/>
                </a:solidFill>
                <a:latin typeface="Arial"/>
              </a:rPr>
              <a:t>Locator</a:t>
            </a:r>
          </a:p>
        </p:txBody>
      </p:sp>
      <p:sp>
        <p:nvSpPr>
          <p:cNvPr id="13" name="Rectangle 12"/>
          <p:cNvSpPr/>
          <p:nvPr/>
        </p:nvSpPr>
        <p:spPr>
          <a:xfrm>
            <a:off x="777240" y="2133600"/>
            <a:ext cx="638068"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133600"/>
            <a:ext cx="455188" cy="350520"/>
          </a:xfrm>
          <a:prstGeom prst="rect">
            <a:avLst/>
          </a:prstGeom>
          <a:noFill/>
        </p:spPr>
        <p:txBody>
          <a:bodyPr wrap="square" anchor="ctr">
            <a:spAutoFit/>
          </a:bodyPr>
          <a:lstStyle/>
          <a:p>
            <a:pPr algn="l">
              <a:spcAft>
                <a:spcPts val="400"/>
              </a:spcAft>
            </a:pPr>
            <a:r>
              <a:rPr sz="850" b="1">
                <a:solidFill>
                  <a:srgbClr val="161B26"/>
                </a:solidFill>
                <a:latin typeface="Arial"/>
              </a:rPr>
              <a:t>S13</a:t>
            </a:r>
          </a:p>
        </p:txBody>
      </p:sp>
      <p:sp>
        <p:nvSpPr>
          <p:cNvPr id="15" name="Rectangle 14"/>
          <p:cNvSpPr/>
          <p:nvPr/>
        </p:nvSpPr>
        <p:spPr>
          <a:xfrm>
            <a:off x="1415308" y="2133600"/>
            <a:ext cx="6380683"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5036" y="2133600"/>
            <a:ext cx="6197803" cy="350520"/>
          </a:xfrm>
          <a:prstGeom prst="rect">
            <a:avLst/>
          </a:prstGeom>
          <a:noFill/>
        </p:spPr>
        <p:txBody>
          <a:bodyPr wrap="square" anchor="ctr">
            <a:spAutoFit/>
          </a:bodyPr>
          <a:lstStyle/>
          <a:p>
            <a:pPr algn="l">
              <a:spcAft>
                <a:spcPts val="400"/>
              </a:spcAft>
            </a:pPr>
            <a:r>
              <a:rPr sz="850" b="0">
                <a:solidFill>
                  <a:srgbClr val="161B26"/>
                </a:solidFill>
                <a:latin typeface="Arial"/>
              </a:rPr>
              <a:t>Tschochohei and Schenker (2026), as above</a:t>
            </a:r>
          </a:p>
        </p:txBody>
      </p:sp>
      <p:sp>
        <p:nvSpPr>
          <p:cNvPr id="17" name="Rectangle 16"/>
          <p:cNvSpPr/>
          <p:nvPr/>
        </p:nvSpPr>
        <p:spPr>
          <a:xfrm>
            <a:off x="7795991" y="2133600"/>
            <a:ext cx="3615720"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5719" y="2133600"/>
            <a:ext cx="3432840" cy="350520"/>
          </a:xfrm>
          <a:prstGeom prst="rect">
            <a:avLst/>
          </a:prstGeom>
          <a:noFill/>
        </p:spPr>
        <p:txBody>
          <a:bodyPr wrap="square" anchor="ctr">
            <a:spAutoFit/>
          </a:bodyPr>
          <a:lstStyle/>
          <a:p>
            <a:pPr algn="l">
              <a:spcAft>
                <a:spcPts val="400"/>
              </a:spcAft>
            </a:pPr>
            <a:r>
              <a:rPr sz="850" b="0">
                <a:solidFill>
                  <a:srgbClr val="161B26"/>
                </a:solidFill>
                <a:latin typeface="Arial"/>
              </a:rPr>
              <a:t>Ch.9 pp.150-152</a:t>
            </a:r>
          </a:p>
        </p:txBody>
      </p:sp>
      <p:sp>
        <p:nvSpPr>
          <p:cNvPr id="19" name="Rectangle 18"/>
          <p:cNvSpPr/>
          <p:nvPr/>
        </p:nvSpPr>
        <p:spPr>
          <a:xfrm>
            <a:off x="777240" y="2484120"/>
            <a:ext cx="638068"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484120"/>
            <a:ext cx="455188" cy="350520"/>
          </a:xfrm>
          <a:prstGeom prst="rect">
            <a:avLst/>
          </a:prstGeom>
          <a:noFill/>
        </p:spPr>
        <p:txBody>
          <a:bodyPr wrap="square" anchor="ctr">
            <a:spAutoFit/>
          </a:bodyPr>
          <a:lstStyle/>
          <a:p>
            <a:pPr algn="l">
              <a:spcAft>
                <a:spcPts val="400"/>
              </a:spcAft>
            </a:pPr>
            <a:r>
              <a:rPr sz="850" b="1">
                <a:solidFill>
                  <a:srgbClr val="161B26"/>
                </a:solidFill>
                <a:latin typeface="Arial"/>
              </a:rPr>
              <a:t>S14</a:t>
            </a:r>
          </a:p>
        </p:txBody>
      </p:sp>
      <p:sp>
        <p:nvSpPr>
          <p:cNvPr id="21" name="Rectangle 20"/>
          <p:cNvSpPr/>
          <p:nvPr/>
        </p:nvSpPr>
        <p:spPr>
          <a:xfrm>
            <a:off x="1415308" y="2484120"/>
            <a:ext cx="6380683"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5036" y="2484120"/>
            <a:ext cx="6197803" cy="350520"/>
          </a:xfrm>
          <a:prstGeom prst="rect">
            <a:avLst/>
          </a:prstGeom>
          <a:noFill/>
        </p:spPr>
        <p:txBody>
          <a:bodyPr wrap="square" anchor="ctr">
            <a:spAutoFit/>
          </a:bodyPr>
          <a:lstStyle/>
          <a:p>
            <a:pPr algn="l">
              <a:spcAft>
                <a:spcPts val="400"/>
              </a:spcAft>
            </a:pPr>
            <a:r>
              <a:rPr sz="850" b="0">
                <a:solidFill>
                  <a:srgbClr val="161B26"/>
                </a:solidFill>
                <a:latin typeface="Arial"/>
              </a:rPr>
              <a:t>A. Mewada, M. A. Ansari, S. Ahmad and N. Singh (eds), 'AI-Generated Image </a:t>
            </a:r>
          </a:p>
        </p:txBody>
      </p:sp>
      <p:sp>
        <p:nvSpPr>
          <p:cNvPr id="23" name="Rectangle 22"/>
          <p:cNvSpPr/>
          <p:nvPr/>
        </p:nvSpPr>
        <p:spPr>
          <a:xfrm>
            <a:off x="7795991" y="2484120"/>
            <a:ext cx="3615720"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05719" y="2484120"/>
            <a:ext cx="3432840" cy="350520"/>
          </a:xfrm>
          <a:prstGeom prst="rect">
            <a:avLst/>
          </a:prstGeom>
          <a:noFill/>
        </p:spPr>
        <p:txBody>
          <a:bodyPr wrap="square" anchor="ctr">
            <a:spAutoFit/>
          </a:bodyPr>
          <a:lstStyle/>
          <a:p>
            <a:pPr algn="l">
              <a:spcAft>
                <a:spcPts val="400"/>
              </a:spcAft>
            </a:pPr>
            <a:r>
              <a:rPr sz="850" b="0">
                <a:solidFill>
                  <a:srgbClr val="161B26"/>
                </a:solidFill>
                <a:latin typeface="Arial"/>
              </a:rPr>
              <a:t>Ch.1 pp.1-11</a:t>
            </a:r>
          </a:p>
        </p:txBody>
      </p:sp>
      <p:sp>
        <p:nvSpPr>
          <p:cNvPr id="25" name="Rectangle 24"/>
          <p:cNvSpPr/>
          <p:nvPr/>
        </p:nvSpPr>
        <p:spPr>
          <a:xfrm>
            <a:off x="777240" y="2834640"/>
            <a:ext cx="638068"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2834640"/>
            <a:ext cx="455188" cy="350520"/>
          </a:xfrm>
          <a:prstGeom prst="rect">
            <a:avLst/>
          </a:prstGeom>
          <a:noFill/>
        </p:spPr>
        <p:txBody>
          <a:bodyPr wrap="square" anchor="ctr">
            <a:spAutoFit/>
          </a:bodyPr>
          <a:lstStyle/>
          <a:p>
            <a:pPr algn="l">
              <a:spcAft>
                <a:spcPts val="400"/>
              </a:spcAft>
            </a:pPr>
            <a:r>
              <a:rPr sz="850" b="1">
                <a:solidFill>
                  <a:srgbClr val="161B26"/>
                </a:solidFill>
                <a:latin typeface="Arial"/>
              </a:rPr>
              <a:t>S15</a:t>
            </a:r>
          </a:p>
        </p:txBody>
      </p:sp>
      <p:sp>
        <p:nvSpPr>
          <p:cNvPr id="27" name="Rectangle 26"/>
          <p:cNvSpPr/>
          <p:nvPr/>
        </p:nvSpPr>
        <p:spPr>
          <a:xfrm>
            <a:off x="1415308" y="2834640"/>
            <a:ext cx="6380683"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5036" y="2834640"/>
            <a:ext cx="6197803" cy="350520"/>
          </a:xfrm>
          <a:prstGeom prst="rect">
            <a:avLst/>
          </a:prstGeom>
          <a:noFill/>
        </p:spPr>
        <p:txBody>
          <a:bodyPr wrap="square" anchor="ctr">
            <a:spAutoFit/>
          </a:bodyPr>
          <a:lstStyle/>
          <a:p>
            <a:pPr algn="l">
              <a:spcAft>
                <a:spcPts val="400"/>
              </a:spcAft>
            </a:pPr>
            <a:r>
              <a:rPr sz="850" b="0">
                <a:solidFill>
                  <a:srgbClr val="161B26"/>
                </a:solidFill>
                <a:latin typeface="Arial"/>
              </a:rPr>
              <a:t>Mewada et al. (2026), as above</a:t>
            </a:r>
          </a:p>
        </p:txBody>
      </p:sp>
      <p:sp>
        <p:nvSpPr>
          <p:cNvPr id="29" name="Rectangle 28"/>
          <p:cNvSpPr/>
          <p:nvPr/>
        </p:nvSpPr>
        <p:spPr>
          <a:xfrm>
            <a:off x="7795991" y="2834640"/>
            <a:ext cx="3615720"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5719" y="2834640"/>
            <a:ext cx="3432840" cy="350520"/>
          </a:xfrm>
          <a:prstGeom prst="rect">
            <a:avLst/>
          </a:prstGeom>
          <a:noFill/>
        </p:spPr>
        <p:txBody>
          <a:bodyPr wrap="square" anchor="ctr">
            <a:spAutoFit/>
          </a:bodyPr>
          <a:lstStyle/>
          <a:p>
            <a:pPr algn="l">
              <a:spcAft>
                <a:spcPts val="400"/>
              </a:spcAft>
            </a:pPr>
            <a:r>
              <a:rPr sz="850" b="0">
                <a:solidFill>
                  <a:srgbClr val="161B26"/>
                </a:solidFill>
                <a:latin typeface="Arial"/>
              </a:rPr>
              <a:t>Ch.3 pp.35-44 (Vishnoi, Sisodia, Khare and Yadav, 'Senso</a:t>
            </a:r>
          </a:p>
        </p:txBody>
      </p:sp>
      <p:sp>
        <p:nvSpPr>
          <p:cNvPr id="31" name="Rectangle 30"/>
          <p:cNvSpPr/>
          <p:nvPr/>
        </p:nvSpPr>
        <p:spPr>
          <a:xfrm>
            <a:off x="777240" y="3185160"/>
            <a:ext cx="638068"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185160"/>
            <a:ext cx="455188" cy="350520"/>
          </a:xfrm>
          <a:prstGeom prst="rect">
            <a:avLst/>
          </a:prstGeom>
          <a:noFill/>
        </p:spPr>
        <p:txBody>
          <a:bodyPr wrap="square" anchor="ctr">
            <a:spAutoFit/>
          </a:bodyPr>
          <a:lstStyle/>
          <a:p>
            <a:pPr algn="l">
              <a:spcAft>
                <a:spcPts val="400"/>
              </a:spcAft>
            </a:pPr>
            <a:r>
              <a:rPr sz="850" b="1">
                <a:solidFill>
                  <a:srgbClr val="161B26"/>
                </a:solidFill>
                <a:latin typeface="Arial"/>
              </a:rPr>
              <a:t>S16</a:t>
            </a:r>
          </a:p>
        </p:txBody>
      </p:sp>
      <p:sp>
        <p:nvSpPr>
          <p:cNvPr id="33" name="Rectangle 32"/>
          <p:cNvSpPr/>
          <p:nvPr/>
        </p:nvSpPr>
        <p:spPr>
          <a:xfrm>
            <a:off x="1415308" y="3185160"/>
            <a:ext cx="6380683"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25036" y="3185160"/>
            <a:ext cx="6197803" cy="350520"/>
          </a:xfrm>
          <a:prstGeom prst="rect">
            <a:avLst/>
          </a:prstGeom>
          <a:noFill/>
        </p:spPr>
        <p:txBody>
          <a:bodyPr wrap="square" anchor="ctr">
            <a:spAutoFit/>
          </a:bodyPr>
          <a:lstStyle/>
          <a:p>
            <a:pPr algn="l">
              <a:spcAft>
                <a:spcPts val="400"/>
              </a:spcAft>
            </a:pPr>
            <a:r>
              <a:rPr sz="850" b="0">
                <a:solidFill>
                  <a:srgbClr val="161B26"/>
                </a:solidFill>
                <a:latin typeface="Arial"/>
              </a:rPr>
              <a:t>Mewada et al. (2026), as above</a:t>
            </a:r>
          </a:p>
        </p:txBody>
      </p:sp>
      <p:sp>
        <p:nvSpPr>
          <p:cNvPr id="35" name="Rectangle 34"/>
          <p:cNvSpPr/>
          <p:nvPr/>
        </p:nvSpPr>
        <p:spPr>
          <a:xfrm>
            <a:off x="7795991" y="3185160"/>
            <a:ext cx="3615720"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05719" y="3185160"/>
            <a:ext cx="3432840" cy="350520"/>
          </a:xfrm>
          <a:prstGeom prst="rect">
            <a:avLst/>
          </a:prstGeom>
          <a:noFill/>
        </p:spPr>
        <p:txBody>
          <a:bodyPr wrap="square" anchor="ctr">
            <a:spAutoFit/>
          </a:bodyPr>
          <a:lstStyle/>
          <a:p>
            <a:pPr algn="l">
              <a:spcAft>
                <a:spcPts val="400"/>
              </a:spcAft>
            </a:pPr>
            <a:r>
              <a:rPr sz="850" b="0">
                <a:solidFill>
                  <a:srgbClr val="161B26"/>
                </a:solidFill>
                <a:latin typeface="Arial"/>
              </a:rPr>
              <a:t>Ch.4 pp.47-54 (Sibi, Pantola and Gupta, 'Detecting AI-ge</a:t>
            </a:r>
          </a:p>
        </p:txBody>
      </p:sp>
      <p:sp>
        <p:nvSpPr>
          <p:cNvPr id="37" name="Rectangle 36"/>
          <p:cNvSpPr/>
          <p:nvPr/>
        </p:nvSpPr>
        <p:spPr>
          <a:xfrm>
            <a:off x="777240" y="3535680"/>
            <a:ext cx="638068"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3535680"/>
            <a:ext cx="455188" cy="350520"/>
          </a:xfrm>
          <a:prstGeom prst="rect">
            <a:avLst/>
          </a:prstGeom>
          <a:noFill/>
        </p:spPr>
        <p:txBody>
          <a:bodyPr wrap="square" anchor="ctr">
            <a:spAutoFit/>
          </a:bodyPr>
          <a:lstStyle/>
          <a:p>
            <a:pPr algn="l">
              <a:spcAft>
                <a:spcPts val="400"/>
              </a:spcAft>
            </a:pPr>
            <a:r>
              <a:rPr sz="850" b="1">
                <a:solidFill>
                  <a:srgbClr val="161B26"/>
                </a:solidFill>
                <a:latin typeface="Arial"/>
              </a:rPr>
              <a:t>S17</a:t>
            </a:r>
          </a:p>
        </p:txBody>
      </p:sp>
      <p:sp>
        <p:nvSpPr>
          <p:cNvPr id="39" name="Rectangle 38"/>
          <p:cNvSpPr/>
          <p:nvPr/>
        </p:nvSpPr>
        <p:spPr>
          <a:xfrm>
            <a:off x="1415308" y="3535680"/>
            <a:ext cx="6380683"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525036" y="3535680"/>
            <a:ext cx="6197803" cy="350520"/>
          </a:xfrm>
          <a:prstGeom prst="rect">
            <a:avLst/>
          </a:prstGeom>
          <a:noFill/>
        </p:spPr>
        <p:txBody>
          <a:bodyPr wrap="square" anchor="ctr">
            <a:spAutoFit/>
          </a:bodyPr>
          <a:lstStyle/>
          <a:p>
            <a:pPr algn="l">
              <a:spcAft>
                <a:spcPts val="400"/>
              </a:spcAft>
            </a:pPr>
            <a:r>
              <a:rPr sz="850" b="0">
                <a:solidFill>
                  <a:srgbClr val="161B26"/>
                </a:solidFill>
                <a:latin typeface="Arial"/>
              </a:rPr>
              <a:t>Mewada et al. (2026), as above</a:t>
            </a:r>
          </a:p>
        </p:txBody>
      </p:sp>
      <p:sp>
        <p:nvSpPr>
          <p:cNvPr id="41" name="Rectangle 40"/>
          <p:cNvSpPr/>
          <p:nvPr/>
        </p:nvSpPr>
        <p:spPr>
          <a:xfrm>
            <a:off x="7795991" y="3535680"/>
            <a:ext cx="3615720"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05719" y="3535680"/>
            <a:ext cx="3432840" cy="350520"/>
          </a:xfrm>
          <a:prstGeom prst="rect">
            <a:avLst/>
          </a:prstGeom>
          <a:noFill/>
        </p:spPr>
        <p:txBody>
          <a:bodyPr wrap="square" anchor="ctr">
            <a:spAutoFit/>
          </a:bodyPr>
          <a:lstStyle/>
          <a:p>
            <a:pPr algn="l">
              <a:spcAft>
                <a:spcPts val="400"/>
              </a:spcAft>
            </a:pPr>
            <a:r>
              <a:rPr sz="850" b="0">
                <a:solidFill>
                  <a:srgbClr val="161B26"/>
                </a:solidFill>
                <a:latin typeface="Arial"/>
              </a:rPr>
              <a:t>Ch.7 pp.94-98 (Dubey, Pinheiro, Singh, Ansari and Kumar,</a:t>
            </a:r>
          </a:p>
        </p:txBody>
      </p:sp>
      <p:sp>
        <p:nvSpPr>
          <p:cNvPr id="43" name="Rectangle 42"/>
          <p:cNvSpPr/>
          <p:nvPr/>
        </p:nvSpPr>
        <p:spPr>
          <a:xfrm>
            <a:off x="777240" y="3886200"/>
            <a:ext cx="638068"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3886200"/>
            <a:ext cx="455188" cy="350520"/>
          </a:xfrm>
          <a:prstGeom prst="rect">
            <a:avLst/>
          </a:prstGeom>
          <a:noFill/>
        </p:spPr>
        <p:txBody>
          <a:bodyPr wrap="square" anchor="ctr">
            <a:spAutoFit/>
          </a:bodyPr>
          <a:lstStyle/>
          <a:p>
            <a:pPr algn="l">
              <a:spcAft>
                <a:spcPts val="400"/>
              </a:spcAft>
            </a:pPr>
            <a:r>
              <a:rPr sz="850" b="1">
                <a:solidFill>
                  <a:srgbClr val="161B26"/>
                </a:solidFill>
                <a:latin typeface="Arial"/>
              </a:rPr>
              <a:t>S18</a:t>
            </a:r>
          </a:p>
        </p:txBody>
      </p:sp>
      <p:sp>
        <p:nvSpPr>
          <p:cNvPr id="45" name="Rectangle 44"/>
          <p:cNvSpPr/>
          <p:nvPr/>
        </p:nvSpPr>
        <p:spPr>
          <a:xfrm>
            <a:off x="1415308" y="3886200"/>
            <a:ext cx="6380683"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525036" y="3886200"/>
            <a:ext cx="6197803" cy="350520"/>
          </a:xfrm>
          <a:prstGeom prst="rect">
            <a:avLst/>
          </a:prstGeom>
          <a:noFill/>
        </p:spPr>
        <p:txBody>
          <a:bodyPr wrap="square" anchor="ctr">
            <a:spAutoFit/>
          </a:bodyPr>
          <a:lstStyle/>
          <a:p>
            <a:pPr algn="l">
              <a:spcAft>
                <a:spcPts val="400"/>
              </a:spcAft>
            </a:pPr>
            <a:r>
              <a:rPr sz="850" b="0">
                <a:solidFill>
                  <a:srgbClr val="161B26"/>
                </a:solidFill>
                <a:latin typeface="Arial"/>
              </a:rPr>
              <a:t>Mewada et al. (2026), as above</a:t>
            </a:r>
          </a:p>
        </p:txBody>
      </p:sp>
      <p:sp>
        <p:nvSpPr>
          <p:cNvPr id="47" name="Rectangle 46"/>
          <p:cNvSpPr/>
          <p:nvPr/>
        </p:nvSpPr>
        <p:spPr>
          <a:xfrm>
            <a:off x="7795991" y="3886200"/>
            <a:ext cx="3615720"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905719" y="3886200"/>
            <a:ext cx="3432840" cy="350520"/>
          </a:xfrm>
          <a:prstGeom prst="rect">
            <a:avLst/>
          </a:prstGeom>
          <a:noFill/>
        </p:spPr>
        <p:txBody>
          <a:bodyPr wrap="square" anchor="ctr">
            <a:spAutoFit/>
          </a:bodyPr>
          <a:lstStyle/>
          <a:p>
            <a:pPr algn="l">
              <a:spcAft>
                <a:spcPts val="400"/>
              </a:spcAft>
            </a:pPr>
            <a:r>
              <a:rPr sz="850" b="0">
                <a:solidFill>
                  <a:srgbClr val="161B26"/>
                </a:solidFill>
                <a:latin typeface="Arial"/>
              </a:rPr>
              <a:t>Ch.7 pp.98-100</a:t>
            </a:r>
          </a:p>
        </p:txBody>
      </p:sp>
      <p:sp>
        <p:nvSpPr>
          <p:cNvPr id="49" name="Rectangle 48"/>
          <p:cNvSpPr/>
          <p:nvPr/>
        </p:nvSpPr>
        <p:spPr>
          <a:xfrm>
            <a:off x="777240" y="4236720"/>
            <a:ext cx="638068"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86968" y="4236720"/>
            <a:ext cx="455188" cy="350520"/>
          </a:xfrm>
          <a:prstGeom prst="rect">
            <a:avLst/>
          </a:prstGeom>
          <a:noFill/>
        </p:spPr>
        <p:txBody>
          <a:bodyPr wrap="square" anchor="ctr">
            <a:spAutoFit/>
          </a:bodyPr>
          <a:lstStyle/>
          <a:p>
            <a:pPr algn="l">
              <a:spcAft>
                <a:spcPts val="400"/>
              </a:spcAft>
            </a:pPr>
            <a:r>
              <a:rPr sz="850" b="1">
                <a:solidFill>
                  <a:srgbClr val="161B26"/>
                </a:solidFill>
                <a:latin typeface="Arial"/>
              </a:rPr>
              <a:t>S19</a:t>
            </a:r>
          </a:p>
        </p:txBody>
      </p:sp>
      <p:sp>
        <p:nvSpPr>
          <p:cNvPr id="51" name="Rectangle 50"/>
          <p:cNvSpPr/>
          <p:nvPr/>
        </p:nvSpPr>
        <p:spPr>
          <a:xfrm>
            <a:off x="1415308" y="4236720"/>
            <a:ext cx="6380683"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525036" y="4236720"/>
            <a:ext cx="6197803" cy="350520"/>
          </a:xfrm>
          <a:prstGeom prst="rect">
            <a:avLst/>
          </a:prstGeom>
          <a:noFill/>
        </p:spPr>
        <p:txBody>
          <a:bodyPr wrap="square" anchor="ctr">
            <a:spAutoFit/>
          </a:bodyPr>
          <a:lstStyle/>
          <a:p>
            <a:pPr algn="l">
              <a:spcAft>
                <a:spcPts val="400"/>
              </a:spcAft>
            </a:pPr>
            <a:r>
              <a:rPr sz="850" b="0">
                <a:solidFill>
                  <a:srgbClr val="161B26"/>
                </a:solidFill>
                <a:latin typeface="Arial"/>
              </a:rPr>
              <a:t>Mewada et al. (2026), as above</a:t>
            </a:r>
          </a:p>
        </p:txBody>
      </p:sp>
      <p:sp>
        <p:nvSpPr>
          <p:cNvPr id="53" name="Rectangle 52"/>
          <p:cNvSpPr/>
          <p:nvPr/>
        </p:nvSpPr>
        <p:spPr>
          <a:xfrm>
            <a:off x="7795991" y="4236720"/>
            <a:ext cx="3615720"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905719" y="4236720"/>
            <a:ext cx="3432840" cy="350520"/>
          </a:xfrm>
          <a:prstGeom prst="rect">
            <a:avLst/>
          </a:prstGeom>
          <a:noFill/>
        </p:spPr>
        <p:txBody>
          <a:bodyPr wrap="square" anchor="ctr">
            <a:spAutoFit/>
          </a:bodyPr>
          <a:lstStyle/>
          <a:p>
            <a:pPr algn="l">
              <a:spcAft>
                <a:spcPts val="400"/>
              </a:spcAft>
            </a:pPr>
            <a:r>
              <a:rPr sz="850" b="0">
                <a:solidFill>
                  <a:srgbClr val="161B26"/>
                </a:solidFill>
                <a:latin typeface="Arial"/>
              </a:rPr>
              <a:t>Ch.11 pp.147-160 (Dewang, Mewada, Omkar, Jaiswal and Sin</a:t>
            </a:r>
          </a:p>
        </p:txBody>
      </p:sp>
      <p:sp>
        <p:nvSpPr>
          <p:cNvPr id="55" name="Rectangle 54"/>
          <p:cNvSpPr/>
          <p:nvPr/>
        </p:nvSpPr>
        <p:spPr>
          <a:xfrm>
            <a:off x="777240" y="4587240"/>
            <a:ext cx="638068"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 y="4587240"/>
            <a:ext cx="455188" cy="350520"/>
          </a:xfrm>
          <a:prstGeom prst="rect">
            <a:avLst/>
          </a:prstGeom>
          <a:noFill/>
        </p:spPr>
        <p:txBody>
          <a:bodyPr wrap="square" anchor="ctr">
            <a:spAutoFit/>
          </a:bodyPr>
          <a:lstStyle/>
          <a:p>
            <a:pPr algn="l">
              <a:spcAft>
                <a:spcPts val="400"/>
              </a:spcAft>
            </a:pPr>
            <a:r>
              <a:rPr sz="850" b="1">
                <a:solidFill>
                  <a:srgbClr val="161B26"/>
                </a:solidFill>
                <a:latin typeface="Arial"/>
              </a:rPr>
              <a:t>S20</a:t>
            </a:r>
          </a:p>
        </p:txBody>
      </p:sp>
      <p:sp>
        <p:nvSpPr>
          <p:cNvPr id="57" name="Rectangle 56"/>
          <p:cNvSpPr/>
          <p:nvPr/>
        </p:nvSpPr>
        <p:spPr>
          <a:xfrm>
            <a:off x="1415308" y="4587240"/>
            <a:ext cx="6380683"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525036" y="4587240"/>
            <a:ext cx="6197803" cy="350520"/>
          </a:xfrm>
          <a:prstGeom prst="rect">
            <a:avLst/>
          </a:prstGeom>
          <a:noFill/>
        </p:spPr>
        <p:txBody>
          <a:bodyPr wrap="square" anchor="ctr">
            <a:spAutoFit/>
          </a:bodyPr>
          <a:lstStyle/>
          <a:p>
            <a:pPr algn="l">
              <a:spcAft>
                <a:spcPts val="400"/>
              </a:spcAft>
            </a:pPr>
            <a:r>
              <a:rPr sz="850" b="0">
                <a:solidFill>
                  <a:srgbClr val="161B26"/>
                </a:solidFill>
                <a:latin typeface="Arial"/>
              </a:rPr>
              <a:t>Google AI for Developers — Gemini API image generation documentation</a:t>
            </a:r>
          </a:p>
        </p:txBody>
      </p:sp>
      <p:sp>
        <p:nvSpPr>
          <p:cNvPr id="59" name="Rectangle 58"/>
          <p:cNvSpPr/>
          <p:nvPr/>
        </p:nvSpPr>
        <p:spPr>
          <a:xfrm>
            <a:off x="7795991" y="4587240"/>
            <a:ext cx="3615720"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905719" y="4587240"/>
            <a:ext cx="3432840" cy="350520"/>
          </a:xfrm>
          <a:prstGeom prst="rect">
            <a:avLst/>
          </a:prstGeom>
          <a:noFill/>
        </p:spPr>
        <p:txBody>
          <a:bodyPr wrap="square" anchor="ctr">
            <a:spAutoFit/>
          </a:bodyPr>
          <a:lstStyle/>
          <a:p>
            <a:pPr algn="l">
              <a:spcAft>
                <a:spcPts val="400"/>
              </a:spcAft>
            </a:pPr>
            <a:r>
              <a:rPr sz="850" b="0">
                <a:solidFill>
                  <a:srgbClr val="161B26"/>
                </a:solidFill>
                <a:latin typeface="Arial"/>
              </a:rPr>
              <a:t>https://ai.google.dev/gemini-api/docs/image-generation (</a:t>
            </a:r>
          </a:p>
        </p:txBody>
      </p:sp>
      <p:sp>
        <p:nvSpPr>
          <p:cNvPr id="61" name="Rectangle 60"/>
          <p:cNvSpPr/>
          <p:nvPr/>
        </p:nvSpPr>
        <p:spPr>
          <a:xfrm>
            <a:off x="777240" y="4937760"/>
            <a:ext cx="638068"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86968" y="4937760"/>
            <a:ext cx="455188" cy="350520"/>
          </a:xfrm>
          <a:prstGeom prst="rect">
            <a:avLst/>
          </a:prstGeom>
          <a:noFill/>
        </p:spPr>
        <p:txBody>
          <a:bodyPr wrap="square" anchor="ctr">
            <a:spAutoFit/>
          </a:bodyPr>
          <a:lstStyle/>
          <a:p>
            <a:pPr algn="l">
              <a:spcAft>
                <a:spcPts val="400"/>
              </a:spcAft>
            </a:pPr>
            <a:r>
              <a:rPr sz="850" b="1">
                <a:solidFill>
                  <a:srgbClr val="161B26"/>
                </a:solidFill>
                <a:latin typeface="Arial"/>
              </a:rPr>
              <a:t>S21</a:t>
            </a:r>
          </a:p>
        </p:txBody>
      </p:sp>
      <p:sp>
        <p:nvSpPr>
          <p:cNvPr id="63" name="Rectangle 62"/>
          <p:cNvSpPr/>
          <p:nvPr/>
        </p:nvSpPr>
        <p:spPr>
          <a:xfrm>
            <a:off x="1415308" y="4937760"/>
            <a:ext cx="6380683"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525036" y="4937760"/>
            <a:ext cx="6197803" cy="350520"/>
          </a:xfrm>
          <a:prstGeom prst="rect">
            <a:avLst/>
          </a:prstGeom>
          <a:noFill/>
        </p:spPr>
        <p:txBody>
          <a:bodyPr wrap="square" anchor="ctr">
            <a:spAutoFit/>
          </a:bodyPr>
          <a:lstStyle/>
          <a:p>
            <a:pPr algn="l">
              <a:spcAft>
                <a:spcPts val="400"/>
              </a:spcAft>
            </a:pPr>
            <a:r>
              <a:rPr sz="850" b="0">
                <a:solidFill>
                  <a:srgbClr val="161B26"/>
                </a:solidFill>
                <a:latin typeface="Arial"/>
              </a:rPr>
              <a:t>Google AI for Developers — Gemini API Imagen documentation</a:t>
            </a:r>
          </a:p>
        </p:txBody>
      </p:sp>
      <p:sp>
        <p:nvSpPr>
          <p:cNvPr id="65" name="Rectangle 64"/>
          <p:cNvSpPr/>
          <p:nvPr/>
        </p:nvSpPr>
        <p:spPr>
          <a:xfrm>
            <a:off x="7795991" y="4937760"/>
            <a:ext cx="3615720"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905719" y="4937760"/>
            <a:ext cx="3432840" cy="350520"/>
          </a:xfrm>
          <a:prstGeom prst="rect">
            <a:avLst/>
          </a:prstGeom>
          <a:noFill/>
        </p:spPr>
        <p:txBody>
          <a:bodyPr wrap="square" anchor="ctr">
            <a:spAutoFit/>
          </a:bodyPr>
          <a:lstStyle/>
          <a:p>
            <a:pPr algn="l">
              <a:spcAft>
                <a:spcPts val="400"/>
              </a:spcAft>
            </a:pPr>
            <a:r>
              <a:rPr sz="850" b="0">
                <a:solidFill>
                  <a:srgbClr val="161B26"/>
                </a:solidFill>
                <a:latin typeface="Arial"/>
              </a:rPr>
              <a:t>https://ai.google.dev/gemini-api/docs/imagen (verified 6</a:t>
            </a:r>
          </a:p>
        </p:txBody>
      </p:sp>
      <p:sp>
        <p:nvSpPr>
          <p:cNvPr id="67" name="Rectangle 66"/>
          <p:cNvSpPr/>
          <p:nvPr/>
        </p:nvSpPr>
        <p:spPr>
          <a:xfrm>
            <a:off x="777240" y="5288280"/>
            <a:ext cx="638068"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86968" y="5288280"/>
            <a:ext cx="455188" cy="350520"/>
          </a:xfrm>
          <a:prstGeom prst="rect">
            <a:avLst/>
          </a:prstGeom>
          <a:noFill/>
        </p:spPr>
        <p:txBody>
          <a:bodyPr wrap="square" anchor="ctr">
            <a:spAutoFit/>
          </a:bodyPr>
          <a:lstStyle/>
          <a:p>
            <a:pPr algn="l">
              <a:spcAft>
                <a:spcPts val="400"/>
              </a:spcAft>
            </a:pPr>
            <a:r>
              <a:rPr sz="850" b="1">
                <a:solidFill>
                  <a:srgbClr val="161B26"/>
                </a:solidFill>
                <a:latin typeface="Arial"/>
              </a:rPr>
              <a:t>S22</a:t>
            </a:r>
          </a:p>
        </p:txBody>
      </p:sp>
      <p:sp>
        <p:nvSpPr>
          <p:cNvPr id="69" name="Rectangle 68"/>
          <p:cNvSpPr/>
          <p:nvPr/>
        </p:nvSpPr>
        <p:spPr>
          <a:xfrm>
            <a:off x="1415308" y="5288280"/>
            <a:ext cx="6380683"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525036" y="5288280"/>
            <a:ext cx="6197803" cy="350520"/>
          </a:xfrm>
          <a:prstGeom prst="rect">
            <a:avLst/>
          </a:prstGeom>
          <a:noFill/>
        </p:spPr>
        <p:txBody>
          <a:bodyPr wrap="square" anchor="ctr">
            <a:spAutoFit/>
          </a:bodyPr>
          <a:lstStyle/>
          <a:p>
            <a:pPr algn="l">
              <a:spcAft>
                <a:spcPts val="400"/>
              </a:spcAft>
            </a:pPr>
            <a:r>
              <a:rPr sz="850" b="0">
                <a:solidFill>
                  <a:srgbClr val="161B26"/>
                </a:solidFill>
                <a:latin typeface="Arial"/>
              </a:rPr>
              <a:t>Google AI for Developers — Veo video generation documentation</a:t>
            </a:r>
          </a:p>
        </p:txBody>
      </p:sp>
      <p:sp>
        <p:nvSpPr>
          <p:cNvPr id="71" name="Rectangle 70"/>
          <p:cNvSpPr/>
          <p:nvPr/>
        </p:nvSpPr>
        <p:spPr>
          <a:xfrm>
            <a:off x="7795991" y="5288280"/>
            <a:ext cx="3615720"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905719" y="5288280"/>
            <a:ext cx="3432840" cy="350520"/>
          </a:xfrm>
          <a:prstGeom prst="rect">
            <a:avLst/>
          </a:prstGeom>
          <a:noFill/>
        </p:spPr>
        <p:txBody>
          <a:bodyPr wrap="square" anchor="ctr">
            <a:spAutoFit/>
          </a:bodyPr>
          <a:lstStyle/>
          <a:p>
            <a:pPr algn="l">
              <a:spcAft>
                <a:spcPts val="400"/>
              </a:spcAft>
            </a:pPr>
            <a:r>
              <a:rPr sz="850" b="0">
                <a:solidFill>
                  <a:srgbClr val="161B26"/>
                </a:solidFill>
                <a:latin typeface="Arial"/>
              </a:rPr>
              <a:t>https://ai.google.dev/gemini-api/docs/veo (verified 6 Se</a:t>
            </a:r>
          </a:p>
        </p:txBody>
      </p:sp>
      <p:sp>
        <p:nvSpPr>
          <p:cNvPr id="73" name="Rectangle 72"/>
          <p:cNvSpPr/>
          <p:nvPr/>
        </p:nvSpPr>
        <p:spPr>
          <a:xfrm>
            <a:off x="777240" y="5638800"/>
            <a:ext cx="638068"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86968" y="5638800"/>
            <a:ext cx="455188" cy="350520"/>
          </a:xfrm>
          <a:prstGeom prst="rect">
            <a:avLst/>
          </a:prstGeom>
          <a:noFill/>
        </p:spPr>
        <p:txBody>
          <a:bodyPr wrap="square" anchor="ctr">
            <a:spAutoFit/>
          </a:bodyPr>
          <a:lstStyle/>
          <a:p>
            <a:pPr algn="l">
              <a:spcAft>
                <a:spcPts val="400"/>
              </a:spcAft>
            </a:pPr>
            <a:r>
              <a:rPr sz="850" b="1">
                <a:solidFill>
                  <a:srgbClr val="161B26"/>
                </a:solidFill>
                <a:latin typeface="Arial"/>
              </a:rPr>
              <a:t>S23</a:t>
            </a:r>
          </a:p>
        </p:txBody>
      </p:sp>
      <p:sp>
        <p:nvSpPr>
          <p:cNvPr id="75" name="Rectangle 74"/>
          <p:cNvSpPr/>
          <p:nvPr/>
        </p:nvSpPr>
        <p:spPr>
          <a:xfrm>
            <a:off x="1415308" y="5638800"/>
            <a:ext cx="6380683"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525036" y="5638800"/>
            <a:ext cx="6197803" cy="350520"/>
          </a:xfrm>
          <a:prstGeom prst="rect">
            <a:avLst/>
          </a:prstGeom>
          <a:noFill/>
        </p:spPr>
        <p:txBody>
          <a:bodyPr wrap="square" anchor="ctr">
            <a:spAutoFit/>
          </a:bodyPr>
          <a:lstStyle/>
          <a:p>
            <a:pPr algn="l">
              <a:spcAft>
                <a:spcPts val="400"/>
              </a:spcAft>
            </a:pPr>
            <a:r>
              <a:rPr sz="850" b="0">
                <a:solidFill>
                  <a:srgbClr val="161B26"/>
                </a:solidFill>
                <a:latin typeface="Arial"/>
              </a:rPr>
              <a:t>OpenCV 4.13 Python package, verified locally on the delivery image</a:t>
            </a:r>
          </a:p>
        </p:txBody>
      </p:sp>
      <p:sp>
        <p:nvSpPr>
          <p:cNvPr id="77" name="Rectangle 76"/>
          <p:cNvSpPr/>
          <p:nvPr/>
        </p:nvSpPr>
        <p:spPr>
          <a:xfrm>
            <a:off x="7795991" y="5638800"/>
            <a:ext cx="3615720"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905719" y="5638800"/>
            <a:ext cx="3432840" cy="350520"/>
          </a:xfrm>
          <a:prstGeom prst="rect">
            <a:avLst/>
          </a:prstGeom>
          <a:noFill/>
        </p:spPr>
        <p:txBody>
          <a:bodyPr wrap="square" anchor="ctr">
            <a:spAutoFit/>
          </a:bodyPr>
          <a:lstStyle/>
          <a:p>
            <a:pPr algn="l">
              <a:spcAft>
                <a:spcPts val="400"/>
              </a:spcAft>
            </a:pPr>
            <a:r>
              <a:rPr sz="850" b="0">
                <a:solidFill>
                  <a:srgbClr val="161B26"/>
                </a:solidFill>
                <a:latin typeface="Arial"/>
              </a:rPr>
              <a:t>cv2 4.13.0 (opencv-python 4.13.0.92)</a:t>
            </a:r>
          </a:p>
        </p:txBody>
      </p:sp>
      <p:sp>
        <p:nvSpPr>
          <p:cNvPr id="79" name="TextBox 78"/>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Model identifiers change. S20, S21, S22 and S23 record what the official documentation said on 6 September 2026, including which identifiers are deprecated.</a:t>
            </a:r>
          </a:p>
        </p:txBody>
      </p:sp>
      <p:sp>
        <p:nvSpPr>
          <p:cNvPr id="80" name="TextBox 7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81" name="TextBox 8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82" name="TextBox 8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transition spd="fast">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CONTINUE THE JOURNEY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Recommended Follow-On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9860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87634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87634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9482328" cy="552297"/>
          </a:xfrm>
          <a:prstGeom prst="rect">
            <a:avLst/>
          </a:prstGeom>
          <a:noFill/>
        </p:spPr>
        <p:txBody>
          <a:bodyPr wrap="square" anchor="ctr">
            <a:spAutoFit/>
          </a:bodyPr>
          <a:lstStyle/>
          <a:p>
            <a:pPr algn="l">
              <a:spcAft>
                <a:spcPts val="200"/>
              </a:spcAft>
            </a:pPr>
            <a:r>
              <a:rPr sz="1400" b="1">
                <a:solidFill>
                  <a:srgbClr val="161B26"/>
                </a:solidFill>
                <a:latin typeface="Arial"/>
              </a:rPr>
              <a:t>Python Fundamental Course for Beginners</a:t>
            </a:r>
          </a:p>
          <a:p>
            <a:pPr algn="l">
              <a:spcAft>
                <a:spcPts val="200"/>
              </a:spcAft>
            </a:pPr>
            <a:r>
              <a:rPr sz="1100" b="0">
                <a:solidFill>
                  <a:srgbClr val="5B6372"/>
                </a:solidFill>
                <a:latin typeface="Arial"/>
              </a:rPr>
              <a:t>WSQ funded · Tertiary Infotech Academy</a:t>
            </a:r>
          </a:p>
        </p:txBody>
      </p:sp>
      <p:sp>
        <p:nvSpPr>
          <p:cNvPr id="12" name="Rectangle 11"/>
          <p:cNvSpPr/>
          <p:nvPr/>
        </p:nvSpPr>
        <p:spPr>
          <a:xfrm>
            <a:off x="777240" y="2701137"/>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1137"/>
            <a:ext cx="91440" cy="69860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2794405"/>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2794405"/>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2792577"/>
            <a:ext cx="9482328" cy="552297"/>
          </a:xfrm>
          <a:prstGeom prst="rect">
            <a:avLst/>
          </a:prstGeom>
          <a:noFill/>
        </p:spPr>
        <p:txBody>
          <a:bodyPr wrap="square" anchor="ctr">
            <a:spAutoFit/>
          </a:bodyPr>
          <a:lstStyle/>
          <a:p>
            <a:pPr algn="l">
              <a:spcAft>
                <a:spcPts val="200"/>
              </a:spcAft>
            </a:pPr>
            <a:r>
              <a:rPr sz="1400" b="1">
                <a:solidFill>
                  <a:srgbClr val="161B26"/>
                </a:solidFill>
                <a:latin typeface="Arial"/>
              </a:rPr>
              <a:t>Basic Machine Learning with ScikitLearn Course</a:t>
            </a:r>
          </a:p>
          <a:p>
            <a:pPr algn="l">
              <a:spcAft>
                <a:spcPts val="200"/>
              </a:spcAft>
            </a:pPr>
            <a:r>
              <a:rPr sz="1100" b="0">
                <a:solidFill>
                  <a:srgbClr val="5B6372"/>
                </a:solidFill>
                <a:latin typeface="Arial"/>
              </a:rPr>
              <a:t>WSQ funded · Tertiary Infotech Academy</a:t>
            </a:r>
          </a:p>
        </p:txBody>
      </p:sp>
      <p:sp>
        <p:nvSpPr>
          <p:cNvPr id="17" name="Rectangle 16"/>
          <p:cNvSpPr/>
          <p:nvPr/>
        </p:nvSpPr>
        <p:spPr>
          <a:xfrm>
            <a:off x="777240" y="3619194"/>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19194"/>
            <a:ext cx="91440" cy="69860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710634"/>
            <a:ext cx="9482328" cy="552297"/>
          </a:xfrm>
          <a:prstGeom prst="rect">
            <a:avLst/>
          </a:prstGeom>
          <a:noFill/>
        </p:spPr>
        <p:txBody>
          <a:bodyPr wrap="square" anchor="ctr">
            <a:spAutoFit/>
          </a:bodyPr>
          <a:lstStyle/>
          <a:p>
            <a:pPr algn="l">
              <a:spcAft>
                <a:spcPts val="200"/>
              </a:spcAft>
            </a:pPr>
            <a:r>
              <a:rPr sz="1400" b="1">
                <a:solidFill>
                  <a:srgbClr val="161B26"/>
                </a:solidFill>
                <a:latin typeface="Arial"/>
              </a:rPr>
              <a:t>Deep Learning with Tensorflow Keras</a:t>
            </a:r>
          </a:p>
          <a:p>
            <a:pPr algn="l">
              <a:spcAft>
                <a:spcPts val="200"/>
              </a:spcAft>
            </a:pPr>
            <a:r>
              <a:rPr sz="1100" b="0">
                <a:solidFill>
                  <a:srgbClr val="5B6372"/>
                </a:solidFill>
                <a:latin typeface="Arial"/>
              </a:rPr>
              <a:t>WSQ funded · Tertiary Infotech Academy</a:t>
            </a:r>
          </a:p>
        </p:txBody>
      </p:sp>
      <p:sp>
        <p:nvSpPr>
          <p:cNvPr id="22" name="Rectangle 21"/>
          <p:cNvSpPr/>
          <p:nvPr/>
        </p:nvSpPr>
        <p:spPr>
          <a:xfrm>
            <a:off x="777240" y="4537251"/>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37251"/>
            <a:ext cx="91440" cy="69860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4630519"/>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4630519"/>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4628691"/>
            <a:ext cx="9482328" cy="552297"/>
          </a:xfrm>
          <a:prstGeom prst="rect">
            <a:avLst/>
          </a:prstGeom>
          <a:noFill/>
        </p:spPr>
        <p:txBody>
          <a:bodyPr wrap="square" anchor="ctr">
            <a:spAutoFit/>
          </a:bodyPr>
          <a:lstStyle/>
          <a:p>
            <a:pPr algn="l">
              <a:spcAft>
                <a:spcPts val="200"/>
              </a:spcAft>
            </a:pPr>
            <a:r>
              <a:rPr sz="1400" b="1">
                <a:solidFill>
                  <a:srgbClr val="161B26"/>
                </a:solidFill>
                <a:latin typeface="Arial"/>
              </a:rPr>
              <a:t>Generative AI for Business Productivity</a:t>
            </a:r>
          </a:p>
          <a:p>
            <a:pPr algn="l">
              <a:spcAft>
                <a:spcPts val="200"/>
              </a:spcAft>
            </a:pPr>
            <a:r>
              <a:rPr sz="1100" b="0">
                <a:solidFill>
                  <a:srgbClr val="5B6372"/>
                </a:solidFill>
                <a:latin typeface="Arial"/>
              </a:rPr>
              <a:t>WSQ funded · Tertiary Infotech Academy</a:t>
            </a:r>
          </a:p>
        </p:txBody>
      </p:sp>
      <p:sp>
        <p:nvSpPr>
          <p:cNvPr id="27" name="Rectangle 26"/>
          <p:cNvSpPr/>
          <p:nvPr/>
        </p:nvSpPr>
        <p:spPr>
          <a:xfrm>
            <a:off x="777240" y="5455308"/>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55308"/>
            <a:ext cx="91440" cy="69860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54857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54857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5546748"/>
            <a:ext cx="9482328" cy="552297"/>
          </a:xfrm>
          <a:prstGeom prst="rect">
            <a:avLst/>
          </a:prstGeom>
          <a:noFill/>
        </p:spPr>
        <p:txBody>
          <a:bodyPr wrap="square" anchor="ctr">
            <a:spAutoFit/>
          </a:bodyPr>
          <a:lstStyle/>
          <a:p>
            <a:pPr algn="l">
              <a:spcAft>
                <a:spcPts val="200"/>
              </a:spcAft>
            </a:pPr>
            <a:r>
              <a:rPr sz="1400" b="1">
                <a:solidFill>
                  <a:srgbClr val="161B26"/>
                </a:solidFill>
                <a:latin typeface="Arial"/>
              </a:rPr>
              <a:t>Data Visualisation and Storytelling</a:t>
            </a:r>
          </a:p>
          <a:p>
            <a:pPr algn="l">
              <a:spcAft>
                <a:spcPts val="200"/>
              </a:spcAft>
            </a:pPr>
            <a:r>
              <a:rPr sz="1100" b="0">
                <a:solidFill>
                  <a:srgbClr val="5B6372"/>
                </a:solidFill>
                <a:latin typeface="Arial"/>
              </a:rPr>
              <a:t>WSQ funded · Tertiary Infotech Academy</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transition spd="fast">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WE'RE HERE TO HELP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If you have any enquiries during or after the class, contact us:</a:t>
            </a:r>
          </a:p>
          <a:p>
            <a:pPr>
              <a:spcAft>
                <a:spcPts val="1000"/>
              </a:spcAft>
            </a:pPr>
            <a:r>
              <a:rPr sz="1700" b="0">
                <a:solidFill>
                  <a:srgbClr val="161B26"/>
                </a:solidFill>
                <a:latin typeface="Arial"/>
              </a:rPr>
              <a:t>•  Email: enquiry@tertiaryinfotech.com</a:t>
            </a:r>
          </a:p>
          <a:p>
            <a:pPr>
              <a:spcAft>
                <a:spcPts val="1000"/>
              </a:spcAft>
            </a:pPr>
            <a:r>
              <a:rPr sz="1700" b="0">
                <a:solidFill>
                  <a:srgbClr val="161B26"/>
                </a:solidFill>
                <a:latin typeface="Arial"/>
              </a:rPr>
              <a:t>•  Telephone: +65 6100 0613</a:t>
            </a:r>
          </a:p>
          <a:p>
            <a:pPr>
              <a:spcAft>
                <a:spcPts val="1000"/>
              </a:spcAft>
            </a:pPr>
            <a:r>
              <a:rPr sz="1700" b="0">
                <a:solidFill>
                  <a:srgbClr val="161B26"/>
                </a:solidFill>
                <a:latin typeface="Arial"/>
              </a:rPr>
              <a:t>•  Website: www.tertiarycourses.com.sg</a:t>
            </a:r>
          </a:p>
          <a:p>
            <a:pPr>
              <a:spcAft>
                <a:spcPts val="1000"/>
              </a:spcAft>
            </a:pPr>
            <a:r>
              <a:rPr sz="1700" b="0">
                <a:solidFill>
                  <a:srgbClr val="161B26"/>
                </a:solidFill>
                <a:latin typeface="Arial"/>
              </a:rPr>
              <a:t>•  Course page: https://www.tertiarycourses.com.sg/wsq-generative-ai-for-image-and-video-creation.html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transition spd="fast">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Written Assessment WA(Q&amp;A) — 13 open-ended questions covering K1 to K13, 60 minutes.</a:t>
            </a:r>
          </a:p>
          <a:p>
            <a:pPr>
              <a:spcAft>
                <a:spcPts val="1000"/>
              </a:spcAft>
            </a:pPr>
            <a:r>
              <a:rPr sz="1600" b="0">
                <a:solidFill>
                  <a:srgbClr val="161B26"/>
                </a:solidFill>
                <a:latin typeface="Arial"/>
              </a:rPr>
              <a:t>•  Practical Performance (PP) — 5 scenario-based tasks covering A1 to A8, 90 minutes.</a:t>
            </a:r>
          </a:p>
          <a:p>
            <a:pPr>
              <a:spcAft>
                <a:spcPts val="1000"/>
              </a:spcAft>
            </a:pPr>
            <a:r>
              <a:rPr sz="1600" b="0">
                <a:solidFill>
                  <a:srgbClr val="161B26"/>
                </a:solidFill>
                <a:latin typeface="Arial"/>
              </a:rPr>
              <a:t>•  Open book: slides, Learner Guide and approved course materials only.</a:t>
            </a:r>
          </a:p>
          <a:p>
            <a:pPr>
              <a:spcAft>
                <a:spcPts val="1000"/>
              </a:spcAft>
            </a:pPr>
            <a:r>
              <a:rPr sz="1600" b="0">
                <a:solidFill>
                  <a:srgbClr val="161B26"/>
                </a:solidFill>
                <a:latin typeface="Arial"/>
              </a:rPr>
              <a:t>•  Remember to take the Assessment digital attendance before you start.</a:t>
            </a:r>
          </a:p>
          <a:p>
            <a:pPr>
              <a:spcAft>
                <a:spcPts val="1000"/>
              </a:spcAft>
            </a:pPr>
            <a:r>
              <a:rPr sz="1600" b="0">
                <a:solidFill>
                  <a:srgbClr val="161B26"/>
                </a:solidFill>
                <a:latin typeface="Arial"/>
              </a:rPr>
              <a:t>•  Submit your completed answers on the LMS at https://lms-tms.tertiaryinfotech.com/</a:t>
            </a:r>
          </a:p>
          <a:p>
            <a:pPr>
              <a:spcAft>
                <a:spcPts val="1000"/>
              </a:spcAft>
            </a:pPr>
            <a:r>
              <a:rPr sz="1600" b="0">
                <a:solidFill>
                  <a:srgbClr val="161B26"/>
                </a:solidFill>
                <a:latin typeface="Arial"/>
              </a:rPr>
              <a:t>•  Sign the Assessment Summary Record when your assessor has completed it.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transition spd="fast">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0568" y="260604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0568"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1" name="TextBox 10"/>
          <p:cNvSpPr txBox="1"/>
          <p:nvPr/>
        </p:nvSpPr>
        <p:spPr>
          <a:xfrm>
            <a:off x="905256"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TRAQOM survey — scan the QR code on the LMS</a:t>
            </a:r>
          </a:p>
        </p:txBody>
      </p:sp>
      <p:cxnSp>
        <p:nvCxnSpPr>
          <p:cNvPr id="12" name="Connector 11"/>
          <p:cNvCxnSpPr/>
          <p:nvPr/>
        </p:nvCxnSpPr>
        <p:spPr>
          <a:xfrm>
            <a:off x="2691993" y="3680460"/>
            <a:ext cx="237744"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66313"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9641" y="260604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9641"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7" name="TextBox 16"/>
          <p:cNvSpPr txBox="1"/>
          <p:nvPr/>
        </p:nvSpPr>
        <p:spPr>
          <a:xfrm>
            <a:off x="3094329"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Assessment digital attendance — scan the SSG QR</a:t>
            </a:r>
          </a:p>
        </p:txBody>
      </p:sp>
      <p:cxnSp>
        <p:nvCxnSpPr>
          <p:cNvPr id="18" name="Connector 17"/>
          <p:cNvCxnSpPr/>
          <p:nvPr/>
        </p:nvCxnSpPr>
        <p:spPr>
          <a:xfrm>
            <a:off x="4881066" y="3680460"/>
            <a:ext cx="237744"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55386"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4" y="260604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4"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3" name="TextBox 22"/>
          <p:cNvSpPr txBox="1"/>
          <p:nvPr/>
        </p:nvSpPr>
        <p:spPr>
          <a:xfrm>
            <a:off x="5283402"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Sit WA(Q&amp;A) 60 min, then PP 90 min — open book</a:t>
            </a:r>
          </a:p>
        </p:txBody>
      </p:sp>
      <p:cxnSp>
        <p:nvCxnSpPr>
          <p:cNvPr id="24" name="Connector 23"/>
          <p:cNvCxnSpPr/>
          <p:nvPr/>
        </p:nvCxnSpPr>
        <p:spPr>
          <a:xfrm>
            <a:off x="7070139" y="3680460"/>
            <a:ext cx="237744"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44459"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17787" y="260604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7787"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9" name="TextBox 28"/>
          <p:cNvSpPr txBox="1"/>
          <p:nvPr/>
        </p:nvSpPr>
        <p:spPr>
          <a:xfrm>
            <a:off x="7472475"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Submit your answers on the LMS</a:t>
            </a:r>
          </a:p>
        </p:txBody>
      </p:sp>
      <p:cxnSp>
        <p:nvCxnSpPr>
          <p:cNvPr id="30" name="Connector 29"/>
          <p:cNvCxnSpPr/>
          <p:nvPr/>
        </p:nvCxnSpPr>
        <p:spPr>
          <a:xfrm>
            <a:off x="9259212" y="3680460"/>
            <a:ext cx="237744"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33532"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6860" y="260604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6860"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5" name="TextBox 34"/>
          <p:cNvSpPr txBox="1"/>
          <p:nvPr/>
        </p:nvSpPr>
        <p:spPr>
          <a:xfrm>
            <a:off x="9661548"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transition spd="fast">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It is mandatory to take the AM, PM and Assessment digital attendance for WSQ-funded courses.</a:t>
            </a:r>
          </a:p>
          <a:p>
            <a:pPr>
              <a:spcAft>
                <a:spcPts val="1000"/>
              </a:spcAft>
            </a:pPr>
            <a:r>
              <a:rPr sz="1700" b="0">
                <a:solidFill>
                  <a:srgbClr val="161B26"/>
                </a:solidFill>
                <a:latin typeface="Arial"/>
              </a:rPr>
              <a:t>•  The trainer or administrator displays the digital attendance QR code generated from the SSG portal.</a:t>
            </a:r>
          </a:p>
          <a:p>
            <a:pPr>
              <a:spcAft>
                <a:spcPts val="1000"/>
              </a:spcAft>
            </a:pPr>
            <a:r>
              <a:rPr sz="1700" b="0">
                <a:solidFill>
                  <a:srgbClr val="161B26"/>
                </a:solidFill>
                <a:latin typeface="Arial"/>
              </a:rPr>
              <a:t>•  Scan the QR code with your mobile phone camera and submit your attendance.</a:t>
            </a:r>
          </a:p>
          <a:p>
            <a:pPr>
              <a:spcAft>
                <a:spcPts val="1000"/>
              </a:spcAft>
            </a:pPr>
            <a:r>
              <a:rPr sz="1700" b="0">
                <a:solidFill>
                  <a:srgbClr val="161B26"/>
                </a:solidFill>
                <a:latin typeface="Arial"/>
              </a:rPr>
              <a:t>•  A minimum of 75% attendance is required to be eligible for assessment and funding.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transition spd="fast">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500" b="1">
                <a:solidFill>
                  <a:srgbClr val="10B981"/>
                </a:solidFill>
                <a:latin typeface="Arial"/>
              </a:rPr>
              <a:t>SEE YOU IN THE NEXT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400" b="1">
                <a:solidFill>
                  <a:srgbClr val="161B26"/>
                </a:solidFill>
                <a:latin typeface="Arial"/>
              </a:rPr>
              <a:t>Thank You!</a:t>
            </a:r>
          </a:p>
        </p:txBody>
      </p:sp>
      <p:sp>
        <p:nvSpPr>
          <p:cNvPr id="6" name="TextBox 5"/>
          <p:cNvSpPr txBox="1"/>
          <p:nvPr/>
        </p:nvSpPr>
        <p:spPr>
          <a:xfrm>
            <a:off x="1024128" y="4480560"/>
            <a:ext cx="10058400" cy="1280160"/>
          </a:xfrm>
          <a:prstGeom prst="rect">
            <a:avLst/>
          </a:prstGeom>
          <a:noFill/>
        </p:spPr>
        <p:txBody>
          <a:bodyPr wrap="square" anchor="t">
            <a:spAutoFit/>
          </a:bodyPr>
          <a:lstStyle/>
          <a:p>
            <a:pPr algn="l">
              <a:spcAft>
                <a:spcPts val="400"/>
              </a:spcAft>
            </a:pPr>
            <a:r>
              <a:rPr sz="1700" b="0">
                <a:solidFill>
                  <a:srgbClr val="5B6372"/>
                </a:solidFill>
                <a:latin typeface="Arial"/>
              </a:rPr>
              <a:t>You can now specify a generative image or video job, run the underlying computer vision that verifies it, and defend where it should run.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Image and Video Creation  ·  TGS-2020505925</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